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45" r:id="rId3"/>
    <p:sldId id="44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</p:sldIdLst>
  <p:sldSz cx="9906000" cy="6845300"/>
  <p:notesSz cx="9906000" cy="6845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4" autoAdjust="0"/>
    <p:restoredTop sz="94660"/>
  </p:normalViewPr>
  <p:slideViewPr>
    <p:cSldViewPr>
      <p:cViewPr varScale="1">
        <p:scale>
          <a:sx n="105" d="100"/>
          <a:sy n="105" d="100"/>
        </p:scale>
        <p:origin x="88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ableStyles" Target="tableStyles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2043"/>
            <a:ext cx="8420100" cy="1437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33368"/>
            <a:ext cx="6934200" cy="171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4000" y="437895"/>
            <a:ext cx="7010400" cy="513080"/>
          </a:xfrm>
        </p:spPr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600" y="1387349"/>
            <a:ext cx="8001000" cy="3178302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46435" y="1246073"/>
            <a:ext cx="3459479" cy="450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4419"/>
            <a:ext cx="4309110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2868" y="437895"/>
            <a:ext cx="638367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2868" y="1387348"/>
            <a:ext cx="7460263" cy="3728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25000" y="6470650"/>
            <a:ext cx="24765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diayy@hotmail.com" TargetMode="External"/><Relationship Id="rId2" Type="http://schemas.openxmlformats.org/officeDocument/2006/relationships/hyperlink" Target="mailto:nyaaqob@philadelphia.edu.jo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nyaaqob@philadelphia.edu.jo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6585" y="495045"/>
            <a:ext cx="52133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u="none" spc="-10" dirty="0"/>
              <a:t>인터프리터 </a:t>
            </a:r>
            <a:r>
              <a:rPr lang="en-US" altLang="ko-KR" u="none" spc="-10" dirty="0"/>
              <a:t>vs </a:t>
            </a:r>
            <a:r>
              <a:rPr lang="ko-KR" altLang="en-US" u="none" spc="-10" dirty="0"/>
              <a:t>컴파일러</a:t>
            </a:r>
            <a:endParaRPr u="none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49234" y="1200962"/>
            <a:ext cx="7894766" cy="4406976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ko-KR" altLang="en-US" sz="1600" b="1" u="heavy" dirty="0">
                <a:uFill>
                  <a:solidFill>
                    <a:srgbClr val="000000"/>
                  </a:solidFill>
                </a:uFill>
                <a:latin typeface="+mn-ea"/>
                <a:cs typeface="Arial"/>
              </a:rPr>
              <a:t>인터프리터의 장점</a:t>
            </a:r>
            <a:endParaRPr lang="en-US" altLang="ko-KR" sz="1600" b="1" u="heavy" dirty="0">
              <a:uFill>
                <a:solidFill>
                  <a:srgbClr val="000000"/>
                </a:solidFill>
              </a:uFill>
              <a:latin typeface="+mn-ea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  <a:cs typeface="Times New Roman"/>
              </a:rPr>
              <a:t>어디서든 쓸 수 있어요</a:t>
            </a:r>
            <a:r>
              <a:rPr lang="en-US" altLang="ko-KR" sz="1600" dirty="0">
                <a:latin typeface="+mn-ea"/>
                <a:cs typeface="Times New Roman"/>
              </a:rPr>
              <a:t>! - </a:t>
            </a:r>
            <a:r>
              <a:rPr lang="ko-KR" altLang="en-US" sz="1600" dirty="0">
                <a:latin typeface="+mn-ea"/>
                <a:cs typeface="Times New Roman"/>
              </a:rPr>
              <a:t>한 번 작성하면 여러 기기에서 쉽게 실행 가능 </a:t>
            </a:r>
            <a:r>
              <a:rPr lang="en-US" altLang="ko-KR" sz="1600" dirty="0">
                <a:latin typeface="+mn-ea"/>
                <a:cs typeface="Times New Roman"/>
              </a:rPr>
              <a:t>(</a:t>
            </a:r>
            <a:r>
              <a:rPr lang="ko-KR" altLang="en-US" sz="1600" dirty="0">
                <a:latin typeface="+mn-ea"/>
                <a:cs typeface="Times New Roman"/>
              </a:rPr>
              <a:t>컴퓨터</a:t>
            </a:r>
            <a:r>
              <a:rPr lang="en-US" altLang="ko-KR" sz="1600" dirty="0">
                <a:latin typeface="+mn-ea"/>
                <a:cs typeface="Times New Roman"/>
              </a:rPr>
              <a:t>, </a:t>
            </a:r>
            <a:r>
              <a:rPr lang="ko-KR" altLang="en-US" sz="1600" dirty="0">
                <a:latin typeface="+mn-ea"/>
                <a:cs typeface="Times New Roman"/>
              </a:rPr>
              <a:t>태블릿</a:t>
            </a:r>
            <a:r>
              <a:rPr lang="en-US" altLang="ko-KR" sz="1600" dirty="0">
                <a:latin typeface="+mn-ea"/>
                <a:cs typeface="Times New Roman"/>
              </a:rPr>
              <a:t>, </a:t>
            </a:r>
            <a:r>
              <a:rPr lang="ko-KR" altLang="en-US" sz="1600" dirty="0">
                <a:latin typeface="+mn-ea"/>
                <a:cs typeface="Times New Roman"/>
              </a:rPr>
              <a:t>심지어 토스트기</a:t>
            </a:r>
            <a:r>
              <a:rPr lang="en-US" altLang="ko-KR" sz="1600" dirty="0">
                <a:latin typeface="+mn-ea"/>
                <a:cs typeface="Times New Roman"/>
              </a:rPr>
              <a:t>? </a:t>
            </a:r>
            <a:r>
              <a:rPr lang="ko-KR" altLang="en-US" sz="1600" dirty="0">
                <a:latin typeface="+mn-ea"/>
                <a:cs typeface="Times New Roman"/>
              </a:rPr>
              <a:t>🤔</a:t>
            </a:r>
            <a:r>
              <a:rPr lang="en-US" altLang="ko-KR" sz="1600" dirty="0">
                <a:latin typeface="+mn-ea"/>
                <a:cs typeface="Times New Roman"/>
              </a:rPr>
              <a:t>)  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  <a:cs typeface="Times New Roman"/>
              </a:rPr>
              <a:t>실시간으로 바꿀 수 있어요</a:t>
            </a:r>
            <a:r>
              <a:rPr lang="en-US" altLang="ko-KR" sz="1600" dirty="0">
                <a:latin typeface="+mn-ea"/>
                <a:cs typeface="Times New Roman"/>
              </a:rPr>
              <a:t>! – </a:t>
            </a:r>
            <a:r>
              <a:rPr lang="ko-KR" altLang="en-US" sz="1600" dirty="0">
                <a:latin typeface="+mn-ea"/>
                <a:cs typeface="Times New Roman"/>
              </a:rPr>
              <a:t>프로그램 실행 중에도 코드를 수정하거나 추가할 수 있음 → </a:t>
            </a:r>
            <a:r>
              <a:rPr lang="en-US" altLang="ko-KR" sz="1600" dirty="0">
                <a:latin typeface="+mn-ea"/>
                <a:cs typeface="Times New Roman"/>
              </a:rPr>
              <a:t>＂</a:t>
            </a:r>
            <a:r>
              <a:rPr lang="ko-KR" altLang="en-US" sz="1600" dirty="0">
                <a:latin typeface="+mn-ea"/>
                <a:cs typeface="Times New Roman"/>
              </a:rPr>
              <a:t>아</a:t>
            </a:r>
            <a:r>
              <a:rPr lang="en-US" altLang="ko-KR" sz="1600" dirty="0">
                <a:latin typeface="+mn-ea"/>
                <a:cs typeface="Times New Roman"/>
              </a:rPr>
              <a:t>, </a:t>
            </a:r>
            <a:r>
              <a:rPr lang="ko-KR" altLang="en-US" sz="1600" dirty="0">
                <a:latin typeface="+mn-ea"/>
                <a:cs typeface="Times New Roman"/>
              </a:rPr>
              <a:t>이 부분 </a:t>
            </a:r>
            <a:r>
              <a:rPr lang="ko-KR" altLang="en-US" sz="1600" dirty="0" err="1">
                <a:latin typeface="+mn-ea"/>
                <a:cs typeface="Times New Roman"/>
              </a:rPr>
              <a:t>고쳐야지</a:t>
            </a:r>
            <a:r>
              <a:rPr lang="en-US" altLang="ko-KR" sz="1600" dirty="0">
                <a:latin typeface="+mn-ea"/>
                <a:cs typeface="Times New Roman"/>
              </a:rPr>
              <a:t>!＂ </a:t>
            </a:r>
            <a:r>
              <a:rPr lang="ko-KR" altLang="en-US" sz="1600" dirty="0">
                <a:latin typeface="+mn-ea"/>
                <a:cs typeface="Times New Roman"/>
              </a:rPr>
              <a:t>하면서 바로 적용 가능 </a:t>
            </a:r>
            <a:r>
              <a:rPr lang="en-US" altLang="ko-KR" sz="1600" dirty="0">
                <a:latin typeface="+mn-ea"/>
                <a:cs typeface="Times New Roman"/>
              </a:rPr>
              <a:t>(</a:t>
            </a:r>
            <a:r>
              <a:rPr lang="ko-KR" altLang="en-US" sz="1600" dirty="0">
                <a:latin typeface="+mn-ea"/>
                <a:cs typeface="Times New Roman"/>
              </a:rPr>
              <a:t>마치 실시간 레고 조립</a:t>
            </a:r>
            <a:r>
              <a:rPr lang="en-US" altLang="ko-KR" sz="1600" dirty="0">
                <a:latin typeface="+mn-ea"/>
                <a:cs typeface="Times New Roman"/>
              </a:rPr>
              <a:t>!)  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  <a:cs typeface="Times New Roman"/>
              </a:rPr>
              <a:t>변수가 변신마스터★ </a:t>
            </a:r>
            <a:r>
              <a:rPr lang="en-US" altLang="ko-KR" sz="1600" dirty="0">
                <a:latin typeface="+mn-ea"/>
                <a:cs typeface="Times New Roman"/>
              </a:rPr>
              <a:t>- </a:t>
            </a:r>
            <a:r>
              <a:rPr lang="ko-KR" altLang="en-US" sz="1600" dirty="0">
                <a:latin typeface="+mn-ea"/>
                <a:cs typeface="Times New Roman"/>
              </a:rPr>
              <a:t>변수 타입이 실행 중에 바뀔 수 있음</a:t>
            </a:r>
            <a:r>
              <a:rPr lang="en-US" altLang="ko-KR" sz="1600" dirty="0">
                <a:latin typeface="+mn-ea"/>
                <a:cs typeface="Times New Roman"/>
              </a:rPr>
              <a:t>. </a:t>
            </a:r>
            <a:r>
              <a:rPr lang="ko-KR" altLang="en-US" sz="1600" dirty="0">
                <a:latin typeface="+mn-ea"/>
                <a:cs typeface="Times New Roman"/>
              </a:rPr>
              <a:t>숫자였다가 갑자기 문자가 된다</a:t>
            </a:r>
            <a:r>
              <a:rPr lang="en-US" altLang="ko-KR" sz="1600" dirty="0">
                <a:latin typeface="+mn-ea"/>
                <a:cs typeface="Times New Roman"/>
              </a:rPr>
              <a:t>? (</a:t>
            </a:r>
            <a:r>
              <a:rPr lang="ko-KR" altLang="en-US" sz="1600" dirty="0">
                <a:latin typeface="+mn-ea"/>
                <a:cs typeface="Times New Roman"/>
              </a:rPr>
              <a:t>예</a:t>
            </a:r>
            <a:r>
              <a:rPr lang="en-US" altLang="ko-KR" sz="1600" dirty="0">
                <a:latin typeface="+mn-ea"/>
                <a:cs typeface="Times New Roman"/>
              </a:rPr>
              <a:t>: `a = 10` → `a = "Hello"` </a:t>
            </a:r>
            <a:r>
              <a:rPr lang="ko-KR" altLang="en-US" sz="1600" dirty="0">
                <a:latin typeface="+mn-ea"/>
                <a:cs typeface="Times New Roman"/>
              </a:rPr>
              <a:t>가능</a:t>
            </a:r>
            <a:r>
              <a:rPr lang="en-US" altLang="ko-KR" sz="1600" dirty="0">
                <a:latin typeface="+mn-ea"/>
                <a:cs typeface="Times New Roman"/>
              </a:rPr>
              <a:t>!)  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  <a:cs typeface="Times New Roman"/>
              </a:rPr>
              <a:t>컴파일보다 쉬워요</a:t>
            </a:r>
            <a:r>
              <a:rPr lang="en-US" altLang="ko-KR" sz="1600" dirty="0">
                <a:latin typeface="+mn-ea"/>
                <a:cs typeface="Times New Roman"/>
              </a:rPr>
              <a:t>! - </a:t>
            </a:r>
            <a:r>
              <a:rPr lang="ko-KR" altLang="en-US" sz="1600" dirty="0">
                <a:latin typeface="+mn-ea"/>
                <a:cs typeface="Times New Roman"/>
              </a:rPr>
              <a:t>컴파일러처럼 복잡한 과정 없이 바로 실행 → </a:t>
            </a:r>
            <a:r>
              <a:rPr lang="en-US" altLang="ko-KR" sz="1600" dirty="0">
                <a:latin typeface="+mn-ea"/>
                <a:cs typeface="Times New Roman"/>
              </a:rPr>
              <a:t>"</a:t>
            </a:r>
            <a:r>
              <a:rPr lang="ko-KR" altLang="en-US" sz="1600" dirty="0">
                <a:latin typeface="+mn-ea"/>
                <a:cs typeface="Times New Roman"/>
              </a:rPr>
              <a:t>기다려</a:t>
            </a:r>
            <a:r>
              <a:rPr lang="en-US" altLang="ko-KR" sz="1600" dirty="0">
                <a:latin typeface="+mn-ea"/>
                <a:cs typeface="Times New Roman"/>
              </a:rPr>
              <a:t>~" </a:t>
            </a:r>
            <a:r>
              <a:rPr lang="ko-KR" altLang="en-US" sz="1600" dirty="0">
                <a:latin typeface="+mn-ea"/>
                <a:cs typeface="Times New Roman"/>
              </a:rPr>
              <a:t>할 필요 없음</a:t>
            </a:r>
            <a:r>
              <a:rPr lang="en-US" altLang="ko-KR" sz="1600" dirty="0">
                <a:latin typeface="+mn-ea"/>
                <a:cs typeface="Times New Roman"/>
              </a:rPr>
              <a:t>! (</a:t>
            </a:r>
            <a:r>
              <a:rPr lang="ko-KR" altLang="en-US" sz="1600" dirty="0">
                <a:latin typeface="+mn-ea"/>
                <a:cs typeface="Times New Roman"/>
              </a:rPr>
              <a:t>컴파일러의 지루한 로딩 화면 </a:t>
            </a:r>
            <a:r>
              <a:rPr lang="en-US" altLang="ko-KR" sz="1600" dirty="0">
                <a:latin typeface="+mn-ea"/>
                <a:cs typeface="Times New Roman"/>
              </a:rPr>
              <a:t>BYE~)  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  <a:cs typeface="Times New Roman"/>
              </a:rPr>
              <a:t>에러 메시지가 친절해요</a:t>
            </a:r>
            <a:r>
              <a:rPr lang="en-US" altLang="ko-KR" sz="1600" dirty="0">
                <a:latin typeface="+mn-ea"/>
                <a:cs typeface="Times New Roman"/>
              </a:rPr>
              <a:t>! - </a:t>
            </a:r>
            <a:r>
              <a:rPr lang="ko-KR" altLang="en-US" sz="1600" dirty="0">
                <a:latin typeface="+mn-ea"/>
                <a:cs typeface="Times New Roman"/>
              </a:rPr>
              <a:t>문제가 생겼을 때 바로 그 자리에서 자세히 알려줌</a:t>
            </a:r>
            <a:r>
              <a:rPr lang="en-US" altLang="ko-KR" sz="1600" dirty="0">
                <a:latin typeface="+mn-ea"/>
                <a:cs typeface="Times New Roman"/>
              </a:rPr>
              <a:t>. "</a:t>
            </a:r>
            <a:r>
              <a:rPr lang="ko-KR" altLang="en-US" sz="1600" dirty="0">
                <a:latin typeface="+mn-ea"/>
                <a:cs typeface="Times New Roman"/>
              </a:rPr>
              <a:t>여기서 틀렸어요</a:t>
            </a:r>
            <a:r>
              <a:rPr lang="en-US" altLang="ko-KR" sz="1600" dirty="0">
                <a:latin typeface="+mn-ea"/>
                <a:cs typeface="Times New Roman"/>
              </a:rPr>
              <a:t>!" </a:t>
            </a:r>
            <a:r>
              <a:rPr lang="ko-KR" altLang="en-US" sz="1600" dirty="0">
                <a:latin typeface="+mn-ea"/>
                <a:cs typeface="Times New Roman"/>
              </a:rPr>
              <a:t>라고 표시해주니까 고치기 쉬움</a:t>
            </a:r>
            <a:r>
              <a:rPr lang="en-US" altLang="ko-KR" sz="1600" dirty="0">
                <a:latin typeface="+mn-ea"/>
                <a:cs typeface="Times New Roman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65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  <a:cs typeface="Times New Roman"/>
              </a:rPr>
              <a:t>재밌는 점</a:t>
            </a:r>
            <a:r>
              <a:rPr lang="en-US" altLang="ko-KR" sz="1600" dirty="0">
                <a:latin typeface="+mn-ea"/>
                <a:cs typeface="Times New Roman"/>
              </a:rPr>
              <a:t>? - </a:t>
            </a:r>
            <a:r>
              <a:rPr lang="ko-KR" altLang="en-US" sz="1600" dirty="0">
                <a:latin typeface="+mn-ea"/>
                <a:cs typeface="Times New Roman"/>
              </a:rPr>
              <a:t>인터프리터는 </a:t>
            </a:r>
            <a:r>
              <a:rPr lang="en-US" altLang="ko-KR" sz="1600" dirty="0">
                <a:latin typeface="+mn-ea"/>
                <a:cs typeface="Times New Roman"/>
              </a:rPr>
              <a:t>"</a:t>
            </a:r>
            <a:r>
              <a:rPr lang="ko-KR" altLang="en-US" sz="1600" dirty="0">
                <a:latin typeface="+mn-ea"/>
                <a:cs typeface="Times New Roman"/>
              </a:rPr>
              <a:t>실시간 플레이</a:t>
            </a:r>
            <a:r>
              <a:rPr lang="en-US" altLang="ko-KR" sz="1600" dirty="0">
                <a:latin typeface="+mn-ea"/>
                <a:cs typeface="Times New Roman"/>
              </a:rPr>
              <a:t>" </a:t>
            </a:r>
            <a:r>
              <a:rPr lang="ko-KR" altLang="en-US" sz="1600" dirty="0">
                <a:latin typeface="+mn-ea"/>
                <a:cs typeface="Times New Roman"/>
              </a:rPr>
              <a:t>같은 느낌</a:t>
            </a:r>
            <a:r>
              <a:rPr lang="en-US" altLang="ko-KR" sz="1600" dirty="0">
                <a:latin typeface="+mn-ea"/>
                <a:cs typeface="Times New Roman"/>
              </a:rPr>
              <a:t>! </a:t>
            </a:r>
            <a:r>
              <a:rPr lang="ko-KR" altLang="en-US" sz="1600" dirty="0">
                <a:latin typeface="+mn-ea"/>
                <a:cs typeface="Times New Roman"/>
              </a:rPr>
              <a:t>코드를 쓰자마자 바로 결과를 볼 수 있어서 실험하거나 배우기 좋아요</a:t>
            </a:r>
            <a:r>
              <a:rPr lang="en-US" altLang="ko-KR" sz="1600" dirty="0">
                <a:latin typeface="+mn-ea"/>
                <a:cs typeface="Times New Roman"/>
              </a:rPr>
              <a:t>. </a:t>
            </a:r>
            <a:r>
              <a:rPr lang="ko-KR" altLang="en-US" sz="1600" dirty="0">
                <a:latin typeface="+mn-ea"/>
                <a:cs typeface="Times New Roman"/>
              </a:rPr>
              <a:t>마치 </a:t>
            </a:r>
            <a:r>
              <a:rPr lang="en-US" altLang="ko-KR" sz="1600" dirty="0">
                <a:latin typeface="+mn-ea"/>
                <a:cs typeface="Times New Roman"/>
              </a:rPr>
              <a:t>"</a:t>
            </a:r>
            <a:r>
              <a:rPr lang="ko-KR" altLang="en-US" sz="1600" dirty="0" err="1">
                <a:latin typeface="+mn-ea"/>
                <a:cs typeface="Times New Roman"/>
              </a:rPr>
              <a:t>손코딩</a:t>
            </a:r>
            <a:r>
              <a:rPr lang="en-US" altLang="ko-KR" sz="1600" dirty="0">
                <a:latin typeface="+mn-ea"/>
                <a:cs typeface="Times New Roman"/>
              </a:rPr>
              <a:t>" </a:t>
            </a:r>
            <a:r>
              <a:rPr lang="ko-KR" altLang="en-US" sz="1600" dirty="0">
                <a:latin typeface="+mn-ea"/>
                <a:cs typeface="Times New Roman"/>
              </a:rPr>
              <a:t>하다가 바로 화면에 띄워보는 재미</a:t>
            </a:r>
            <a:r>
              <a:rPr lang="en-US" altLang="ko-KR" sz="1600" dirty="0">
                <a:latin typeface="+mn-ea"/>
                <a:cs typeface="Times New Roman"/>
              </a:rPr>
              <a:t>! </a:t>
            </a:r>
            <a:r>
              <a:rPr lang="ko-KR" altLang="en-US" sz="1600" dirty="0">
                <a:latin typeface="+mn-ea"/>
                <a:cs typeface="Times New Roman"/>
              </a:rPr>
              <a:t>💻 </a:t>
            </a:r>
            <a:endParaRPr sz="1600" dirty="0">
              <a:latin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A5743-BA73-489E-A754-5384E97A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895"/>
            <a:ext cx="7010400" cy="492443"/>
          </a:xfrm>
        </p:spPr>
        <p:txBody>
          <a:bodyPr/>
          <a:lstStyle/>
          <a:p>
            <a:r>
              <a:rPr lang="ko-KR" altLang="en-US" dirty="0"/>
              <a:t>변환 </a:t>
            </a:r>
            <a:r>
              <a:rPr lang="ko-KR" altLang="en-US" dirty="0" err="1"/>
              <a:t>프로세스로서의</a:t>
            </a:r>
            <a:r>
              <a:rPr lang="ko-KR" altLang="en-US" dirty="0"/>
              <a:t> 개발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E75453-D77E-47F9-AF95-18FB6AAF1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87349"/>
            <a:ext cx="8001000" cy="14773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dirty="0"/>
              <a:t>요구사항</a:t>
            </a:r>
            <a:r>
              <a:rPr lang="en-US" altLang="ko-KR" dirty="0"/>
              <a:t>(</a:t>
            </a:r>
            <a:r>
              <a:rPr lang="ko-KR" altLang="en-US" dirty="0"/>
              <a:t>자연어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설계명세</a:t>
            </a:r>
            <a:r>
              <a:rPr lang="en-US" altLang="ko-KR" dirty="0"/>
              <a:t>(DSL </a:t>
            </a:r>
            <a:r>
              <a:rPr lang="ko-KR" altLang="en-US" dirty="0"/>
              <a:t>언어</a:t>
            </a:r>
            <a:r>
              <a:rPr lang="en-US" altLang="ko-KR" dirty="0"/>
              <a:t>) -&gt; </a:t>
            </a:r>
            <a:r>
              <a:rPr lang="ko-KR" altLang="en-US" dirty="0"/>
              <a:t>소스코드</a:t>
            </a:r>
            <a:r>
              <a:rPr lang="en-US" altLang="ko-KR" dirty="0"/>
              <a:t>(</a:t>
            </a:r>
            <a:r>
              <a:rPr lang="ko-KR" altLang="en-US" dirty="0"/>
              <a:t>파이썬</a:t>
            </a:r>
            <a:r>
              <a:rPr lang="en-US" altLang="ko-KR" dirty="0"/>
              <a:t>) -&gt; </a:t>
            </a:r>
            <a:r>
              <a:rPr lang="ko-KR" altLang="en-US" dirty="0"/>
              <a:t>인터프리터 실행 </a:t>
            </a:r>
            <a:r>
              <a:rPr lang="en-US" altLang="ko-KR" dirty="0"/>
              <a:t>-&gt; </a:t>
            </a:r>
            <a:r>
              <a:rPr lang="ko-KR" altLang="en-US" dirty="0"/>
              <a:t>재작업 혹은 튜닝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7DD691-3A3D-4ED9-A67E-47E6EADAE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90" y="3294001"/>
            <a:ext cx="8697612" cy="216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3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C75EF-2C76-40E0-BBF5-7B3E4C35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895"/>
            <a:ext cx="7010400" cy="492443"/>
          </a:xfrm>
        </p:spPr>
        <p:txBody>
          <a:bodyPr/>
          <a:lstStyle/>
          <a:p>
            <a:r>
              <a:rPr lang="ko-KR" altLang="en-US" dirty="0"/>
              <a:t>문법</a:t>
            </a:r>
            <a:r>
              <a:rPr lang="en-US" altLang="ko-KR" dirty="0"/>
              <a:t>, </a:t>
            </a:r>
            <a:r>
              <a:rPr lang="ko-KR" altLang="en-US" dirty="0"/>
              <a:t>언어 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22FAC9-0720-4BDE-B69A-53D351968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87349"/>
            <a:ext cx="8001000" cy="46166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000" b="0" i="0" dirty="0">
                <a:solidFill>
                  <a:srgbClr val="131314"/>
                </a:solidFill>
                <a:effectLst/>
                <a:latin typeface="+mn-ea"/>
              </a:rPr>
              <a:t>문법이 언어가 허용하는 유효한 문자열</a:t>
            </a:r>
            <a:r>
              <a:rPr lang="en-US" altLang="ko-KR" sz="2000" b="0" i="0" dirty="0">
                <a:solidFill>
                  <a:srgbClr val="131314"/>
                </a:solidFill>
                <a:effectLst/>
                <a:latin typeface="+mn-ea"/>
              </a:rPr>
              <a:t>(</a:t>
            </a:r>
            <a:r>
              <a:rPr lang="ko-KR" altLang="en-US" sz="2000" b="0" i="0" dirty="0">
                <a:solidFill>
                  <a:srgbClr val="131314"/>
                </a:solidFill>
                <a:effectLst/>
                <a:latin typeface="+mn-ea"/>
              </a:rPr>
              <a:t>문장</a:t>
            </a:r>
            <a:r>
              <a:rPr lang="en-US" altLang="ko-KR" sz="2000" b="0" i="0" dirty="0">
                <a:solidFill>
                  <a:srgbClr val="131314"/>
                </a:solidFill>
                <a:effectLst/>
                <a:latin typeface="+mn-ea"/>
              </a:rPr>
              <a:t>)</a:t>
            </a:r>
            <a:r>
              <a:rPr lang="ko-KR" altLang="en-US" sz="2000" b="0" i="0" dirty="0">
                <a:solidFill>
                  <a:srgbClr val="131314"/>
                </a:solidFill>
                <a:effectLst/>
                <a:latin typeface="+mn-ea"/>
              </a:rPr>
              <a:t>들을 정의한다</a:t>
            </a:r>
            <a:r>
              <a:rPr lang="en-US" altLang="ko-KR" sz="2000" b="0" i="0" dirty="0">
                <a:solidFill>
                  <a:srgbClr val="131314"/>
                </a:solidFill>
                <a:effectLst/>
                <a:latin typeface="+mn-ea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문법이 언어의 문장들을 생성하는 규칙과 구조를 제공한다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문법이 정의하는 </a:t>
            </a:r>
            <a:r>
              <a:rPr lang="en-US" altLang="ko-KR" sz="2000" dirty="0">
                <a:latin typeface="+mn-ea"/>
              </a:rPr>
              <a:t>'</a:t>
            </a:r>
            <a:r>
              <a:rPr lang="ko-KR" altLang="en-US" sz="2000" dirty="0">
                <a:latin typeface="+mn-ea"/>
              </a:rPr>
              <a:t>언어</a:t>
            </a:r>
            <a:r>
              <a:rPr lang="en-US" altLang="ko-KR" sz="2000" dirty="0">
                <a:latin typeface="+mn-ea"/>
              </a:rPr>
              <a:t>'</a:t>
            </a:r>
            <a:r>
              <a:rPr lang="ko-KR" altLang="en-US" sz="2000" dirty="0">
                <a:latin typeface="+mn-ea"/>
              </a:rPr>
              <a:t>는 시작 기호로부터 유도</a:t>
            </a:r>
            <a:r>
              <a:rPr lang="en-US" altLang="ko-KR" sz="2000" dirty="0">
                <a:latin typeface="+mn-ea"/>
              </a:rPr>
              <a:t>(derive)</a:t>
            </a:r>
            <a:r>
              <a:rPr lang="ko-KR" altLang="en-US" sz="2000" dirty="0">
                <a:latin typeface="+mn-ea"/>
              </a:rPr>
              <a:t>될 수 있는 모든 문자열의 집합이다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00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문법으로부터 </a:t>
            </a:r>
            <a:r>
              <a:rPr lang="ko-KR" altLang="en-US" sz="2000" b="1" dirty="0">
                <a:solidFill>
                  <a:srgbClr val="0000FF"/>
                </a:solidFill>
                <a:latin typeface="+mn-ea"/>
              </a:rPr>
              <a:t>문장을 유도</a:t>
            </a:r>
            <a:r>
              <a:rPr lang="en-US" altLang="ko-KR" sz="2000" b="1" dirty="0">
                <a:solidFill>
                  <a:srgbClr val="0000FF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00FF"/>
                </a:solidFill>
                <a:latin typeface="+mn-ea"/>
              </a:rPr>
              <a:t>생성하는 과정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문법 정의로부터 언어에 속하는 유효한 문장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토큰 문자열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을 생성하는 과정은 유도</a:t>
            </a:r>
            <a:r>
              <a:rPr lang="en-US" altLang="ko-KR" sz="2000" dirty="0">
                <a:latin typeface="+mn-ea"/>
              </a:rPr>
              <a:t>(Derivation)</a:t>
            </a:r>
            <a:r>
              <a:rPr lang="ko-KR" altLang="en-US" sz="2000" dirty="0">
                <a:latin typeface="+mn-ea"/>
              </a:rPr>
              <a:t>라고 불리며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시작 기호에서 출발하여 일련의 생성 규칙을 반복적으로 적용하는 방식으로 이루어진다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r>
              <a:rPr lang="ko-KR" altLang="en-US" sz="2000" dirty="0">
                <a:latin typeface="+mn-ea"/>
              </a:rPr>
              <a:t>    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시작 기호에서 출발 → 생성 규칙을 반복 적용 → 최종 문장 완성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00FF"/>
                </a:solidFill>
                <a:latin typeface="+mn-ea"/>
              </a:rPr>
              <a:t>문장 분석 </a:t>
            </a:r>
            <a:r>
              <a:rPr lang="en-US" altLang="ko-KR" sz="20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0000FF"/>
                </a:solidFill>
                <a:latin typeface="+mn-ea"/>
              </a:rPr>
              <a:t>파싱</a:t>
            </a:r>
            <a:r>
              <a:rPr lang="en-US" altLang="ko-KR" sz="2000" b="1" dirty="0">
                <a:solidFill>
                  <a:srgbClr val="0000FF"/>
                </a:solidFill>
                <a:latin typeface="+mn-ea"/>
              </a:rPr>
              <a:t>, Parsing) </a:t>
            </a:r>
            <a:r>
              <a:rPr lang="ko-KR" altLang="en-US" sz="2000" b="1" dirty="0">
                <a:solidFill>
                  <a:srgbClr val="0000FF"/>
                </a:solidFill>
                <a:latin typeface="+mn-ea"/>
              </a:rPr>
              <a:t>과정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완성된 문장을 역추적해 어떤 문법 규칙이 적용되었는지 분석하고 오류를 검사</a:t>
            </a:r>
            <a:r>
              <a:rPr lang="en-US" altLang="ko-KR" sz="2000" dirty="0">
                <a:latin typeface="+mn-ea"/>
              </a:rPr>
              <a:t>.</a:t>
            </a:r>
          </a:p>
          <a:p>
            <a:r>
              <a:rPr lang="en-US" altLang="ko-KR" sz="2000" dirty="0">
                <a:latin typeface="+mn-ea"/>
              </a:rPr>
              <a:t>    (</a:t>
            </a:r>
            <a:r>
              <a:rPr lang="ko-KR" altLang="en-US" sz="2000" dirty="0">
                <a:latin typeface="+mn-ea"/>
              </a:rPr>
              <a:t>토큰을 분해 → 문법 규칙과 대조 → 파스 트리</a:t>
            </a:r>
            <a:r>
              <a:rPr lang="en-US" altLang="ko-KR" sz="2000" dirty="0">
                <a:latin typeface="+mn-ea"/>
              </a:rPr>
              <a:t>(Parse Tree) </a:t>
            </a:r>
            <a:r>
              <a:rPr lang="ko-KR" altLang="en-US" sz="2000" dirty="0">
                <a:latin typeface="+mn-ea"/>
              </a:rPr>
              <a:t>생성</a:t>
            </a:r>
            <a:r>
              <a:rPr lang="en-US" altLang="ko-KR" sz="2000" dirty="0">
                <a:latin typeface="+mn-ea"/>
              </a:rPr>
              <a:t>)</a:t>
            </a:r>
          </a:p>
          <a:p>
            <a:r>
              <a:rPr lang="ko-KR" altLang="en-US" sz="2000" dirty="0">
                <a:latin typeface="+mn-ea"/>
              </a:rPr>
              <a:t>    비유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완성된 레고 모형을 분해하면서 </a:t>
            </a:r>
            <a:r>
              <a:rPr lang="en-US" altLang="ko-KR" sz="2000" dirty="0">
                <a:latin typeface="+mn-ea"/>
              </a:rPr>
              <a:t>"</a:t>
            </a:r>
            <a:r>
              <a:rPr lang="ko-KR" altLang="en-US" sz="2000" dirty="0">
                <a:latin typeface="+mn-ea"/>
              </a:rPr>
              <a:t>어떤 순서로 조립됐을까</a:t>
            </a:r>
            <a:r>
              <a:rPr lang="en-US" altLang="ko-KR" sz="2000" dirty="0">
                <a:latin typeface="+mn-ea"/>
              </a:rPr>
              <a:t>?"   </a:t>
            </a:r>
          </a:p>
          <a:p>
            <a:r>
              <a:rPr lang="en-US" altLang="ko-KR" sz="2000" dirty="0">
                <a:latin typeface="+mn-ea"/>
              </a:rPr>
              <a:t>    </a:t>
            </a:r>
            <a:r>
              <a:rPr lang="ko-KR" altLang="en-US" sz="2000" dirty="0">
                <a:latin typeface="+mn-ea"/>
              </a:rPr>
              <a:t>역추적하는 것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389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5902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spc="-5" dirty="0">
                <a:latin typeface="Arial"/>
                <a:cs typeface="Arial"/>
              </a:rPr>
              <a:t>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099" y="495045"/>
            <a:ext cx="53695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spc="-10" dirty="0"/>
              <a:t>Structure </a:t>
            </a:r>
            <a:r>
              <a:rPr spc="-5" dirty="0"/>
              <a:t>of a</a:t>
            </a:r>
            <a:r>
              <a:rPr spc="-20" dirty="0"/>
              <a:t> </a:t>
            </a:r>
            <a:r>
              <a:rPr spc="-10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33728"/>
            <a:ext cx="7594600" cy="3996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2800">
              <a:latin typeface="Times New Roman"/>
              <a:cs typeface="Times New Roman"/>
            </a:endParaRPr>
          </a:p>
          <a:p>
            <a:pPr marL="355600" marR="640080" indent="-342900">
              <a:lnSpc>
                <a:spcPts val="3020"/>
              </a:lnSpc>
              <a:spcBef>
                <a:spcPts val="72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Lexical analysis </a:t>
            </a:r>
            <a:r>
              <a:rPr sz="2800" spc="-5" dirty="0">
                <a:latin typeface="Times New Roman"/>
                <a:cs typeface="Times New Roman"/>
              </a:rPr>
              <a:t>(Linear Analysis)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5" dirty="0">
                <a:latin typeface="Times New Roman"/>
                <a:cs typeface="Times New Roman"/>
              </a:rPr>
              <a:t>stream of  characters are grouped into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tokens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68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Syntax </a:t>
            </a:r>
            <a:r>
              <a:rPr sz="2800" b="1" dirty="0">
                <a:latin typeface="Times New Roman"/>
                <a:cs typeface="Times New Roman"/>
              </a:rPr>
              <a:t>analysis </a:t>
            </a:r>
            <a:r>
              <a:rPr sz="2800" spc="-5" dirty="0">
                <a:latin typeface="Times New Roman"/>
                <a:cs typeface="Times New Roman"/>
              </a:rPr>
              <a:t>(Hierarchical Analysis): tokens  are grouped hierarchically with collective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meaning</a:t>
            </a:r>
            <a:endParaRPr sz="2800">
              <a:latin typeface="Times New Roman"/>
              <a:cs typeface="Times New Roman"/>
            </a:endParaRPr>
          </a:p>
          <a:p>
            <a:pPr marL="355600" marR="379095" indent="-342900">
              <a:lnSpc>
                <a:spcPts val="3020"/>
              </a:lnSpc>
              <a:spcBef>
                <a:spcPts val="68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Semantic Analysis</a:t>
            </a:r>
            <a:r>
              <a:rPr sz="2800" spc="-5" dirty="0">
                <a:latin typeface="Times New Roman"/>
                <a:cs typeface="Times New Roman"/>
              </a:rPr>
              <a:t>: ensure the components of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program fit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together.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Synthesis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5902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spc="-5" dirty="0">
                <a:latin typeface="Arial"/>
                <a:cs typeface="Arial"/>
              </a:rPr>
              <a:t>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41" y="495045"/>
            <a:ext cx="7559040" cy="5621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" algn="ctr">
              <a:lnSpc>
                <a:spcPct val="100000"/>
              </a:lnSpc>
              <a:spcBef>
                <a:spcPts val="95"/>
              </a:spcBef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Lexical Analysis</a:t>
            </a: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Example</a:t>
            </a:r>
            <a:endParaRPr sz="3200">
              <a:latin typeface="Arial"/>
              <a:cs typeface="Arial"/>
            </a:endParaRPr>
          </a:p>
          <a:p>
            <a:pPr marR="31750" algn="ctr">
              <a:lnSpc>
                <a:spcPct val="100000"/>
              </a:lnSpc>
              <a:spcBef>
                <a:spcPts val="2625"/>
              </a:spcBef>
            </a:pPr>
            <a:r>
              <a:rPr sz="3200" spc="-5" dirty="0">
                <a:latin typeface="Times New Roman"/>
                <a:cs typeface="Times New Roman"/>
              </a:rPr>
              <a:t>Pay := Base + Rate*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60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430"/>
              </a:spcBef>
              <a:buFont typeface="Times New Roman"/>
              <a:buChar char="•"/>
              <a:tabLst>
                <a:tab pos="621665" algn="l"/>
                <a:tab pos="622300" algn="l"/>
              </a:tabLst>
            </a:pPr>
            <a:r>
              <a:rPr sz="3200" b="1" spc="-5" dirty="0">
                <a:latin typeface="Times New Roman"/>
                <a:cs typeface="Times New Roman"/>
              </a:rPr>
              <a:t>Lexical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analysis:</a:t>
            </a:r>
            <a:endParaRPr sz="3200">
              <a:latin typeface="Times New Roman"/>
              <a:cs typeface="Times New Roman"/>
            </a:endParaRPr>
          </a:p>
          <a:p>
            <a:pPr marL="824865"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imes New Roman"/>
                <a:cs typeface="Times New Roman"/>
              </a:rPr>
              <a:t>characters are grouped into seven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tokens:</a:t>
            </a:r>
            <a:endParaRPr sz="3200">
              <a:latin typeface="Times New Roman"/>
              <a:cs typeface="Times New Roman"/>
            </a:endParaRPr>
          </a:p>
          <a:p>
            <a:pPr marL="1129665">
              <a:lnSpc>
                <a:spcPct val="100000"/>
              </a:lnSpc>
              <a:spcBef>
                <a:spcPts val="370"/>
              </a:spcBef>
            </a:pPr>
            <a:r>
              <a:rPr sz="3200" b="1" spc="-5" dirty="0">
                <a:latin typeface="Times New Roman"/>
                <a:cs typeface="Times New Roman"/>
              </a:rPr>
              <a:t>Pay, Base, Rate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identifiers</a:t>
            </a:r>
            <a:endParaRPr sz="3200">
              <a:latin typeface="Times New Roman"/>
              <a:cs typeface="Times New Roman"/>
            </a:endParaRPr>
          </a:p>
          <a:p>
            <a:pPr marL="1129665">
              <a:lnSpc>
                <a:spcPct val="100000"/>
              </a:lnSpc>
              <a:spcBef>
                <a:spcPts val="370"/>
              </a:spcBef>
            </a:pPr>
            <a:r>
              <a:rPr sz="3200" b="1" spc="-5" dirty="0">
                <a:latin typeface="Times New Roman"/>
                <a:cs typeface="Times New Roman"/>
              </a:rPr>
              <a:t>:= </a:t>
            </a:r>
            <a:r>
              <a:rPr sz="3200" spc="-5" dirty="0">
                <a:latin typeface="Times New Roman"/>
                <a:cs typeface="Times New Roman"/>
              </a:rPr>
              <a:t>is assignment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symbol</a:t>
            </a:r>
            <a:endParaRPr sz="3200">
              <a:latin typeface="Times New Roman"/>
              <a:cs typeface="Times New Roman"/>
            </a:endParaRPr>
          </a:p>
          <a:p>
            <a:pPr marL="1129665">
              <a:lnSpc>
                <a:spcPct val="100000"/>
              </a:lnSpc>
              <a:spcBef>
                <a:spcPts val="375"/>
              </a:spcBef>
            </a:pPr>
            <a:r>
              <a:rPr sz="3200" b="1" spc="-5" dirty="0">
                <a:latin typeface="Times New Roman"/>
                <a:cs typeface="Times New Roman"/>
              </a:rPr>
              <a:t>+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b="1" spc="-5" dirty="0">
                <a:latin typeface="Times New Roman"/>
                <a:cs typeface="Times New Roman"/>
              </a:rPr>
              <a:t>*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operators</a:t>
            </a:r>
            <a:endParaRPr sz="3200">
              <a:latin typeface="Times New Roman"/>
              <a:cs typeface="Times New Roman"/>
            </a:endParaRPr>
          </a:p>
          <a:p>
            <a:pPr marL="1129665">
              <a:lnSpc>
                <a:spcPct val="100000"/>
              </a:lnSpc>
              <a:spcBef>
                <a:spcPts val="370"/>
              </a:spcBef>
            </a:pPr>
            <a:r>
              <a:rPr sz="3200" b="1" spc="-5" dirty="0">
                <a:latin typeface="Times New Roman"/>
                <a:cs typeface="Times New Roman"/>
              </a:rPr>
              <a:t>60 </a:t>
            </a:r>
            <a:r>
              <a:rPr sz="3200" spc="-5" dirty="0">
                <a:latin typeface="Times New Roman"/>
                <a:cs typeface="Times New Roman"/>
              </a:rPr>
              <a:t>is a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number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37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Error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370"/>
              </a:spcBef>
            </a:pPr>
            <a:r>
              <a:rPr sz="3200" spc="-5" dirty="0">
                <a:latin typeface="Times New Roman"/>
                <a:cs typeface="Times New Roman"/>
              </a:rPr>
              <a:t>pay := base +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rate</a:t>
            </a:r>
            <a:r>
              <a:rPr sz="3200" b="1" spc="-5" dirty="0">
                <a:latin typeface="Times New Roman"/>
                <a:cs typeface="Times New Roman"/>
              </a:rPr>
              <a:t>^^</a:t>
            </a:r>
            <a:r>
              <a:rPr sz="3200" spc="-5" dirty="0">
                <a:latin typeface="Times New Roman"/>
                <a:cs typeface="Times New Roman"/>
              </a:rPr>
              <a:t>60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889" y="495045"/>
            <a:ext cx="49199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Syntax Analysis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0" y="1265715"/>
            <a:ext cx="7226934" cy="10712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855"/>
              </a:spcBef>
            </a:pPr>
            <a:r>
              <a:rPr sz="2800" spc="-5" dirty="0">
                <a:latin typeface="Times New Roman"/>
                <a:cs typeface="Times New Roman"/>
              </a:rPr>
              <a:t>Pay := Base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Rate*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60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Font typeface="MS UI Gothic"/>
              <a:buChar char="❖"/>
              <a:tabLst>
                <a:tab pos="621665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seven tokens are grouped into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parse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939" y="2660395"/>
            <a:ext cx="2514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7965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Assignment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stmt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9939" y="3041395"/>
            <a:ext cx="2286000" cy="381000"/>
          </a:xfrm>
          <a:custGeom>
            <a:avLst/>
            <a:gdLst/>
            <a:ahLst/>
            <a:cxnLst/>
            <a:rect l="l" t="t" r="r" b="b"/>
            <a:pathLst>
              <a:path w="2286000" h="381000">
                <a:moveTo>
                  <a:pt x="228600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17789" y="3416046"/>
          <a:ext cx="1314450" cy="1231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96520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identifier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432434">
                        <a:lnSpc>
                          <a:spcPts val="28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pay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733939" y="35747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spc="-10" dirty="0">
                <a:latin typeface="Times New Roman"/>
                <a:cs typeface="Times New Roman"/>
              </a:rPr>
              <a:t>:=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43539" y="3041395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2327" y="3498596"/>
            <a:ext cx="13081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expression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43539" y="3041395"/>
            <a:ext cx="2514600" cy="457200"/>
          </a:xfrm>
          <a:custGeom>
            <a:avLst/>
            <a:gdLst/>
            <a:ahLst/>
            <a:cxnLst/>
            <a:rect l="l" t="t" r="r" b="b"/>
            <a:pathLst>
              <a:path w="2514600" h="457200">
                <a:moveTo>
                  <a:pt x="0" y="0"/>
                </a:moveTo>
                <a:lnTo>
                  <a:pt x="2514587" y="4571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24539" y="4336796"/>
            <a:ext cx="13081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expression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72527" y="4260596"/>
            <a:ext cx="13081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expression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0927" y="4412996"/>
            <a:ext cx="990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86539" y="3879596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1371587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58127" y="3879596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58127" y="3879596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0"/>
                </a:moveTo>
                <a:lnTo>
                  <a:pt x="152400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718189" y="4940046"/>
          <a:ext cx="1314450" cy="1231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96520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identifier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382270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base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5410339" y="471779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15327" y="5022596"/>
            <a:ext cx="2047875" cy="685800"/>
          </a:xfrm>
          <a:custGeom>
            <a:avLst/>
            <a:gdLst/>
            <a:ahLst/>
            <a:cxnLst/>
            <a:rect l="l" t="t" r="r" b="b"/>
            <a:pathLst>
              <a:path w="2047875" h="685800">
                <a:moveTo>
                  <a:pt x="1024140" y="0"/>
                </a:moveTo>
                <a:lnTo>
                  <a:pt x="0" y="685800"/>
                </a:lnTo>
                <a:lnTo>
                  <a:pt x="2047494" y="685800"/>
                </a:lnTo>
                <a:lnTo>
                  <a:pt x="102414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20031" y="5256021"/>
            <a:ext cx="10394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Rate*60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05927" y="464159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05902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spc="-5" dirty="0">
                <a:latin typeface="Arial"/>
                <a:cs typeface="Arial"/>
              </a:rPr>
              <a:t>6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5145" y="380745"/>
            <a:ext cx="53943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Semantic Analysis</a:t>
            </a:r>
            <a:r>
              <a:rPr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630" y="1113315"/>
            <a:ext cx="6870065" cy="15487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855"/>
              </a:spcBef>
            </a:pPr>
            <a:r>
              <a:rPr sz="2800" spc="-5" dirty="0">
                <a:latin typeface="Times New Roman"/>
                <a:cs typeface="Times New Roman"/>
              </a:rPr>
              <a:t>Pay := Base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Rate*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60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12000"/>
              </a:lnSpc>
              <a:spcBef>
                <a:spcPts val="350"/>
              </a:spcBef>
              <a:buFont typeface="MS UI Gothic"/>
              <a:buChar char="❖"/>
              <a:tabLst>
                <a:tab pos="621665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Checks for semantic errors and gathers type  information for code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339" y="3193795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spc="-10" dirty="0">
                <a:latin typeface="Times New Roman"/>
                <a:cs typeface="Times New Roman"/>
              </a:rPr>
              <a:t>:=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939" y="39557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26084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pay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2339" y="3955796"/>
            <a:ext cx="914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1739" y="47939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5920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base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2939" y="4793996"/>
            <a:ext cx="914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9939" y="56321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8465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rate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8739" y="56321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60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71739" y="3574796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45720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8939" y="3574796"/>
            <a:ext cx="990600" cy="304800"/>
          </a:xfrm>
          <a:custGeom>
            <a:avLst/>
            <a:gdLst/>
            <a:ahLst/>
            <a:cxnLst/>
            <a:rect l="l" t="t" r="r" b="b"/>
            <a:pathLst>
              <a:path w="990600" h="304800">
                <a:moveTo>
                  <a:pt x="0" y="0"/>
                </a:moveTo>
                <a:lnTo>
                  <a:pt x="990600" y="304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09939" y="4336796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6096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19539" y="433679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71939" y="5174996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838199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10139" y="5174996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0" y="0"/>
                </a:moveTo>
                <a:lnTo>
                  <a:pt x="83820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29339" y="2812795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spc="-10" dirty="0">
                <a:latin typeface="Times New Roman"/>
                <a:cs typeface="Times New Roman"/>
              </a:rPr>
              <a:t>:=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5939" y="35747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26084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pay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72327" y="3574796"/>
            <a:ext cx="914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1739" y="44129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5920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base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2927" y="4412996"/>
            <a:ext cx="914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9927" y="52511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9100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rate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48727" y="52511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Int-to-real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81739" y="3193795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457200" y="0"/>
                </a:moveTo>
                <a:lnTo>
                  <a:pt x="0" y="381000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38939" y="3193795"/>
            <a:ext cx="990600" cy="304800"/>
          </a:xfrm>
          <a:custGeom>
            <a:avLst/>
            <a:gdLst/>
            <a:ahLst/>
            <a:cxnLst/>
            <a:rect l="l" t="t" r="r" b="b"/>
            <a:pathLst>
              <a:path w="990600" h="304800">
                <a:moveTo>
                  <a:pt x="0" y="0"/>
                </a:moveTo>
                <a:lnTo>
                  <a:pt x="990587" y="304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19927" y="3955796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6096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29527" y="3955796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81927" y="4793996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8382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20127" y="4793996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0" y="0"/>
                </a:moveTo>
                <a:lnTo>
                  <a:pt x="83820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48727" y="5860796"/>
            <a:ext cx="12954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60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8327" y="563219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5902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spc="-5" dirty="0">
                <a:latin typeface="Arial"/>
                <a:cs typeface="Arial"/>
              </a:rPr>
              <a:t>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0219" y="6265671"/>
            <a:ext cx="17786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139" y="1212596"/>
            <a:ext cx="2133600" cy="533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66167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lexical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139" y="2050795"/>
            <a:ext cx="2133600" cy="533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66802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syntax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139" y="2888995"/>
            <a:ext cx="2133600" cy="533400"/>
          </a:xfrm>
          <a:custGeom>
            <a:avLst/>
            <a:gdLst/>
            <a:ahLst/>
            <a:cxnLst/>
            <a:rect l="l" t="t" r="r" b="b"/>
            <a:pathLst>
              <a:path w="2133600" h="533400">
                <a:moveTo>
                  <a:pt x="0" y="0"/>
                </a:moveTo>
                <a:lnTo>
                  <a:pt x="0" y="533400"/>
                </a:lnTo>
                <a:lnTo>
                  <a:pt x="2133599" y="533400"/>
                </a:lnTo>
                <a:lnTo>
                  <a:pt x="213359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75213" y="2949447"/>
            <a:ext cx="1106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semantic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939" y="450595"/>
            <a:ext cx="2209800" cy="533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39" y="6013196"/>
            <a:ext cx="2209800" cy="533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575"/>
              </a:spcBef>
            </a:pPr>
            <a:r>
              <a:rPr sz="2400" spc="-114" dirty="0">
                <a:latin typeface="Times New Roman"/>
                <a:cs typeface="Times New Roman"/>
              </a:rPr>
              <a:t>T</a:t>
            </a:r>
            <a:r>
              <a:rPr sz="2100" spc="-172" baseline="-19841" dirty="0">
                <a:latin typeface="Arial"/>
                <a:cs typeface="Arial"/>
              </a:rPr>
              <a:t>7</a:t>
            </a:r>
            <a:r>
              <a:rPr sz="2400" spc="-114" dirty="0">
                <a:latin typeface="Times New Roman"/>
                <a:cs typeface="Times New Roman"/>
              </a:rPr>
              <a:t>arget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2139" y="3650996"/>
            <a:ext cx="2133600" cy="533400"/>
          </a:xfrm>
          <a:custGeom>
            <a:avLst/>
            <a:gdLst/>
            <a:ahLst/>
            <a:cxnLst/>
            <a:rect l="l" t="t" r="r" b="b"/>
            <a:pathLst>
              <a:path w="2133600" h="533400">
                <a:moveTo>
                  <a:pt x="0" y="0"/>
                </a:moveTo>
                <a:lnTo>
                  <a:pt x="0" y="533400"/>
                </a:lnTo>
                <a:lnTo>
                  <a:pt x="2133599" y="533400"/>
                </a:lnTo>
                <a:lnTo>
                  <a:pt x="213359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79379" y="3711447"/>
            <a:ext cx="1497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IR code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139" y="4489196"/>
            <a:ext cx="2133600" cy="533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optimizer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139" y="5327396"/>
            <a:ext cx="2133600" cy="533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target code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880235" y="396747"/>
            <a:ext cx="282194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0" u="none" spc="-5" dirty="0">
                <a:latin typeface="Times New Roman"/>
                <a:cs typeface="Times New Roman"/>
              </a:rPr>
              <a:t>Pay </a:t>
            </a:r>
            <a:r>
              <a:rPr sz="2400" b="0" u="none" dirty="0">
                <a:latin typeface="Times New Roman"/>
                <a:cs typeface="Times New Roman"/>
              </a:rPr>
              <a:t>:= </a:t>
            </a:r>
            <a:r>
              <a:rPr sz="2400" b="0" u="none" spc="-5" dirty="0">
                <a:latin typeface="Times New Roman"/>
                <a:cs typeface="Times New Roman"/>
              </a:rPr>
              <a:t>base </a:t>
            </a:r>
            <a:r>
              <a:rPr sz="2400" b="0" u="none" dirty="0">
                <a:latin typeface="Times New Roman"/>
                <a:cs typeface="Times New Roman"/>
              </a:rPr>
              <a:t>+ </a:t>
            </a:r>
            <a:r>
              <a:rPr sz="2400" b="0" u="none" spc="-5" dirty="0">
                <a:latin typeface="Times New Roman"/>
                <a:cs typeface="Times New Roman"/>
              </a:rPr>
              <a:t>rate </a:t>
            </a:r>
            <a:r>
              <a:rPr sz="2400" b="0" u="none" dirty="0">
                <a:latin typeface="Times New Roman"/>
                <a:cs typeface="Times New Roman"/>
              </a:rPr>
              <a:t>*</a:t>
            </a:r>
            <a:r>
              <a:rPr sz="2400" b="0" u="none" spc="-100" dirty="0">
                <a:latin typeface="Times New Roman"/>
                <a:cs typeface="Times New Roman"/>
              </a:rPr>
              <a:t> </a:t>
            </a:r>
            <a:r>
              <a:rPr sz="2400" b="0" u="none" spc="-5" dirty="0">
                <a:latin typeface="Times New Roman"/>
                <a:cs typeface="Times New Roman"/>
              </a:rPr>
              <a:t>60</a:t>
            </a:r>
            <a:endParaRPr sz="2400">
              <a:latin typeface="Times New Roman"/>
              <a:cs typeface="Times New Roman"/>
            </a:endParaRPr>
          </a:p>
          <a:p>
            <a:pPr marR="74930" algn="ctr">
              <a:lnSpc>
                <a:spcPct val="100000"/>
              </a:lnSpc>
              <a:spcBef>
                <a:spcPts val="1920"/>
              </a:spcBef>
            </a:pPr>
            <a:r>
              <a:rPr sz="2400" b="0" u="none" spc="-5" dirty="0">
                <a:latin typeface="Times New Roman"/>
                <a:cs typeface="Times New Roman"/>
              </a:rPr>
              <a:t>Id1 </a:t>
            </a:r>
            <a:r>
              <a:rPr sz="2400" b="0" u="none" dirty="0">
                <a:latin typeface="Times New Roman"/>
                <a:cs typeface="Times New Roman"/>
              </a:rPr>
              <a:t>:= </a:t>
            </a:r>
            <a:r>
              <a:rPr sz="2400" b="0" u="none" spc="-5" dirty="0">
                <a:latin typeface="Times New Roman"/>
                <a:cs typeface="Times New Roman"/>
              </a:rPr>
              <a:t>Id2 </a:t>
            </a:r>
            <a:r>
              <a:rPr sz="2400" b="0" u="none" dirty="0">
                <a:latin typeface="Times New Roman"/>
                <a:cs typeface="Times New Roman"/>
              </a:rPr>
              <a:t>+ </a:t>
            </a:r>
            <a:r>
              <a:rPr sz="2400" b="0" u="none" spc="-5" dirty="0">
                <a:latin typeface="Times New Roman"/>
                <a:cs typeface="Times New Roman"/>
              </a:rPr>
              <a:t>Id3 </a:t>
            </a:r>
            <a:r>
              <a:rPr sz="2400" b="0" u="none" dirty="0">
                <a:latin typeface="Times New Roman"/>
                <a:cs typeface="Times New Roman"/>
              </a:rPr>
              <a:t>*</a:t>
            </a:r>
            <a:r>
              <a:rPr sz="2400" b="0" u="none" spc="-85" dirty="0">
                <a:latin typeface="Times New Roman"/>
                <a:cs typeface="Times New Roman"/>
              </a:rPr>
              <a:t> </a:t>
            </a:r>
            <a:r>
              <a:rPr sz="2400" b="0" u="none" spc="-5" dirty="0">
                <a:latin typeface="Times New Roman"/>
                <a:cs typeface="Times New Roman"/>
              </a:rPr>
              <a:t>60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7577" y="831596"/>
            <a:ext cx="1143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80435" y="1542796"/>
            <a:ext cx="2178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:=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47042" y="1996955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id1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48527" y="1816861"/>
            <a:ext cx="232409" cy="1577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32835" y="1817130"/>
            <a:ext cx="53594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Times New Roman"/>
                <a:cs typeface="Times New Roman"/>
              </a:rPr>
              <a:t>id2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25729" y="1816861"/>
            <a:ext cx="232397" cy="15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35329" y="2045461"/>
            <a:ext cx="232397" cy="15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71035" y="207619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66243" y="2533396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id3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15327" y="2274823"/>
            <a:ext cx="156972" cy="1569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16329" y="2274061"/>
            <a:ext cx="232397" cy="15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52035" y="245719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13627" y="2533388"/>
            <a:ext cx="2178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:=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80235" y="2987547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id1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81739" y="2807461"/>
            <a:ext cx="232409" cy="1577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566035" y="2807730"/>
            <a:ext cx="53594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Times New Roman"/>
                <a:cs typeface="Times New Roman"/>
              </a:rPr>
              <a:t>id2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58929" y="2807461"/>
            <a:ext cx="232410" cy="1577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68529" y="3036061"/>
            <a:ext cx="232397" cy="15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404235" y="306679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48527" y="3265423"/>
            <a:ext cx="156972" cy="1569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49529" y="3264661"/>
            <a:ext cx="232397" cy="15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11529" y="3798061"/>
            <a:ext cx="232397" cy="15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96177" y="2584195"/>
            <a:ext cx="1143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813435" y="3429260"/>
            <a:ext cx="2603500" cy="171894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298700">
              <a:lnSpc>
                <a:spcPct val="100000"/>
              </a:lnSpc>
              <a:spcBef>
                <a:spcPts val="844"/>
              </a:spcBef>
            </a:pPr>
            <a:r>
              <a:rPr sz="1800" spc="-5" dirty="0">
                <a:latin typeface="Times New Roman"/>
                <a:cs typeface="Times New Roman"/>
              </a:rPr>
              <a:t>id3</a:t>
            </a:r>
            <a:endParaRPr sz="1800">
              <a:latin typeface="Times New Roman"/>
              <a:cs typeface="Times New Roman"/>
            </a:endParaRPr>
          </a:p>
          <a:p>
            <a:pPr marL="12700" marR="410845">
              <a:lnSpc>
                <a:spcPct val="100000"/>
              </a:lnSpc>
              <a:spcBef>
                <a:spcPts val="825"/>
              </a:spcBef>
            </a:pPr>
            <a:r>
              <a:rPr sz="2000" spc="-5" dirty="0">
                <a:latin typeface="Times New Roman"/>
                <a:cs typeface="Times New Roman"/>
              </a:rPr>
              <a:t>temp1 = </a:t>
            </a:r>
            <a:r>
              <a:rPr sz="2000" spc="-10" dirty="0">
                <a:latin typeface="Times New Roman"/>
                <a:cs typeface="Times New Roman"/>
              </a:rPr>
              <a:t>inttoreal(60)  </a:t>
            </a:r>
            <a:r>
              <a:rPr sz="2000" spc="-5" dirty="0">
                <a:latin typeface="Times New Roman"/>
                <a:cs typeface="Times New Roman"/>
              </a:rPr>
              <a:t>temp2 = id3* temp1  temp3 = id2+ temp2  id1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temp3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6632" y="3447795"/>
            <a:ext cx="1889760" cy="1548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inttoreal</a:t>
            </a:r>
            <a:endParaRPr sz="1800">
              <a:latin typeface="Times New Roman"/>
              <a:cs typeface="Times New Roman"/>
            </a:endParaRPr>
          </a:p>
          <a:p>
            <a:pPr marL="1002665"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25"/>
              </a:spcBef>
            </a:pPr>
            <a:r>
              <a:rPr sz="2000" spc="-5" dirty="0">
                <a:latin typeface="Times New Roman"/>
                <a:cs typeface="Times New Roman"/>
              </a:rPr>
              <a:t>temp1 = id3*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60.0  id1 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id2+temp1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24589" y="3422396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114300" y="266700"/>
                </a:moveTo>
                <a:lnTo>
                  <a:pt x="0" y="266700"/>
                </a:lnTo>
                <a:lnTo>
                  <a:pt x="38100" y="34290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342900"/>
                </a:lnTo>
                <a:lnTo>
                  <a:pt x="114300" y="266700"/>
                </a:lnTo>
                <a:close/>
              </a:path>
              <a:path w="114300" h="381000">
                <a:moveTo>
                  <a:pt x="76200" y="266700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266700"/>
                </a:lnTo>
                <a:lnTo>
                  <a:pt x="76200" y="266700"/>
                </a:lnTo>
                <a:close/>
              </a:path>
              <a:path w="114300" h="381000">
                <a:moveTo>
                  <a:pt x="76200" y="342900"/>
                </a:moveTo>
                <a:lnTo>
                  <a:pt x="76200" y="285750"/>
                </a:lnTo>
                <a:lnTo>
                  <a:pt x="38100" y="285750"/>
                </a:lnTo>
                <a:lnTo>
                  <a:pt x="38100" y="342900"/>
                </a:lnTo>
                <a:lnTo>
                  <a:pt x="57150" y="381000"/>
                </a:lnTo>
                <a:lnTo>
                  <a:pt x="76200" y="3429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10577" y="4946396"/>
            <a:ext cx="1143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023235" y="5259832"/>
            <a:ext cx="29749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movf id3, fr2; movf id2, </a:t>
            </a:r>
            <a:r>
              <a:rPr sz="2000" spc="-10" dirty="0">
                <a:latin typeface="Times New Roman"/>
                <a:cs typeface="Times New Roman"/>
              </a:rPr>
              <a:t>fr1  </a:t>
            </a:r>
            <a:r>
              <a:rPr sz="2000" spc="-5" dirty="0">
                <a:latin typeface="Times New Roman"/>
                <a:cs typeface="Times New Roman"/>
              </a:rPr>
              <a:t>mulf #60.0,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fr2</a:t>
            </a:r>
            <a:endParaRPr sz="2000">
              <a:latin typeface="Times New Roman"/>
              <a:cs typeface="Times New Roman"/>
            </a:endParaRPr>
          </a:p>
          <a:p>
            <a:pPr marL="12700" marR="154686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addf fr2,fr1  movf fr1,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id1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096127" y="4584446"/>
            <a:ext cx="228600" cy="114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15177" y="1441196"/>
            <a:ext cx="1143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94215" y="1240789"/>
            <a:ext cx="1906905" cy="219710"/>
          </a:xfrm>
          <a:custGeom>
            <a:avLst/>
            <a:gdLst/>
            <a:ahLst/>
            <a:cxnLst/>
            <a:rect l="l" t="t" r="r" b="b"/>
            <a:pathLst>
              <a:path w="1906904" h="219709">
                <a:moveTo>
                  <a:pt x="154686" y="207263"/>
                </a:moveTo>
                <a:lnTo>
                  <a:pt x="151637" y="169163"/>
                </a:lnTo>
                <a:lnTo>
                  <a:pt x="0" y="181355"/>
                </a:lnTo>
                <a:lnTo>
                  <a:pt x="3047" y="219455"/>
                </a:lnTo>
                <a:lnTo>
                  <a:pt x="154686" y="207263"/>
                </a:lnTo>
                <a:close/>
              </a:path>
              <a:path w="1906904" h="219709">
                <a:moveTo>
                  <a:pt x="420624" y="185927"/>
                </a:moveTo>
                <a:lnTo>
                  <a:pt x="417575" y="147827"/>
                </a:lnTo>
                <a:lnTo>
                  <a:pt x="265938" y="160019"/>
                </a:lnTo>
                <a:lnTo>
                  <a:pt x="268986" y="198119"/>
                </a:lnTo>
                <a:lnTo>
                  <a:pt x="420624" y="185927"/>
                </a:lnTo>
                <a:close/>
              </a:path>
              <a:path w="1906904" h="219709">
                <a:moveTo>
                  <a:pt x="686562" y="164591"/>
                </a:moveTo>
                <a:lnTo>
                  <a:pt x="683513" y="126491"/>
                </a:lnTo>
                <a:lnTo>
                  <a:pt x="531876" y="138683"/>
                </a:lnTo>
                <a:lnTo>
                  <a:pt x="534924" y="176783"/>
                </a:lnTo>
                <a:lnTo>
                  <a:pt x="686562" y="164591"/>
                </a:lnTo>
                <a:close/>
              </a:path>
              <a:path w="1906904" h="219709">
                <a:moveTo>
                  <a:pt x="952500" y="143255"/>
                </a:moveTo>
                <a:lnTo>
                  <a:pt x="949451" y="105155"/>
                </a:lnTo>
                <a:lnTo>
                  <a:pt x="797813" y="117347"/>
                </a:lnTo>
                <a:lnTo>
                  <a:pt x="800862" y="155447"/>
                </a:lnTo>
                <a:lnTo>
                  <a:pt x="952500" y="143255"/>
                </a:lnTo>
                <a:close/>
              </a:path>
              <a:path w="1906904" h="219709">
                <a:moveTo>
                  <a:pt x="1218438" y="121919"/>
                </a:moveTo>
                <a:lnTo>
                  <a:pt x="1215389" y="83819"/>
                </a:lnTo>
                <a:lnTo>
                  <a:pt x="1063752" y="96011"/>
                </a:lnTo>
                <a:lnTo>
                  <a:pt x="1066800" y="134111"/>
                </a:lnTo>
                <a:lnTo>
                  <a:pt x="1218438" y="121919"/>
                </a:lnTo>
                <a:close/>
              </a:path>
              <a:path w="1906904" h="219709">
                <a:moveTo>
                  <a:pt x="1484376" y="100583"/>
                </a:moveTo>
                <a:lnTo>
                  <a:pt x="1481327" y="63245"/>
                </a:lnTo>
                <a:lnTo>
                  <a:pt x="1328927" y="74675"/>
                </a:lnTo>
                <a:lnTo>
                  <a:pt x="1331976" y="112775"/>
                </a:lnTo>
                <a:lnTo>
                  <a:pt x="1484376" y="100583"/>
                </a:lnTo>
                <a:close/>
              </a:path>
              <a:path w="1906904" h="219709">
                <a:moveTo>
                  <a:pt x="1750314" y="79247"/>
                </a:moveTo>
                <a:lnTo>
                  <a:pt x="1747265" y="41909"/>
                </a:lnTo>
                <a:lnTo>
                  <a:pt x="1594865" y="54101"/>
                </a:lnTo>
                <a:lnTo>
                  <a:pt x="1597914" y="91439"/>
                </a:lnTo>
                <a:lnTo>
                  <a:pt x="1750314" y="79247"/>
                </a:lnTo>
                <a:close/>
              </a:path>
              <a:path w="1906904" h="219709">
                <a:moveTo>
                  <a:pt x="1906524" y="48005"/>
                </a:moveTo>
                <a:lnTo>
                  <a:pt x="1787652" y="0"/>
                </a:lnTo>
                <a:lnTo>
                  <a:pt x="1796795" y="114299"/>
                </a:lnTo>
                <a:lnTo>
                  <a:pt x="1906524" y="4800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893453" y="1931923"/>
            <a:ext cx="3050540" cy="443230"/>
          </a:xfrm>
          <a:custGeom>
            <a:avLst/>
            <a:gdLst/>
            <a:ahLst/>
            <a:cxnLst/>
            <a:rect l="l" t="t" r="r" b="b"/>
            <a:pathLst>
              <a:path w="3050540" h="443230">
                <a:moveTo>
                  <a:pt x="156209" y="423671"/>
                </a:moveTo>
                <a:lnTo>
                  <a:pt x="150875" y="385571"/>
                </a:lnTo>
                <a:lnTo>
                  <a:pt x="0" y="404621"/>
                </a:lnTo>
                <a:lnTo>
                  <a:pt x="4571" y="442721"/>
                </a:lnTo>
                <a:lnTo>
                  <a:pt x="156209" y="423671"/>
                </a:lnTo>
                <a:close/>
              </a:path>
              <a:path w="3050540" h="443230">
                <a:moveTo>
                  <a:pt x="420624" y="390905"/>
                </a:moveTo>
                <a:lnTo>
                  <a:pt x="416051" y="352805"/>
                </a:lnTo>
                <a:lnTo>
                  <a:pt x="264413" y="371855"/>
                </a:lnTo>
                <a:lnTo>
                  <a:pt x="268986" y="409193"/>
                </a:lnTo>
                <a:lnTo>
                  <a:pt x="420624" y="390905"/>
                </a:lnTo>
                <a:close/>
              </a:path>
              <a:path w="3050540" h="443230">
                <a:moveTo>
                  <a:pt x="685038" y="357377"/>
                </a:moveTo>
                <a:lnTo>
                  <a:pt x="680465" y="320039"/>
                </a:lnTo>
                <a:lnTo>
                  <a:pt x="528827" y="338327"/>
                </a:lnTo>
                <a:lnTo>
                  <a:pt x="534162" y="376427"/>
                </a:lnTo>
                <a:lnTo>
                  <a:pt x="685038" y="357377"/>
                </a:lnTo>
                <a:close/>
              </a:path>
              <a:path w="3050540" h="443230">
                <a:moveTo>
                  <a:pt x="949451" y="324611"/>
                </a:moveTo>
                <a:lnTo>
                  <a:pt x="944879" y="286511"/>
                </a:lnTo>
                <a:lnTo>
                  <a:pt x="794003" y="305561"/>
                </a:lnTo>
                <a:lnTo>
                  <a:pt x="798576" y="343661"/>
                </a:lnTo>
                <a:lnTo>
                  <a:pt x="949451" y="324611"/>
                </a:lnTo>
                <a:close/>
              </a:path>
              <a:path w="3050540" h="443230">
                <a:moveTo>
                  <a:pt x="1214627" y="291083"/>
                </a:moveTo>
                <a:lnTo>
                  <a:pt x="1210055" y="253745"/>
                </a:lnTo>
                <a:lnTo>
                  <a:pt x="1058417" y="272795"/>
                </a:lnTo>
                <a:lnTo>
                  <a:pt x="1062989" y="310133"/>
                </a:lnTo>
                <a:lnTo>
                  <a:pt x="1214627" y="291083"/>
                </a:lnTo>
                <a:close/>
              </a:path>
              <a:path w="3050540" h="443230">
                <a:moveTo>
                  <a:pt x="1479041" y="258317"/>
                </a:moveTo>
                <a:lnTo>
                  <a:pt x="1474469" y="220217"/>
                </a:lnTo>
                <a:lnTo>
                  <a:pt x="1322831" y="239267"/>
                </a:lnTo>
                <a:lnTo>
                  <a:pt x="1328165" y="277367"/>
                </a:lnTo>
                <a:lnTo>
                  <a:pt x="1479041" y="258317"/>
                </a:lnTo>
                <a:close/>
              </a:path>
              <a:path w="3050540" h="443230">
                <a:moveTo>
                  <a:pt x="1743455" y="224789"/>
                </a:moveTo>
                <a:lnTo>
                  <a:pt x="1738883" y="187451"/>
                </a:lnTo>
                <a:lnTo>
                  <a:pt x="1588007" y="206501"/>
                </a:lnTo>
                <a:lnTo>
                  <a:pt x="1592579" y="243839"/>
                </a:lnTo>
                <a:lnTo>
                  <a:pt x="1743455" y="224789"/>
                </a:lnTo>
                <a:close/>
              </a:path>
              <a:path w="3050540" h="443230">
                <a:moveTo>
                  <a:pt x="2008631" y="192023"/>
                </a:moveTo>
                <a:lnTo>
                  <a:pt x="2003298" y="153923"/>
                </a:lnTo>
                <a:lnTo>
                  <a:pt x="1852421" y="172973"/>
                </a:lnTo>
                <a:lnTo>
                  <a:pt x="1856993" y="211073"/>
                </a:lnTo>
                <a:lnTo>
                  <a:pt x="2008631" y="192023"/>
                </a:lnTo>
                <a:close/>
              </a:path>
              <a:path w="3050540" h="443230">
                <a:moveTo>
                  <a:pt x="2273045" y="159257"/>
                </a:moveTo>
                <a:lnTo>
                  <a:pt x="2268474" y="121157"/>
                </a:lnTo>
                <a:lnTo>
                  <a:pt x="2116836" y="140207"/>
                </a:lnTo>
                <a:lnTo>
                  <a:pt x="2121407" y="177545"/>
                </a:lnTo>
                <a:lnTo>
                  <a:pt x="2273045" y="159257"/>
                </a:lnTo>
                <a:close/>
              </a:path>
              <a:path w="3050540" h="443230">
                <a:moveTo>
                  <a:pt x="2537459" y="125729"/>
                </a:moveTo>
                <a:lnTo>
                  <a:pt x="2532888" y="88391"/>
                </a:lnTo>
                <a:lnTo>
                  <a:pt x="2382012" y="106679"/>
                </a:lnTo>
                <a:lnTo>
                  <a:pt x="2386583" y="144779"/>
                </a:lnTo>
                <a:lnTo>
                  <a:pt x="2537459" y="125729"/>
                </a:lnTo>
                <a:close/>
              </a:path>
              <a:path w="3050540" h="443230">
                <a:moveTo>
                  <a:pt x="2801874" y="92963"/>
                </a:moveTo>
                <a:lnTo>
                  <a:pt x="2797302" y="54863"/>
                </a:lnTo>
                <a:lnTo>
                  <a:pt x="2646426" y="73913"/>
                </a:lnTo>
                <a:lnTo>
                  <a:pt x="2650998" y="112013"/>
                </a:lnTo>
                <a:lnTo>
                  <a:pt x="2801874" y="92963"/>
                </a:lnTo>
                <a:close/>
              </a:path>
              <a:path w="3050540" h="443230">
                <a:moveTo>
                  <a:pt x="2939015" y="75534"/>
                </a:moveTo>
                <a:lnTo>
                  <a:pt x="2934503" y="38190"/>
                </a:lnTo>
                <a:lnTo>
                  <a:pt x="2910840" y="41147"/>
                </a:lnTo>
                <a:lnTo>
                  <a:pt x="2915412" y="78485"/>
                </a:lnTo>
                <a:lnTo>
                  <a:pt x="2939015" y="75534"/>
                </a:lnTo>
                <a:close/>
              </a:path>
              <a:path w="3050540" h="443230">
                <a:moveTo>
                  <a:pt x="3050273" y="42671"/>
                </a:moveTo>
                <a:lnTo>
                  <a:pt x="2929890" y="0"/>
                </a:lnTo>
                <a:lnTo>
                  <a:pt x="2934503" y="38190"/>
                </a:lnTo>
                <a:lnTo>
                  <a:pt x="2953512" y="35813"/>
                </a:lnTo>
                <a:lnTo>
                  <a:pt x="2958071" y="73151"/>
                </a:lnTo>
                <a:lnTo>
                  <a:pt x="2958071" y="103927"/>
                </a:lnTo>
                <a:lnTo>
                  <a:pt x="3050273" y="42671"/>
                </a:lnTo>
                <a:close/>
              </a:path>
              <a:path w="3050540" h="443230">
                <a:moveTo>
                  <a:pt x="2958071" y="73151"/>
                </a:moveTo>
                <a:lnTo>
                  <a:pt x="2953512" y="35813"/>
                </a:lnTo>
                <a:lnTo>
                  <a:pt x="2934503" y="38190"/>
                </a:lnTo>
                <a:lnTo>
                  <a:pt x="2939015" y="75534"/>
                </a:lnTo>
                <a:lnTo>
                  <a:pt x="2958071" y="73151"/>
                </a:lnTo>
                <a:close/>
              </a:path>
              <a:path w="3050540" h="443230">
                <a:moveTo>
                  <a:pt x="2958071" y="103927"/>
                </a:moveTo>
                <a:lnTo>
                  <a:pt x="2958071" y="73151"/>
                </a:lnTo>
                <a:lnTo>
                  <a:pt x="2939015" y="75534"/>
                </a:lnTo>
                <a:lnTo>
                  <a:pt x="2943605" y="113537"/>
                </a:lnTo>
                <a:lnTo>
                  <a:pt x="2958071" y="10392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9653" y="2921761"/>
            <a:ext cx="1983739" cy="291465"/>
          </a:xfrm>
          <a:custGeom>
            <a:avLst/>
            <a:gdLst/>
            <a:ahLst/>
            <a:cxnLst/>
            <a:rect l="l" t="t" r="r" b="b"/>
            <a:pathLst>
              <a:path w="1983739" h="291464">
                <a:moveTo>
                  <a:pt x="156209" y="273558"/>
                </a:moveTo>
                <a:lnTo>
                  <a:pt x="151637" y="235458"/>
                </a:lnTo>
                <a:lnTo>
                  <a:pt x="0" y="252984"/>
                </a:lnTo>
                <a:lnTo>
                  <a:pt x="4571" y="291084"/>
                </a:lnTo>
                <a:lnTo>
                  <a:pt x="156209" y="273558"/>
                </a:lnTo>
                <a:close/>
              </a:path>
              <a:path w="1983739" h="291464">
                <a:moveTo>
                  <a:pt x="420624" y="243077"/>
                </a:moveTo>
                <a:lnTo>
                  <a:pt x="416051" y="204977"/>
                </a:lnTo>
                <a:lnTo>
                  <a:pt x="265175" y="222503"/>
                </a:lnTo>
                <a:lnTo>
                  <a:pt x="269748" y="260603"/>
                </a:lnTo>
                <a:lnTo>
                  <a:pt x="420624" y="243077"/>
                </a:lnTo>
                <a:close/>
              </a:path>
              <a:path w="1983739" h="291464">
                <a:moveTo>
                  <a:pt x="685800" y="212598"/>
                </a:moveTo>
                <a:lnTo>
                  <a:pt x="681227" y="174498"/>
                </a:lnTo>
                <a:lnTo>
                  <a:pt x="529589" y="192024"/>
                </a:lnTo>
                <a:lnTo>
                  <a:pt x="534162" y="230124"/>
                </a:lnTo>
                <a:lnTo>
                  <a:pt x="685800" y="212598"/>
                </a:lnTo>
                <a:close/>
              </a:path>
              <a:path w="1983739" h="291464">
                <a:moveTo>
                  <a:pt x="950976" y="182117"/>
                </a:moveTo>
                <a:lnTo>
                  <a:pt x="946403" y="144017"/>
                </a:lnTo>
                <a:lnTo>
                  <a:pt x="794765" y="161543"/>
                </a:lnTo>
                <a:lnTo>
                  <a:pt x="799338" y="198882"/>
                </a:lnTo>
                <a:lnTo>
                  <a:pt x="950976" y="182117"/>
                </a:lnTo>
                <a:close/>
              </a:path>
              <a:path w="1983739" h="291464">
                <a:moveTo>
                  <a:pt x="1215389" y="150875"/>
                </a:moveTo>
                <a:lnTo>
                  <a:pt x="1211579" y="113537"/>
                </a:lnTo>
                <a:lnTo>
                  <a:pt x="1059941" y="131063"/>
                </a:lnTo>
                <a:lnTo>
                  <a:pt x="1064514" y="168401"/>
                </a:lnTo>
                <a:lnTo>
                  <a:pt x="1215389" y="150875"/>
                </a:lnTo>
                <a:close/>
              </a:path>
              <a:path w="1983739" h="291464">
                <a:moveTo>
                  <a:pt x="1480565" y="120396"/>
                </a:moveTo>
                <a:lnTo>
                  <a:pt x="1475993" y="83058"/>
                </a:lnTo>
                <a:lnTo>
                  <a:pt x="1325117" y="100584"/>
                </a:lnTo>
                <a:lnTo>
                  <a:pt x="1328927" y="137922"/>
                </a:lnTo>
                <a:lnTo>
                  <a:pt x="1480565" y="120396"/>
                </a:lnTo>
                <a:close/>
              </a:path>
              <a:path w="1983739" h="291464">
                <a:moveTo>
                  <a:pt x="1745741" y="89915"/>
                </a:moveTo>
                <a:lnTo>
                  <a:pt x="1741169" y="51815"/>
                </a:lnTo>
                <a:lnTo>
                  <a:pt x="1589531" y="69341"/>
                </a:lnTo>
                <a:lnTo>
                  <a:pt x="1594103" y="107441"/>
                </a:lnTo>
                <a:lnTo>
                  <a:pt x="1745741" y="89915"/>
                </a:lnTo>
                <a:close/>
              </a:path>
              <a:path w="1983739" h="291464">
                <a:moveTo>
                  <a:pt x="1872201" y="75423"/>
                </a:moveTo>
                <a:lnTo>
                  <a:pt x="1867599" y="37327"/>
                </a:lnTo>
                <a:lnTo>
                  <a:pt x="1854707" y="38862"/>
                </a:lnTo>
                <a:lnTo>
                  <a:pt x="1859279" y="76962"/>
                </a:lnTo>
                <a:lnTo>
                  <a:pt x="1872201" y="75423"/>
                </a:lnTo>
                <a:close/>
              </a:path>
              <a:path w="1983739" h="291464">
                <a:moveTo>
                  <a:pt x="1983486" y="43434"/>
                </a:moveTo>
                <a:lnTo>
                  <a:pt x="1863089" y="0"/>
                </a:lnTo>
                <a:lnTo>
                  <a:pt x="1867599" y="37327"/>
                </a:lnTo>
                <a:lnTo>
                  <a:pt x="1886712" y="35051"/>
                </a:lnTo>
                <a:lnTo>
                  <a:pt x="1891283" y="73151"/>
                </a:lnTo>
                <a:lnTo>
                  <a:pt x="1891283" y="104023"/>
                </a:lnTo>
                <a:lnTo>
                  <a:pt x="1983486" y="43434"/>
                </a:lnTo>
                <a:close/>
              </a:path>
              <a:path w="1983739" h="291464">
                <a:moveTo>
                  <a:pt x="1891283" y="73151"/>
                </a:moveTo>
                <a:lnTo>
                  <a:pt x="1886712" y="35051"/>
                </a:lnTo>
                <a:lnTo>
                  <a:pt x="1867599" y="37327"/>
                </a:lnTo>
                <a:lnTo>
                  <a:pt x="1872201" y="75423"/>
                </a:lnTo>
                <a:lnTo>
                  <a:pt x="1891283" y="73151"/>
                </a:lnTo>
                <a:close/>
              </a:path>
              <a:path w="1983739" h="291464">
                <a:moveTo>
                  <a:pt x="1891283" y="104023"/>
                </a:moveTo>
                <a:lnTo>
                  <a:pt x="1891283" y="73151"/>
                </a:lnTo>
                <a:lnTo>
                  <a:pt x="1872201" y="75423"/>
                </a:lnTo>
                <a:lnTo>
                  <a:pt x="1876805" y="113537"/>
                </a:lnTo>
                <a:lnTo>
                  <a:pt x="1891283" y="1040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71177" y="3827779"/>
            <a:ext cx="1677670" cy="147320"/>
          </a:xfrm>
          <a:custGeom>
            <a:avLst/>
            <a:gdLst/>
            <a:ahLst/>
            <a:cxnLst/>
            <a:rect l="l" t="t" r="r" b="b"/>
            <a:pathLst>
              <a:path w="1677670" h="147320">
                <a:moveTo>
                  <a:pt x="153924" y="140208"/>
                </a:moveTo>
                <a:lnTo>
                  <a:pt x="152400" y="102108"/>
                </a:lnTo>
                <a:lnTo>
                  <a:pt x="0" y="108966"/>
                </a:lnTo>
                <a:lnTo>
                  <a:pt x="1524" y="147066"/>
                </a:lnTo>
                <a:lnTo>
                  <a:pt x="153924" y="140208"/>
                </a:lnTo>
                <a:close/>
              </a:path>
              <a:path w="1677670" h="147320">
                <a:moveTo>
                  <a:pt x="420624" y="128016"/>
                </a:moveTo>
                <a:lnTo>
                  <a:pt x="418338" y="89916"/>
                </a:lnTo>
                <a:lnTo>
                  <a:pt x="265938" y="96774"/>
                </a:lnTo>
                <a:lnTo>
                  <a:pt x="268224" y="134874"/>
                </a:lnTo>
                <a:lnTo>
                  <a:pt x="420624" y="128016"/>
                </a:lnTo>
                <a:close/>
              </a:path>
              <a:path w="1677670" h="147320">
                <a:moveTo>
                  <a:pt x="686562" y="115824"/>
                </a:moveTo>
                <a:lnTo>
                  <a:pt x="685038" y="77724"/>
                </a:lnTo>
                <a:lnTo>
                  <a:pt x="532638" y="84582"/>
                </a:lnTo>
                <a:lnTo>
                  <a:pt x="534162" y="122682"/>
                </a:lnTo>
                <a:lnTo>
                  <a:pt x="686562" y="115824"/>
                </a:lnTo>
                <a:close/>
              </a:path>
              <a:path w="1677670" h="147320">
                <a:moveTo>
                  <a:pt x="953262" y="103632"/>
                </a:moveTo>
                <a:lnTo>
                  <a:pt x="951738" y="65532"/>
                </a:lnTo>
                <a:lnTo>
                  <a:pt x="799338" y="72390"/>
                </a:lnTo>
                <a:lnTo>
                  <a:pt x="800862" y="110490"/>
                </a:lnTo>
                <a:lnTo>
                  <a:pt x="953262" y="103632"/>
                </a:lnTo>
                <a:close/>
              </a:path>
              <a:path w="1677670" h="147320">
                <a:moveTo>
                  <a:pt x="1219200" y="91440"/>
                </a:moveTo>
                <a:lnTo>
                  <a:pt x="1217676" y="53340"/>
                </a:lnTo>
                <a:lnTo>
                  <a:pt x="1065276" y="60198"/>
                </a:lnTo>
                <a:lnTo>
                  <a:pt x="1067562" y="98298"/>
                </a:lnTo>
                <a:lnTo>
                  <a:pt x="1219200" y="91440"/>
                </a:lnTo>
                <a:close/>
              </a:path>
              <a:path w="1677670" h="147320">
                <a:moveTo>
                  <a:pt x="1485900" y="79248"/>
                </a:moveTo>
                <a:lnTo>
                  <a:pt x="1484376" y="41148"/>
                </a:lnTo>
                <a:lnTo>
                  <a:pt x="1331976" y="48768"/>
                </a:lnTo>
                <a:lnTo>
                  <a:pt x="1333500" y="86106"/>
                </a:lnTo>
                <a:lnTo>
                  <a:pt x="1485900" y="79248"/>
                </a:lnTo>
                <a:close/>
              </a:path>
              <a:path w="1677670" h="147320">
                <a:moveTo>
                  <a:pt x="1677162" y="51816"/>
                </a:moveTo>
                <a:lnTo>
                  <a:pt x="1560576" y="0"/>
                </a:lnTo>
                <a:lnTo>
                  <a:pt x="1565909" y="114300"/>
                </a:lnTo>
                <a:lnTo>
                  <a:pt x="1677162" y="5181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71177" y="4774946"/>
            <a:ext cx="3430270" cy="150495"/>
          </a:xfrm>
          <a:custGeom>
            <a:avLst/>
            <a:gdLst/>
            <a:ahLst/>
            <a:cxnLst/>
            <a:rect l="l" t="t" r="r" b="b"/>
            <a:pathLst>
              <a:path w="3430270" h="150495">
                <a:moveTo>
                  <a:pt x="153162" y="3048"/>
                </a:moveTo>
                <a:lnTo>
                  <a:pt x="1524" y="0"/>
                </a:lnTo>
                <a:lnTo>
                  <a:pt x="0" y="38100"/>
                </a:lnTo>
                <a:lnTo>
                  <a:pt x="152400" y="41148"/>
                </a:lnTo>
                <a:lnTo>
                  <a:pt x="153162" y="3048"/>
                </a:lnTo>
                <a:close/>
              </a:path>
              <a:path w="3430270" h="150495">
                <a:moveTo>
                  <a:pt x="419862" y="9143"/>
                </a:moveTo>
                <a:lnTo>
                  <a:pt x="267462" y="6095"/>
                </a:lnTo>
                <a:lnTo>
                  <a:pt x="266700" y="44195"/>
                </a:lnTo>
                <a:lnTo>
                  <a:pt x="419100" y="47243"/>
                </a:lnTo>
                <a:lnTo>
                  <a:pt x="419862" y="9143"/>
                </a:lnTo>
                <a:close/>
              </a:path>
              <a:path w="3430270" h="150495">
                <a:moveTo>
                  <a:pt x="686562" y="15239"/>
                </a:moveTo>
                <a:lnTo>
                  <a:pt x="534162" y="12191"/>
                </a:lnTo>
                <a:lnTo>
                  <a:pt x="533400" y="50291"/>
                </a:lnTo>
                <a:lnTo>
                  <a:pt x="685800" y="53339"/>
                </a:lnTo>
                <a:lnTo>
                  <a:pt x="686562" y="15239"/>
                </a:lnTo>
                <a:close/>
              </a:path>
              <a:path w="3430270" h="150495">
                <a:moveTo>
                  <a:pt x="953262" y="21336"/>
                </a:moveTo>
                <a:lnTo>
                  <a:pt x="800862" y="17525"/>
                </a:lnTo>
                <a:lnTo>
                  <a:pt x="800100" y="55625"/>
                </a:lnTo>
                <a:lnTo>
                  <a:pt x="952500" y="59436"/>
                </a:lnTo>
                <a:lnTo>
                  <a:pt x="953262" y="21336"/>
                </a:lnTo>
                <a:close/>
              </a:path>
              <a:path w="3430270" h="150495">
                <a:moveTo>
                  <a:pt x="1219962" y="27431"/>
                </a:moveTo>
                <a:lnTo>
                  <a:pt x="1067562" y="23621"/>
                </a:lnTo>
                <a:lnTo>
                  <a:pt x="1066800" y="61721"/>
                </a:lnTo>
                <a:lnTo>
                  <a:pt x="1219200" y="65531"/>
                </a:lnTo>
                <a:lnTo>
                  <a:pt x="1219962" y="27431"/>
                </a:lnTo>
                <a:close/>
              </a:path>
              <a:path w="3430270" h="150495">
                <a:moveTo>
                  <a:pt x="1486662" y="32765"/>
                </a:moveTo>
                <a:lnTo>
                  <a:pt x="1334262" y="29717"/>
                </a:lnTo>
                <a:lnTo>
                  <a:pt x="1333500" y="67817"/>
                </a:lnTo>
                <a:lnTo>
                  <a:pt x="1485900" y="70865"/>
                </a:lnTo>
                <a:lnTo>
                  <a:pt x="1486662" y="32765"/>
                </a:lnTo>
                <a:close/>
              </a:path>
              <a:path w="3430270" h="150495">
                <a:moveTo>
                  <a:pt x="1753362" y="38862"/>
                </a:moveTo>
                <a:lnTo>
                  <a:pt x="1600962" y="35813"/>
                </a:lnTo>
                <a:lnTo>
                  <a:pt x="1600200" y="73913"/>
                </a:lnTo>
                <a:lnTo>
                  <a:pt x="1752600" y="76962"/>
                </a:lnTo>
                <a:lnTo>
                  <a:pt x="1753362" y="38862"/>
                </a:lnTo>
                <a:close/>
              </a:path>
              <a:path w="3430270" h="150495">
                <a:moveTo>
                  <a:pt x="2020062" y="44957"/>
                </a:moveTo>
                <a:lnTo>
                  <a:pt x="1867662" y="41148"/>
                </a:lnTo>
                <a:lnTo>
                  <a:pt x="1866900" y="79248"/>
                </a:lnTo>
                <a:lnTo>
                  <a:pt x="2019300" y="83057"/>
                </a:lnTo>
                <a:lnTo>
                  <a:pt x="2020062" y="44957"/>
                </a:lnTo>
                <a:close/>
              </a:path>
              <a:path w="3430270" h="150495">
                <a:moveTo>
                  <a:pt x="2286762" y="51053"/>
                </a:moveTo>
                <a:lnTo>
                  <a:pt x="2134362" y="47243"/>
                </a:lnTo>
                <a:lnTo>
                  <a:pt x="2133600" y="85343"/>
                </a:lnTo>
                <a:lnTo>
                  <a:pt x="2286000" y="89153"/>
                </a:lnTo>
                <a:lnTo>
                  <a:pt x="2286762" y="51053"/>
                </a:lnTo>
                <a:close/>
              </a:path>
              <a:path w="3430270" h="150495">
                <a:moveTo>
                  <a:pt x="2553462" y="56387"/>
                </a:moveTo>
                <a:lnTo>
                  <a:pt x="2401062" y="53339"/>
                </a:lnTo>
                <a:lnTo>
                  <a:pt x="2400300" y="91439"/>
                </a:lnTo>
                <a:lnTo>
                  <a:pt x="2552700" y="94487"/>
                </a:lnTo>
                <a:lnTo>
                  <a:pt x="2553462" y="56387"/>
                </a:lnTo>
                <a:close/>
              </a:path>
              <a:path w="3430270" h="150495">
                <a:moveTo>
                  <a:pt x="2820162" y="62483"/>
                </a:moveTo>
                <a:lnTo>
                  <a:pt x="2667762" y="59435"/>
                </a:lnTo>
                <a:lnTo>
                  <a:pt x="2667000" y="97535"/>
                </a:lnTo>
                <a:lnTo>
                  <a:pt x="2818638" y="100583"/>
                </a:lnTo>
                <a:lnTo>
                  <a:pt x="2820162" y="62483"/>
                </a:lnTo>
                <a:close/>
              </a:path>
              <a:path w="3430270" h="150495">
                <a:moveTo>
                  <a:pt x="3086849" y="68579"/>
                </a:moveTo>
                <a:lnTo>
                  <a:pt x="2934449" y="65531"/>
                </a:lnTo>
                <a:lnTo>
                  <a:pt x="2932938" y="102869"/>
                </a:lnTo>
                <a:lnTo>
                  <a:pt x="3085338" y="106679"/>
                </a:lnTo>
                <a:lnTo>
                  <a:pt x="3086849" y="68579"/>
                </a:lnTo>
                <a:close/>
              </a:path>
              <a:path w="3430270" h="150495">
                <a:moveTo>
                  <a:pt x="3315973" y="73478"/>
                </a:moveTo>
                <a:lnTo>
                  <a:pt x="3200400" y="70865"/>
                </a:lnTo>
                <a:lnTo>
                  <a:pt x="3199637" y="108965"/>
                </a:lnTo>
                <a:lnTo>
                  <a:pt x="3314961" y="111586"/>
                </a:lnTo>
                <a:lnTo>
                  <a:pt x="3315973" y="73478"/>
                </a:lnTo>
                <a:close/>
              </a:path>
              <a:path w="3430270" h="150495">
                <a:moveTo>
                  <a:pt x="3335261" y="140012"/>
                </a:moveTo>
                <a:lnTo>
                  <a:pt x="3335261" y="73913"/>
                </a:lnTo>
                <a:lnTo>
                  <a:pt x="3333750" y="112013"/>
                </a:lnTo>
                <a:lnTo>
                  <a:pt x="3314961" y="111586"/>
                </a:lnTo>
                <a:lnTo>
                  <a:pt x="3313937" y="150113"/>
                </a:lnTo>
                <a:lnTo>
                  <a:pt x="3335261" y="140012"/>
                </a:lnTo>
                <a:close/>
              </a:path>
              <a:path w="3430270" h="150495">
                <a:moveTo>
                  <a:pt x="3335261" y="73913"/>
                </a:moveTo>
                <a:lnTo>
                  <a:pt x="3315973" y="73478"/>
                </a:lnTo>
                <a:lnTo>
                  <a:pt x="3314961" y="111586"/>
                </a:lnTo>
                <a:lnTo>
                  <a:pt x="3333750" y="112013"/>
                </a:lnTo>
                <a:lnTo>
                  <a:pt x="3335261" y="73913"/>
                </a:lnTo>
                <a:close/>
              </a:path>
              <a:path w="3430270" h="150495">
                <a:moveTo>
                  <a:pt x="3429749" y="95249"/>
                </a:moveTo>
                <a:lnTo>
                  <a:pt x="3316973" y="35813"/>
                </a:lnTo>
                <a:lnTo>
                  <a:pt x="3315973" y="73478"/>
                </a:lnTo>
                <a:lnTo>
                  <a:pt x="3335261" y="73913"/>
                </a:lnTo>
                <a:lnTo>
                  <a:pt x="3335261" y="140012"/>
                </a:lnTo>
                <a:lnTo>
                  <a:pt x="3429749" y="9524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71939" y="5575046"/>
            <a:ext cx="2895600" cy="114300"/>
          </a:xfrm>
          <a:custGeom>
            <a:avLst/>
            <a:gdLst/>
            <a:ahLst/>
            <a:cxnLst/>
            <a:rect l="l" t="t" r="r" b="b"/>
            <a:pathLst>
              <a:path w="2895600" h="114300">
                <a:moveTo>
                  <a:pt x="152400" y="76200"/>
                </a:moveTo>
                <a:lnTo>
                  <a:pt x="152400" y="38100"/>
                </a:ln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close/>
              </a:path>
              <a:path w="2895600" h="114300">
                <a:moveTo>
                  <a:pt x="419100" y="76200"/>
                </a:moveTo>
                <a:lnTo>
                  <a:pt x="419100" y="38100"/>
                </a:lnTo>
                <a:lnTo>
                  <a:pt x="266700" y="38100"/>
                </a:lnTo>
                <a:lnTo>
                  <a:pt x="266700" y="76200"/>
                </a:lnTo>
                <a:lnTo>
                  <a:pt x="419100" y="76200"/>
                </a:lnTo>
                <a:close/>
              </a:path>
              <a:path w="2895600" h="114300">
                <a:moveTo>
                  <a:pt x="685800" y="76200"/>
                </a:moveTo>
                <a:lnTo>
                  <a:pt x="685800" y="38100"/>
                </a:lnTo>
                <a:lnTo>
                  <a:pt x="533400" y="38100"/>
                </a:lnTo>
                <a:lnTo>
                  <a:pt x="533400" y="76200"/>
                </a:lnTo>
                <a:lnTo>
                  <a:pt x="685800" y="76200"/>
                </a:lnTo>
                <a:close/>
              </a:path>
              <a:path w="2895600" h="114300">
                <a:moveTo>
                  <a:pt x="952500" y="76200"/>
                </a:moveTo>
                <a:lnTo>
                  <a:pt x="952500" y="38100"/>
                </a:lnTo>
                <a:lnTo>
                  <a:pt x="800100" y="38100"/>
                </a:lnTo>
                <a:lnTo>
                  <a:pt x="800100" y="76200"/>
                </a:lnTo>
                <a:lnTo>
                  <a:pt x="952500" y="76200"/>
                </a:lnTo>
                <a:close/>
              </a:path>
              <a:path w="2895600" h="114300">
                <a:moveTo>
                  <a:pt x="1219200" y="76200"/>
                </a:moveTo>
                <a:lnTo>
                  <a:pt x="1219200" y="38100"/>
                </a:lnTo>
                <a:lnTo>
                  <a:pt x="1066800" y="38100"/>
                </a:lnTo>
                <a:lnTo>
                  <a:pt x="1066800" y="76200"/>
                </a:lnTo>
                <a:lnTo>
                  <a:pt x="1219200" y="76200"/>
                </a:lnTo>
                <a:close/>
              </a:path>
              <a:path w="2895600" h="114300">
                <a:moveTo>
                  <a:pt x="1485900" y="76200"/>
                </a:moveTo>
                <a:lnTo>
                  <a:pt x="1485900" y="38100"/>
                </a:lnTo>
                <a:lnTo>
                  <a:pt x="1333500" y="38100"/>
                </a:lnTo>
                <a:lnTo>
                  <a:pt x="1333500" y="76200"/>
                </a:lnTo>
                <a:lnTo>
                  <a:pt x="1485900" y="76200"/>
                </a:lnTo>
                <a:close/>
              </a:path>
              <a:path w="2895600" h="114300">
                <a:moveTo>
                  <a:pt x="1752600" y="76200"/>
                </a:moveTo>
                <a:lnTo>
                  <a:pt x="1752600" y="38100"/>
                </a:lnTo>
                <a:lnTo>
                  <a:pt x="1600200" y="38100"/>
                </a:lnTo>
                <a:lnTo>
                  <a:pt x="1600200" y="76200"/>
                </a:lnTo>
                <a:lnTo>
                  <a:pt x="1752600" y="76200"/>
                </a:lnTo>
                <a:close/>
              </a:path>
              <a:path w="2895600" h="114300">
                <a:moveTo>
                  <a:pt x="2019300" y="76200"/>
                </a:moveTo>
                <a:lnTo>
                  <a:pt x="2019300" y="38100"/>
                </a:lnTo>
                <a:lnTo>
                  <a:pt x="1866900" y="38100"/>
                </a:lnTo>
                <a:lnTo>
                  <a:pt x="1866900" y="76200"/>
                </a:lnTo>
                <a:lnTo>
                  <a:pt x="2019300" y="76200"/>
                </a:lnTo>
                <a:close/>
              </a:path>
              <a:path w="2895600" h="114300">
                <a:moveTo>
                  <a:pt x="2286000" y="76200"/>
                </a:moveTo>
                <a:lnTo>
                  <a:pt x="2286000" y="38100"/>
                </a:lnTo>
                <a:lnTo>
                  <a:pt x="2133600" y="38100"/>
                </a:lnTo>
                <a:lnTo>
                  <a:pt x="2133600" y="76200"/>
                </a:lnTo>
                <a:lnTo>
                  <a:pt x="2286000" y="76200"/>
                </a:lnTo>
                <a:close/>
              </a:path>
              <a:path w="2895600" h="114300">
                <a:moveTo>
                  <a:pt x="2552700" y="76200"/>
                </a:moveTo>
                <a:lnTo>
                  <a:pt x="2552700" y="38100"/>
                </a:lnTo>
                <a:lnTo>
                  <a:pt x="2400300" y="38100"/>
                </a:lnTo>
                <a:lnTo>
                  <a:pt x="2400300" y="76200"/>
                </a:lnTo>
                <a:lnTo>
                  <a:pt x="2552700" y="76200"/>
                </a:lnTo>
                <a:close/>
              </a:path>
              <a:path w="2895600" h="114300">
                <a:moveTo>
                  <a:pt x="2800350" y="76200"/>
                </a:moveTo>
                <a:lnTo>
                  <a:pt x="2800350" y="38100"/>
                </a:lnTo>
                <a:lnTo>
                  <a:pt x="2667000" y="38100"/>
                </a:lnTo>
                <a:lnTo>
                  <a:pt x="2667000" y="76200"/>
                </a:lnTo>
                <a:lnTo>
                  <a:pt x="2800350" y="76200"/>
                </a:lnTo>
                <a:close/>
              </a:path>
              <a:path w="2895600" h="114300">
                <a:moveTo>
                  <a:pt x="2895587" y="57150"/>
                </a:moveTo>
                <a:lnTo>
                  <a:pt x="2781300" y="0"/>
                </a:lnTo>
                <a:lnTo>
                  <a:pt x="2781300" y="38100"/>
                </a:lnTo>
                <a:lnTo>
                  <a:pt x="2800350" y="38100"/>
                </a:lnTo>
                <a:lnTo>
                  <a:pt x="2800350" y="104773"/>
                </a:lnTo>
                <a:lnTo>
                  <a:pt x="2895587" y="57150"/>
                </a:lnTo>
                <a:close/>
              </a:path>
              <a:path w="2895600" h="114300">
                <a:moveTo>
                  <a:pt x="2800350" y="104773"/>
                </a:moveTo>
                <a:lnTo>
                  <a:pt x="2800350" y="76200"/>
                </a:lnTo>
                <a:lnTo>
                  <a:pt x="2781300" y="76200"/>
                </a:lnTo>
                <a:lnTo>
                  <a:pt x="2781300" y="114300"/>
                </a:lnTo>
                <a:lnTo>
                  <a:pt x="2800350" y="10477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075" y="673354"/>
            <a:ext cx="57531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Grouping </a:t>
            </a:r>
            <a:r>
              <a:rPr spc="-5" dirty="0"/>
              <a:t>of </a:t>
            </a:r>
            <a:r>
              <a:rPr spc="-10" dirty="0"/>
              <a:t>Compiler</a:t>
            </a:r>
            <a:r>
              <a:rPr spc="-5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92655"/>
            <a:ext cx="7211695" cy="393192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Front</a:t>
            </a:r>
            <a:r>
              <a:rPr sz="3200" spc="-10" dirty="0">
                <a:latin typeface="Arial"/>
                <a:cs typeface="Arial"/>
              </a:rPr>
              <a:t> end</a:t>
            </a:r>
            <a:endParaRPr sz="3200">
              <a:latin typeface="Arial"/>
              <a:cs typeface="Arial"/>
            </a:endParaRPr>
          </a:p>
          <a:p>
            <a:pPr marL="755650" marR="43815" lvl="1" indent="-285750">
              <a:lnSpc>
                <a:spcPct val="100000"/>
              </a:lnSpc>
              <a:spcBef>
                <a:spcPts val="690"/>
              </a:spcBef>
              <a:buFont typeface="MS UI Gothic"/>
              <a:buChar char="❖"/>
              <a:tabLst>
                <a:tab pos="887094" algn="l"/>
              </a:tabLst>
            </a:pPr>
            <a:r>
              <a:rPr sz="2800" dirty="0">
                <a:latin typeface="Arial"/>
                <a:cs typeface="Arial"/>
              </a:rPr>
              <a:t>Consist of those phases that depend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  the source language but largely  independent of the target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machine.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Back</a:t>
            </a:r>
            <a:r>
              <a:rPr sz="3200" spc="-10" dirty="0">
                <a:latin typeface="Arial"/>
                <a:cs typeface="Arial"/>
              </a:rPr>
              <a:t> end</a:t>
            </a:r>
            <a:endParaRPr sz="32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90"/>
              </a:spcBef>
              <a:buFont typeface="MS UI Gothic"/>
              <a:buChar char="❖"/>
              <a:tabLst>
                <a:tab pos="887094" algn="l"/>
              </a:tabLst>
            </a:pPr>
            <a:r>
              <a:rPr sz="2800" dirty="0">
                <a:latin typeface="Arial"/>
                <a:cs typeface="Arial"/>
              </a:rPr>
              <a:t>Consist of those phases that are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usually  target machine dependent such as  optimization and code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generation.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783" y="700024"/>
            <a:ext cx="73755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Common Back-end Compiling</a:t>
            </a:r>
            <a:r>
              <a:rPr spc="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739" y="1669795"/>
            <a:ext cx="1676400" cy="914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2075"/>
              </a:spcBef>
            </a:pPr>
            <a:r>
              <a:rPr sz="2400" spc="-5" dirty="0">
                <a:latin typeface="Times New Roman"/>
                <a:cs typeface="Times New Roman"/>
              </a:rPr>
              <a:t>Fortran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539" y="1669795"/>
            <a:ext cx="1676400" cy="914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2075"/>
              </a:spcBef>
            </a:pPr>
            <a:r>
              <a:rPr sz="2400" spc="-5" dirty="0">
                <a:latin typeface="Times New Roman"/>
                <a:cs typeface="Times New Roman"/>
              </a:rPr>
              <a:t>C/C++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4139" y="1669795"/>
            <a:ext cx="1676400" cy="914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2075"/>
              </a:spcBef>
            </a:pPr>
            <a:r>
              <a:rPr sz="2400" dirty="0">
                <a:latin typeface="Times New Roman"/>
                <a:cs typeface="Times New Roman"/>
              </a:rPr>
              <a:t>Pascal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1527" y="1669795"/>
            <a:ext cx="1676400" cy="914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464820">
              <a:lnSpc>
                <a:spcPct val="100000"/>
              </a:lnSpc>
              <a:spcBef>
                <a:spcPts val="2075"/>
              </a:spcBef>
            </a:pPr>
            <a:r>
              <a:rPr sz="2400" dirty="0">
                <a:latin typeface="Times New Roman"/>
                <a:cs typeface="Times New Roman"/>
              </a:rPr>
              <a:t>Cobol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5726" y="3041395"/>
            <a:ext cx="4495800" cy="914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2075"/>
              </a:spcBef>
            </a:pPr>
            <a:r>
              <a:rPr sz="2400" spc="-5" dirty="0">
                <a:latin typeface="Times New Roman"/>
                <a:cs typeface="Times New Roman"/>
              </a:rPr>
              <a:t>Common IR (e.g.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Ucode)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95726" y="4184396"/>
            <a:ext cx="4495800" cy="914400"/>
          </a:xfrm>
          <a:custGeom>
            <a:avLst/>
            <a:gdLst/>
            <a:ahLst/>
            <a:cxnLst/>
            <a:rect l="l" t="t" r="r" b="b"/>
            <a:pathLst>
              <a:path w="4495800" h="914400">
                <a:moveTo>
                  <a:pt x="0" y="0"/>
                </a:moveTo>
                <a:lnTo>
                  <a:pt x="0" y="914400"/>
                </a:lnTo>
                <a:lnTo>
                  <a:pt x="4495800" y="914400"/>
                </a:lnTo>
                <a:lnTo>
                  <a:pt x="44958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13713" y="4435347"/>
            <a:ext cx="1259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Optimizer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5726" y="5251196"/>
            <a:ext cx="4495800" cy="914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628650">
              <a:lnSpc>
                <a:spcPct val="100000"/>
              </a:lnSpc>
              <a:spcBef>
                <a:spcPts val="2075"/>
              </a:spcBef>
            </a:pPr>
            <a:r>
              <a:rPr sz="2400" dirty="0">
                <a:latin typeface="Times New Roman"/>
                <a:cs typeface="Times New Roman"/>
              </a:rPr>
              <a:t>Target </a:t>
            </a:r>
            <a:r>
              <a:rPr sz="2400" spc="-5" dirty="0">
                <a:latin typeface="Times New Roman"/>
                <a:cs typeface="Times New Roman"/>
              </a:rPr>
              <a:t>Machine Code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28177" y="2578100"/>
            <a:ext cx="3049270" cy="406400"/>
          </a:xfrm>
          <a:custGeom>
            <a:avLst/>
            <a:gdLst/>
            <a:ahLst/>
            <a:cxnLst/>
            <a:rect l="l" t="t" r="r" b="b"/>
            <a:pathLst>
              <a:path w="3049270" h="406400">
                <a:moveTo>
                  <a:pt x="2999299" y="374152"/>
                </a:moveTo>
                <a:lnTo>
                  <a:pt x="1524" y="0"/>
                </a:lnTo>
                <a:lnTo>
                  <a:pt x="0" y="12192"/>
                </a:lnTo>
                <a:lnTo>
                  <a:pt x="2997730" y="387098"/>
                </a:lnTo>
                <a:lnTo>
                  <a:pt x="2999299" y="374152"/>
                </a:lnTo>
                <a:close/>
              </a:path>
              <a:path w="3049270" h="406400">
                <a:moveTo>
                  <a:pt x="3011424" y="400431"/>
                </a:moveTo>
                <a:lnTo>
                  <a:pt x="3011424" y="375665"/>
                </a:lnTo>
                <a:lnTo>
                  <a:pt x="3009900" y="388620"/>
                </a:lnTo>
                <a:lnTo>
                  <a:pt x="2997730" y="387098"/>
                </a:lnTo>
                <a:lnTo>
                  <a:pt x="2995422" y="406146"/>
                </a:lnTo>
                <a:lnTo>
                  <a:pt x="3011424" y="400431"/>
                </a:lnTo>
                <a:close/>
              </a:path>
              <a:path w="3049270" h="406400">
                <a:moveTo>
                  <a:pt x="3011424" y="375665"/>
                </a:moveTo>
                <a:lnTo>
                  <a:pt x="2999299" y="374152"/>
                </a:lnTo>
                <a:lnTo>
                  <a:pt x="2997730" y="387098"/>
                </a:lnTo>
                <a:lnTo>
                  <a:pt x="3009900" y="388620"/>
                </a:lnTo>
                <a:lnTo>
                  <a:pt x="3011424" y="375665"/>
                </a:lnTo>
                <a:close/>
              </a:path>
              <a:path w="3049270" h="406400">
                <a:moveTo>
                  <a:pt x="3048762" y="387096"/>
                </a:moveTo>
                <a:lnTo>
                  <a:pt x="3001518" y="355853"/>
                </a:lnTo>
                <a:lnTo>
                  <a:pt x="2999299" y="374152"/>
                </a:lnTo>
                <a:lnTo>
                  <a:pt x="3011424" y="375665"/>
                </a:lnTo>
                <a:lnTo>
                  <a:pt x="3011424" y="400431"/>
                </a:lnTo>
                <a:lnTo>
                  <a:pt x="3048762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36453" y="2578100"/>
            <a:ext cx="840740" cy="389890"/>
          </a:xfrm>
          <a:custGeom>
            <a:avLst/>
            <a:gdLst/>
            <a:ahLst/>
            <a:cxnLst/>
            <a:rect l="l" t="t" r="r" b="b"/>
            <a:pathLst>
              <a:path w="840739" h="389889">
                <a:moveTo>
                  <a:pt x="796649" y="360376"/>
                </a:moveTo>
                <a:lnTo>
                  <a:pt x="4571" y="0"/>
                </a:lnTo>
                <a:lnTo>
                  <a:pt x="0" y="12191"/>
                </a:lnTo>
                <a:lnTo>
                  <a:pt x="791385" y="371844"/>
                </a:lnTo>
                <a:lnTo>
                  <a:pt x="796649" y="360376"/>
                </a:lnTo>
                <a:close/>
              </a:path>
              <a:path w="840739" h="389889">
                <a:moveTo>
                  <a:pt x="808481" y="388376"/>
                </a:moveTo>
                <a:lnTo>
                  <a:pt x="808481" y="365760"/>
                </a:lnTo>
                <a:lnTo>
                  <a:pt x="803148" y="377189"/>
                </a:lnTo>
                <a:lnTo>
                  <a:pt x="791385" y="371844"/>
                </a:lnTo>
                <a:lnTo>
                  <a:pt x="783336" y="389382"/>
                </a:lnTo>
                <a:lnTo>
                  <a:pt x="808481" y="388376"/>
                </a:lnTo>
                <a:close/>
              </a:path>
              <a:path w="840739" h="389889">
                <a:moveTo>
                  <a:pt x="808481" y="365760"/>
                </a:moveTo>
                <a:lnTo>
                  <a:pt x="796649" y="360376"/>
                </a:lnTo>
                <a:lnTo>
                  <a:pt x="791385" y="371844"/>
                </a:lnTo>
                <a:lnTo>
                  <a:pt x="803148" y="377189"/>
                </a:lnTo>
                <a:lnTo>
                  <a:pt x="808481" y="365760"/>
                </a:lnTo>
                <a:close/>
              </a:path>
              <a:path w="840739" h="389889">
                <a:moveTo>
                  <a:pt x="840486" y="387096"/>
                </a:moveTo>
                <a:lnTo>
                  <a:pt x="804671" y="342900"/>
                </a:lnTo>
                <a:lnTo>
                  <a:pt x="796649" y="360376"/>
                </a:lnTo>
                <a:lnTo>
                  <a:pt x="808481" y="365760"/>
                </a:lnTo>
                <a:lnTo>
                  <a:pt x="808481" y="388376"/>
                </a:lnTo>
                <a:lnTo>
                  <a:pt x="840486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53139" y="2578100"/>
            <a:ext cx="1221105" cy="396240"/>
          </a:xfrm>
          <a:custGeom>
            <a:avLst/>
            <a:gdLst/>
            <a:ahLst/>
            <a:cxnLst/>
            <a:rect l="l" t="t" r="r" b="b"/>
            <a:pathLst>
              <a:path w="1221104" h="396239">
                <a:moveTo>
                  <a:pt x="46829" y="365651"/>
                </a:moveTo>
                <a:lnTo>
                  <a:pt x="41147" y="347472"/>
                </a:lnTo>
                <a:lnTo>
                  <a:pt x="0" y="387096"/>
                </a:lnTo>
                <a:lnTo>
                  <a:pt x="34289" y="392656"/>
                </a:lnTo>
                <a:lnTo>
                  <a:pt x="34289" y="369570"/>
                </a:lnTo>
                <a:lnTo>
                  <a:pt x="46829" y="365651"/>
                </a:lnTo>
                <a:close/>
              </a:path>
              <a:path w="1221104" h="396239">
                <a:moveTo>
                  <a:pt x="50639" y="377843"/>
                </a:moveTo>
                <a:lnTo>
                  <a:pt x="46829" y="365651"/>
                </a:lnTo>
                <a:lnTo>
                  <a:pt x="34289" y="369570"/>
                </a:lnTo>
                <a:lnTo>
                  <a:pt x="38100" y="381762"/>
                </a:lnTo>
                <a:lnTo>
                  <a:pt x="50639" y="377843"/>
                </a:lnTo>
                <a:close/>
              </a:path>
              <a:path w="1221104" h="396239">
                <a:moveTo>
                  <a:pt x="56387" y="396239"/>
                </a:moveTo>
                <a:lnTo>
                  <a:pt x="50639" y="377843"/>
                </a:lnTo>
                <a:lnTo>
                  <a:pt x="38100" y="381762"/>
                </a:lnTo>
                <a:lnTo>
                  <a:pt x="34289" y="369570"/>
                </a:lnTo>
                <a:lnTo>
                  <a:pt x="34289" y="392656"/>
                </a:lnTo>
                <a:lnTo>
                  <a:pt x="56387" y="396239"/>
                </a:lnTo>
                <a:close/>
              </a:path>
              <a:path w="1221104" h="396239">
                <a:moveTo>
                  <a:pt x="1220711" y="12191"/>
                </a:moveTo>
                <a:lnTo>
                  <a:pt x="1216914" y="0"/>
                </a:lnTo>
                <a:lnTo>
                  <a:pt x="46829" y="365651"/>
                </a:lnTo>
                <a:lnTo>
                  <a:pt x="50639" y="377843"/>
                </a:lnTo>
                <a:lnTo>
                  <a:pt x="1220711" y="1219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05539" y="2578100"/>
            <a:ext cx="3125470" cy="406400"/>
          </a:xfrm>
          <a:custGeom>
            <a:avLst/>
            <a:gdLst/>
            <a:ahLst/>
            <a:cxnLst/>
            <a:rect l="l" t="t" r="r" b="b"/>
            <a:pathLst>
              <a:path w="3125470" h="406400">
                <a:moveTo>
                  <a:pt x="49557" y="374937"/>
                </a:moveTo>
                <a:lnTo>
                  <a:pt x="47243" y="355853"/>
                </a:lnTo>
                <a:lnTo>
                  <a:pt x="0" y="387096"/>
                </a:lnTo>
                <a:lnTo>
                  <a:pt x="37337" y="400431"/>
                </a:lnTo>
                <a:lnTo>
                  <a:pt x="37337" y="376427"/>
                </a:lnTo>
                <a:lnTo>
                  <a:pt x="49557" y="374937"/>
                </a:lnTo>
                <a:close/>
              </a:path>
              <a:path w="3125470" h="406400">
                <a:moveTo>
                  <a:pt x="51035" y="387135"/>
                </a:moveTo>
                <a:lnTo>
                  <a:pt x="49557" y="374937"/>
                </a:lnTo>
                <a:lnTo>
                  <a:pt x="37337" y="376427"/>
                </a:lnTo>
                <a:lnTo>
                  <a:pt x="38862" y="388620"/>
                </a:lnTo>
                <a:lnTo>
                  <a:pt x="51035" y="387135"/>
                </a:lnTo>
                <a:close/>
              </a:path>
              <a:path w="3125470" h="406400">
                <a:moveTo>
                  <a:pt x="53339" y="406146"/>
                </a:moveTo>
                <a:lnTo>
                  <a:pt x="51035" y="387135"/>
                </a:lnTo>
                <a:lnTo>
                  <a:pt x="38862" y="388620"/>
                </a:lnTo>
                <a:lnTo>
                  <a:pt x="37337" y="376427"/>
                </a:lnTo>
                <a:lnTo>
                  <a:pt x="37337" y="400431"/>
                </a:lnTo>
                <a:lnTo>
                  <a:pt x="53339" y="406146"/>
                </a:lnTo>
                <a:close/>
              </a:path>
              <a:path w="3125470" h="406400">
                <a:moveTo>
                  <a:pt x="3124949" y="12191"/>
                </a:moveTo>
                <a:lnTo>
                  <a:pt x="3123438" y="0"/>
                </a:lnTo>
                <a:lnTo>
                  <a:pt x="49557" y="374937"/>
                </a:lnTo>
                <a:lnTo>
                  <a:pt x="51035" y="387135"/>
                </a:lnTo>
                <a:lnTo>
                  <a:pt x="3124949" y="1219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39067" y="5022596"/>
            <a:ext cx="85343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39067" y="39557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218693"/>
                </a:moveTo>
                <a:lnTo>
                  <a:pt x="0" y="218693"/>
                </a:lnTo>
                <a:lnTo>
                  <a:pt x="28194" y="275585"/>
                </a:lnTo>
                <a:lnTo>
                  <a:pt x="28194" y="233172"/>
                </a:lnTo>
                <a:lnTo>
                  <a:pt x="57150" y="233172"/>
                </a:lnTo>
                <a:lnTo>
                  <a:pt x="57150" y="275585"/>
                </a:lnTo>
                <a:lnTo>
                  <a:pt x="85343" y="218693"/>
                </a:lnTo>
                <a:close/>
              </a:path>
              <a:path w="85725" h="304800">
                <a:moveTo>
                  <a:pt x="57150" y="2186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18693"/>
                </a:lnTo>
                <a:lnTo>
                  <a:pt x="57150" y="218693"/>
                </a:lnTo>
                <a:close/>
              </a:path>
              <a:path w="85725" h="304800">
                <a:moveTo>
                  <a:pt x="57150" y="275585"/>
                </a:moveTo>
                <a:lnTo>
                  <a:pt x="57150" y="233172"/>
                </a:lnTo>
                <a:lnTo>
                  <a:pt x="28194" y="233172"/>
                </a:lnTo>
                <a:lnTo>
                  <a:pt x="28194" y="275585"/>
                </a:lnTo>
                <a:lnTo>
                  <a:pt x="42672" y="304800"/>
                </a:lnTo>
                <a:lnTo>
                  <a:pt x="57150" y="2755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18" name="object 18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2405" y="418845"/>
            <a:ext cx="35204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Compiling</a:t>
            </a:r>
            <a:r>
              <a:rPr spc="-40" dirty="0"/>
              <a:t> </a:t>
            </a:r>
            <a:r>
              <a:rPr spc="-10" dirty="0"/>
              <a:t>Passes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08100"/>
            <a:ext cx="7200900" cy="4552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Several phases can be implemented as a  single pass consist of reading an input file  and </a:t>
            </a:r>
            <a:r>
              <a:rPr sz="3200" spc="-10" dirty="0">
                <a:latin typeface="Times New Roman"/>
                <a:cs typeface="Times New Roman"/>
              </a:rPr>
              <a:t>writing </a:t>
            </a:r>
            <a:r>
              <a:rPr sz="3200" spc="-5" dirty="0">
                <a:latin typeface="Times New Roman"/>
                <a:cs typeface="Times New Roman"/>
              </a:rPr>
              <a:t>an output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file.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 typical multi-pass compiler looks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like: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First pass: preprocessing, macro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expansion</a:t>
            </a:r>
            <a:endParaRPr sz="2800">
              <a:latin typeface="Times New Roman"/>
              <a:cs typeface="Times New Roman"/>
            </a:endParaRPr>
          </a:p>
          <a:p>
            <a:pPr marL="755650" marR="19304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Second pass: syntax-directed translation, IR  code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generation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Third pass: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optimization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Last pass: target machine code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4515" y="536194"/>
            <a:ext cx="8005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0" dirty="0"/>
              <a:t>Short History </a:t>
            </a:r>
            <a:r>
              <a:rPr spc="-5" dirty="0"/>
              <a:t>of </a:t>
            </a:r>
            <a:r>
              <a:rPr spc="-10" dirty="0"/>
              <a:t>Compiler</a:t>
            </a:r>
            <a:r>
              <a:rPr spc="5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990739" y="1593596"/>
            <a:ext cx="8001000" cy="4800600"/>
          </a:xfrm>
          <a:custGeom>
            <a:avLst/>
            <a:gdLst/>
            <a:ahLst/>
            <a:cxnLst/>
            <a:rect l="l" t="t" r="r" b="b"/>
            <a:pathLst>
              <a:path w="8001000" h="4800600">
                <a:moveTo>
                  <a:pt x="0" y="0"/>
                </a:moveTo>
                <a:lnTo>
                  <a:pt x="0" y="4800600"/>
                </a:lnTo>
                <a:lnTo>
                  <a:pt x="8001000" y="4800600"/>
                </a:lnTo>
                <a:lnTo>
                  <a:pt x="80010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74808" y="1431254"/>
            <a:ext cx="7556500" cy="4286885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65"/>
              </a:spcBef>
              <a:buChar char="•"/>
              <a:tabLst>
                <a:tab pos="354965" algn="l"/>
                <a:tab pos="355600" algn="l"/>
                <a:tab pos="3670935" algn="l"/>
              </a:tabLst>
            </a:pPr>
            <a:r>
              <a:rPr sz="3200" spc="-5" dirty="0">
                <a:latin typeface="Times New Roman"/>
                <a:cs typeface="Times New Roman"/>
              </a:rPr>
              <a:t>1945—1960	Code Generation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100"/>
              </a:spcBef>
            </a:pPr>
            <a:r>
              <a:rPr sz="2400" spc="-5" dirty="0">
                <a:latin typeface="Times New Roman"/>
                <a:cs typeface="Times New Roman"/>
              </a:rPr>
              <a:t>How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generate </a:t>
            </a:r>
            <a:r>
              <a:rPr sz="2400" dirty="0">
                <a:latin typeface="Times New Roman"/>
                <a:cs typeface="Times New Roman"/>
              </a:rPr>
              <a:t>code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given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machine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755"/>
              </a:spcBef>
            </a:pPr>
            <a:r>
              <a:rPr sz="2400" spc="-5" dirty="0">
                <a:latin typeface="Times New Roman"/>
                <a:cs typeface="Times New Roman"/>
              </a:rPr>
              <a:t>The goal was to match the efficiency of assembly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coding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  <a:tab pos="3670300" algn="l"/>
              </a:tabLst>
            </a:pPr>
            <a:r>
              <a:rPr sz="3200" spc="-5" dirty="0">
                <a:latin typeface="Times New Roman"/>
                <a:cs typeface="Times New Roman"/>
              </a:rPr>
              <a:t>1960—1975	Parsing</a:t>
            </a:r>
            <a:endParaRPr sz="3200">
              <a:latin typeface="Times New Roman"/>
              <a:cs typeface="Times New Roman"/>
            </a:endParaRPr>
          </a:p>
          <a:p>
            <a:pPr marL="354965" marR="5080">
              <a:lnSpc>
                <a:spcPct val="102699"/>
              </a:lnSpc>
              <a:spcBef>
                <a:spcPts val="1025"/>
              </a:spcBef>
            </a:pPr>
            <a:r>
              <a:rPr sz="2400" spc="-5" dirty="0">
                <a:latin typeface="Times New Roman"/>
                <a:cs typeface="Times New Roman"/>
              </a:rPr>
              <a:t>Many new languages came out. Automatic parsing became  more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important.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1975—presentCode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Optimization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695"/>
              </a:spcBef>
            </a:pPr>
            <a:r>
              <a:rPr sz="2800" spc="-5" dirty="0">
                <a:latin typeface="Times New Roman"/>
                <a:cs typeface="Times New Roman"/>
              </a:rPr>
              <a:t>RISC machines. Multiprocessors (SMP,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CMP)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3409" y="418845"/>
            <a:ext cx="42170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Cousins </a:t>
            </a:r>
            <a:r>
              <a:rPr spc="-5" dirty="0"/>
              <a:t>of</a:t>
            </a:r>
            <a:r>
              <a:rPr spc="-40" dirty="0"/>
              <a:t> </a:t>
            </a:r>
            <a:r>
              <a:rPr spc="-10" dirty="0"/>
              <a:t>Compilers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25351"/>
            <a:ext cx="7093584" cy="48514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Preprocessors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Assemblers</a:t>
            </a:r>
            <a:endParaRPr sz="2800">
              <a:latin typeface="Times New Roman"/>
              <a:cs typeface="Times New Roman"/>
            </a:endParaRPr>
          </a:p>
          <a:p>
            <a:pPr marL="755650" marR="391160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Compiler may produce assembly code instead of  generating relocatable machine code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directly.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Loaders 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Linkers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Loader </a:t>
            </a:r>
            <a:r>
              <a:rPr sz="2400" dirty="0">
                <a:latin typeface="Times New Roman"/>
                <a:cs typeface="Times New Roman"/>
              </a:rPr>
              <a:t>copies code and </a:t>
            </a:r>
            <a:r>
              <a:rPr sz="2400" spc="-5" dirty="0">
                <a:latin typeface="Times New Roman"/>
                <a:cs typeface="Times New Roman"/>
              </a:rPr>
              <a:t>data into memory, allocates  storage, setting protection bits, mapping virtual  </a:t>
            </a:r>
            <a:r>
              <a:rPr sz="2400" dirty="0">
                <a:latin typeface="Times New Roman"/>
                <a:cs typeface="Times New Roman"/>
              </a:rPr>
              <a:t>addresses, ..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</a:t>
            </a:r>
            <a:endParaRPr sz="2400">
              <a:latin typeface="Times New Roman"/>
              <a:cs typeface="Times New Roman"/>
            </a:endParaRPr>
          </a:p>
          <a:p>
            <a:pPr marL="755650" marR="654685" lvl="1" indent="-285750">
              <a:lnSpc>
                <a:spcPct val="100000"/>
              </a:lnSpc>
              <a:spcBef>
                <a:spcPts val="56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Linker handles relocation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resolves symbol  references.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Debugger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879" y="418845"/>
            <a:ext cx="58394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Compiler Constructions</a:t>
            </a:r>
            <a:r>
              <a:rPr spc="5" dirty="0"/>
              <a:t> </a:t>
            </a:r>
            <a:r>
              <a:rPr spc="-1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08100"/>
            <a:ext cx="7570470" cy="463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First </a:t>
            </a:r>
            <a:r>
              <a:rPr sz="3200" spc="-10" dirty="0">
                <a:latin typeface="Times New Roman"/>
                <a:cs typeface="Times New Roman"/>
              </a:rPr>
              <a:t>Fortran </a:t>
            </a:r>
            <a:r>
              <a:rPr sz="3200" spc="-5" dirty="0">
                <a:latin typeface="Times New Roman"/>
                <a:cs typeface="Times New Roman"/>
              </a:rPr>
              <a:t>compiler took 18 person-years.  Now with compiler construction tools, you  may build one in 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semester.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Translator </a:t>
            </a:r>
            <a:r>
              <a:rPr sz="3200" spc="-10" dirty="0">
                <a:latin typeface="Times New Roman"/>
                <a:cs typeface="Times New Roman"/>
              </a:rPr>
              <a:t>writing </a:t>
            </a:r>
            <a:r>
              <a:rPr sz="3200" spc="-5" dirty="0">
                <a:latin typeface="Times New Roman"/>
                <a:cs typeface="Times New Roman"/>
              </a:rPr>
              <a:t>tools: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Scanner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generator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Parser generator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Syntax directed translation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engines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Automatic code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generator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 flow analyzer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generator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07" y="342645"/>
            <a:ext cx="7370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Cross-Compilation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10" dirty="0"/>
              <a:t>Bootstrapping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435" y="1267713"/>
            <a:ext cx="8216265" cy="46539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ct val="899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Intel introduced the new 64-bit architecture IA-  64, and a few generation of processors: Itanium,  McKinley, Madison,</a:t>
            </a:r>
            <a:r>
              <a:rPr sz="3200" dirty="0">
                <a:latin typeface="Times New Roman"/>
                <a:cs typeface="Times New Roman"/>
              </a:rPr>
              <a:t> Montecito</a:t>
            </a:r>
            <a:r>
              <a:rPr sz="3600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355600" marR="14604" indent="-228600">
              <a:lnSpc>
                <a:spcPts val="3890"/>
              </a:lnSpc>
              <a:spcBef>
                <a:spcPts val="919"/>
              </a:spcBef>
            </a:pPr>
            <a:r>
              <a:rPr sz="3600" spc="-5" dirty="0">
                <a:latin typeface="Times New Roman"/>
                <a:cs typeface="Times New Roman"/>
              </a:rPr>
              <a:t>Q: How </a:t>
            </a:r>
            <a:r>
              <a:rPr sz="3600" dirty="0">
                <a:latin typeface="Times New Roman"/>
                <a:cs typeface="Times New Roman"/>
              </a:rPr>
              <a:t>to create the first C compiler on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  </a:t>
            </a:r>
            <a:r>
              <a:rPr sz="3600" spc="-5" dirty="0">
                <a:latin typeface="Times New Roman"/>
                <a:cs typeface="Times New Roman"/>
              </a:rPr>
              <a:t>Itanium?</a:t>
            </a:r>
            <a:endParaRPr sz="3600">
              <a:latin typeface="Times New Roman"/>
              <a:cs typeface="Times New Roman"/>
            </a:endParaRPr>
          </a:p>
          <a:p>
            <a:pPr marL="355600" lvl="1">
              <a:lnSpc>
                <a:spcPct val="100000"/>
              </a:lnSpc>
              <a:spcBef>
                <a:spcPts val="370"/>
              </a:spcBef>
              <a:buSzPct val="112500"/>
              <a:buAutoNum type="alphaLcParenR"/>
              <a:tabLst>
                <a:tab pos="826135" algn="l"/>
              </a:tabLst>
            </a:pPr>
            <a:r>
              <a:rPr sz="3200" spc="-5" dirty="0">
                <a:latin typeface="Times New Roman"/>
                <a:cs typeface="Times New Roman"/>
              </a:rPr>
              <a:t>Write a C compiler in Itanium machine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code</a:t>
            </a:r>
            <a:endParaRPr sz="3200">
              <a:latin typeface="Times New Roman"/>
              <a:cs typeface="Times New Roman"/>
            </a:endParaRPr>
          </a:p>
          <a:p>
            <a:pPr marL="355600" marR="929640" lvl="1">
              <a:lnSpc>
                <a:spcPts val="3450"/>
              </a:lnSpc>
              <a:spcBef>
                <a:spcPts val="805"/>
              </a:spcBef>
              <a:buAutoNum type="alphaLcParenR"/>
              <a:tabLst>
                <a:tab pos="796290" algn="l"/>
              </a:tabLst>
            </a:pPr>
            <a:r>
              <a:rPr sz="3200" spc="-5" dirty="0">
                <a:latin typeface="Times New Roman"/>
                <a:cs typeface="Times New Roman"/>
              </a:rPr>
              <a:t>Develop a Cross-compiler (and use it to  compile itself into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C/Itanium).</a:t>
            </a:r>
            <a:endParaRPr sz="3200">
              <a:latin typeface="Times New Roman"/>
              <a:cs typeface="Times New Roman"/>
            </a:endParaRPr>
          </a:p>
          <a:p>
            <a:pPr marL="772795" lvl="1" indent="-417195">
              <a:lnSpc>
                <a:spcPct val="100000"/>
              </a:lnSpc>
              <a:spcBef>
                <a:spcPts val="325"/>
              </a:spcBef>
              <a:buAutoNum type="alphaLcParenR"/>
              <a:tabLst>
                <a:tab pos="773430" algn="l"/>
              </a:tabLst>
            </a:pPr>
            <a:r>
              <a:rPr sz="3200" spc="-5" dirty="0">
                <a:latin typeface="Times New Roman"/>
                <a:cs typeface="Times New Roman"/>
              </a:rPr>
              <a:t>Leave it 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MicroSoft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3990219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07" y="342645"/>
            <a:ext cx="7370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Cross-Compilation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10" dirty="0"/>
              <a:t>Bootstrapping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79144"/>
            <a:ext cx="7426325" cy="47472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437515" indent="-342900">
              <a:lnSpc>
                <a:spcPts val="2810"/>
              </a:lnSpc>
              <a:spcBef>
                <a:spcPts val="450"/>
              </a:spcBef>
              <a:buFont typeface="Times New Roman"/>
              <a:buChar char="•"/>
              <a:tabLst>
                <a:tab pos="354965" algn="l"/>
                <a:tab pos="356235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Quiz: How to create the first C compiler on </a:t>
            </a:r>
            <a:r>
              <a:rPr sz="2600" b="1" spc="-10" dirty="0">
                <a:latin typeface="Times New Roman"/>
                <a:cs typeface="Times New Roman"/>
              </a:rPr>
              <a:t>the  </a:t>
            </a:r>
            <a:r>
              <a:rPr sz="2600" b="1" spc="-5" dirty="0">
                <a:latin typeface="Times New Roman"/>
                <a:cs typeface="Times New Roman"/>
              </a:rPr>
              <a:t>new </a:t>
            </a:r>
            <a:r>
              <a:rPr sz="2600" b="1" spc="-10" dirty="0">
                <a:latin typeface="Times New Roman"/>
                <a:cs typeface="Times New Roman"/>
              </a:rPr>
              <a:t>Itanium </a:t>
            </a:r>
            <a:r>
              <a:rPr sz="2600" b="1" spc="-5" dirty="0">
                <a:latin typeface="Times New Roman"/>
                <a:cs typeface="Times New Roman"/>
              </a:rPr>
              <a:t>if no cross-compilers to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use?</a:t>
            </a: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Font typeface="Times New Roman"/>
              <a:buChar char="•"/>
              <a:tabLst>
                <a:tab pos="354965" algn="l"/>
                <a:tab pos="356235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Answer: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Bootstrapping.</a:t>
            </a:r>
            <a:endParaRPr sz="2600">
              <a:latin typeface="Times New Roman"/>
              <a:cs typeface="Times New Roman"/>
            </a:endParaRPr>
          </a:p>
          <a:p>
            <a:pPr marL="355600" marR="696595" algn="just">
              <a:lnSpc>
                <a:spcPct val="90100"/>
              </a:lnSpc>
              <a:spcBef>
                <a:spcPts val="625"/>
              </a:spcBef>
            </a:pPr>
            <a:r>
              <a:rPr sz="2600" spc="-5" dirty="0">
                <a:latin typeface="Times New Roman"/>
                <a:cs typeface="Times New Roman"/>
              </a:rPr>
              <a:t>A subset of C is </a:t>
            </a:r>
            <a:r>
              <a:rPr sz="2600" spc="-10" dirty="0">
                <a:latin typeface="Times New Roman"/>
                <a:cs typeface="Times New Roman"/>
              </a:rPr>
              <a:t>selected </a:t>
            </a:r>
            <a:r>
              <a:rPr sz="2600" spc="-5" dirty="0">
                <a:latin typeface="Times New Roman"/>
                <a:cs typeface="Times New Roman"/>
              </a:rPr>
              <a:t>(e.g. C--) and a </a:t>
            </a:r>
            <a:r>
              <a:rPr sz="2600" spc="-10" dirty="0">
                <a:latin typeface="Times New Roman"/>
                <a:cs typeface="Times New Roman"/>
              </a:rPr>
              <a:t>simple  </a:t>
            </a:r>
            <a:r>
              <a:rPr sz="2600" spc="-5" dirty="0">
                <a:latin typeface="Times New Roman"/>
                <a:cs typeface="Times New Roman"/>
              </a:rPr>
              <a:t>compiler is </a:t>
            </a:r>
            <a:r>
              <a:rPr sz="2600" spc="-10" dirty="0">
                <a:latin typeface="Times New Roman"/>
                <a:cs typeface="Times New Roman"/>
              </a:rPr>
              <a:t>written </a:t>
            </a:r>
            <a:r>
              <a:rPr sz="2600" spc="-5" dirty="0">
                <a:latin typeface="Times New Roman"/>
                <a:cs typeface="Times New Roman"/>
              </a:rPr>
              <a:t>in assembly code, called this  compiler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C0.</a:t>
            </a:r>
            <a:endParaRPr sz="2600">
              <a:latin typeface="Times New Roman"/>
              <a:cs typeface="Times New Roman"/>
            </a:endParaRPr>
          </a:p>
          <a:p>
            <a:pPr marL="355600" marR="276860">
              <a:lnSpc>
                <a:spcPts val="2810"/>
              </a:lnSpc>
              <a:spcBef>
                <a:spcPts val="670"/>
              </a:spcBef>
            </a:pPr>
            <a:r>
              <a:rPr sz="2600" spc="-5" dirty="0">
                <a:latin typeface="Times New Roman"/>
                <a:cs typeface="Times New Roman"/>
              </a:rPr>
              <a:t>Rewrite this subset compiler using the subset (C--),  compile it with C0, get a new compiler called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C1.</a:t>
            </a:r>
            <a:endParaRPr sz="2600">
              <a:latin typeface="Times New Roman"/>
              <a:cs typeface="Times New Roman"/>
            </a:endParaRPr>
          </a:p>
          <a:p>
            <a:pPr marL="355600" marR="5080" indent="-13970">
              <a:lnSpc>
                <a:spcPts val="2810"/>
              </a:lnSpc>
              <a:spcBef>
                <a:spcPts val="630"/>
              </a:spcBef>
            </a:pPr>
            <a:r>
              <a:rPr sz="2600" spc="-5" dirty="0">
                <a:latin typeface="Times New Roman"/>
                <a:cs typeface="Times New Roman"/>
              </a:rPr>
              <a:t>Write a more complete set of C in C--, compiled </a:t>
            </a:r>
            <a:r>
              <a:rPr sz="2600" spc="-10" dirty="0">
                <a:latin typeface="Times New Roman"/>
                <a:cs typeface="Times New Roman"/>
              </a:rPr>
              <a:t>with  </a:t>
            </a:r>
            <a:r>
              <a:rPr sz="2600" spc="-5" dirty="0">
                <a:latin typeface="Times New Roman"/>
                <a:cs typeface="Times New Roman"/>
              </a:rPr>
              <a:t>C1, get a new compiler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C2</a:t>
            </a:r>
            <a:endParaRPr sz="2600">
              <a:latin typeface="Times New Roman"/>
              <a:cs typeface="Times New Roman"/>
            </a:endParaRPr>
          </a:p>
          <a:p>
            <a:pPr marL="355600" marR="513080">
              <a:lnSpc>
                <a:spcPts val="2810"/>
              </a:lnSpc>
              <a:spcBef>
                <a:spcPts val="635"/>
              </a:spcBef>
            </a:pPr>
            <a:r>
              <a:rPr sz="2600" spc="-5" dirty="0">
                <a:latin typeface="Times New Roman"/>
                <a:cs typeface="Times New Roman"/>
              </a:rPr>
              <a:t>Repeat the process until a complete C compiler is  done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8604" y="6282490"/>
            <a:ext cx="1244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1621" y="1142746"/>
            <a:ext cx="693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Compiler Construction</a:t>
            </a:r>
            <a:r>
              <a:rPr sz="3600" spc="-80" dirty="0"/>
              <a:t> </a:t>
            </a:r>
            <a:r>
              <a:rPr sz="3600" spc="-5" dirty="0"/>
              <a:t>(750421)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001399" y="2582925"/>
            <a:ext cx="5922010" cy="334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A </a:t>
            </a:r>
            <a:r>
              <a:rPr sz="2800" spc="-5" dirty="0">
                <a:latin typeface="Arial"/>
                <a:cs typeface="Arial"/>
              </a:rPr>
              <a:t>Compulsory </a:t>
            </a:r>
            <a:r>
              <a:rPr sz="2800" dirty="0">
                <a:latin typeface="Arial"/>
                <a:cs typeface="Arial"/>
              </a:rPr>
              <a:t>Module for Students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endParaRPr sz="2800">
              <a:latin typeface="Arial"/>
              <a:cs typeface="Arial"/>
            </a:endParaRPr>
          </a:p>
          <a:p>
            <a:pPr marL="32384" marR="23495" algn="ctr">
              <a:lnSpc>
                <a:spcPts val="8080"/>
              </a:lnSpc>
              <a:spcBef>
                <a:spcPts val="1045"/>
              </a:spcBef>
            </a:pPr>
            <a:r>
              <a:rPr sz="2800" dirty="0">
                <a:latin typeface="Arial"/>
                <a:cs typeface="Arial"/>
              </a:rPr>
              <a:t>Computer Science Department  Faculty of IT / Philadelphia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University</a:t>
            </a:r>
            <a:endParaRPr sz="28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2215"/>
              </a:spcBef>
              <a:tabLst>
                <a:tab pos="3187700" algn="l"/>
              </a:tabLst>
            </a:pPr>
            <a:r>
              <a:rPr sz="2800" b="1" dirty="0">
                <a:latin typeface="Arial"/>
                <a:cs typeface="Arial"/>
              </a:rPr>
              <a:t>Second</a:t>
            </a:r>
            <a:r>
              <a:rPr sz="2800" b="1" spc="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Semester	2006/2007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6287" y="454659"/>
            <a:ext cx="693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Compiler Construction</a:t>
            </a:r>
            <a:r>
              <a:rPr sz="3600" spc="-80" dirty="0"/>
              <a:t> </a:t>
            </a:r>
            <a:r>
              <a:rPr sz="3600" spc="-5" dirty="0"/>
              <a:t>(750421)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7835" y="2112010"/>
            <a:ext cx="6616700" cy="3187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latin typeface="Arial"/>
                <a:cs typeface="Arial"/>
              </a:rPr>
              <a:t>Lecturer: </a:t>
            </a:r>
            <a:r>
              <a:rPr sz="3200" spc="-5" dirty="0">
                <a:latin typeface="Arial"/>
                <a:cs typeface="Arial"/>
              </a:rPr>
              <a:t>Dr. </a:t>
            </a:r>
            <a:r>
              <a:rPr sz="3200" spc="-10" dirty="0">
                <a:latin typeface="Arial"/>
                <a:cs typeface="Arial"/>
              </a:rPr>
              <a:t>Nadia </a:t>
            </a:r>
            <a:r>
              <a:rPr sz="3200" spc="-5" dirty="0">
                <a:latin typeface="Arial"/>
                <a:cs typeface="Arial"/>
              </a:rPr>
              <a:t>Y.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Yousif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50">
              <a:latin typeface="Times New Roman"/>
              <a:cs typeface="Times New Roman"/>
            </a:endParaRPr>
          </a:p>
          <a:p>
            <a:pPr marL="1252855" marR="5080" indent="-1240790">
              <a:lnSpc>
                <a:spcPct val="109700"/>
              </a:lnSpc>
            </a:pPr>
            <a:r>
              <a:rPr sz="3200" spc="-10" dirty="0">
                <a:latin typeface="Arial"/>
                <a:cs typeface="Arial"/>
              </a:rPr>
              <a:t>Email: </a:t>
            </a:r>
            <a:r>
              <a:rPr sz="3200" u="heavy" spc="-10" dirty="0">
                <a:solidFill>
                  <a:srgbClr val="009A9A"/>
                </a:solidFill>
                <a:uFill>
                  <a:solidFill>
                    <a:srgbClr val="009A9A"/>
                  </a:solidFill>
                </a:uFill>
                <a:latin typeface="Arial"/>
                <a:cs typeface="Arial"/>
                <a:hlinkClick r:id="rId2"/>
              </a:rPr>
              <a:t>nyaaqob@philadelphia.edu.jo </a:t>
            </a:r>
            <a:r>
              <a:rPr sz="3200" spc="-10" dirty="0">
                <a:solidFill>
                  <a:srgbClr val="009A9A"/>
                </a:solidFill>
                <a:latin typeface="Arial"/>
                <a:cs typeface="Arial"/>
              </a:rPr>
              <a:t> </a:t>
            </a:r>
            <a:r>
              <a:rPr sz="3200" u="heavy" spc="-10" dirty="0">
                <a:solidFill>
                  <a:srgbClr val="009A9A"/>
                </a:solidFill>
                <a:uFill>
                  <a:solidFill>
                    <a:srgbClr val="009A9A"/>
                  </a:solidFill>
                </a:uFill>
                <a:latin typeface="Arial"/>
                <a:cs typeface="Arial"/>
                <a:hlinkClick r:id="rId3"/>
              </a:rPr>
              <a:t>nadiayy@hotmail.com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10" dirty="0">
                <a:latin typeface="Arial"/>
                <a:cs typeface="Arial"/>
              </a:rPr>
              <a:t>Room: </a:t>
            </a:r>
            <a:r>
              <a:rPr sz="3200" spc="-5" dirty="0">
                <a:latin typeface="Arial"/>
                <a:cs typeface="Arial"/>
              </a:rPr>
              <a:t>IT </a:t>
            </a:r>
            <a:r>
              <a:rPr sz="3200" spc="-10" dirty="0">
                <a:latin typeface="Arial"/>
                <a:cs typeface="Arial"/>
              </a:rPr>
              <a:t>332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5775" y="571245"/>
            <a:ext cx="29337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Course</a:t>
            </a:r>
            <a:r>
              <a:rPr spc="-4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473930"/>
            <a:ext cx="6242050" cy="41148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Aims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Objectives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Assessment and Passing the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Subject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Lectures and Practice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Classes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Lecturer 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Consultation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Recommended Reading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Course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Overview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725" y="394461"/>
            <a:ext cx="4497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Aims </a:t>
            </a:r>
            <a:r>
              <a:rPr sz="3600" dirty="0"/>
              <a:t>of This</a:t>
            </a:r>
            <a:r>
              <a:rPr sz="3600" spc="-95" dirty="0"/>
              <a:t> </a:t>
            </a:r>
            <a:r>
              <a:rPr sz="3600" dirty="0"/>
              <a:t>Module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7835" y="1428496"/>
            <a:ext cx="8049895" cy="433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0797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show how </a:t>
            </a:r>
            <a:r>
              <a:rPr sz="2400" dirty="0">
                <a:latin typeface="Times New Roman"/>
                <a:cs typeface="Times New Roman"/>
              </a:rPr>
              <a:t>to apply the theory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language translation  introduced in the </a:t>
            </a:r>
            <a:r>
              <a:rPr sz="2400" spc="-5" dirty="0">
                <a:latin typeface="Times New Roman"/>
                <a:cs typeface="Times New Roman"/>
              </a:rPr>
              <a:t>prerequisite </a:t>
            </a:r>
            <a:r>
              <a:rPr sz="2400" dirty="0">
                <a:latin typeface="Times New Roman"/>
                <a:cs typeface="Times New Roman"/>
              </a:rPr>
              <a:t>courses to </a:t>
            </a:r>
            <a:r>
              <a:rPr sz="2400" spc="-5" dirty="0">
                <a:latin typeface="Times New Roman"/>
                <a:cs typeface="Times New Roman"/>
              </a:rPr>
              <a:t>build </a:t>
            </a:r>
            <a:r>
              <a:rPr sz="2400" dirty="0">
                <a:latin typeface="Times New Roman"/>
                <a:cs typeface="Times New Roman"/>
              </a:rPr>
              <a:t>compilers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 </a:t>
            </a:r>
            <a:r>
              <a:rPr sz="2400" spc="-5" dirty="0">
                <a:latin typeface="Times New Roman"/>
                <a:cs typeface="Times New Roman"/>
              </a:rPr>
              <a:t>interpreters.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cover the </a:t>
            </a:r>
            <a:r>
              <a:rPr sz="2400" spc="-5" dirty="0">
                <a:latin typeface="Times New Roman"/>
                <a:cs typeface="Times New Roman"/>
              </a:rPr>
              <a:t>building of </a:t>
            </a:r>
            <a:r>
              <a:rPr sz="2400" dirty="0">
                <a:latin typeface="Times New Roman"/>
                <a:cs typeface="Times New Roman"/>
              </a:rPr>
              <a:t>translators </a:t>
            </a:r>
            <a:r>
              <a:rPr sz="2400" spc="-5" dirty="0">
                <a:latin typeface="Times New Roman"/>
                <a:cs typeface="Times New Roman"/>
              </a:rPr>
              <a:t>both from scratch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using  compiler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generators.</a:t>
            </a:r>
            <a:endParaRPr sz="2400">
              <a:latin typeface="Times New Roman"/>
              <a:cs typeface="Times New Roman"/>
            </a:endParaRPr>
          </a:p>
          <a:p>
            <a:pPr marL="355600" marR="1001394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identify and explore the main issues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design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 </a:t>
            </a:r>
            <a:r>
              <a:rPr sz="2400" dirty="0">
                <a:latin typeface="Times New Roman"/>
                <a:cs typeface="Times New Roman"/>
              </a:rPr>
              <a:t>translators.</a:t>
            </a:r>
            <a:endParaRPr sz="2400">
              <a:latin typeface="Times New Roman"/>
              <a:cs typeface="Times New Roman"/>
            </a:endParaRPr>
          </a:p>
          <a:p>
            <a:pPr marL="355600" marR="80645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know the topics: compiler design, lexical analysis, parsing,  symbol tables, declaration and storage management, code  generation, and optimization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techniques.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practice 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compiler for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small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8877" y="248919"/>
            <a:ext cx="35883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Course</a:t>
            </a:r>
            <a:r>
              <a:rPr spc="-3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503" y="1072642"/>
            <a:ext cx="7993380" cy="420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398780" algn="l"/>
              </a:tabLst>
            </a:pPr>
            <a:r>
              <a:rPr sz="2800" spc="-5" dirty="0">
                <a:latin typeface="Times New Roman"/>
                <a:cs typeface="Times New Roman"/>
              </a:rPr>
              <a:t>Understand the structure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compilers.</a:t>
            </a:r>
            <a:endParaRPr sz="2800">
              <a:latin typeface="Times New Roman"/>
              <a:cs typeface="Times New Roman"/>
            </a:endParaRPr>
          </a:p>
          <a:p>
            <a:pPr marL="622300" marR="238125" indent="-609600">
              <a:lnSpc>
                <a:spcPct val="80000"/>
              </a:lnSpc>
              <a:spcBef>
                <a:spcPts val="680"/>
              </a:spcBef>
              <a:buAutoNum type="arabicPlain"/>
              <a:tabLst>
                <a:tab pos="398780" algn="l"/>
              </a:tabLst>
            </a:pPr>
            <a:r>
              <a:rPr sz="2800" spc="-5" dirty="0">
                <a:latin typeface="Times New Roman"/>
                <a:cs typeface="Times New Roman"/>
              </a:rPr>
              <a:t>Understand the basic techniques used in compiler  construction such as lexical analysis, top-down,  bottom-up parsing, context-sensitive analysis, and  intermediate code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generation.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80000"/>
              </a:lnSpc>
              <a:spcBef>
                <a:spcPts val="670"/>
              </a:spcBef>
              <a:buAutoNum type="arabicPlain"/>
              <a:tabLst>
                <a:tab pos="398780" algn="l"/>
              </a:tabLst>
            </a:pPr>
            <a:r>
              <a:rPr sz="2800" spc="-5" dirty="0">
                <a:latin typeface="Times New Roman"/>
                <a:cs typeface="Times New Roman"/>
              </a:rPr>
              <a:t>Understand the basic data structures used in compiler  construction such as </a:t>
            </a:r>
            <a:r>
              <a:rPr sz="2800" spc="-10" dirty="0">
                <a:latin typeface="Times New Roman"/>
                <a:cs typeface="Times New Roman"/>
              </a:rPr>
              <a:t>abstract </a:t>
            </a:r>
            <a:r>
              <a:rPr sz="2800" spc="-5" dirty="0">
                <a:latin typeface="Times New Roman"/>
                <a:cs typeface="Times New Roman"/>
              </a:rPr>
              <a:t>syntax trees, symbol  tables, three-address code, and stack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machines.</a:t>
            </a:r>
            <a:endParaRPr sz="2800">
              <a:latin typeface="Times New Roman"/>
              <a:cs typeface="Times New Roman"/>
            </a:endParaRPr>
          </a:p>
          <a:p>
            <a:pPr marL="622300" marR="355600" indent="-609600">
              <a:lnSpc>
                <a:spcPct val="80000"/>
              </a:lnSpc>
              <a:spcBef>
                <a:spcPts val="670"/>
              </a:spcBef>
              <a:buAutoNum type="arabicPlain"/>
              <a:tabLst>
                <a:tab pos="398780" algn="l"/>
              </a:tabLst>
            </a:pPr>
            <a:r>
              <a:rPr sz="2800" spc="-5" dirty="0">
                <a:latin typeface="Times New Roman"/>
                <a:cs typeface="Times New Roman"/>
              </a:rPr>
              <a:t>Design and implement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compiler using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software  engineering approach.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10"/>
              </a:spcBef>
              <a:buAutoNum type="arabicPlain"/>
              <a:tabLst>
                <a:tab pos="398780" algn="l"/>
              </a:tabLst>
            </a:pPr>
            <a:r>
              <a:rPr sz="2800" spc="-5" dirty="0">
                <a:latin typeface="Times New Roman"/>
                <a:cs typeface="Times New Roman"/>
              </a:rPr>
              <a:t>Use generators (e.g. Lex 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Yacc)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889" y="338074"/>
            <a:ext cx="4918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Assessment </a:t>
            </a:r>
            <a:r>
              <a:rPr spc="-5" dirty="0"/>
              <a:t>and</a:t>
            </a:r>
            <a:r>
              <a:rPr spc="-40" dirty="0"/>
              <a:t> </a:t>
            </a:r>
            <a:r>
              <a:rPr spc="-10" dirty="0"/>
              <a:t>Passing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415851"/>
            <a:ext cx="7748270" cy="39560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There are </a:t>
            </a:r>
            <a:r>
              <a:rPr sz="2800" b="1" dirty="0">
                <a:latin typeface="Arial"/>
                <a:cs typeface="Arial"/>
              </a:rPr>
              <a:t>three assessment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components:</a:t>
            </a:r>
            <a:endParaRPr sz="2800">
              <a:latin typeface="Arial"/>
              <a:cs typeface="Arial"/>
            </a:endParaRPr>
          </a:p>
          <a:p>
            <a:pPr marL="755650" marR="10795" lvl="1" indent="-285750">
              <a:lnSpc>
                <a:spcPct val="100000"/>
              </a:lnSpc>
              <a:spcBef>
                <a:spcPts val="680"/>
              </a:spcBef>
              <a:buChar char="-"/>
              <a:tabLst>
                <a:tab pos="688340" algn="l"/>
              </a:tabLst>
            </a:pPr>
            <a:r>
              <a:rPr sz="2800" spc="-5" dirty="0">
                <a:latin typeface="Arial"/>
                <a:cs typeface="Arial"/>
              </a:rPr>
              <a:t>Two </a:t>
            </a:r>
            <a:r>
              <a:rPr sz="2800" dirty="0">
                <a:latin typeface="Arial"/>
                <a:cs typeface="Arial"/>
              </a:rPr>
              <a:t>midterm </a:t>
            </a:r>
            <a:r>
              <a:rPr sz="2800" spc="-5" dirty="0">
                <a:latin typeface="Arial"/>
                <a:cs typeface="Arial"/>
              </a:rPr>
              <a:t>exams worth 15% of </a:t>
            </a:r>
            <a:r>
              <a:rPr sz="2800" dirty="0">
                <a:latin typeface="Arial"/>
                <a:cs typeface="Arial"/>
              </a:rPr>
              <a:t>the marks  each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-"/>
              <a:tabLst>
                <a:tab pos="688340" algn="l"/>
                <a:tab pos="2921635" algn="l"/>
              </a:tabLst>
            </a:pPr>
            <a:r>
              <a:rPr sz="2800" dirty="0">
                <a:latin typeface="Arial"/>
                <a:cs typeface="Arial"/>
              </a:rPr>
              <a:t>Assignments	</a:t>
            </a:r>
            <a:r>
              <a:rPr sz="2800" spc="-5" dirty="0">
                <a:latin typeface="Arial"/>
                <a:cs typeface="Arial"/>
              </a:rPr>
              <a:t>worth 20% of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marks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-"/>
              <a:tabLst>
                <a:tab pos="688340" algn="l"/>
              </a:tabLst>
            </a:pPr>
            <a:r>
              <a:rPr sz="2800" spc="-5" dirty="0">
                <a:latin typeface="Arial"/>
                <a:cs typeface="Arial"/>
              </a:rPr>
              <a:t>Final </a:t>
            </a:r>
            <a:r>
              <a:rPr sz="2800" dirty="0">
                <a:latin typeface="Arial"/>
                <a:cs typeface="Arial"/>
              </a:rPr>
              <a:t>exam (written (40%) + Project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(10%))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-"/>
            </a:pPr>
            <a:endParaRPr sz="41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You </a:t>
            </a:r>
            <a:r>
              <a:rPr sz="2800" dirty="0">
                <a:latin typeface="Arial"/>
                <a:cs typeface="Arial"/>
              </a:rPr>
              <a:t>need to achieve an overall mark of 50%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  pass the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course.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8257" y="279400"/>
            <a:ext cx="5889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Lectures </a:t>
            </a:r>
            <a:r>
              <a:rPr spc="-5" dirty="0"/>
              <a:t>and </a:t>
            </a:r>
            <a:r>
              <a:rPr spc="-10" dirty="0"/>
              <a:t>Practice</a:t>
            </a:r>
            <a:r>
              <a:rPr spc="-5" dirty="0"/>
              <a:t> </a:t>
            </a:r>
            <a:r>
              <a:rPr spc="-10"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342699"/>
            <a:ext cx="7777480" cy="43834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Lectures will be held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at:</a:t>
            </a:r>
            <a:endParaRPr sz="2800">
              <a:latin typeface="Times New Roman"/>
              <a:cs typeface="Times New Roman"/>
            </a:endParaRPr>
          </a:p>
          <a:p>
            <a:pPr marL="755650" marR="5080" indent="-28575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10:10 am on Sundays, Tuesdays, Thursdays, Room  7415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Practical work will be held in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lab as self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learning.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355600" marR="4381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After three weeks, students are expected to work on  practice problems, or on their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assignments</a:t>
            </a:r>
            <a:endParaRPr sz="2800">
              <a:latin typeface="Times New Roman"/>
              <a:cs typeface="Times New Roman"/>
            </a:endParaRPr>
          </a:p>
          <a:p>
            <a:pPr marL="355600" marR="34036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lecturer will be available to comment on, and  help with, solutions during the practice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class.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5927" y="428751"/>
            <a:ext cx="50742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Lecturer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10" dirty="0"/>
              <a:t>Consultation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471168"/>
            <a:ext cx="7482205" cy="454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965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600" b="1" spc="-5" dirty="0">
                <a:latin typeface="Arial"/>
                <a:cs typeface="Arial"/>
              </a:rPr>
              <a:t>Lecturer:</a:t>
            </a:r>
            <a:endParaRPr sz="2600">
              <a:latin typeface="Arial"/>
              <a:cs typeface="Arial"/>
            </a:endParaRPr>
          </a:p>
          <a:p>
            <a:pPr marL="539115">
              <a:lnSpc>
                <a:spcPts val="2965"/>
              </a:lnSpc>
            </a:pPr>
            <a:r>
              <a:rPr sz="2600" spc="-5" dirty="0">
                <a:latin typeface="Arial"/>
                <a:cs typeface="Arial"/>
              </a:rPr>
              <a:t>Dr. Nadia Y.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Yousif</a:t>
            </a:r>
            <a:endParaRPr sz="2600">
              <a:latin typeface="Arial"/>
              <a:cs typeface="Arial"/>
            </a:endParaRPr>
          </a:p>
          <a:p>
            <a:pPr marL="565150" marR="910590">
              <a:lnSpc>
                <a:spcPct val="110200"/>
              </a:lnSpc>
            </a:pPr>
            <a:r>
              <a:rPr sz="2600" spc="-5" dirty="0">
                <a:latin typeface="Arial"/>
                <a:cs typeface="Arial"/>
              </a:rPr>
              <a:t>Faulty of IT, Room 332, Phone Ext: 2544  email: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u="heavy" spc="-5" dirty="0">
                <a:solidFill>
                  <a:srgbClr val="009A9A"/>
                </a:solidFill>
                <a:uFill>
                  <a:solidFill>
                    <a:srgbClr val="009A9A"/>
                  </a:solidFill>
                </a:uFill>
                <a:latin typeface="Arial"/>
                <a:cs typeface="Arial"/>
                <a:hlinkClick r:id="rId2"/>
              </a:rPr>
              <a:t>nyaaqob@philadelphia.edu.jo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600" b="1" spc="-5" dirty="0">
                <a:latin typeface="Arial"/>
                <a:cs typeface="Arial"/>
              </a:rPr>
              <a:t>Consultation</a:t>
            </a:r>
            <a:endParaRPr sz="2600">
              <a:latin typeface="Arial"/>
              <a:cs typeface="Arial"/>
            </a:endParaRPr>
          </a:p>
          <a:p>
            <a:pPr marL="755650" marR="7620" lvl="1" indent="-285750">
              <a:lnSpc>
                <a:spcPts val="281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600" spc="-5" dirty="0">
                <a:latin typeface="Arial"/>
                <a:cs typeface="Arial"/>
              </a:rPr>
              <a:t>The primary time for consultation is during the  practice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classes</a:t>
            </a:r>
            <a:endParaRPr sz="2600">
              <a:latin typeface="Arial"/>
              <a:cs typeface="Arial"/>
            </a:endParaRPr>
          </a:p>
          <a:p>
            <a:pPr marL="755650" lvl="1" indent="-285750">
              <a:lnSpc>
                <a:spcPts val="2965"/>
              </a:lnSpc>
              <a:spcBef>
                <a:spcPts val="275"/>
              </a:spcBef>
              <a:buChar char="–"/>
              <a:tabLst>
                <a:tab pos="755650" algn="l"/>
              </a:tabLst>
            </a:pPr>
            <a:r>
              <a:rPr sz="2600" spc="-5" dirty="0">
                <a:latin typeface="Arial"/>
                <a:cs typeface="Arial"/>
              </a:rPr>
              <a:t>Other consultation at the office hours (in</a:t>
            </a:r>
            <a:r>
              <a:rPr sz="2600" spc="10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room</a:t>
            </a:r>
            <a:endParaRPr sz="2600">
              <a:latin typeface="Arial"/>
              <a:cs typeface="Arial"/>
            </a:endParaRPr>
          </a:p>
          <a:p>
            <a:pPr marL="755650">
              <a:lnSpc>
                <a:spcPts val="2965"/>
              </a:lnSpc>
            </a:pPr>
            <a:r>
              <a:rPr sz="2600" spc="-5" dirty="0">
                <a:latin typeface="Arial"/>
                <a:cs typeface="Arial"/>
              </a:rPr>
              <a:t>332)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on:</a:t>
            </a:r>
            <a:endParaRPr sz="2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2600" spc="-5" dirty="0">
                <a:latin typeface="Arial"/>
                <a:cs typeface="Arial"/>
              </a:rPr>
              <a:t>(Sun, Tues, Thu) 13:00 –</a:t>
            </a:r>
            <a:r>
              <a:rPr sz="2600" spc="4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14:00</a:t>
            </a:r>
            <a:endParaRPr sz="2600">
              <a:latin typeface="Arial"/>
              <a:cs typeface="Arial"/>
            </a:endParaRPr>
          </a:p>
          <a:p>
            <a:pPr marL="929005">
              <a:lnSpc>
                <a:spcPct val="100000"/>
              </a:lnSpc>
              <a:spcBef>
                <a:spcPts val="320"/>
              </a:spcBef>
              <a:tabLst>
                <a:tab pos="2848610" algn="l"/>
              </a:tabLst>
            </a:pPr>
            <a:r>
              <a:rPr sz="2600" spc="-5" dirty="0">
                <a:latin typeface="Arial"/>
                <a:cs typeface="Arial"/>
              </a:rPr>
              <a:t>(Mod,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Wed)	13:45 –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15:15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525" y="248919"/>
            <a:ext cx="4647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Recommended</a:t>
            </a:r>
            <a:r>
              <a:rPr spc="-30" dirty="0"/>
              <a:t> </a:t>
            </a:r>
            <a:r>
              <a:rPr spc="-10" dirty="0"/>
              <a:t>Reading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799" y="1000251"/>
            <a:ext cx="7981315" cy="4301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80670" algn="l"/>
                <a:tab pos="281305" algn="l"/>
              </a:tabLst>
            </a:pPr>
            <a:r>
              <a:rPr sz="2800" b="1" dirty="0">
                <a:latin typeface="Times New Roman"/>
                <a:cs typeface="Times New Roman"/>
              </a:rPr>
              <a:t>The text </a:t>
            </a:r>
            <a:r>
              <a:rPr sz="2800" b="1" spc="-5" dirty="0">
                <a:latin typeface="Times New Roman"/>
                <a:cs typeface="Times New Roman"/>
              </a:rPr>
              <a:t>book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is:</a:t>
            </a:r>
            <a:endParaRPr sz="2800">
              <a:latin typeface="Times New Roman"/>
              <a:cs typeface="Times New Roman"/>
            </a:endParaRPr>
          </a:p>
          <a:p>
            <a:pPr marL="280670" marR="5080">
              <a:lnSpc>
                <a:spcPct val="80000"/>
              </a:lnSpc>
              <a:spcBef>
                <a:spcPts val="670"/>
              </a:spcBef>
            </a:pPr>
            <a:r>
              <a:rPr sz="2800" spc="-5" dirty="0">
                <a:latin typeface="Times New Roman"/>
                <a:cs typeface="Times New Roman"/>
              </a:rPr>
              <a:t>Alfred V. Aho, Ravi Sethi and Jeffry D. Ulman,  Compilers Principles, Techniques and Tools, Addison  Wesley,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1986,</a:t>
            </a:r>
            <a:endParaRPr sz="2800">
              <a:latin typeface="Times New Roman"/>
              <a:cs typeface="Times New Roman"/>
            </a:endParaRPr>
          </a:p>
          <a:p>
            <a:pPr marL="72326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ISBN: 0- 201- 10088-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280670" indent="-267970">
              <a:lnSpc>
                <a:spcPts val="3345"/>
              </a:lnSpc>
              <a:spcBef>
                <a:spcPts val="5"/>
              </a:spcBef>
              <a:buFont typeface="Times New Roman"/>
              <a:buChar char="•"/>
              <a:tabLst>
                <a:tab pos="280670" algn="l"/>
                <a:tab pos="28130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Supporting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References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069975" marR="382270" lvl="1" indent="-342900">
              <a:lnSpc>
                <a:spcPts val="2870"/>
              </a:lnSpc>
              <a:spcBef>
                <a:spcPts val="90"/>
              </a:spcBef>
              <a:buAutoNum type="arabicPlain"/>
              <a:tabLst>
                <a:tab pos="1057910" algn="l"/>
              </a:tabLst>
            </a:pPr>
            <a:r>
              <a:rPr sz="2400" spc="-5" dirty="0">
                <a:latin typeface="Times New Roman"/>
                <a:cs typeface="Times New Roman"/>
              </a:rPr>
              <a:t>W. Appel, Modern Compiler Implementation in Java,  Prentice Hall,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2002</a:t>
            </a:r>
            <a:endParaRPr sz="2400">
              <a:latin typeface="Times New Roman"/>
              <a:cs typeface="Times New Roman"/>
            </a:endParaRPr>
          </a:p>
          <a:p>
            <a:pPr marL="1069975" marR="170815" lvl="1" indent="-342900">
              <a:lnSpc>
                <a:spcPts val="2870"/>
              </a:lnSpc>
              <a:spcBef>
                <a:spcPts val="15"/>
              </a:spcBef>
              <a:buAutoNum type="arabicPlain"/>
              <a:tabLst>
                <a:tab pos="1057910" algn="l"/>
              </a:tabLst>
            </a:pPr>
            <a:r>
              <a:rPr sz="2400" spc="-5" dirty="0">
                <a:latin typeface="Times New Roman"/>
                <a:cs typeface="Times New Roman"/>
              </a:rPr>
              <a:t>D. </a:t>
            </a:r>
            <a:r>
              <a:rPr sz="2400" dirty="0">
                <a:latin typeface="Times New Roman"/>
                <a:cs typeface="Times New Roman"/>
              </a:rPr>
              <a:t>Watt, Brown, </a:t>
            </a:r>
            <a:r>
              <a:rPr sz="2400" spc="-5" dirty="0">
                <a:latin typeface="Times New Roman"/>
                <a:cs typeface="Times New Roman"/>
              </a:rPr>
              <a:t>Programming </a:t>
            </a:r>
            <a:r>
              <a:rPr sz="2400" dirty="0">
                <a:latin typeface="Times New Roman"/>
                <a:cs typeface="Times New Roman"/>
              </a:rPr>
              <a:t>Language </a:t>
            </a:r>
            <a:r>
              <a:rPr sz="2400" spc="-5" dirty="0">
                <a:latin typeface="Times New Roman"/>
                <a:cs typeface="Times New Roman"/>
              </a:rPr>
              <a:t>Processors </a:t>
            </a:r>
            <a:r>
              <a:rPr sz="2400" dirty="0">
                <a:latin typeface="Times New Roman"/>
                <a:cs typeface="Times New Roman"/>
              </a:rPr>
              <a:t>in  </a:t>
            </a:r>
            <a:r>
              <a:rPr sz="2400" spc="-5" dirty="0">
                <a:latin typeface="Times New Roman"/>
                <a:cs typeface="Times New Roman"/>
              </a:rPr>
              <a:t>Java: Compilers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Interpreters, Prentice hall,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2000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2321" y="368554"/>
            <a:ext cx="33407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Course</a:t>
            </a:r>
            <a:r>
              <a:rPr spc="-4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438" y="1234947"/>
            <a:ext cx="7988934" cy="48418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1940" marR="5080" indent="-269240" algn="just">
              <a:lnSpc>
                <a:spcPct val="80400"/>
              </a:lnSpc>
              <a:spcBef>
                <a:spcPts val="590"/>
              </a:spcBef>
              <a:buFont typeface="Times New Roman"/>
              <a:buChar char="•"/>
              <a:tabLst>
                <a:tab pos="282575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Introduction </a:t>
            </a:r>
            <a:r>
              <a:rPr sz="2100" b="1" dirty="0">
                <a:latin typeface="Times New Roman"/>
                <a:cs typeface="Times New Roman"/>
              </a:rPr>
              <a:t>to Compiling</a:t>
            </a:r>
            <a:r>
              <a:rPr sz="2100" dirty="0">
                <a:latin typeface="Times New Roman"/>
                <a:cs typeface="Times New Roman"/>
              </a:rPr>
              <a:t>: The </a:t>
            </a:r>
            <a:r>
              <a:rPr sz="2100" spc="-5" dirty="0">
                <a:latin typeface="Times New Roman"/>
                <a:cs typeface="Times New Roman"/>
              </a:rPr>
              <a:t>role of </a:t>
            </a:r>
            <a:r>
              <a:rPr sz="2100" dirty="0">
                <a:latin typeface="Times New Roman"/>
                <a:cs typeface="Times New Roman"/>
              </a:rPr>
              <a:t>language translation in the  </a:t>
            </a:r>
            <a:r>
              <a:rPr sz="2100" spc="-5" dirty="0">
                <a:latin typeface="Times New Roman"/>
                <a:cs typeface="Times New Roman"/>
              </a:rPr>
              <a:t>programming process; Comparison of </a:t>
            </a:r>
            <a:r>
              <a:rPr sz="2100" dirty="0">
                <a:latin typeface="Times New Roman"/>
                <a:cs typeface="Times New Roman"/>
              </a:rPr>
              <a:t>interpreters and compilers,  language translation </a:t>
            </a:r>
            <a:r>
              <a:rPr sz="2100" spc="-5" dirty="0">
                <a:latin typeface="Times New Roman"/>
                <a:cs typeface="Times New Roman"/>
              </a:rPr>
              <a:t>phases, machine-dependent </a:t>
            </a:r>
            <a:r>
              <a:rPr sz="2100" dirty="0">
                <a:latin typeface="Times New Roman"/>
                <a:cs typeface="Times New Roman"/>
              </a:rPr>
              <a:t>and  </a:t>
            </a:r>
            <a:r>
              <a:rPr sz="2100" spc="-5" dirty="0">
                <a:latin typeface="Times New Roman"/>
                <a:cs typeface="Times New Roman"/>
              </a:rPr>
              <a:t>machine-independent </a:t>
            </a:r>
            <a:r>
              <a:rPr sz="2100" dirty="0">
                <a:latin typeface="Times New Roman"/>
                <a:cs typeface="Times New Roman"/>
              </a:rPr>
              <a:t>aspects </a:t>
            </a:r>
            <a:r>
              <a:rPr sz="2100" spc="-5" dirty="0">
                <a:latin typeface="Times New Roman"/>
                <a:cs typeface="Times New Roman"/>
              </a:rPr>
              <a:t>of </a:t>
            </a:r>
            <a:r>
              <a:rPr sz="2100" dirty="0">
                <a:latin typeface="Times New Roman"/>
                <a:cs typeface="Times New Roman"/>
              </a:rPr>
              <a:t>translation, language translation as a  </a:t>
            </a:r>
            <a:r>
              <a:rPr sz="2100" spc="-5" dirty="0">
                <a:latin typeface="Times New Roman"/>
                <a:cs typeface="Times New Roman"/>
              </a:rPr>
              <a:t>software </a:t>
            </a:r>
            <a:r>
              <a:rPr sz="2100" dirty="0">
                <a:latin typeface="Times New Roman"/>
                <a:cs typeface="Times New Roman"/>
              </a:rPr>
              <a:t>engineering </a:t>
            </a:r>
            <a:r>
              <a:rPr sz="2100" spc="-5" dirty="0">
                <a:latin typeface="Times New Roman"/>
                <a:cs typeface="Times New Roman"/>
              </a:rPr>
              <a:t>activity</a:t>
            </a:r>
            <a:endParaRPr sz="2100">
              <a:latin typeface="Times New Roman"/>
              <a:cs typeface="Times New Roman"/>
            </a:endParaRPr>
          </a:p>
          <a:p>
            <a:pPr marL="281940" marR="10795" indent="-269240" algn="just">
              <a:lnSpc>
                <a:spcPts val="2030"/>
              </a:lnSpc>
              <a:spcBef>
                <a:spcPts val="480"/>
              </a:spcBef>
              <a:buFont typeface="Times New Roman"/>
              <a:buChar char="•"/>
              <a:tabLst>
                <a:tab pos="282575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Lexical Analysis</a:t>
            </a:r>
            <a:r>
              <a:rPr sz="2100" spc="-5" dirty="0">
                <a:latin typeface="Times New Roman"/>
                <a:cs typeface="Times New Roman"/>
              </a:rPr>
              <a:t>: Application of regular expressions in lexical  scanners,</a:t>
            </a:r>
            <a:endParaRPr sz="2100">
              <a:latin typeface="Times New Roman"/>
              <a:cs typeface="Times New Roman"/>
            </a:endParaRPr>
          </a:p>
          <a:p>
            <a:pPr marL="281940" marR="8890" indent="-269240" algn="just">
              <a:lnSpc>
                <a:spcPts val="2020"/>
              </a:lnSpc>
              <a:spcBef>
                <a:spcPts val="500"/>
              </a:spcBef>
              <a:buFont typeface="Times New Roman"/>
              <a:buChar char="•"/>
              <a:tabLst>
                <a:tab pos="282575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Lexical Analysis: </a:t>
            </a:r>
            <a:r>
              <a:rPr sz="2100" spc="-5" dirty="0">
                <a:latin typeface="Times New Roman"/>
                <a:cs typeface="Times New Roman"/>
              </a:rPr>
              <a:t>hand </a:t>
            </a:r>
            <a:r>
              <a:rPr sz="2100" dirty="0">
                <a:latin typeface="Times New Roman"/>
                <a:cs typeface="Times New Roman"/>
              </a:rPr>
              <a:t>coded </a:t>
            </a:r>
            <a:r>
              <a:rPr sz="2100" spc="-5" dirty="0">
                <a:latin typeface="Times New Roman"/>
                <a:cs typeface="Times New Roman"/>
              </a:rPr>
              <a:t>scanner vs. </a:t>
            </a:r>
            <a:r>
              <a:rPr sz="2100" dirty="0">
                <a:latin typeface="Times New Roman"/>
                <a:cs typeface="Times New Roman"/>
              </a:rPr>
              <a:t>automatically </a:t>
            </a:r>
            <a:r>
              <a:rPr sz="2100" spc="-5" dirty="0">
                <a:latin typeface="Times New Roman"/>
                <a:cs typeface="Times New Roman"/>
              </a:rPr>
              <a:t>generated  scanners</a:t>
            </a:r>
            <a:endParaRPr sz="2100">
              <a:latin typeface="Times New Roman"/>
              <a:cs typeface="Times New Roman"/>
            </a:endParaRPr>
          </a:p>
          <a:p>
            <a:pPr marL="281940" marR="8255" indent="-269240" algn="just">
              <a:lnSpc>
                <a:spcPts val="2030"/>
              </a:lnSpc>
              <a:spcBef>
                <a:spcPts val="500"/>
              </a:spcBef>
              <a:buFont typeface="Times New Roman"/>
              <a:buChar char="•"/>
              <a:tabLst>
                <a:tab pos="282575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Lexical Analysis: </a:t>
            </a:r>
            <a:r>
              <a:rPr sz="2100" spc="-5" dirty="0">
                <a:latin typeface="Times New Roman"/>
                <a:cs typeface="Times New Roman"/>
              </a:rPr>
              <a:t>formal definition of </a:t>
            </a:r>
            <a:r>
              <a:rPr sz="2100" dirty="0">
                <a:latin typeface="Times New Roman"/>
                <a:cs typeface="Times New Roman"/>
              </a:rPr>
              <a:t>tokens, implementation </a:t>
            </a:r>
            <a:r>
              <a:rPr sz="2100" spc="-5" dirty="0">
                <a:latin typeface="Times New Roman"/>
                <a:cs typeface="Times New Roman"/>
              </a:rPr>
              <a:t>of finite  state automata.</a:t>
            </a:r>
            <a:endParaRPr sz="2100">
              <a:latin typeface="Times New Roman"/>
              <a:cs typeface="Times New Roman"/>
            </a:endParaRPr>
          </a:p>
          <a:p>
            <a:pPr marL="281940" marR="10160" indent="-269240" algn="just">
              <a:lnSpc>
                <a:spcPts val="2030"/>
              </a:lnSpc>
              <a:spcBef>
                <a:spcPts val="490"/>
              </a:spcBef>
              <a:buFont typeface="Times New Roman"/>
              <a:buChar char="•"/>
              <a:tabLst>
                <a:tab pos="282575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Syntax </a:t>
            </a:r>
            <a:r>
              <a:rPr sz="2100" b="1" dirty="0">
                <a:latin typeface="Times New Roman"/>
                <a:cs typeface="Times New Roman"/>
              </a:rPr>
              <a:t>Analysis</a:t>
            </a:r>
            <a:r>
              <a:rPr sz="2100" dirty="0">
                <a:latin typeface="Times New Roman"/>
                <a:cs typeface="Times New Roman"/>
              </a:rPr>
              <a:t>: </a:t>
            </a:r>
            <a:r>
              <a:rPr sz="2100" spc="-5" dirty="0">
                <a:latin typeface="Times New Roman"/>
                <a:cs typeface="Times New Roman"/>
              </a:rPr>
              <a:t>Revision of formal definition of grammars, BNF and  </a:t>
            </a:r>
            <a:r>
              <a:rPr sz="2100" dirty="0">
                <a:latin typeface="Times New Roman"/>
                <a:cs typeface="Times New Roman"/>
              </a:rPr>
              <a:t>EBNF; bottom-up vs. top-down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parsing,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  <a:tabLst>
                <a:tab pos="281940" algn="l"/>
                <a:tab pos="282575" algn="l"/>
              </a:tabLst>
            </a:pPr>
            <a:r>
              <a:rPr sz="2100" b="1" spc="-5" dirty="0">
                <a:latin typeface="Times New Roman"/>
                <a:cs typeface="Times New Roman"/>
              </a:rPr>
              <a:t>Syntax </a:t>
            </a:r>
            <a:r>
              <a:rPr sz="2100" b="1" dirty="0">
                <a:latin typeface="Times New Roman"/>
                <a:cs typeface="Times New Roman"/>
              </a:rPr>
              <a:t>Analysis</a:t>
            </a:r>
            <a:r>
              <a:rPr sz="2100" dirty="0">
                <a:latin typeface="Times New Roman"/>
                <a:cs typeface="Times New Roman"/>
              </a:rPr>
              <a:t>: tabular vs. </a:t>
            </a:r>
            <a:r>
              <a:rPr sz="2100" spc="-5" dirty="0">
                <a:latin typeface="Times New Roman"/>
                <a:cs typeface="Times New Roman"/>
              </a:rPr>
              <a:t>recursive-descent </a:t>
            </a:r>
            <a:r>
              <a:rPr sz="2100" dirty="0">
                <a:latin typeface="Times New Roman"/>
                <a:cs typeface="Times New Roman"/>
              </a:rPr>
              <a:t>parsers, error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handling,</a:t>
            </a:r>
            <a:endParaRPr sz="2100">
              <a:latin typeface="Times New Roman"/>
              <a:cs typeface="Times New Roman"/>
            </a:endParaRPr>
          </a:p>
          <a:p>
            <a:pPr marL="281940" marR="8255" indent="-269240" algn="just">
              <a:lnSpc>
                <a:spcPct val="80400"/>
              </a:lnSpc>
              <a:spcBef>
                <a:spcPts val="500"/>
              </a:spcBef>
              <a:buFont typeface="Times New Roman"/>
              <a:buChar char="•"/>
              <a:tabLst>
                <a:tab pos="282575" algn="l"/>
              </a:tabLst>
            </a:pPr>
            <a:r>
              <a:rPr sz="2100" b="1" dirty="0">
                <a:latin typeface="Times New Roman"/>
                <a:cs typeface="Times New Roman"/>
              </a:rPr>
              <a:t>Parsers </a:t>
            </a:r>
            <a:r>
              <a:rPr sz="2100" b="1" spc="-5" dirty="0">
                <a:latin typeface="Times New Roman"/>
                <a:cs typeface="Times New Roman"/>
              </a:rPr>
              <a:t>Implementation: </a:t>
            </a:r>
            <a:r>
              <a:rPr sz="2100" dirty="0">
                <a:latin typeface="Times New Roman"/>
                <a:cs typeface="Times New Roman"/>
              </a:rPr>
              <a:t>automatic </a:t>
            </a:r>
            <a:r>
              <a:rPr sz="2100" spc="-5" dirty="0">
                <a:latin typeface="Times New Roman"/>
                <a:cs typeface="Times New Roman"/>
              </a:rPr>
              <a:t>generation of </a:t>
            </a:r>
            <a:r>
              <a:rPr sz="2100" dirty="0">
                <a:latin typeface="Times New Roman"/>
                <a:cs typeface="Times New Roman"/>
              </a:rPr>
              <a:t>tabular </a:t>
            </a:r>
            <a:r>
              <a:rPr sz="2100" spc="-5" dirty="0">
                <a:latin typeface="Times New Roman"/>
                <a:cs typeface="Times New Roman"/>
              </a:rPr>
              <a:t>parsers,  symbol </a:t>
            </a:r>
            <a:r>
              <a:rPr sz="2100" dirty="0">
                <a:latin typeface="Times New Roman"/>
                <a:cs typeface="Times New Roman"/>
              </a:rPr>
              <a:t>table management, the </a:t>
            </a:r>
            <a:r>
              <a:rPr sz="2100" spc="-5" dirty="0">
                <a:latin typeface="Times New Roman"/>
                <a:cs typeface="Times New Roman"/>
              </a:rPr>
              <a:t>use of </a:t>
            </a:r>
            <a:r>
              <a:rPr sz="2100" dirty="0">
                <a:latin typeface="Times New Roman"/>
                <a:cs typeface="Times New Roman"/>
              </a:rPr>
              <a:t>tools in </a:t>
            </a:r>
            <a:r>
              <a:rPr sz="2100" spc="-5" dirty="0">
                <a:latin typeface="Times New Roman"/>
                <a:cs typeface="Times New Roman"/>
              </a:rPr>
              <a:t>support of </a:t>
            </a:r>
            <a:r>
              <a:rPr sz="2100" dirty="0">
                <a:latin typeface="Times New Roman"/>
                <a:cs typeface="Times New Roman"/>
              </a:rPr>
              <a:t>the translation  </a:t>
            </a:r>
            <a:r>
              <a:rPr sz="2100" spc="-5" dirty="0"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2137" y="368554"/>
            <a:ext cx="47618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Course Overview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465" y="1304289"/>
            <a:ext cx="14865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0205" algn="l"/>
                <a:tab pos="371475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Semantic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0700" y="1304289"/>
            <a:ext cx="63366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1750" algn="l"/>
                <a:tab pos="2014220" algn="l"/>
                <a:tab pos="2681605" algn="l"/>
                <a:tab pos="3099435" algn="l"/>
                <a:tab pos="3594735" algn="l"/>
                <a:tab pos="4013200" algn="l"/>
                <a:tab pos="4912995" algn="l"/>
                <a:tab pos="5594985" algn="l"/>
                <a:tab pos="6090285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Analysis</a:t>
            </a:r>
            <a:r>
              <a:rPr sz="2200" b="1" dirty="0">
                <a:latin typeface="Times New Roman"/>
                <a:cs typeface="Times New Roman"/>
              </a:rPr>
              <a:t>:	</a:t>
            </a:r>
            <a:r>
              <a:rPr sz="2200" dirty="0">
                <a:latin typeface="Times New Roman"/>
                <a:cs typeface="Times New Roman"/>
              </a:rPr>
              <a:t>Data	type	as	set	of	values	with	set	of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5465" y="1572506"/>
            <a:ext cx="7987665" cy="424878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70840" marR="6985" algn="just">
              <a:lnSpc>
                <a:spcPct val="80000"/>
              </a:lnSpc>
              <a:spcBef>
                <a:spcPts val="630"/>
              </a:spcBef>
            </a:pPr>
            <a:r>
              <a:rPr sz="2200" dirty="0">
                <a:latin typeface="Times New Roman"/>
                <a:cs typeface="Times New Roman"/>
              </a:rPr>
              <a:t>operations, data types, type- checking models, semantic models of  user-defined types, parametric polymorphism, subtype  polymorphism, type-checking algorithms</a:t>
            </a:r>
            <a:endParaRPr sz="2200">
              <a:latin typeface="Times New Roman"/>
              <a:cs typeface="Times New Roman"/>
            </a:endParaRPr>
          </a:p>
          <a:p>
            <a:pPr marL="370840" marR="5080" indent="-358140" algn="just">
              <a:lnSpc>
                <a:spcPct val="80000"/>
              </a:lnSpc>
              <a:spcBef>
                <a:spcPts val="525"/>
              </a:spcBef>
              <a:buFont typeface="Times New Roman"/>
              <a:buChar char="•"/>
              <a:tabLst>
                <a:tab pos="371475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Intermediate </a:t>
            </a:r>
            <a:r>
              <a:rPr sz="2200" b="1" dirty="0">
                <a:latin typeface="Times New Roman"/>
                <a:cs typeface="Times New Roman"/>
              </a:rPr>
              <a:t>Representation</a:t>
            </a:r>
            <a:r>
              <a:rPr sz="2200" dirty="0">
                <a:latin typeface="Times New Roman"/>
                <a:cs typeface="Times New Roman"/>
              </a:rPr>
              <a:t>, </a:t>
            </a:r>
            <a:r>
              <a:rPr sz="2200" b="1" dirty="0">
                <a:latin typeface="Times New Roman"/>
                <a:cs typeface="Times New Roman"/>
              </a:rPr>
              <a:t>code generation</a:t>
            </a:r>
            <a:r>
              <a:rPr sz="2200" dirty="0">
                <a:latin typeface="Times New Roman"/>
                <a:cs typeface="Times New Roman"/>
              </a:rPr>
              <a:t>: Intermediate and  object code, intermediate representations, implementation of code  generators</a:t>
            </a:r>
            <a:endParaRPr sz="2200">
              <a:latin typeface="Times New Roman"/>
              <a:cs typeface="Times New Roman"/>
            </a:endParaRPr>
          </a:p>
          <a:p>
            <a:pPr marL="370840" marR="8255" indent="-358140">
              <a:lnSpc>
                <a:spcPct val="80000"/>
              </a:lnSpc>
              <a:spcBef>
                <a:spcPts val="530"/>
              </a:spcBef>
              <a:buFont typeface="Times New Roman"/>
              <a:buChar char="•"/>
              <a:tabLst>
                <a:tab pos="370205" algn="l"/>
                <a:tab pos="371475" algn="l"/>
                <a:tab pos="1193165" algn="l"/>
                <a:tab pos="2747645" algn="l"/>
                <a:tab pos="3478529" algn="l"/>
                <a:tab pos="4861560" algn="l"/>
                <a:tab pos="5343525" algn="l"/>
                <a:tab pos="5965190" algn="l"/>
                <a:tab pos="7145655" algn="l"/>
              </a:tabLst>
            </a:pPr>
            <a:r>
              <a:rPr sz="2200" b="1" dirty="0">
                <a:latin typeface="Times New Roman"/>
                <a:cs typeface="Times New Roman"/>
              </a:rPr>
              <a:t>Code	generation</a:t>
            </a:r>
            <a:r>
              <a:rPr sz="2200" dirty="0">
                <a:latin typeface="Times New Roman"/>
                <a:cs typeface="Times New Roman"/>
              </a:rPr>
              <a:t>:	code	generation	by	tree	walking;	context  sensitive translation, register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use.</a:t>
            </a:r>
            <a:endParaRPr sz="2200">
              <a:latin typeface="Times New Roman"/>
              <a:cs typeface="Times New Roman"/>
            </a:endParaRPr>
          </a:p>
          <a:p>
            <a:pPr marL="370840" marR="9525" indent="-358140">
              <a:lnSpc>
                <a:spcPct val="80000"/>
              </a:lnSpc>
              <a:spcBef>
                <a:spcPts val="520"/>
              </a:spcBef>
              <a:buFont typeface="Times New Roman"/>
              <a:buChar char="•"/>
              <a:tabLst>
                <a:tab pos="370205" algn="l"/>
                <a:tab pos="371475" algn="l"/>
              </a:tabLst>
            </a:pPr>
            <a:r>
              <a:rPr sz="2200" b="1" dirty="0">
                <a:latin typeface="Times New Roman"/>
                <a:cs typeface="Times New Roman"/>
              </a:rPr>
              <a:t>Code optimization</a:t>
            </a:r>
            <a:r>
              <a:rPr sz="2200" dirty="0">
                <a:latin typeface="Times New Roman"/>
                <a:cs typeface="Times New Roman"/>
              </a:rPr>
              <a:t>: Machine-independent optimization; data-flow  analysis; loop optimizations; machine-dependent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optimization</a:t>
            </a:r>
            <a:endParaRPr sz="2200">
              <a:latin typeface="Times New Roman"/>
              <a:cs typeface="Times New Roman"/>
            </a:endParaRPr>
          </a:p>
          <a:p>
            <a:pPr marL="370840" indent="-358140">
              <a:lnSpc>
                <a:spcPts val="2635"/>
              </a:lnSpc>
              <a:buFont typeface="Times New Roman"/>
              <a:buChar char="•"/>
              <a:tabLst>
                <a:tab pos="370205" algn="l"/>
                <a:tab pos="371475" algn="l"/>
              </a:tabLst>
            </a:pPr>
            <a:r>
              <a:rPr sz="2200" b="1" dirty="0">
                <a:latin typeface="Times New Roman"/>
                <a:cs typeface="Times New Roman"/>
              </a:rPr>
              <a:t>Error Detection and RecoveryError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Repair,</a:t>
            </a:r>
            <a:endParaRPr sz="2200">
              <a:latin typeface="Times New Roman"/>
              <a:cs typeface="Times New Roman"/>
            </a:endParaRPr>
          </a:p>
          <a:p>
            <a:pPr marL="370840" indent="-358140">
              <a:lnSpc>
                <a:spcPts val="2635"/>
              </a:lnSpc>
              <a:buFont typeface="Times New Roman"/>
              <a:buChar char="•"/>
              <a:tabLst>
                <a:tab pos="370205" algn="l"/>
                <a:tab pos="371475" algn="l"/>
              </a:tabLst>
            </a:pPr>
            <a:r>
              <a:rPr sz="2200" b="1" dirty="0">
                <a:latin typeface="Times New Roman"/>
                <a:cs typeface="Times New Roman"/>
              </a:rPr>
              <a:t>Compiler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Implementation</a:t>
            </a:r>
            <a:endParaRPr sz="2200">
              <a:latin typeface="Times New Roman"/>
              <a:cs typeface="Times New Roman"/>
            </a:endParaRPr>
          </a:p>
          <a:p>
            <a:pPr marL="370840" marR="9525" indent="-358140">
              <a:lnSpc>
                <a:spcPct val="80000"/>
              </a:lnSpc>
              <a:spcBef>
                <a:spcPts val="530"/>
              </a:spcBef>
              <a:buFont typeface="Times New Roman"/>
              <a:buChar char="•"/>
              <a:tabLst>
                <a:tab pos="370205" algn="l"/>
                <a:tab pos="371475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Compiler design </a:t>
            </a:r>
            <a:r>
              <a:rPr sz="2200" b="1" dirty="0">
                <a:latin typeface="Times New Roman"/>
                <a:cs typeface="Times New Roman"/>
              </a:rPr>
              <a:t>options and examples: </a:t>
            </a:r>
            <a:r>
              <a:rPr sz="2200" dirty="0">
                <a:latin typeface="Times New Roman"/>
                <a:cs typeface="Times New Roman"/>
              </a:rPr>
              <a:t>C Compilers, C++, </a:t>
            </a:r>
            <a:r>
              <a:rPr sz="2200" spc="-5" dirty="0">
                <a:latin typeface="Times New Roman"/>
                <a:cs typeface="Times New Roman"/>
              </a:rPr>
              <a:t>Java  </a:t>
            </a:r>
            <a:r>
              <a:rPr sz="2200" dirty="0">
                <a:latin typeface="Times New Roman"/>
                <a:cs typeface="Times New Roman"/>
              </a:rPr>
              <a:t>Compilers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1647" y="328168"/>
            <a:ext cx="49847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4305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 </a:t>
            </a:r>
            <a:r>
              <a:rPr spc="-5" dirty="0"/>
              <a:t>1 </a:t>
            </a:r>
            <a:r>
              <a:rPr u="none" spc="-5" dirty="0"/>
              <a:t> </a:t>
            </a:r>
            <a:r>
              <a:rPr spc="-10" dirty="0"/>
              <a:t>Introduction </a:t>
            </a:r>
            <a:r>
              <a:rPr spc="-5" dirty="0"/>
              <a:t>to</a:t>
            </a:r>
            <a:r>
              <a:rPr spc="-10" dirty="0"/>
              <a:t> Compiling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530151"/>
            <a:ext cx="6584950" cy="36144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Topic to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cover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80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Overview 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Compilers</a:t>
            </a:r>
            <a:endParaRPr sz="28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675"/>
              </a:spcBef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phases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Compilers</a:t>
            </a:r>
            <a:endParaRPr sz="28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680"/>
              </a:spcBef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Tasks of the Compilation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680"/>
              </a:spcBef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Analysis of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Source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</a:t>
            </a:r>
            <a:endParaRPr sz="28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670"/>
              </a:spcBef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Intermediate Code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Generation</a:t>
            </a:r>
            <a:endParaRPr sz="28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680"/>
              </a:spcBef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Loaders 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linkers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117" y="328168"/>
            <a:ext cx="58451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 </a:t>
            </a:r>
            <a:r>
              <a:rPr spc="-5" dirty="0"/>
              <a:t>1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Overview of </a:t>
            </a:r>
            <a:r>
              <a:rPr spc="-10" dirty="0"/>
              <a:t>Compilers</a:t>
            </a:r>
            <a:r>
              <a:rPr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557273"/>
            <a:ext cx="7764780" cy="14135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07950" marR="5080" indent="-95250">
              <a:lnSpc>
                <a:spcPct val="79800"/>
              </a:lnSpc>
              <a:spcBef>
                <a:spcPts val="680"/>
              </a:spcBef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b="1" dirty="0">
                <a:latin typeface="Times New Roman"/>
                <a:cs typeface="Times New Roman"/>
              </a:rPr>
              <a:t>translator </a:t>
            </a:r>
            <a:r>
              <a:rPr sz="2400" dirty="0">
                <a:latin typeface="Times New Roman"/>
                <a:cs typeface="Times New Roman"/>
              </a:rPr>
              <a:t>inputs and then converts a </a:t>
            </a:r>
            <a:r>
              <a:rPr sz="2400" b="1" spc="-5" dirty="0">
                <a:latin typeface="Times New Roman"/>
                <a:cs typeface="Times New Roman"/>
              </a:rPr>
              <a:t>source program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into 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b="1" dirty="0">
                <a:latin typeface="Times New Roman"/>
                <a:cs typeface="Times New Roman"/>
              </a:rPr>
              <a:t>object or </a:t>
            </a:r>
            <a:r>
              <a:rPr sz="2400" b="1" spc="-5" dirty="0">
                <a:latin typeface="Times New Roman"/>
                <a:cs typeface="Times New Roman"/>
              </a:rPr>
              <a:t>target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  <a:p>
            <a:pPr marL="195580" indent="-182880">
              <a:lnSpc>
                <a:spcPts val="2870"/>
              </a:lnSpc>
              <a:buFont typeface="Times New Roman"/>
              <a:buChar char="•"/>
              <a:tabLst>
                <a:tab pos="19558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Source program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written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  <a:p>
            <a:pPr marL="195580" indent="-182880">
              <a:lnSpc>
                <a:spcPts val="2875"/>
              </a:lnSpc>
              <a:buFont typeface="Times New Roman"/>
              <a:buChar char="•"/>
              <a:tabLst>
                <a:tab pos="195580" algn="l"/>
              </a:tabLst>
            </a:pPr>
            <a:r>
              <a:rPr sz="2400" b="1" dirty="0">
                <a:latin typeface="Times New Roman"/>
                <a:cs typeface="Times New Roman"/>
              </a:rPr>
              <a:t>Object </a:t>
            </a:r>
            <a:r>
              <a:rPr sz="2400" b="1" spc="-5" dirty="0">
                <a:latin typeface="Times New Roman"/>
                <a:cs typeface="Times New Roman"/>
              </a:rPr>
              <a:t>program </a:t>
            </a:r>
            <a:r>
              <a:rPr sz="2400" spc="-5" dirty="0">
                <a:latin typeface="Times New Roman"/>
                <a:cs typeface="Times New Roman"/>
              </a:rPr>
              <a:t>belongs </a:t>
            </a:r>
            <a:r>
              <a:rPr sz="2400" dirty="0">
                <a:latin typeface="Times New Roman"/>
                <a:cs typeface="Times New Roman"/>
              </a:rPr>
              <a:t>to an </a:t>
            </a:r>
            <a:r>
              <a:rPr sz="2400" spc="-5" dirty="0">
                <a:latin typeface="Times New Roman"/>
                <a:cs typeface="Times New Roman"/>
              </a:rPr>
              <a:t>object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835" y="3126994"/>
            <a:ext cx="2976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A translators could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7013" y="3178048"/>
            <a:ext cx="43726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4160" algn="l"/>
                <a:tab pos="313372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Assembler,	Compiler,	Interpreter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2155" y="3796792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Assembler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2155" y="4527550"/>
            <a:ext cx="285305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source program  (in </a:t>
            </a:r>
            <a:r>
              <a:rPr sz="2400" dirty="0">
                <a:latin typeface="Times New Roman"/>
                <a:cs typeface="Times New Roman"/>
              </a:rPr>
              <a:t>assembly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9376" y="4527550"/>
            <a:ext cx="275082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object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(in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language)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1085" y="4502150"/>
            <a:ext cx="1440180" cy="43180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latin typeface="Arial"/>
                <a:cs typeface="Arial"/>
              </a:rPr>
              <a:t>Assembler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40441" y="4752847"/>
            <a:ext cx="581025" cy="76200"/>
          </a:xfrm>
          <a:custGeom>
            <a:avLst/>
            <a:gdLst/>
            <a:ahLst/>
            <a:cxnLst/>
            <a:rect l="l" t="t" r="r" b="b"/>
            <a:pathLst>
              <a:path w="581025" h="76200">
                <a:moveTo>
                  <a:pt x="521969" y="40386"/>
                </a:moveTo>
                <a:lnTo>
                  <a:pt x="521969" y="35051"/>
                </a:lnTo>
                <a:lnTo>
                  <a:pt x="519683" y="33527"/>
                </a:lnTo>
                <a:lnTo>
                  <a:pt x="2286" y="33527"/>
                </a:lnTo>
                <a:lnTo>
                  <a:pt x="0" y="35051"/>
                </a:lnTo>
                <a:lnTo>
                  <a:pt x="0" y="40386"/>
                </a:lnTo>
                <a:lnTo>
                  <a:pt x="2286" y="42672"/>
                </a:lnTo>
                <a:lnTo>
                  <a:pt x="519683" y="42672"/>
                </a:lnTo>
                <a:lnTo>
                  <a:pt x="521969" y="40386"/>
                </a:lnTo>
                <a:close/>
              </a:path>
              <a:path w="581025" h="76200">
                <a:moveTo>
                  <a:pt x="580643" y="38100"/>
                </a:moveTo>
                <a:lnTo>
                  <a:pt x="504443" y="0"/>
                </a:lnTo>
                <a:lnTo>
                  <a:pt x="504443" y="33527"/>
                </a:lnTo>
                <a:lnTo>
                  <a:pt x="519683" y="33527"/>
                </a:lnTo>
                <a:lnTo>
                  <a:pt x="521969" y="35051"/>
                </a:lnTo>
                <a:lnTo>
                  <a:pt x="521969" y="67437"/>
                </a:lnTo>
                <a:lnTo>
                  <a:pt x="580643" y="38100"/>
                </a:lnTo>
                <a:close/>
              </a:path>
              <a:path w="581025" h="76200">
                <a:moveTo>
                  <a:pt x="521969" y="67437"/>
                </a:moveTo>
                <a:lnTo>
                  <a:pt x="521969" y="40386"/>
                </a:lnTo>
                <a:lnTo>
                  <a:pt x="519683" y="42672"/>
                </a:lnTo>
                <a:lnTo>
                  <a:pt x="504443" y="42672"/>
                </a:lnTo>
                <a:lnTo>
                  <a:pt x="504443" y="76200"/>
                </a:lnTo>
                <a:lnTo>
                  <a:pt x="521969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56693" y="4752847"/>
            <a:ext cx="292100" cy="76200"/>
          </a:xfrm>
          <a:custGeom>
            <a:avLst/>
            <a:gdLst/>
            <a:ahLst/>
            <a:cxnLst/>
            <a:rect l="l" t="t" r="r" b="b"/>
            <a:pathLst>
              <a:path w="292100" h="76200">
                <a:moveTo>
                  <a:pt x="233171" y="40386"/>
                </a:moveTo>
                <a:lnTo>
                  <a:pt x="233171" y="35051"/>
                </a:lnTo>
                <a:lnTo>
                  <a:pt x="230886" y="33527"/>
                </a:lnTo>
                <a:lnTo>
                  <a:pt x="1524" y="33527"/>
                </a:lnTo>
                <a:lnTo>
                  <a:pt x="0" y="35051"/>
                </a:lnTo>
                <a:lnTo>
                  <a:pt x="0" y="40386"/>
                </a:lnTo>
                <a:lnTo>
                  <a:pt x="1524" y="42672"/>
                </a:lnTo>
                <a:lnTo>
                  <a:pt x="230886" y="42672"/>
                </a:lnTo>
                <a:lnTo>
                  <a:pt x="233171" y="40386"/>
                </a:lnTo>
                <a:close/>
              </a:path>
              <a:path w="292100" h="76200">
                <a:moveTo>
                  <a:pt x="291833" y="38100"/>
                </a:moveTo>
                <a:lnTo>
                  <a:pt x="215633" y="0"/>
                </a:lnTo>
                <a:lnTo>
                  <a:pt x="215633" y="33527"/>
                </a:lnTo>
                <a:lnTo>
                  <a:pt x="230886" y="33527"/>
                </a:lnTo>
                <a:lnTo>
                  <a:pt x="233171" y="35051"/>
                </a:lnTo>
                <a:lnTo>
                  <a:pt x="233171" y="67430"/>
                </a:lnTo>
                <a:lnTo>
                  <a:pt x="291833" y="38100"/>
                </a:lnTo>
                <a:close/>
              </a:path>
              <a:path w="292100" h="76200">
                <a:moveTo>
                  <a:pt x="233171" y="67430"/>
                </a:moveTo>
                <a:lnTo>
                  <a:pt x="233171" y="40386"/>
                </a:lnTo>
                <a:lnTo>
                  <a:pt x="230886" y="42672"/>
                </a:lnTo>
                <a:lnTo>
                  <a:pt x="215633" y="42672"/>
                </a:lnTo>
                <a:lnTo>
                  <a:pt x="215633" y="76200"/>
                </a:lnTo>
                <a:lnTo>
                  <a:pt x="233171" y="6743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117" y="328168"/>
            <a:ext cx="58451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 </a:t>
            </a:r>
            <a:r>
              <a:rPr spc="-5" dirty="0"/>
              <a:t>1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Overview of </a:t>
            </a:r>
            <a:r>
              <a:rPr spc="-10" dirty="0"/>
              <a:t>Compilers</a:t>
            </a:r>
            <a:r>
              <a:rPr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035" y="1615947"/>
            <a:ext cx="7387590" cy="440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202565" indent="-285750">
              <a:lnSpc>
                <a:spcPct val="100000"/>
              </a:lnSpc>
              <a:spcBef>
                <a:spcPts val="100"/>
              </a:spcBef>
              <a:buFont typeface="Times New Roman"/>
              <a:buChar char="-"/>
              <a:tabLst>
                <a:tab pos="190500" algn="l"/>
                <a:tab pos="580834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Compiler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dirty="0">
                <a:latin typeface="Times New Roman"/>
                <a:cs typeface="Times New Roman"/>
              </a:rPr>
              <a:t>translates a </a:t>
            </a:r>
            <a:r>
              <a:rPr sz="2400" spc="-5" dirty="0">
                <a:latin typeface="Times New Roman"/>
                <a:cs typeface="Times New Roman"/>
              </a:rPr>
              <a:t>source program written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High-  </a:t>
            </a:r>
            <a:r>
              <a:rPr sz="2400" dirty="0">
                <a:latin typeface="Times New Roman"/>
                <a:cs typeface="Times New Roman"/>
              </a:rPr>
              <a:t>Level Language </a:t>
            </a:r>
            <a:r>
              <a:rPr sz="2400" spc="-5" dirty="0">
                <a:latin typeface="Times New Roman"/>
                <a:cs typeface="Times New Roman"/>
              </a:rPr>
              <a:t>(HLL) such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Pascal, C++	</a:t>
            </a:r>
            <a:r>
              <a:rPr sz="2400" dirty="0">
                <a:latin typeface="Times New Roman"/>
                <a:cs typeface="Times New Roman"/>
              </a:rPr>
              <a:t>into  </a:t>
            </a:r>
            <a:r>
              <a:rPr sz="2400" spc="-5" dirty="0">
                <a:latin typeface="Times New Roman"/>
                <a:cs typeface="Times New Roman"/>
              </a:rPr>
              <a:t>computer’s machine language (Low-Level Language  (LLL)).</a:t>
            </a:r>
            <a:endParaRPr sz="2400">
              <a:latin typeface="Times New Roman"/>
              <a:cs typeface="Times New Roman"/>
            </a:endParaRPr>
          </a:p>
          <a:p>
            <a:pPr marL="774700" marR="648970" indent="-304800">
              <a:lnSpc>
                <a:spcPts val="3450"/>
              </a:lnSpc>
              <a:spcBef>
                <a:spcPts val="190"/>
              </a:spcBef>
            </a:pPr>
            <a:r>
              <a:rPr sz="2400" dirty="0">
                <a:latin typeface="Times New Roman"/>
                <a:cs typeface="Times New Roman"/>
              </a:rPr>
              <a:t>* The time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conversion </a:t>
            </a:r>
            <a:r>
              <a:rPr sz="2400" spc="-5" dirty="0">
                <a:latin typeface="Times New Roman"/>
                <a:cs typeface="Times New Roman"/>
              </a:rPr>
              <a:t>from source program into  object program is called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compile</a:t>
            </a:r>
            <a:r>
              <a:rPr sz="24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360"/>
              </a:spcBef>
            </a:pPr>
            <a:r>
              <a:rPr sz="2400" dirty="0">
                <a:latin typeface="Times New Roman"/>
                <a:cs typeface="Times New Roman"/>
              </a:rPr>
              <a:t>* </a:t>
            </a:r>
            <a:r>
              <a:rPr sz="2400" spc="-5" dirty="0">
                <a:latin typeface="Times New Roman"/>
                <a:cs typeface="Times New Roman"/>
              </a:rPr>
              <a:t>The object program is executed at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run</a:t>
            </a:r>
            <a:r>
              <a:rPr sz="24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1905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Interpreter</a:t>
            </a:r>
            <a:r>
              <a:rPr sz="2400" spc="-5" dirty="0">
                <a:latin typeface="Times New Roman"/>
                <a:cs typeface="Times New Roman"/>
              </a:rPr>
              <a:t>: processes </a:t>
            </a:r>
            <a:r>
              <a:rPr sz="2400" dirty="0">
                <a:latin typeface="Times New Roman"/>
                <a:cs typeface="Times New Roman"/>
              </a:rPr>
              <a:t>an internal </a:t>
            </a:r>
            <a:r>
              <a:rPr sz="2400" spc="-5" dirty="0">
                <a:latin typeface="Times New Roman"/>
                <a:cs typeface="Times New Roman"/>
              </a:rPr>
              <a:t>form of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source  program and data at the same time (at run time); no object  program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generated.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117" y="328168"/>
            <a:ext cx="58451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 </a:t>
            </a:r>
            <a:r>
              <a:rPr spc="-5" dirty="0"/>
              <a:t>1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Overview of </a:t>
            </a:r>
            <a:r>
              <a:rPr spc="-10" dirty="0"/>
              <a:t>Compilers</a:t>
            </a:r>
            <a:r>
              <a:rPr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035" y="1617472"/>
            <a:ext cx="23444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Compilation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Process: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035" y="4173988"/>
            <a:ext cx="22872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Interpretive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Process</a:t>
            </a:r>
            <a:r>
              <a:rPr sz="2000" spc="-5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7469" y="2917189"/>
            <a:ext cx="914400" cy="91440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 marL="97790" marR="33655" indent="40640">
              <a:lnSpc>
                <a:spcPct val="100000"/>
              </a:lnSpc>
              <a:spcBef>
                <a:spcPts val="1380"/>
              </a:spcBef>
            </a:pPr>
            <a:r>
              <a:rPr sz="1800" spc="-5" dirty="0">
                <a:latin typeface="Times New Roman"/>
                <a:cs typeface="Times New Roman"/>
              </a:rPr>
              <a:t>Source  program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61265" y="183819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0" y="914399"/>
                </a:lnTo>
                <a:lnTo>
                  <a:pt x="914400" y="914399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64205" y="2137917"/>
            <a:ext cx="508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21085" y="291718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78483" y="3079750"/>
            <a:ext cx="800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1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Object  program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0670" y="2846323"/>
            <a:ext cx="914400" cy="91440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0413" y="4358894"/>
            <a:ext cx="914400" cy="719455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21526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695"/>
              </a:spcBef>
            </a:pPr>
            <a:r>
              <a:rPr sz="1800" spc="-5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92869" y="3061970"/>
            <a:ext cx="1297305" cy="649605"/>
          </a:xfrm>
          <a:custGeom>
            <a:avLst/>
            <a:gdLst/>
            <a:ahLst/>
            <a:cxnLst/>
            <a:rect l="l" t="t" r="r" b="b"/>
            <a:pathLst>
              <a:path w="1297304" h="649604">
                <a:moveTo>
                  <a:pt x="108203" y="0"/>
                </a:moveTo>
                <a:lnTo>
                  <a:pt x="65901" y="8548"/>
                </a:lnTo>
                <a:lnTo>
                  <a:pt x="31527" y="31813"/>
                </a:lnTo>
                <a:lnTo>
                  <a:pt x="8441" y="66222"/>
                </a:lnTo>
                <a:lnTo>
                  <a:pt x="0" y="108203"/>
                </a:lnTo>
                <a:lnTo>
                  <a:pt x="0" y="541019"/>
                </a:lnTo>
                <a:lnTo>
                  <a:pt x="8441" y="583322"/>
                </a:lnTo>
                <a:lnTo>
                  <a:pt x="31527" y="617696"/>
                </a:lnTo>
                <a:lnTo>
                  <a:pt x="65901" y="640782"/>
                </a:lnTo>
                <a:lnTo>
                  <a:pt x="108203" y="649224"/>
                </a:lnTo>
                <a:lnTo>
                  <a:pt x="1188720" y="649224"/>
                </a:lnTo>
                <a:lnTo>
                  <a:pt x="1230701" y="640782"/>
                </a:lnTo>
                <a:lnTo>
                  <a:pt x="1265110" y="617696"/>
                </a:lnTo>
                <a:lnTo>
                  <a:pt x="1288375" y="583322"/>
                </a:lnTo>
                <a:lnTo>
                  <a:pt x="1296923" y="541019"/>
                </a:lnTo>
                <a:lnTo>
                  <a:pt x="1296923" y="108203"/>
                </a:lnTo>
                <a:lnTo>
                  <a:pt x="1288375" y="66222"/>
                </a:lnTo>
                <a:lnTo>
                  <a:pt x="1265110" y="31813"/>
                </a:lnTo>
                <a:lnTo>
                  <a:pt x="1230701" y="8548"/>
                </a:lnTo>
                <a:lnTo>
                  <a:pt x="1188720" y="0"/>
                </a:lnTo>
                <a:lnTo>
                  <a:pt x="108203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70663" y="3229864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Compiler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45619" y="3061970"/>
            <a:ext cx="1297305" cy="649605"/>
          </a:xfrm>
          <a:custGeom>
            <a:avLst/>
            <a:gdLst/>
            <a:ahLst/>
            <a:cxnLst/>
            <a:rect l="l" t="t" r="r" b="b"/>
            <a:pathLst>
              <a:path w="1297304" h="649604">
                <a:moveTo>
                  <a:pt x="108203" y="0"/>
                </a:moveTo>
                <a:lnTo>
                  <a:pt x="65901" y="8548"/>
                </a:lnTo>
                <a:lnTo>
                  <a:pt x="31527" y="31813"/>
                </a:lnTo>
                <a:lnTo>
                  <a:pt x="8441" y="66222"/>
                </a:lnTo>
                <a:lnTo>
                  <a:pt x="0" y="108203"/>
                </a:lnTo>
                <a:lnTo>
                  <a:pt x="0" y="541019"/>
                </a:lnTo>
                <a:lnTo>
                  <a:pt x="8441" y="583322"/>
                </a:lnTo>
                <a:lnTo>
                  <a:pt x="31527" y="617696"/>
                </a:lnTo>
                <a:lnTo>
                  <a:pt x="65901" y="640782"/>
                </a:lnTo>
                <a:lnTo>
                  <a:pt x="108203" y="649224"/>
                </a:lnTo>
                <a:lnTo>
                  <a:pt x="1188707" y="649224"/>
                </a:lnTo>
                <a:lnTo>
                  <a:pt x="1230690" y="640782"/>
                </a:lnTo>
                <a:lnTo>
                  <a:pt x="1265104" y="617696"/>
                </a:lnTo>
                <a:lnTo>
                  <a:pt x="1288373" y="583322"/>
                </a:lnTo>
                <a:lnTo>
                  <a:pt x="1296923" y="541019"/>
                </a:lnTo>
                <a:lnTo>
                  <a:pt x="1296923" y="108203"/>
                </a:lnTo>
                <a:lnTo>
                  <a:pt x="1288373" y="66222"/>
                </a:lnTo>
                <a:lnTo>
                  <a:pt x="1265104" y="31813"/>
                </a:lnTo>
                <a:lnTo>
                  <a:pt x="1230690" y="8548"/>
                </a:lnTo>
                <a:lnTo>
                  <a:pt x="1188707" y="0"/>
                </a:lnTo>
                <a:lnTo>
                  <a:pt x="108203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05887" y="3109468"/>
            <a:ext cx="97536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c</a:t>
            </a:r>
            <a:r>
              <a:rPr sz="1700" spc="-5" dirty="0">
                <a:latin typeface="Arial"/>
                <a:cs typeface="Arial"/>
              </a:rPr>
              <a:t>uting  Computer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27109" y="3384296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379476" y="40386"/>
                </a:moveTo>
                <a:lnTo>
                  <a:pt x="379476" y="35813"/>
                </a:lnTo>
                <a:lnTo>
                  <a:pt x="377952" y="33527"/>
                </a:lnTo>
                <a:lnTo>
                  <a:pt x="2286" y="33527"/>
                </a:lnTo>
                <a:lnTo>
                  <a:pt x="0" y="35813"/>
                </a:lnTo>
                <a:lnTo>
                  <a:pt x="0" y="40386"/>
                </a:lnTo>
                <a:lnTo>
                  <a:pt x="2286" y="42671"/>
                </a:lnTo>
                <a:lnTo>
                  <a:pt x="377952" y="42671"/>
                </a:lnTo>
                <a:lnTo>
                  <a:pt x="379476" y="40386"/>
                </a:lnTo>
                <a:close/>
              </a:path>
              <a:path w="438150" h="76200">
                <a:moveTo>
                  <a:pt x="438149" y="38100"/>
                </a:moveTo>
                <a:lnTo>
                  <a:pt x="361950" y="0"/>
                </a:lnTo>
                <a:lnTo>
                  <a:pt x="361950" y="33527"/>
                </a:lnTo>
                <a:lnTo>
                  <a:pt x="377952" y="33527"/>
                </a:lnTo>
                <a:lnTo>
                  <a:pt x="379476" y="35813"/>
                </a:lnTo>
                <a:lnTo>
                  <a:pt x="379476" y="67437"/>
                </a:lnTo>
                <a:lnTo>
                  <a:pt x="438149" y="38100"/>
                </a:lnTo>
                <a:close/>
              </a:path>
              <a:path w="438150" h="76200">
                <a:moveTo>
                  <a:pt x="379476" y="67437"/>
                </a:moveTo>
                <a:lnTo>
                  <a:pt x="379476" y="40386"/>
                </a:lnTo>
                <a:lnTo>
                  <a:pt x="377952" y="42671"/>
                </a:lnTo>
                <a:lnTo>
                  <a:pt x="361950" y="42671"/>
                </a:lnTo>
                <a:lnTo>
                  <a:pt x="361950" y="76200"/>
                </a:lnTo>
                <a:lnTo>
                  <a:pt x="379476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4459" y="3312667"/>
            <a:ext cx="508634" cy="76200"/>
          </a:xfrm>
          <a:custGeom>
            <a:avLst/>
            <a:gdLst/>
            <a:ahLst/>
            <a:cxnLst/>
            <a:rect l="l" t="t" r="r" b="b"/>
            <a:pathLst>
              <a:path w="508635" h="76200">
                <a:moveTo>
                  <a:pt x="449580" y="41148"/>
                </a:moveTo>
                <a:lnTo>
                  <a:pt x="449580" y="35814"/>
                </a:lnTo>
                <a:lnTo>
                  <a:pt x="447294" y="33528"/>
                </a:lnTo>
                <a:lnTo>
                  <a:pt x="2286" y="33528"/>
                </a:lnTo>
                <a:lnTo>
                  <a:pt x="0" y="35814"/>
                </a:lnTo>
                <a:lnTo>
                  <a:pt x="0" y="41148"/>
                </a:lnTo>
                <a:lnTo>
                  <a:pt x="2286" y="42672"/>
                </a:lnTo>
                <a:lnTo>
                  <a:pt x="447294" y="42672"/>
                </a:lnTo>
                <a:lnTo>
                  <a:pt x="449580" y="41148"/>
                </a:lnTo>
                <a:close/>
              </a:path>
              <a:path w="508635" h="76200">
                <a:moveTo>
                  <a:pt x="508253" y="38100"/>
                </a:moveTo>
                <a:lnTo>
                  <a:pt x="432053" y="0"/>
                </a:lnTo>
                <a:lnTo>
                  <a:pt x="432053" y="33528"/>
                </a:lnTo>
                <a:lnTo>
                  <a:pt x="447294" y="33528"/>
                </a:lnTo>
                <a:lnTo>
                  <a:pt x="449580" y="35814"/>
                </a:lnTo>
                <a:lnTo>
                  <a:pt x="449580" y="67437"/>
                </a:lnTo>
                <a:lnTo>
                  <a:pt x="508253" y="38100"/>
                </a:lnTo>
                <a:close/>
              </a:path>
              <a:path w="508635" h="76200">
                <a:moveTo>
                  <a:pt x="449580" y="67437"/>
                </a:moveTo>
                <a:lnTo>
                  <a:pt x="449580" y="41148"/>
                </a:lnTo>
                <a:lnTo>
                  <a:pt x="447294" y="42672"/>
                </a:lnTo>
                <a:lnTo>
                  <a:pt x="432053" y="42672"/>
                </a:lnTo>
                <a:lnTo>
                  <a:pt x="432053" y="76200"/>
                </a:lnTo>
                <a:lnTo>
                  <a:pt x="449580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53011" y="3312667"/>
            <a:ext cx="292735" cy="76200"/>
          </a:xfrm>
          <a:custGeom>
            <a:avLst/>
            <a:gdLst/>
            <a:ahLst/>
            <a:cxnLst/>
            <a:rect l="l" t="t" r="r" b="b"/>
            <a:pathLst>
              <a:path w="292735" h="76200">
                <a:moveTo>
                  <a:pt x="233172" y="41148"/>
                </a:moveTo>
                <a:lnTo>
                  <a:pt x="233172" y="35814"/>
                </a:lnTo>
                <a:lnTo>
                  <a:pt x="231648" y="33528"/>
                </a:lnTo>
                <a:lnTo>
                  <a:pt x="2286" y="33528"/>
                </a:lnTo>
                <a:lnTo>
                  <a:pt x="0" y="35814"/>
                </a:lnTo>
                <a:lnTo>
                  <a:pt x="0" y="41148"/>
                </a:lnTo>
                <a:lnTo>
                  <a:pt x="2286" y="42672"/>
                </a:lnTo>
                <a:lnTo>
                  <a:pt x="231648" y="42672"/>
                </a:lnTo>
                <a:lnTo>
                  <a:pt x="233172" y="41148"/>
                </a:lnTo>
                <a:close/>
              </a:path>
              <a:path w="292735" h="76200">
                <a:moveTo>
                  <a:pt x="292608" y="38100"/>
                </a:moveTo>
                <a:lnTo>
                  <a:pt x="216408" y="0"/>
                </a:lnTo>
                <a:lnTo>
                  <a:pt x="216408" y="33528"/>
                </a:lnTo>
                <a:lnTo>
                  <a:pt x="231648" y="33528"/>
                </a:lnTo>
                <a:lnTo>
                  <a:pt x="233172" y="35814"/>
                </a:lnTo>
                <a:lnTo>
                  <a:pt x="233172" y="67817"/>
                </a:lnTo>
                <a:lnTo>
                  <a:pt x="292608" y="38100"/>
                </a:lnTo>
                <a:close/>
              </a:path>
              <a:path w="292735" h="76200">
                <a:moveTo>
                  <a:pt x="233172" y="67817"/>
                </a:moveTo>
                <a:lnTo>
                  <a:pt x="233172" y="41148"/>
                </a:lnTo>
                <a:lnTo>
                  <a:pt x="231648" y="42672"/>
                </a:lnTo>
                <a:lnTo>
                  <a:pt x="216408" y="42672"/>
                </a:lnTo>
                <a:lnTo>
                  <a:pt x="216408" y="76200"/>
                </a:lnTo>
                <a:lnTo>
                  <a:pt x="233172" y="6781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35672" y="3312667"/>
            <a:ext cx="365125" cy="76200"/>
          </a:xfrm>
          <a:custGeom>
            <a:avLst/>
            <a:gdLst/>
            <a:ahLst/>
            <a:cxnLst/>
            <a:rect l="l" t="t" r="r" b="b"/>
            <a:pathLst>
              <a:path w="365125" h="76200">
                <a:moveTo>
                  <a:pt x="306324" y="41148"/>
                </a:moveTo>
                <a:lnTo>
                  <a:pt x="306324" y="35814"/>
                </a:lnTo>
                <a:lnTo>
                  <a:pt x="304800" y="33528"/>
                </a:lnTo>
                <a:lnTo>
                  <a:pt x="2298" y="33528"/>
                </a:lnTo>
                <a:lnTo>
                  <a:pt x="0" y="35814"/>
                </a:lnTo>
                <a:lnTo>
                  <a:pt x="0" y="41148"/>
                </a:lnTo>
                <a:lnTo>
                  <a:pt x="2298" y="42672"/>
                </a:lnTo>
                <a:lnTo>
                  <a:pt x="304800" y="42672"/>
                </a:lnTo>
                <a:lnTo>
                  <a:pt x="306324" y="41148"/>
                </a:lnTo>
                <a:close/>
              </a:path>
              <a:path w="365125" h="76200">
                <a:moveTo>
                  <a:pt x="364998" y="38100"/>
                </a:moveTo>
                <a:lnTo>
                  <a:pt x="288798" y="0"/>
                </a:lnTo>
                <a:lnTo>
                  <a:pt x="288798" y="33528"/>
                </a:lnTo>
                <a:lnTo>
                  <a:pt x="304800" y="33528"/>
                </a:lnTo>
                <a:lnTo>
                  <a:pt x="306324" y="35814"/>
                </a:lnTo>
                <a:lnTo>
                  <a:pt x="306324" y="67437"/>
                </a:lnTo>
                <a:lnTo>
                  <a:pt x="364998" y="38100"/>
                </a:lnTo>
                <a:close/>
              </a:path>
              <a:path w="365125" h="76200">
                <a:moveTo>
                  <a:pt x="306324" y="67437"/>
                </a:moveTo>
                <a:lnTo>
                  <a:pt x="306324" y="41148"/>
                </a:lnTo>
                <a:lnTo>
                  <a:pt x="304800" y="42672"/>
                </a:lnTo>
                <a:lnTo>
                  <a:pt x="288798" y="42672"/>
                </a:lnTo>
                <a:lnTo>
                  <a:pt x="288798" y="76200"/>
                </a:lnTo>
                <a:lnTo>
                  <a:pt x="306324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55219" y="2696972"/>
            <a:ext cx="76200" cy="509905"/>
          </a:xfrm>
          <a:custGeom>
            <a:avLst/>
            <a:gdLst/>
            <a:ahLst/>
            <a:cxnLst/>
            <a:rect l="l" t="t" r="r" b="b"/>
            <a:pathLst>
              <a:path w="76200" h="509905">
                <a:moveTo>
                  <a:pt x="76200" y="433577"/>
                </a:moveTo>
                <a:lnTo>
                  <a:pt x="0" y="433577"/>
                </a:lnTo>
                <a:lnTo>
                  <a:pt x="32753" y="499084"/>
                </a:lnTo>
                <a:lnTo>
                  <a:pt x="32753" y="448817"/>
                </a:lnTo>
                <a:lnTo>
                  <a:pt x="35052" y="451103"/>
                </a:lnTo>
                <a:lnTo>
                  <a:pt x="40386" y="451103"/>
                </a:lnTo>
                <a:lnTo>
                  <a:pt x="42672" y="448817"/>
                </a:lnTo>
                <a:lnTo>
                  <a:pt x="42672" y="500633"/>
                </a:lnTo>
                <a:lnTo>
                  <a:pt x="76200" y="433577"/>
                </a:lnTo>
                <a:close/>
              </a:path>
              <a:path w="76200" h="509905">
                <a:moveTo>
                  <a:pt x="42672" y="433577"/>
                </a:moveTo>
                <a:lnTo>
                  <a:pt x="42672" y="2285"/>
                </a:lnTo>
                <a:lnTo>
                  <a:pt x="40386" y="0"/>
                </a:lnTo>
                <a:lnTo>
                  <a:pt x="35052" y="0"/>
                </a:lnTo>
                <a:lnTo>
                  <a:pt x="32753" y="2285"/>
                </a:lnTo>
                <a:lnTo>
                  <a:pt x="32753" y="433577"/>
                </a:lnTo>
                <a:lnTo>
                  <a:pt x="42672" y="433577"/>
                </a:lnTo>
                <a:close/>
              </a:path>
              <a:path w="76200" h="509905">
                <a:moveTo>
                  <a:pt x="42672" y="500633"/>
                </a:moveTo>
                <a:lnTo>
                  <a:pt x="42672" y="448817"/>
                </a:lnTo>
                <a:lnTo>
                  <a:pt x="40386" y="451103"/>
                </a:lnTo>
                <a:lnTo>
                  <a:pt x="35052" y="451103"/>
                </a:lnTo>
                <a:lnTo>
                  <a:pt x="32753" y="448817"/>
                </a:lnTo>
                <a:lnTo>
                  <a:pt x="32753" y="499084"/>
                </a:lnTo>
                <a:lnTo>
                  <a:pt x="38100" y="509777"/>
                </a:lnTo>
                <a:lnTo>
                  <a:pt x="42672" y="50063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97751" y="5293867"/>
            <a:ext cx="914400" cy="721360"/>
          </a:xfrm>
          <a:custGeom>
            <a:avLst/>
            <a:gdLst/>
            <a:ahLst/>
            <a:cxnLst/>
            <a:rect l="l" t="t" r="r" b="b"/>
            <a:pathLst>
              <a:path w="914400" h="721360">
                <a:moveTo>
                  <a:pt x="0" y="0"/>
                </a:moveTo>
                <a:lnTo>
                  <a:pt x="0" y="720851"/>
                </a:lnTo>
                <a:lnTo>
                  <a:pt x="914400" y="720851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18407" y="5496814"/>
            <a:ext cx="674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Result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0233" y="5293867"/>
            <a:ext cx="914400" cy="72136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00330" marR="31750" indent="40005">
              <a:lnSpc>
                <a:spcPct val="100000"/>
              </a:lnSpc>
              <a:spcBef>
                <a:spcPts val="610"/>
              </a:spcBef>
            </a:pPr>
            <a:r>
              <a:rPr sz="1800" spc="-5" dirty="0">
                <a:latin typeface="Times New Roman"/>
                <a:cs typeface="Times New Roman"/>
              </a:rPr>
              <a:t>Source  program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97919" y="5365496"/>
            <a:ext cx="1297305" cy="649605"/>
          </a:xfrm>
          <a:custGeom>
            <a:avLst/>
            <a:gdLst/>
            <a:ahLst/>
            <a:cxnLst/>
            <a:rect l="l" t="t" r="r" b="b"/>
            <a:pathLst>
              <a:path w="1297304" h="649604">
                <a:moveTo>
                  <a:pt x="108203" y="0"/>
                </a:moveTo>
                <a:lnTo>
                  <a:pt x="65901" y="8548"/>
                </a:lnTo>
                <a:lnTo>
                  <a:pt x="31527" y="31813"/>
                </a:lnTo>
                <a:lnTo>
                  <a:pt x="8441" y="66222"/>
                </a:lnTo>
                <a:lnTo>
                  <a:pt x="0" y="108204"/>
                </a:lnTo>
                <a:lnTo>
                  <a:pt x="0" y="541020"/>
                </a:lnTo>
                <a:lnTo>
                  <a:pt x="8441" y="583001"/>
                </a:lnTo>
                <a:lnTo>
                  <a:pt x="31527" y="617410"/>
                </a:lnTo>
                <a:lnTo>
                  <a:pt x="65901" y="640675"/>
                </a:lnTo>
                <a:lnTo>
                  <a:pt x="108204" y="649224"/>
                </a:lnTo>
                <a:lnTo>
                  <a:pt x="1188707" y="649224"/>
                </a:lnTo>
                <a:lnTo>
                  <a:pt x="1230690" y="640675"/>
                </a:lnTo>
                <a:lnTo>
                  <a:pt x="1265104" y="617410"/>
                </a:lnTo>
                <a:lnTo>
                  <a:pt x="1288373" y="583001"/>
                </a:lnTo>
                <a:lnTo>
                  <a:pt x="1296923" y="541019"/>
                </a:lnTo>
                <a:lnTo>
                  <a:pt x="1296923" y="108203"/>
                </a:lnTo>
                <a:lnTo>
                  <a:pt x="1288373" y="66222"/>
                </a:lnTo>
                <a:lnTo>
                  <a:pt x="1265104" y="31813"/>
                </a:lnTo>
                <a:lnTo>
                  <a:pt x="1230690" y="8548"/>
                </a:lnTo>
                <a:lnTo>
                  <a:pt x="1188707" y="0"/>
                </a:lnTo>
                <a:lnTo>
                  <a:pt x="108203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275713" y="5533390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Compiler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732159" y="5616194"/>
            <a:ext cx="436880" cy="76200"/>
          </a:xfrm>
          <a:custGeom>
            <a:avLst/>
            <a:gdLst/>
            <a:ahLst/>
            <a:cxnLst/>
            <a:rect l="l" t="t" r="r" b="b"/>
            <a:pathLst>
              <a:path w="436879" h="76200">
                <a:moveTo>
                  <a:pt x="377951" y="41147"/>
                </a:moveTo>
                <a:lnTo>
                  <a:pt x="377951" y="35813"/>
                </a:lnTo>
                <a:lnTo>
                  <a:pt x="375665" y="33527"/>
                </a:lnTo>
                <a:lnTo>
                  <a:pt x="2286" y="33527"/>
                </a:lnTo>
                <a:lnTo>
                  <a:pt x="0" y="35813"/>
                </a:lnTo>
                <a:lnTo>
                  <a:pt x="0" y="41147"/>
                </a:lnTo>
                <a:lnTo>
                  <a:pt x="2286" y="42671"/>
                </a:lnTo>
                <a:lnTo>
                  <a:pt x="375665" y="42671"/>
                </a:lnTo>
                <a:lnTo>
                  <a:pt x="377951" y="41147"/>
                </a:lnTo>
                <a:close/>
              </a:path>
              <a:path w="436879" h="76200">
                <a:moveTo>
                  <a:pt x="436625" y="38100"/>
                </a:moveTo>
                <a:lnTo>
                  <a:pt x="360425" y="0"/>
                </a:lnTo>
                <a:lnTo>
                  <a:pt x="360425" y="33527"/>
                </a:lnTo>
                <a:lnTo>
                  <a:pt x="375665" y="33527"/>
                </a:lnTo>
                <a:lnTo>
                  <a:pt x="377951" y="35813"/>
                </a:lnTo>
                <a:lnTo>
                  <a:pt x="377951" y="67437"/>
                </a:lnTo>
                <a:lnTo>
                  <a:pt x="436625" y="38100"/>
                </a:lnTo>
                <a:close/>
              </a:path>
              <a:path w="436879" h="76200">
                <a:moveTo>
                  <a:pt x="377951" y="67437"/>
                </a:moveTo>
                <a:lnTo>
                  <a:pt x="377951" y="41147"/>
                </a:lnTo>
                <a:lnTo>
                  <a:pt x="375665" y="42671"/>
                </a:lnTo>
                <a:lnTo>
                  <a:pt x="360425" y="42671"/>
                </a:lnTo>
                <a:lnTo>
                  <a:pt x="360425" y="76200"/>
                </a:lnTo>
                <a:lnTo>
                  <a:pt x="377951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87972" y="5616194"/>
            <a:ext cx="581660" cy="76200"/>
          </a:xfrm>
          <a:custGeom>
            <a:avLst/>
            <a:gdLst/>
            <a:ahLst/>
            <a:cxnLst/>
            <a:rect l="l" t="t" r="r" b="b"/>
            <a:pathLst>
              <a:path w="581659" h="76200">
                <a:moveTo>
                  <a:pt x="522744" y="41147"/>
                </a:moveTo>
                <a:lnTo>
                  <a:pt x="522744" y="35813"/>
                </a:lnTo>
                <a:lnTo>
                  <a:pt x="520458" y="33527"/>
                </a:lnTo>
                <a:lnTo>
                  <a:pt x="2298" y="33527"/>
                </a:lnTo>
                <a:lnTo>
                  <a:pt x="0" y="35813"/>
                </a:lnTo>
                <a:lnTo>
                  <a:pt x="0" y="41147"/>
                </a:lnTo>
                <a:lnTo>
                  <a:pt x="2298" y="42671"/>
                </a:lnTo>
                <a:lnTo>
                  <a:pt x="520458" y="42671"/>
                </a:lnTo>
                <a:lnTo>
                  <a:pt x="522744" y="41147"/>
                </a:lnTo>
                <a:close/>
              </a:path>
              <a:path w="581659" h="76200">
                <a:moveTo>
                  <a:pt x="581418" y="38100"/>
                </a:moveTo>
                <a:lnTo>
                  <a:pt x="505218" y="0"/>
                </a:lnTo>
                <a:lnTo>
                  <a:pt x="505218" y="33527"/>
                </a:lnTo>
                <a:lnTo>
                  <a:pt x="520458" y="33527"/>
                </a:lnTo>
                <a:lnTo>
                  <a:pt x="522744" y="35813"/>
                </a:lnTo>
                <a:lnTo>
                  <a:pt x="522744" y="67437"/>
                </a:lnTo>
                <a:lnTo>
                  <a:pt x="581418" y="38100"/>
                </a:lnTo>
                <a:close/>
              </a:path>
              <a:path w="581659" h="76200">
                <a:moveTo>
                  <a:pt x="522744" y="67437"/>
                </a:moveTo>
                <a:lnTo>
                  <a:pt x="522744" y="41147"/>
                </a:lnTo>
                <a:lnTo>
                  <a:pt x="520458" y="42671"/>
                </a:lnTo>
                <a:lnTo>
                  <a:pt x="505218" y="42671"/>
                </a:lnTo>
                <a:lnTo>
                  <a:pt x="505218" y="76200"/>
                </a:lnTo>
                <a:lnTo>
                  <a:pt x="522744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35891" y="5146040"/>
            <a:ext cx="76200" cy="220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837313" y="3787647"/>
            <a:ext cx="12084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"/>
                <a:cs typeface="Arial"/>
              </a:rPr>
              <a:t>Compile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time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15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40757" y="3882905"/>
            <a:ext cx="7600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"/>
                <a:cs typeface="Arial"/>
              </a:rPr>
              <a:t>run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time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117" y="328168"/>
            <a:ext cx="58451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 </a:t>
            </a:r>
            <a:r>
              <a:rPr spc="-5" dirty="0"/>
              <a:t>1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Overview of </a:t>
            </a:r>
            <a:r>
              <a:rPr spc="-10" dirty="0"/>
              <a:t>Compilers</a:t>
            </a:r>
            <a:r>
              <a:rPr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530151"/>
            <a:ext cx="4021454" cy="31019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Compiler writing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spans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80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programming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languages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75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machine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architecture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80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language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theory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80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algorithms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70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software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6853" y="571245"/>
            <a:ext cx="3971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Model </a:t>
            </a:r>
            <a:r>
              <a:rPr spc="-5" dirty="0"/>
              <a:t>of A</a:t>
            </a:r>
            <a:r>
              <a:rPr spc="-40" dirty="0"/>
              <a:t> </a:t>
            </a:r>
            <a:r>
              <a:rPr spc="-10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543557"/>
            <a:ext cx="5287010" cy="13398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 compiler must </a:t>
            </a:r>
            <a:r>
              <a:rPr sz="2400" spc="-5" dirty="0">
                <a:latin typeface="Times New Roman"/>
                <a:cs typeface="Times New Roman"/>
              </a:rPr>
              <a:t>perform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tasks: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ct val="100000"/>
              </a:lnSpc>
              <a:spcBef>
                <a:spcPts val="570"/>
              </a:spcBef>
              <a:buChar char="-"/>
              <a:tabLst>
                <a:tab pos="533400" algn="l"/>
              </a:tabLst>
            </a:pPr>
            <a:r>
              <a:rPr sz="2400" dirty="0">
                <a:latin typeface="Times New Roman"/>
                <a:cs typeface="Times New Roman"/>
              </a:rPr>
              <a:t>analysis of </a:t>
            </a: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ct val="100000"/>
              </a:lnSpc>
              <a:spcBef>
                <a:spcPts val="570"/>
              </a:spcBef>
              <a:buChar char="-"/>
              <a:tabLst>
                <a:tab pos="533400" algn="l"/>
              </a:tabLst>
            </a:pPr>
            <a:r>
              <a:rPr sz="2400" dirty="0">
                <a:latin typeface="Times New Roman"/>
                <a:cs typeface="Times New Roman"/>
              </a:rPr>
              <a:t>synthesis of its corresponding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1235" y="2930397"/>
            <a:ext cx="1929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97469" y="3567176"/>
            <a:ext cx="2807970" cy="1441450"/>
          </a:xfrm>
          <a:custGeom>
            <a:avLst/>
            <a:gdLst/>
            <a:ahLst/>
            <a:cxnLst/>
            <a:rect l="l" t="t" r="r" b="b"/>
            <a:pathLst>
              <a:path w="2807970" h="1441450">
                <a:moveTo>
                  <a:pt x="0" y="0"/>
                </a:moveTo>
                <a:lnTo>
                  <a:pt x="0" y="1440941"/>
                </a:lnTo>
                <a:lnTo>
                  <a:pt x="2807969" y="1440941"/>
                </a:lnTo>
                <a:lnTo>
                  <a:pt x="28079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57659" y="3843273"/>
            <a:ext cx="6883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4211" y="4269224"/>
            <a:ext cx="15563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430">
              <a:lnSpc>
                <a:spcPct val="100000"/>
              </a:lnSpc>
              <a:spcBef>
                <a:spcPts val="95"/>
              </a:spcBef>
              <a:tabLst>
                <a:tab pos="821690" algn="l"/>
              </a:tabLst>
            </a:pPr>
            <a:r>
              <a:rPr sz="1400" spc="-10" dirty="0">
                <a:latin typeface="Arial"/>
                <a:cs typeface="Arial"/>
              </a:rPr>
              <a:t>Lexica</a:t>
            </a:r>
            <a:r>
              <a:rPr sz="1400" spc="-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" dirty="0">
                <a:latin typeface="Arial"/>
                <a:cs typeface="Arial"/>
              </a:rPr>
              <a:t>Synta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-5" dirty="0">
                <a:latin typeface="Arial"/>
                <a:cs typeface="Arial"/>
              </a:rPr>
              <a:t>tic  Analysis	Analysis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2158" y="4269224"/>
            <a:ext cx="7747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330" marR="5080" indent="-88265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Semantic  A</a:t>
            </a:r>
            <a:r>
              <a:rPr sz="1400" spc="-5" dirty="0">
                <a:latin typeface="Arial"/>
                <a:cs typeface="Arial"/>
              </a:rPr>
              <a:t>na</a:t>
            </a:r>
            <a:r>
              <a:rPr sz="1400" spc="-10" dirty="0">
                <a:latin typeface="Arial"/>
                <a:cs typeface="Arial"/>
              </a:rPr>
              <a:t>l</a:t>
            </a:r>
            <a:r>
              <a:rPr sz="1400" spc="-5" dirty="0">
                <a:latin typeface="Arial"/>
                <a:cs typeface="Arial"/>
              </a:rPr>
              <a:t>ysis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13115" y="5367020"/>
            <a:ext cx="5687695" cy="576580"/>
          </a:xfrm>
          <a:custGeom>
            <a:avLst/>
            <a:gdLst/>
            <a:ahLst/>
            <a:cxnLst/>
            <a:rect l="l" t="t" r="r" b="b"/>
            <a:pathLst>
              <a:path w="5687695" h="576579">
                <a:moveTo>
                  <a:pt x="0" y="0"/>
                </a:moveTo>
                <a:lnTo>
                  <a:pt x="0" y="576072"/>
                </a:lnTo>
                <a:lnTo>
                  <a:pt x="5687568" y="576072"/>
                </a:lnTo>
                <a:lnTo>
                  <a:pt x="568756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00531" y="5498338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Tables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08359" y="3564890"/>
            <a:ext cx="2809240" cy="1442085"/>
          </a:xfrm>
          <a:custGeom>
            <a:avLst/>
            <a:gdLst/>
            <a:ahLst/>
            <a:cxnLst/>
            <a:rect l="l" t="t" r="r" b="b"/>
            <a:pathLst>
              <a:path w="2809240" h="1442085">
                <a:moveTo>
                  <a:pt x="0" y="0"/>
                </a:moveTo>
                <a:lnTo>
                  <a:pt x="0" y="1441704"/>
                </a:lnTo>
                <a:lnTo>
                  <a:pt x="2808731" y="1441703"/>
                </a:lnTo>
                <a:lnTo>
                  <a:pt x="2808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59113" y="2930397"/>
            <a:ext cx="1878964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28575" algn="ctr">
              <a:lnSpc>
                <a:spcPct val="100000"/>
              </a:lnSpc>
              <a:spcBef>
                <a:spcPts val="1780"/>
              </a:spcBef>
            </a:pPr>
            <a:r>
              <a:rPr sz="1400" spc="-5" dirty="0">
                <a:latin typeface="Arial"/>
                <a:cs typeface="Arial"/>
              </a:rPr>
              <a:t>Synthesis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8847" y="4161033"/>
            <a:ext cx="8248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7325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Code  Generator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1828" y="4161033"/>
            <a:ext cx="7448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8585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Code  optimizer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19033" y="3346196"/>
            <a:ext cx="76200" cy="1012825"/>
          </a:xfrm>
          <a:custGeom>
            <a:avLst/>
            <a:gdLst/>
            <a:ahLst/>
            <a:cxnLst/>
            <a:rect l="l" t="t" r="r" b="b"/>
            <a:pathLst>
              <a:path w="76200" h="1012825">
                <a:moveTo>
                  <a:pt x="76200" y="936498"/>
                </a:moveTo>
                <a:lnTo>
                  <a:pt x="0" y="936498"/>
                </a:lnTo>
                <a:lnTo>
                  <a:pt x="33528" y="1003554"/>
                </a:lnTo>
                <a:lnTo>
                  <a:pt x="33528" y="951738"/>
                </a:lnTo>
                <a:lnTo>
                  <a:pt x="35813" y="954024"/>
                </a:lnTo>
                <a:lnTo>
                  <a:pt x="41148" y="954024"/>
                </a:lnTo>
                <a:lnTo>
                  <a:pt x="43434" y="951738"/>
                </a:lnTo>
                <a:lnTo>
                  <a:pt x="43434" y="1002029"/>
                </a:lnTo>
                <a:lnTo>
                  <a:pt x="76200" y="936498"/>
                </a:lnTo>
                <a:close/>
              </a:path>
              <a:path w="76200" h="1012825">
                <a:moveTo>
                  <a:pt x="43434" y="936498"/>
                </a:moveTo>
                <a:lnTo>
                  <a:pt x="43434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936498"/>
                </a:lnTo>
                <a:lnTo>
                  <a:pt x="43434" y="936498"/>
                </a:lnTo>
                <a:close/>
              </a:path>
              <a:path w="76200" h="1012825">
                <a:moveTo>
                  <a:pt x="43434" y="1002029"/>
                </a:moveTo>
                <a:lnTo>
                  <a:pt x="43434" y="951738"/>
                </a:lnTo>
                <a:lnTo>
                  <a:pt x="41148" y="954024"/>
                </a:lnTo>
                <a:lnTo>
                  <a:pt x="35813" y="954024"/>
                </a:lnTo>
                <a:lnTo>
                  <a:pt x="33528" y="951738"/>
                </a:lnTo>
                <a:lnTo>
                  <a:pt x="33528" y="1003554"/>
                </a:lnTo>
                <a:lnTo>
                  <a:pt x="38100" y="1012698"/>
                </a:lnTo>
                <a:lnTo>
                  <a:pt x="43434" y="100202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84615" y="4464050"/>
            <a:ext cx="220218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47961" y="4464050"/>
            <a:ext cx="365125" cy="76200"/>
          </a:xfrm>
          <a:custGeom>
            <a:avLst/>
            <a:gdLst/>
            <a:ahLst/>
            <a:cxnLst/>
            <a:rect l="l" t="t" r="r" b="b"/>
            <a:pathLst>
              <a:path w="365125" h="76200">
                <a:moveTo>
                  <a:pt x="306324" y="40386"/>
                </a:moveTo>
                <a:lnTo>
                  <a:pt x="306324" y="35051"/>
                </a:lnTo>
                <a:lnTo>
                  <a:pt x="304800" y="32765"/>
                </a:lnTo>
                <a:lnTo>
                  <a:pt x="2286" y="32765"/>
                </a:lnTo>
                <a:lnTo>
                  <a:pt x="0" y="35051"/>
                </a:lnTo>
                <a:lnTo>
                  <a:pt x="0" y="40386"/>
                </a:lnTo>
                <a:lnTo>
                  <a:pt x="2286" y="42672"/>
                </a:lnTo>
                <a:lnTo>
                  <a:pt x="304800" y="42672"/>
                </a:lnTo>
                <a:lnTo>
                  <a:pt x="306324" y="40386"/>
                </a:lnTo>
                <a:close/>
              </a:path>
              <a:path w="365125" h="76200">
                <a:moveTo>
                  <a:pt x="364998" y="38100"/>
                </a:moveTo>
                <a:lnTo>
                  <a:pt x="288798" y="0"/>
                </a:lnTo>
                <a:lnTo>
                  <a:pt x="288798" y="32765"/>
                </a:lnTo>
                <a:lnTo>
                  <a:pt x="304800" y="32765"/>
                </a:lnTo>
                <a:lnTo>
                  <a:pt x="306324" y="35051"/>
                </a:lnTo>
                <a:lnTo>
                  <a:pt x="306324" y="67437"/>
                </a:lnTo>
                <a:lnTo>
                  <a:pt x="364998" y="38100"/>
                </a:lnTo>
                <a:close/>
              </a:path>
              <a:path w="365125" h="76200">
                <a:moveTo>
                  <a:pt x="306324" y="67437"/>
                </a:moveTo>
                <a:lnTo>
                  <a:pt x="306324" y="40386"/>
                </a:lnTo>
                <a:lnTo>
                  <a:pt x="304800" y="42672"/>
                </a:lnTo>
                <a:lnTo>
                  <a:pt x="288798" y="42672"/>
                </a:lnTo>
                <a:lnTo>
                  <a:pt x="288798" y="76200"/>
                </a:lnTo>
                <a:lnTo>
                  <a:pt x="306324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56087" y="4392421"/>
            <a:ext cx="1084580" cy="76200"/>
          </a:xfrm>
          <a:custGeom>
            <a:avLst/>
            <a:gdLst/>
            <a:ahLst/>
            <a:cxnLst/>
            <a:rect l="l" t="t" r="r" b="b"/>
            <a:pathLst>
              <a:path w="1084579" h="76200">
                <a:moveTo>
                  <a:pt x="1025652" y="40386"/>
                </a:moveTo>
                <a:lnTo>
                  <a:pt x="1025652" y="35051"/>
                </a:lnTo>
                <a:lnTo>
                  <a:pt x="1023366" y="33527"/>
                </a:lnTo>
                <a:lnTo>
                  <a:pt x="2286" y="33527"/>
                </a:lnTo>
                <a:lnTo>
                  <a:pt x="0" y="35051"/>
                </a:lnTo>
                <a:lnTo>
                  <a:pt x="0" y="40386"/>
                </a:lnTo>
                <a:lnTo>
                  <a:pt x="2286" y="42672"/>
                </a:lnTo>
                <a:lnTo>
                  <a:pt x="1023366" y="42672"/>
                </a:lnTo>
                <a:lnTo>
                  <a:pt x="1025652" y="40386"/>
                </a:lnTo>
                <a:close/>
              </a:path>
              <a:path w="1084579" h="76200">
                <a:moveTo>
                  <a:pt x="1084326" y="38100"/>
                </a:moveTo>
                <a:lnTo>
                  <a:pt x="1008126" y="0"/>
                </a:lnTo>
                <a:lnTo>
                  <a:pt x="1008126" y="33527"/>
                </a:lnTo>
                <a:lnTo>
                  <a:pt x="1023366" y="33527"/>
                </a:lnTo>
                <a:lnTo>
                  <a:pt x="1025652" y="35051"/>
                </a:lnTo>
                <a:lnTo>
                  <a:pt x="1025652" y="67436"/>
                </a:lnTo>
                <a:lnTo>
                  <a:pt x="1084326" y="38100"/>
                </a:lnTo>
                <a:close/>
              </a:path>
              <a:path w="1084579" h="76200">
                <a:moveTo>
                  <a:pt x="1025652" y="67436"/>
                </a:moveTo>
                <a:lnTo>
                  <a:pt x="1025652" y="40386"/>
                </a:lnTo>
                <a:lnTo>
                  <a:pt x="1023366" y="42672"/>
                </a:lnTo>
                <a:lnTo>
                  <a:pt x="1008126" y="42672"/>
                </a:lnTo>
                <a:lnTo>
                  <a:pt x="1008126" y="76200"/>
                </a:lnTo>
                <a:lnTo>
                  <a:pt x="1025652" y="6743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00698" y="4392421"/>
            <a:ext cx="365125" cy="76200"/>
          </a:xfrm>
          <a:custGeom>
            <a:avLst/>
            <a:gdLst/>
            <a:ahLst/>
            <a:cxnLst/>
            <a:rect l="l" t="t" r="r" b="b"/>
            <a:pathLst>
              <a:path w="365125" h="76200">
                <a:moveTo>
                  <a:pt x="306324" y="40386"/>
                </a:moveTo>
                <a:lnTo>
                  <a:pt x="306324" y="35051"/>
                </a:lnTo>
                <a:lnTo>
                  <a:pt x="304800" y="33527"/>
                </a:lnTo>
                <a:lnTo>
                  <a:pt x="2298" y="33527"/>
                </a:lnTo>
                <a:lnTo>
                  <a:pt x="0" y="35051"/>
                </a:lnTo>
                <a:lnTo>
                  <a:pt x="0" y="40386"/>
                </a:lnTo>
                <a:lnTo>
                  <a:pt x="2298" y="42672"/>
                </a:lnTo>
                <a:lnTo>
                  <a:pt x="304800" y="42672"/>
                </a:lnTo>
                <a:lnTo>
                  <a:pt x="306324" y="40386"/>
                </a:lnTo>
                <a:close/>
              </a:path>
              <a:path w="365125" h="76200">
                <a:moveTo>
                  <a:pt x="364998" y="38100"/>
                </a:moveTo>
                <a:lnTo>
                  <a:pt x="288798" y="0"/>
                </a:lnTo>
                <a:lnTo>
                  <a:pt x="288798" y="33527"/>
                </a:lnTo>
                <a:lnTo>
                  <a:pt x="304800" y="33527"/>
                </a:lnTo>
                <a:lnTo>
                  <a:pt x="306324" y="35051"/>
                </a:lnTo>
                <a:lnTo>
                  <a:pt x="306324" y="67437"/>
                </a:lnTo>
                <a:lnTo>
                  <a:pt x="364998" y="38100"/>
                </a:lnTo>
                <a:close/>
              </a:path>
              <a:path w="365125" h="76200">
                <a:moveTo>
                  <a:pt x="306324" y="67437"/>
                </a:moveTo>
                <a:lnTo>
                  <a:pt x="306324" y="40386"/>
                </a:lnTo>
                <a:lnTo>
                  <a:pt x="304800" y="42672"/>
                </a:lnTo>
                <a:lnTo>
                  <a:pt x="288798" y="42672"/>
                </a:lnTo>
                <a:lnTo>
                  <a:pt x="288798" y="76200"/>
                </a:lnTo>
                <a:lnTo>
                  <a:pt x="306324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14870" y="3350767"/>
            <a:ext cx="76200" cy="868680"/>
          </a:xfrm>
          <a:custGeom>
            <a:avLst/>
            <a:gdLst/>
            <a:ahLst/>
            <a:cxnLst/>
            <a:rect l="l" t="t" r="r" b="b"/>
            <a:pathLst>
              <a:path w="76200" h="868679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0960"/>
                </a:lnTo>
                <a:lnTo>
                  <a:pt x="35826" y="58674"/>
                </a:lnTo>
                <a:lnTo>
                  <a:pt x="41160" y="58674"/>
                </a:lnTo>
                <a:lnTo>
                  <a:pt x="43446" y="60960"/>
                </a:lnTo>
                <a:lnTo>
                  <a:pt x="43446" y="76200"/>
                </a:lnTo>
                <a:lnTo>
                  <a:pt x="76200" y="76200"/>
                </a:lnTo>
                <a:close/>
              </a:path>
              <a:path w="76200" h="868679">
                <a:moveTo>
                  <a:pt x="43446" y="76200"/>
                </a:moveTo>
                <a:lnTo>
                  <a:pt x="43446" y="60960"/>
                </a:lnTo>
                <a:lnTo>
                  <a:pt x="41160" y="58674"/>
                </a:lnTo>
                <a:lnTo>
                  <a:pt x="35826" y="58674"/>
                </a:lnTo>
                <a:lnTo>
                  <a:pt x="33527" y="60960"/>
                </a:lnTo>
                <a:lnTo>
                  <a:pt x="33527" y="76200"/>
                </a:lnTo>
                <a:lnTo>
                  <a:pt x="43446" y="76200"/>
                </a:lnTo>
                <a:close/>
              </a:path>
              <a:path w="76200" h="868679">
                <a:moveTo>
                  <a:pt x="43446" y="866394"/>
                </a:moveTo>
                <a:lnTo>
                  <a:pt x="43446" y="76200"/>
                </a:lnTo>
                <a:lnTo>
                  <a:pt x="33527" y="76200"/>
                </a:lnTo>
                <a:lnTo>
                  <a:pt x="33527" y="866394"/>
                </a:lnTo>
                <a:lnTo>
                  <a:pt x="35826" y="868680"/>
                </a:lnTo>
                <a:lnTo>
                  <a:pt x="41160" y="868680"/>
                </a:lnTo>
                <a:lnTo>
                  <a:pt x="43446" y="86639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90661" y="4790947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0960"/>
                </a:lnTo>
                <a:lnTo>
                  <a:pt x="35813" y="58674"/>
                </a:lnTo>
                <a:lnTo>
                  <a:pt x="41147" y="58674"/>
                </a:lnTo>
                <a:lnTo>
                  <a:pt x="42671" y="60960"/>
                </a:lnTo>
                <a:lnTo>
                  <a:pt x="42671" y="76200"/>
                </a:lnTo>
                <a:lnTo>
                  <a:pt x="76200" y="76200"/>
                </a:lnTo>
                <a:close/>
              </a:path>
              <a:path w="76200" h="647700">
                <a:moveTo>
                  <a:pt x="76200" y="571500"/>
                </a:moveTo>
                <a:lnTo>
                  <a:pt x="0" y="571500"/>
                </a:lnTo>
                <a:lnTo>
                  <a:pt x="33527" y="638555"/>
                </a:lnTo>
                <a:lnTo>
                  <a:pt x="33527" y="586739"/>
                </a:lnTo>
                <a:lnTo>
                  <a:pt x="35813" y="589026"/>
                </a:lnTo>
                <a:lnTo>
                  <a:pt x="41147" y="589026"/>
                </a:lnTo>
                <a:lnTo>
                  <a:pt x="42671" y="586739"/>
                </a:lnTo>
                <a:lnTo>
                  <a:pt x="42671" y="638556"/>
                </a:lnTo>
                <a:lnTo>
                  <a:pt x="76200" y="571500"/>
                </a:lnTo>
                <a:close/>
              </a:path>
              <a:path w="76200" h="647700">
                <a:moveTo>
                  <a:pt x="42671" y="76200"/>
                </a:moveTo>
                <a:lnTo>
                  <a:pt x="42671" y="60960"/>
                </a:lnTo>
                <a:lnTo>
                  <a:pt x="41147" y="58674"/>
                </a:lnTo>
                <a:lnTo>
                  <a:pt x="35813" y="58674"/>
                </a:lnTo>
                <a:lnTo>
                  <a:pt x="33527" y="60960"/>
                </a:lnTo>
                <a:lnTo>
                  <a:pt x="33527" y="76200"/>
                </a:lnTo>
                <a:lnTo>
                  <a:pt x="42671" y="76200"/>
                </a:lnTo>
                <a:close/>
              </a:path>
              <a:path w="76200" h="647700">
                <a:moveTo>
                  <a:pt x="42671" y="571500"/>
                </a:moveTo>
                <a:lnTo>
                  <a:pt x="42671" y="76200"/>
                </a:lnTo>
                <a:lnTo>
                  <a:pt x="33527" y="76200"/>
                </a:lnTo>
                <a:lnTo>
                  <a:pt x="33527" y="571500"/>
                </a:lnTo>
                <a:lnTo>
                  <a:pt x="42671" y="571500"/>
                </a:lnTo>
                <a:close/>
              </a:path>
              <a:path w="76200" h="647700">
                <a:moveTo>
                  <a:pt x="42671" y="638556"/>
                </a:moveTo>
                <a:lnTo>
                  <a:pt x="42671" y="586739"/>
                </a:lnTo>
                <a:lnTo>
                  <a:pt x="41147" y="589026"/>
                </a:lnTo>
                <a:lnTo>
                  <a:pt x="35813" y="589026"/>
                </a:lnTo>
                <a:lnTo>
                  <a:pt x="33527" y="586739"/>
                </a:lnTo>
                <a:lnTo>
                  <a:pt x="33527" y="638555"/>
                </a:lnTo>
                <a:lnTo>
                  <a:pt x="38100" y="647700"/>
                </a:lnTo>
                <a:lnTo>
                  <a:pt x="42671" y="63855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4769" y="4790947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766" y="76200"/>
                </a:lnTo>
                <a:lnTo>
                  <a:pt x="32766" y="60960"/>
                </a:lnTo>
                <a:lnTo>
                  <a:pt x="35051" y="58674"/>
                </a:lnTo>
                <a:lnTo>
                  <a:pt x="40386" y="58674"/>
                </a:lnTo>
                <a:lnTo>
                  <a:pt x="42671" y="60960"/>
                </a:lnTo>
                <a:lnTo>
                  <a:pt x="42671" y="76200"/>
                </a:lnTo>
                <a:lnTo>
                  <a:pt x="76200" y="76200"/>
                </a:lnTo>
                <a:close/>
              </a:path>
              <a:path w="76200" h="647700">
                <a:moveTo>
                  <a:pt x="76200" y="571500"/>
                </a:moveTo>
                <a:lnTo>
                  <a:pt x="0" y="571500"/>
                </a:lnTo>
                <a:lnTo>
                  <a:pt x="32766" y="637032"/>
                </a:lnTo>
                <a:lnTo>
                  <a:pt x="32766" y="586739"/>
                </a:lnTo>
                <a:lnTo>
                  <a:pt x="35051" y="589026"/>
                </a:lnTo>
                <a:lnTo>
                  <a:pt x="40386" y="589026"/>
                </a:lnTo>
                <a:lnTo>
                  <a:pt x="42671" y="586739"/>
                </a:lnTo>
                <a:lnTo>
                  <a:pt x="42671" y="638556"/>
                </a:lnTo>
                <a:lnTo>
                  <a:pt x="76200" y="571500"/>
                </a:lnTo>
                <a:close/>
              </a:path>
              <a:path w="76200" h="647700">
                <a:moveTo>
                  <a:pt x="42671" y="76200"/>
                </a:moveTo>
                <a:lnTo>
                  <a:pt x="42671" y="60960"/>
                </a:lnTo>
                <a:lnTo>
                  <a:pt x="40386" y="58674"/>
                </a:lnTo>
                <a:lnTo>
                  <a:pt x="35051" y="58674"/>
                </a:lnTo>
                <a:lnTo>
                  <a:pt x="32766" y="60960"/>
                </a:lnTo>
                <a:lnTo>
                  <a:pt x="32766" y="76200"/>
                </a:lnTo>
                <a:lnTo>
                  <a:pt x="42671" y="76200"/>
                </a:lnTo>
                <a:close/>
              </a:path>
              <a:path w="76200" h="647700">
                <a:moveTo>
                  <a:pt x="42671" y="571500"/>
                </a:moveTo>
                <a:lnTo>
                  <a:pt x="42671" y="76200"/>
                </a:lnTo>
                <a:lnTo>
                  <a:pt x="32766" y="76200"/>
                </a:lnTo>
                <a:lnTo>
                  <a:pt x="32766" y="571500"/>
                </a:lnTo>
                <a:lnTo>
                  <a:pt x="42671" y="571500"/>
                </a:lnTo>
                <a:close/>
              </a:path>
              <a:path w="76200" h="647700">
                <a:moveTo>
                  <a:pt x="42671" y="638556"/>
                </a:moveTo>
                <a:lnTo>
                  <a:pt x="42671" y="586739"/>
                </a:lnTo>
                <a:lnTo>
                  <a:pt x="40386" y="589026"/>
                </a:lnTo>
                <a:lnTo>
                  <a:pt x="35051" y="589026"/>
                </a:lnTo>
                <a:lnTo>
                  <a:pt x="32766" y="586739"/>
                </a:lnTo>
                <a:lnTo>
                  <a:pt x="32766" y="637032"/>
                </a:lnTo>
                <a:lnTo>
                  <a:pt x="38100" y="647700"/>
                </a:lnTo>
                <a:lnTo>
                  <a:pt x="42671" y="63855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62133" y="4790947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0960"/>
                </a:lnTo>
                <a:lnTo>
                  <a:pt x="35813" y="58674"/>
                </a:lnTo>
                <a:lnTo>
                  <a:pt x="41148" y="58674"/>
                </a:lnTo>
                <a:lnTo>
                  <a:pt x="43434" y="60960"/>
                </a:lnTo>
                <a:lnTo>
                  <a:pt x="43434" y="76200"/>
                </a:lnTo>
                <a:lnTo>
                  <a:pt x="76200" y="76200"/>
                </a:lnTo>
                <a:close/>
              </a:path>
              <a:path w="76200" h="647700">
                <a:moveTo>
                  <a:pt x="76200" y="571500"/>
                </a:moveTo>
                <a:lnTo>
                  <a:pt x="0" y="571500"/>
                </a:lnTo>
                <a:lnTo>
                  <a:pt x="33527" y="638555"/>
                </a:lnTo>
                <a:lnTo>
                  <a:pt x="33527" y="586739"/>
                </a:lnTo>
                <a:lnTo>
                  <a:pt x="35813" y="589026"/>
                </a:lnTo>
                <a:lnTo>
                  <a:pt x="41148" y="589026"/>
                </a:lnTo>
                <a:lnTo>
                  <a:pt x="43434" y="586739"/>
                </a:lnTo>
                <a:lnTo>
                  <a:pt x="43434" y="637031"/>
                </a:lnTo>
                <a:lnTo>
                  <a:pt x="76200" y="571500"/>
                </a:lnTo>
                <a:close/>
              </a:path>
              <a:path w="76200" h="647700">
                <a:moveTo>
                  <a:pt x="43434" y="76200"/>
                </a:moveTo>
                <a:lnTo>
                  <a:pt x="43434" y="60960"/>
                </a:lnTo>
                <a:lnTo>
                  <a:pt x="41148" y="58674"/>
                </a:lnTo>
                <a:lnTo>
                  <a:pt x="35813" y="58674"/>
                </a:lnTo>
                <a:lnTo>
                  <a:pt x="33527" y="60960"/>
                </a:lnTo>
                <a:lnTo>
                  <a:pt x="33527" y="76200"/>
                </a:lnTo>
                <a:lnTo>
                  <a:pt x="43434" y="76200"/>
                </a:lnTo>
                <a:close/>
              </a:path>
              <a:path w="76200" h="647700">
                <a:moveTo>
                  <a:pt x="43434" y="571500"/>
                </a:moveTo>
                <a:lnTo>
                  <a:pt x="43434" y="76200"/>
                </a:lnTo>
                <a:lnTo>
                  <a:pt x="33527" y="76200"/>
                </a:lnTo>
                <a:lnTo>
                  <a:pt x="33527" y="571500"/>
                </a:lnTo>
                <a:lnTo>
                  <a:pt x="43434" y="571500"/>
                </a:lnTo>
                <a:close/>
              </a:path>
              <a:path w="76200" h="647700">
                <a:moveTo>
                  <a:pt x="43434" y="637031"/>
                </a:moveTo>
                <a:lnTo>
                  <a:pt x="43434" y="586739"/>
                </a:lnTo>
                <a:lnTo>
                  <a:pt x="41148" y="589026"/>
                </a:lnTo>
                <a:lnTo>
                  <a:pt x="35813" y="589026"/>
                </a:lnTo>
                <a:lnTo>
                  <a:pt x="33527" y="586739"/>
                </a:lnTo>
                <a:lnTo>
                  <a:pt x="33527" y="638555"/>
                </a:lnTo>
                <a:lnTo>
                  <a:pt x="38100" y="647700"/>
                </a:lnTo>
                <a:lnTo>
                  <a:pt x="43434" y="63703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35891" y="4717796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0959"/>
                </a:lnTo>
                <a:lnTo>
                  <a:pt x="35051" y="58674"/>
                </a:lnTo>
                <a:lnTo>
                  <a:pt x="40386" y="58674"/>
                </a:lnTo>
                <a:lnTo>
                  <a:pt x="42671" y="60959"/>
                </a:lnTo>
                <a:lnTo>
                  <a:pt x="42671" y="76200"/>
                </a:lnTo>
                <a:lnTo>
                  <a:pt x="76200" y="76200"/>
                </a:lnTo>
                <a:close/>
              </a:path>
              <a:path w="76200" h="647700">
                <a:moveTo>
                  <a:pt x="76200" y="571500"/>
                </a:moveTo>
                <a:lnTo>
                  <a:pt x="0" y="571500"/>
                </a:lnTo>
                <a:lnTo>
                  <a:pt x="33527" y="638555"/>
                </a:lnTo>
                <a:lnTo>
                  <a:pt x="33527" y="586739"/>
                </a:lnTo>
                <a:lnTo>
                  <a:pt x="35051" y="589026"/>
                </a:lnTo>
                <a:lnTo>
                  <a:pt x="40386" y="589026"/>
                </a:lnTo>
                <a:lnTo>
                  <a:pt x="42671" y="586739"/>
                </a:lnTo>
                <a:lnTo>
                  <a:pt x="42671" y="638556"/>
                </a:lnTo>
                <a:lnTo>
                  <a:pt x="76200" y="571500"/>
                </a:lnTo>
                <a:close/>
              </a:path>
              <a:path w="76200" h="647700">
                <a:moveTo>
                  <a:pt x="42671" y="76200"/>
                </a:moveTo>
                <a:lnTo>
                  <a:pt x="42671" y="60959"/>
                </a:lnTo>
                <a:lnTo>
                  <a:pt x="40386" y="58674"/>
                </a:lnTo>
                <a:lnTo>
                  <a:pt x="35051" y="58674"/>
                </a:lnTo>
                <a:lnTo>
                  <a:pt x="33527" y="60959"/>
                </a:lnTo>
                <a:lnTo>
                  <a:pt x="33527" y="76200"/>
                </a:lnTo>
                <a:lnTo>
                  <a:pt x="42671" y="76200"/>
                </a:lnTo>
                <a:close/>
              </a:path>
              <a:path w="76200" h="647700">
                <a:moveTo>
                  <a:pt x="42671" y="571500"/>
                </a:moveTo>
                <a:lnTo>
                  <a:pt x="42671" y="76200"/>
                </a:lnTo>
                <a:lnTo>
                  <a:pt x="33527" y="76200"/>
                </a:lnTo>
                <a:lnTo>
                  <a:pt x="33527" y="571500"/>
                </a:lnTo>
                <a:lnTo>
                  <a:pt x="42671" y="571500"/>
                </a:lnTo>
                <a:close/>
              </a:path>
              <a:path w="76200" h="647700">
                <a:moveTo>
                  <a:pt x="42671" y="638556"/>
                </a:moveTo>
                <a:lnTo>
                  <a:pt x="42671" y="586739"/>
                </a:lnTo>
                <a:lnTo>
                  <a:pt x="40386" y="589026"/>
                </a:lnTo>
                <a:lnTo>
                  <a:pt x="35051" y="589026"/>
                </a:lnTo>
                <a:lnTo>
                  <a:pt x="33527" y="586739"/>
                </a:lnTo>
                <a:lnTo>
                  <a:pt x="33527" y="638555"/>
                </a:lnTo>
                <a:lnTo>
                  <a:pt x="38100" y="647700"/>
                </a:lnTo>
                <a:lnTo>
                  <a:pt x="42671" y="63855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86498" y="4717796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0959"/>
                </a:lnTo>
                <a:lnTo>
                  <a:pt x="35814" y="58674"/>
                </a:lnTo>
                <a:lnTo>
                  <a:pt x="41148" y="58674"/>
                </a:lnTo>
                <a:lnTo>
                  <a:pt x="42672" y="60959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76200" h="647700">
                <a:moveTo>
                  <a:pt x="76200" y="571500"/>
                </a:moveTo>
                <a:lnTo>
                  <a:pt x="0" y="571500"/>
                </a:lnTo>
                <a:lnTo>
                  <a:pt x="33527" y="638555"/>
                </a:lnTo>
                <a:lnTo>
                  <a:pt x="33527" y="586739"/>
                </a:lnTo>
                <a:lnTo>
                  <a:pt x="35814" y="589026"/>
                </a:lnTo>
                <a:lnTo>
                  <a:pt x="41148" y="589026"/>
                </a:lnTo>
                <a:lnTo>
                  <a:pt x="42672" y="586739"/>
                </a:lnTo>
                <a:lnTo>
                  <a:pt x="42672" y="638555"/>
                </a:lnTo>
                <a:lnTo>
                  <a:pt x="76200" y="571500"/>
                </a:lnTo>
                <a:close/>
              </a:path>
              <a:path w="76200" h="647700">
                <a:moveTo>
                  <a:pt x="42672" y="76200"/>
                </a:moveTo>
                <a:lnTo>
                  <a:pt x="42672" y="60959"/>
                </a:lnTo>
                <a:lnTo>
                  <a:pt x="41148" y="58674"/>
                </a:lnTo>
                <a:lnTo>
                  <a:pt x="35814" y="58674"/>
                </a:lnTo>
                <a:lnTo>
                  <a:pt x="33527" y="60959"/>
                </a:lnTo>
                <a:lnTo>
                  <a:pt x="33527" y="76200"/>
                </a:lnTo>
                <a:lnTo>
                  <a:pt x="42672" y="76200"/>
                </a:lnTo>
                <a:close/>
              </a:path>
              <a:path w="76200" h="647700">
                <a:moveTo>
                  <a:pt x="42672" y="571500"/>
                </a:moveTo>
                <a:lnTo>
                  <a:pt x="42672" y="76200"/>
                </a:lnTo>
                <a:lnTo>
                  <a:pt x="33527" y="76200"/>
                </a:lnTo>
                <a:lnTo>
                  <a:pt x="33527" y="571500"/>
                </a:lnTo>
                <a:lnTo>
                  <a:pt x="42672" y="571500"/>
                </a:lnTo>
                <a:close/>
              </a:path>
              <a:path w="76200" h="647700">
                <a:moveTo>
                  <a:pt x="42672" y="638555"/>
                </a:moveTo>
                <a:lnTo>
                  <a:pt x="42672" y="586739"/>
                </a:lnTo>
                <a:lnTo>
                  <a:pt x="41148" y="589026"/>
                </a:lnTo>
                <a:lnTo>
                  <a:pt x="35814" y="589026"/>
                </a:lnTo>
                <a:lnTo>
                  <a:pt x="33527" y="586739"/>
                </a:lnTo>
                <a:lnTo>
                  <a:pt x="33527" y="638555"/>
                </a:lnTo>
                <a:lnTo>
                  <a:pt x="38100" y="647700"/>
                </a:lnTo>
                <a:lnTo>
                  <a:pt x="42672" y="63855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17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1265" y="443991"/>
            <a:ext cx="6523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Tasks of Compilation Process and Its</a:t>
            </a:r>
            <a:r>
              <a:rPr sz="2400" spc="-75" dirty="0"/>
              <a:t> </a:t>
            </a:r>
            <a:r>
              <a:rPr sz="2400" spc="-5" dirty="0"/>
              <a:t>Output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157097" y="1033017"/>
            <a:ext cx="1469390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(Source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program)</a:t>
            </a:r>
            <a:endParaRPr sz="1600">
              <a:latin typeface="Times New Roman"/>
              <a:cs typeface="Times New Roman"/>
            </a:endParaRPr>
          </a:p>
          <a:p>
            <a:pPr marL="318770" marR="294005" indent="-19050" algn="ctr">
              <a:lnSpc>
                <a:spcPct val="2003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Reading  (Symbols)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8393" y="2499880"/>
            <a:ext cx="14344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Lexical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117" y="2499880"/>
            <a:ext cx="77851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508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(Symbol  Table)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7482" y="2989065"/>
            <a:ext cx="138747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(Lexical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items)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Syntax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974" y="3966702"/>
            <a:ext cx="15240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Object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description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9238" y="3966702"/>
            <a:ext cx="10274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(Parse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5734" y="3966702"/>
            <a:ext cx="156527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optimizing the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  (optional)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8370" y="4455887"/>
            <a:ext cx="15824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Simple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Translation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1071" y="4944319"/>
            <a:ext cx="1139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(Object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code)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8553" y="4944319"/>
            <a:ext cx="1644014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640" marR="5080" indent="-40957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optimizing the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code  (optional)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0099" y="5433504"/>
            <a:ext cx="180721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88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Loading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(Executable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program)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43411" y="1329944"/>
            <a:ext cx="76200" cy="220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43411" y="1761998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76200" y="215645"/>
                </a:moveTo>
                <a:lnTo>
                  <a:pt x="0" y="215645"/>
                </a:lnTo>
                <a:lnTo>
                  <a:pt x="33528" y="282702"/>
                </a:lnTo>
                <a:lnTo>
                  <a:pt x="33528" y="230885"/>
                </a:lnTo>
                <a:lnTo>
                  <a:pt x="35813" y="233171"/>
                </a:lnTo>
                <a:lnTo>
                  <a:pt x="41148" y="233171"/>
                </a:lnTo>
                <a:lnTo>
                  <a:pt x="42672" y="230885"/>
                </a:lnTo>
                <a:lnTo>
                  <a:pt x="42672" y="282701"/>
                </a:lnTo>
                <a:lnTo>
                  <a:pt x="76200" y="215645"/>
                </a:lnTo>
                <a:close/>
              </a:path>
              <a:path w="76200" h="292100">
                <a:moveTo>
                  <a:pt x="42672" y="215645"/>
                </a:moveTo>
                <a:lnTo>
                  <a:pt x="42672" y="2285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5"/>
                </a:lnTo>
                <a:lnTo>
                  <a:pt x="33528" y="215645"/>
                </a:lnTo>
                <a:lnTo>
                  <a:pt x="42672" y="215645"/>
                </a:lnTo>
                <a:close/>
              </a:path>
              <a:path w="76200" h="292100">
                <a:moveTo>
                  <a:pt x="42672" y="282701"/>
                </a:moveTo>
                <a:lnTo>
                  <a:pt x="42672" y="230885"/>
                </a:lnTo>
                <a:lnTo>
                  <a:pt x="41148" y="233171"/>
                </a:lnTo>
                <a:lnTo>
                  <a:pt x="35813" y="233171"/>
                </a:lnTo>
                <a:lnTo>
                  <a:pt x="33528" y="230885"/>
                </a:lnTo>
                <a:lnTo>
                  <a:pt x="33528" y="282702"/>
                </a:lnTo>
                <a:lnTo>
                  <a:pt x="38100" y="291845"/>
                </a:lnTo>
                <a:lnTo>
                  <a:pt x="42672" y="28270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43411" y="5217667"/>
            <a:ext cx="76200" cy="292735"/>
          </a:xfrm>
          <a:custGeom>
            <a:avLst/>
            <a:gdLst/>
            <a:ahLst/>
            <a:cxnLst/>
            <a:rect l="l" t="t" r="r" b="b"/>
            <a:pathLst>
              <a:path w="76200" h="292735">
                <a:moveTo>
                  <a:pt x="76200" y="216408"/>
                </a:moveTo>
                <a:lnTo>
                  <a:pt x="0" y="216408"/>
                </a:lnTo>
                <a:lnTo>
                  <a:pt x="33528" y="283464"/>
                </a:lnTo>
                <a:lnTo>
                  <a:pt x="33528" y="231648"/>
                </a:lnTo>
                <a:lnTo>
                  <a:pt x="35813" y="233172"/>
                </a:lnTo>
                <a:lnTo>
                  <a:pt x="41148" y="233172"/>
                </a:lnTo>
                <a:lnTo>
                  <a:pt x="42672" y="231648"/>
                </a:lnTo>
                <a:lnTo>
                  <a:pt x="42672" y="283463"/>
                </a:lnTo>
                <a:lnTo>
                  <a:pt x="76200" y="216408"/>
                </a:lnTo>
                <a:close/>
              </a:path>
              <a:path w="76200" h="292735">
                <a:moveTo>
                  <a:pt x="42672" y="216408"/>
                </a:moveTo>
                <a:lnTo>
                  <a:pt x="42672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216408"/>
                </a:lnTo>
                <a:lnTo>
                  <a:pt x="42672" y="216408"/>
                </a:lnTo>
                <a:close/>
              </a:path>
              <a:path w="76200" h="292735">
                <a:moveTo>
                  <a:pt x="42672" y="283463"/>
                </a:moveTo>
                <a:lnTo>
                  <a:pt x="42672" y="231648"/>
                </a:lnTo>
                <a:lnTo>
                  <a:pt x="41148" y="233172"/>
                </a:lnTo>
                <a:lnTo>
                  <a:pt x="35813" y="233172"/>
                </a:lnTo>
                <a:lnTo>
                  <a:pt x="33528" y="231648"/>
                </a:lnTo>
                <a:lnTo>
                  <a:pt x="33528" y="283464"/>
                </a:lnTo>
                <a:lnTo>
                  <a:pt x="38100" y="292608"/>
                </a:lnTo>
                <a:lnTo>
                  <a:pt x="42672" y="28346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43411" y="2770123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76200" y="215646"/>
                </a:moveTo>
                <a:lnTo>
                  <a:pt x="0" y="215646"/>
                </a:lnTo>
                <a:lnTo>
                  <a:pt x="33528" y="282702"/>
                </a:lnTo>
                <a:lnTo>
                  <a:pt x="33528" y="230886"/>
                </a:lnTo>
                <a:lnTo>
                  <a:pt x="35813" y="233172"/>
                </a:lnTo>
                <a:lnTo>
                  <a:pt x="41148" y="233172"/>
                </a:lnTo>
                <a:lnTo>
                  <a:pt x="42672" y="230886"/>
                </a:lnTo>
                <a:lnTo>
                  <a:pt x="42672" y="282701"/>
                </a:lnTo>
                <a:lnTo>
                  <a:pt x="76200" y="215646"/>
                </a:lnTo>
                <a:close/>
              </a:path>
              <a:path w="76200" h="292100">
                <a:moveTo>
                  <a:pt x="42672" y="215646"/>
                </a:moveTo>
                <a:lnTo>
                  <a:pt x="42672" y="2285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5"/>
                </a:lnTo>
                <a:lnTo>
                  <a:pt x="33528" y="215646"/>
                </a:lnTo>
                <a:lnTo>
                  <a:pt x="42672" y="215646"/>
                </a:lnTo>
                <a:close/>
              </a:path>
              <a:path w="76200" h="292100">
                <a:moveTo>
                  <a:pt x="42672" y="282701"/>
                </a:moveTo>
                <a:lnTo>
                  <a:pt x="42672" y="230886"/>
                </a:lnTo>
                <a:lnTo>
                  <a:pt x="41148" y="233172"/>
                </a:lnTo>
                <a:lnTo>
                  <a:pt x="35813" y="233172"/>
                </a:lnTo>
                <a:lnTo>
                  <a:pt x="33528" y="230886"/>
                </a:lnTo>
                <a:lnTo>
                  <a:pt x="33528" y="282702"/>
                </a:lnTo>
                <a:lnTo>
                  <a:pt x="38100" y="291846"/>
                </a:lnTo>
                <a:lnTo>
                  <a:pt x="42672" y="28270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43411" y="5722873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76200" y="215646"/>
                </a:moveTo>
                <a:lnTo>
                  <a:pt x="0" y="215646"/>
                </a:lnTo>
                <a:lnTo>
                  <a:pt x="33528" y="282702"/>
                </a:lnTo>
                <a:lnTo>
                  <a:pt x="33528" y="230886"/>
                </a:lnTo>
                <a:lnTo>
                  <a:pt x="35813" y="233172"/>
                </a:lnTo>
                <a:lnTo>
                  <a:pt x="41148" y="233172"/>
                </a:lnTo>
                <a:lnTo>
                  <a:pt x="42672" y="230886"/>
                </a:lnTo>
                <a:lnTo>
                  <a:pt x="42672" y="282701"/>
                </a:lnTo>
                <a:lnTo>
                  <a:pt x="76200" y="215646"/>
                </a:lnTo>
                <a:close/>
              </a:path>
              <a:path w="76200" h="292100">
                <a:moveTo>
                  <a:pt x="42672" y="215646"/>
                </a:moveTo>
                <a:lnTo>
                  <a:pt x="42672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215646"/>
                </a:lnTo>
                <a:lnTo>
                  <a:pt x="42672" y="215646"/>
                </a:lnTo>
                <a:close/>
              </a:path>
              <a:path w="76200" h="292100">
                <a:moveTo>
                  <a:pt x="42672" y="282701"/>
                </a:moveTo>
                <a:lnTo>
                  <a:pt x="42672" y="230886"/>
                </a:lnTo>
                <a:lnTo>
                  <a:pt x="41148" y="233172"/>
                </a:lnTo>
                <a:lnTo>
                  <a:pt x="35813" y="233172"/>
                </a:lnTo>
                <a:lnTo>
                  <a:pt x="33528" y="230886"/>
                </a:lnTo>
                <a:lnTo>
                  <a:pt x="33528" y="282702"/>
                </a:lnTo>
                <a:lnTo>
                  <a:pt x="38100" y="291846"/>
                </a:lnTo>
                <a:lnTo>
                  <a:pt x="42672" y="28270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43411" y="3273044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76200" y="215645"/>
                </a:moveTo>
                <a:lnTo>
                  <a:pt x="0" y="215645"/>
                </a:lnTo>
                <a:lnTo>
                  <a:pt x="33528" y="282702"/>
                </a:lnTo>
                <a:lnTo>
                  <a:pt x="33528" y="231647"/>
                </a:lnTo>
                <a:lnTo>
                  <a:pt x="35813" y="233171"/>
                </a:lnTo>
                <a:lnTo>
                  <a:pt x="41148" y="233171"/>
                </a:lnTo>
                <a:lnTo>
                  <a:pt x="42672" y="231647"/>
                </a:lnTo>
                <a:lnTo>
                  <a:pt x="42672" y="282701"/>
                </a:lnTo>
                <a:lnTo>
                  <a:pt x="76200" y="215645"/>
                </a:lnTo>
                <a:close/>
              </a:path>
              <a:path w="76200" h="292100">
                <a:moveTo>
                  <a:pt x="42672" y="215645"/>
                </a:moveTo>
                <a:lnTo>
                  <a:pt x="42672" y="2285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5"/>
                </a:lnTo>
                <a:lnTo>
                  <a:pt x="33528" y="215645"/>
                </a:lnTo>
                <a:lnTo>
                  <a:pt x="42672" y="215645"/>
                </a:lnTo>
                <a:close/>
              </a:path>
              <a:path w="76200" h="292100">
                <a:moveTo>
                  <a:pt x="42672" y="282701"/>
                </a:moveTo>
                <a:lnTo>
                  <a:pt x="42672" y="231647"/>
                </a:lnTo>
                <a:lnTo>
                  <a:pt x="41148" y="233171"/>
                </a:lnTo>
                <a:lnTo>
                  <a:pt x="35813" y="233171"/>
                </a:lnTo>
                <a:lnTo>
                  <a:pt x="33528" y="231647"/>
                </a:lnTo>
                <a:lnTo>
                  <a:pt x="33528" y="282702"/>
                </a:lnTo>
                <a:lnTo>
                  <a:pt x="38100" y="291845"/>
                </a:lnTo>
                <a:lnTo>
                  <a:pt x="42672" y="28270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43411" y="4713223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76200" y="215646"/>
                </a:moveTo>
                <a:lnTo>
                  <a:pt x="0" y="215646"/>
                </a:lnTo>
                <a:lnTo>
                  <a:pt x="33528" y="282702"/>
                </a:lnTo>
                <a:lnTo>
                  <a:pt x="33528" y="230886"/>
                </a:lnTo>
                <a:lnTo>
                  <a:pt x="35813" y="233172"/>
                </a:lnTo>
                <a:lnTo>
                  <a:pt x="41148" y="233172"/>
                </a:lnTo>
                <a:lnTo>
                  <a:pt x="42672" y="230886"/>
                </a:lnTo>
                <a:lnTo>
                  <a:pt x="42672" y="282701"/>
                </a:lnTo>
                <a:lnTo>
                  <a:pt x="76200" y="215646"/>
                </a:lnTo>
                <a:close/>
              </a:path>
              <a:path w="76200" h="292100">
                <a:moveTo>
                  <a:pt x="42672" y="215646"/>
                </a:moveTo>
                <a:lnTo>
                  <a:pt x="42672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215646"/>
                </a:lnTo>
                <a:lnTo>
                  <a:pt x="42672" y="215646"/>
                </a:lnTo>
                <a:close/>
              </a:path>
              <a:path w="76200" h="292100">
                <a:moveTo>
                  <a:pt x="42672" y="282701"/>
                </a:moveTo>
                <a:lnTo>
                  <a:pt x="42672" y="230886"/>
                </a:lnTo>
                <a:lnTo>
                  <a:pt x="41148" y="233172"/>
                </a:lnTo>
                <a:lnTo>
                  <a:pt x="35813" y="233172"/>
                </a:lnTo>
                <a:lnTo>
                  <a:pt x="33528" y="230886"/>
                </a:lnTo>
                <a:lnTo>
                  <a:pt x="33528" y="282702"/>
                </a:lnTo>
                <a:lnTo>
                  <a:pt x="38100" y="291846"/>
                </a:lnTo>
                <a:lnTo>
                  <a:pt x="42672" y="28270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43411" y="3705097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76200" y="215646"/>
                </a:moveTo>
                <a:lnTo>
                  <a:pt x="0" y="215646"/>
                </a:lnTo>
                <a:lnTo>
                  <a:pt x="33528" y="282702"/>
                </a:lnTo>
                <a:lnTo>
                  <a:pt x="33528" y="230886"/>
                </a:lnTo>
                <a:lnTo>
                  <a:pt x="35813" y="233172"/>
                </a:lnTo>
                <a:lnTo>
                  <a:pt x="41148" y="233172"/>
                </a:lnTo>
                <a:lnTo>
                  <a:pt x="42672" y="230886"/>
                </a:lnTo>
                <a:lnTo>
                  <a:pt x="42672" y="282701"/>
                </a:lnTo>
                <a:lnTo>
                  <a:pt x="76200" y="215646"/>
                </a:lnTo>
                <a:close/>
              </a:path>
              <a:path w="76200" h="292100">
                <a:moveTo>
                  <a:pt x="42672" y="215646"/>
                </a:moveTo>
                <a:lnTo>
                  <a:pt x="42672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215646"/>
                </a:lnTo>
                <a:lnTo>
                  <a:pt x="42672" y="215646"/>
                </a:lnTo>
                <a:close/>
              </a:path>
              <a:path w="76200" h="292100">
                <a:moveTo>
                  <a:pt x="42672" y="282701"/>
                </a:moveTo>
                <a:lnTo>
                  <a:pt x="42672" y="230886"/>
                </a:lnTo>
                <a:lnTo>
                  <a:pt x="41148" y="233172"/>
                </a:lnTo>
                <a:lnTo>
                  <a:pt x="35813" y="233172"/>
                </a:lnTo>
                <a:lnTo>
                  <a:pt x="33528" y="230886"/>
                </a:lnTo>
                <a:lnTo>
                  <a:pt x="33528" y="282702"/>
                </a:lnTo>
                <a:lnTo>
                  <a:pt x="38100" y="291846"/>
                </a:lnTo>
                <a:lnTo>
                  <a:pt x="42672" y="28270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43411" y="4209541"/>
            <a:ext cx="76200" cy="292735"/>
          </a:xfrm>
          <a:custGeom>
            <a:avLst/>
            <a:gdLst/>
            <a:ahLst/>
            <a:cxnLst/>
            <a:rect l="l" t="t" r="r" b="b"/>
            <a:pathLst>
              <a:path w="76200" h="292735">
                <a:moveTo>
                  <a:pt x="76200" y="216408"/>
                </a:moveTo>
                <a:lnTo>
                  <a:pt x="0" y="216408"/>
                </a:lnTo>
                <a:lnTo>
                  <a:pt x="33528" y="283464"/>
                </a:lnTo>
                <a:lnTo>
                  <a:pt x="33528" y="231648"/>
                </a:lnTo>
                <a:lnTo>
                  <a:pt x="35813" y="233934"/>
                </a:lnTo>
                <a:lnTo>
                  <a:pt x="41148" y="233934"/>
                </a:lnTo>
                <a:lnTo>
                  <a:pt x="42672" y="231648"/>
                </a:lnTo>
                <a:lnTo>
                  <a:pt x="42672" y="283463"/>
                </a:lnTo>
                <a:lnTo>
                  <a:pt x="76200" y="216408"/>
                </a:lnTo>
                <a:close/>
              </a:path>
              <a:path w="76200" h="292735">
                <a:moveTo>
                  <a:pt x="42672" y="216408"/>
                </a:moveTo>
                <a:lnTo>
                  <a:pt x="42672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216408"/>
                </a:lnTo>
                <a:lnTo>
                  <a:pt x="42672" y="216408"/>
                </a:lnTo>
                <a:close/>
              </a:path>
              <a:path w="76200" h="292735">
                <a:moveTo>
                  <a:pt x="42672" y="283463"/>
                </a:moveTo>
                <a:lnTo>
                  <a:pt x="42672" y="231648"/>
                </a:lnTo>
                <a:lnTo>
                  <a:pt x="41148" y="233934"/>
                </a:lnTo>
                <a:lnTo>
                  <a:pt x="35813" y="233934"/>
                </a:lnTo>
                <a:lnTo>
                  <a:pt x="33528" y="231648"/>
                </a:lnTo>
                <a:lnTo>
                  <a:pt x="33528" y="283464"/>
                </a:lnTo>
                <a:lnTo>
                  <a:pt x="38100" y="292608"/>
                </a:lnTo>
                <a:lnTo>
                  <a:pt x="42672" y="28346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43411" y="2264917"/>
            <a:ext cx="76200" cy="292735"/>
          </a:xfrm>
          <a:custGeom>
            <a:avLst/>
            <a:gdLst/>
            <a:ahLst/>
            <a:cxnLst/>
            <a:rect l="l" t="t" r="r" b="b"/>
            <a:pathLst>
              <a:path w="76200" h="292735">
                <a:moveTo>
                  <a:pt x="76200" y="216407"/>
                </a:moveTo>
                <a:lnTo>
                  <a:pt x="0" y="216407"/>
                </a:lnTo>
                <a:lnTo>
                  <a:pt x="33528" y="283464"/>
                </a:lnTo>
                <a:lnTo>
                  <a:pt x="33528" y="231648"/>
                </a:lnTo>
                <a:lnTo>
                  <a:pt x="35813" y="233171"/>
                </a:lnTo>
                <a:lnTo>
                  <a:pt x="41148" y="233171"/>
                </a:lnTo>
                <a:lnTo>
                  <a:pt x="42672" y="231648"/>
                </a:lnTo>
                <a:lnTo>
                  <a:pt x="42672" y="283463"/>
                </a:lnTo>
                <a:lnTo>
                  <a:pt x="76200" y="216407"/>
                </a:lnTo>
                <a:close/>
              </a:path>
              <a:path w="76200" h="292735">
                <a:moveTo>
                  <a:pt x="42672" y="216407"/>
                </a:moveTo>
                <a:lnTo>
                  <a:pt x="42672" y="2286"/>
                </a:lnTo>
                <a:lnTo>
                  <a:pt x="41148" y="0"/>
                </a:lnTo>
                <a:lnTo>
                  <a:pt x="35813" y="0"/>
                </a:lnTo>
                <a:lnTo>
                  <a:pt x="33528" y="2286"/>
                </a:lnTo>
                <a:lnTo>
                  <a:pt x="33528" y="216407"/>
                </a:lnTo>
                <a:lnTo>
                  <a:pt x="42672" y="216407"/>
                </a:lnTo>
                <a:close/>
              </a:path>
              <a:path w="76200" h="292735">
                <a:moveTo>
                  <a:pt x="42672" y="283463"/>
                </a:moveTo>
                <a:lnTo>
                  <a:pt x="42672" y="231648"/>
                </a:lnTo>
                <a:lnTo>
                  <a:pt x="41148" y="233171"/>
                </a:lnTo>
                <a:lnTo>
                  <a:pt x="35813" y="233171"/>
                </a:lnTo>
                <a:lnTo>
                  <a:pt x="33528" y="231648"/>
                </a:lnTo>
                <a:lnTo>
                  <a:pt x="33528" y="283464"/>
                </a:lnTo>
                <a:lnTo>
                  <a:pt x="38100" y="292607"/>
                </a:lnTo>
                <a:lnTo>
                  <a:pt x="42672" y="28346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13115" y="2663444"/>
            <a:ext cx="2236470" cy="76200"/>
          </a:xfrm>
          <a:custGeom>
            <a:avLst/>
            <a:gdLst/>
            <a:ahLst/>
            <a:cxnLst/>
            <a:rect l="l" t="t" r="r" b="b"/>
            <a:pathLst>
              <a:path w="2236470" h="76200">
                <a:moveTo>
                  <a:pt x="76200" y="33527"/>
                </a:moveTo>
                <a:lnTo>
                  <a:pt x="76200" y="0"/>
                </a:lnTo>
                <a:lnTo>
                  <a:pt x="0" y="38099"/>
                </a:lnTo>
                <a:lnTo>
                  <a:pt x="58674" y="67436"/>
                </a:lnTo>
                <a:lnTo>
                  <a:pt x="58674" y="35813"/>
                </a:lnTo>
                <a:lnTo>
                  <a:pt x="60960" y="33527"/>
                </a:lnTo>
                <a:lnTo>
                  <a:pt x="76200" y="33527"/>
                </a:lnTo>
                <a:close/>
              </a:path>
              <a:path w="2236470" h="76200">
                <a:moveTo>
                  <a:pt x="2236469" y="41147"/>
                </a:moveTo>
                <a:lnTo>
                  <a:pt x="2236469" y="35813"/>
                </a:lnTo>
                <a:lnTo>
                  <a:pt x="2234945" y="33527"/>
                </a:lnTo>
                <a:lnTo>
                  <a:pt x="60960" y="33527"/>
                </a:lnTo>
                <a:lnTo>
                  <a:pt x="58674" y="35813"/>
                </a:lnTo>
                <a:lnTo>
                  <a:pt x="58674" y="41147"/>
                </a:lnTo>
                <a:lnTo>
                  <a:pt x="60960" y="42671"/>
                </a:lnTo>
                <a:lnTo>
                  <a:pt x="2234945" y="42671"/>
                </a:lnTo>
                <a:lnTo>
                  <a:pt x="2236469" y="41147"/>
                </a:lnTo>
                <a:close/>
              </a:path>
              <a:path w="2236470" h="76200">
                <a:moveTo>
                  <a:pt x="76200" y="76199"/>
                </a:moveTo>
                <a:lnTo>
                  <a:pt x="76200" y="42671"/>
                </a:lnTo>
                <a:lnTo>
                  <a:pt x="60960" y="42671"/>
                </a:lnTo>
                <a:lnTo>
                  <a:pt x="58674" y="41147"/>
                </a:lnTo>
                <a:lnTo>
                  <a:pt x="58674" y="67436"/>
                </a:lnTo>
                <a:lnTo>
                  <a:pt x="76200" y="761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9963" y="2846323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0"/>
                </a:moveTo>
                <a:lnTo>
                  <a:pt x="0" y="1799843"/>
                </a:lnTo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35391" y="4608067"/>
            <a:ext cx="2310130" cy="76200"/>
          </a:xfrm>
          <a:custGeom>
            <a:avLst/>
            <a:gdLst/>
            <a:ahLst/>
            <a:cxnLst/>
            <a:rect l="l" t="t" r="r" b="b"/>
            <a:pathLst>
              <a:path w="2310129" h="76200">
                <a:moveTo>
                  <a:pt x="2250948" y="41148"/>
                </a:moveTo>
                <a:lnTo>
                  <a:pt x="2250948" y="35814"/>
                </a:lnTo>
                <a:lnTo>
                  <a:pt x="2248662" y="33528"/>
                </a:lnTo>
                <a:lnTo>
                  <a:pt x="2286" y="33528"/>
                </a:lnTo>
                <a:lnTo>
                  <a:pt x="0" y="35814"/>
                </a:lnTo>
                <a:lnTo>
                  <a:pt x="0" y="41148"/>
                </a:lnTo>
                <a:lnTo>
                  <a:pt x="2286" y="42672"/>
                </a:lnTo>
                <a:lnTo>
                  <a:pt x="2248662" y="42672"/>
                </a:lnTo>
                <a:lnTo>
                  <a:pt x="2250948" y="41148"/>
                </a:lnTo>
                <a:close/>
              </a:path>
              <a:path w="2310129" h="76200">
                <a:moveTo>
                  <a:pt x="2309621" y="38100"/>
                </a:moveTo>
                <a:lnTo>
                  <a:pt x="2233421" y="0"/>
                </a:lnTo>
                <a:lnTo>
                  <a:pt x="2233421" y="33528"/>
                </a:lnTo>
                <a:lnTo>
                  <a:pt x="2248662" y="33528"/>
                </a:lnTo>
                <a:lnTo>
                  <a:pt x="2250948" y="35814"/>
                </a:lnTo>
                <a:lnTo>
                  <a:pt x="2250948" y="67437"/>
                </a:lnTo>
                <a:lnTo>
                  <a:pt x="2309621" y="38100"/>
                </a:lnTo>
                <a:close/>
              </a:path>
              <a:path w="2310129" h="76200">
                <a:moveTo>
                  <a:pt x="2250948" y="67437"/>
                </a:moveTo>
                <a:lnTo>
                  <a:pt x="2250948" y="41148"/>
                </a:lnTo>
                <a:lnTo>
                  <a:pt x="2248662" y="42672"/>
                </a:lnTo>
                <a:lnTo>
                  <a:pt x="2233421" y="42672"/>
                </a:lnTo>
                <a:lnTo>
                  <a:pt x="2233421" y="76200"/>
                </a:lnTo>
                <a:lnTo>
                  <a:pt x="2250948" y="6743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27843" y="4105147"/>
            <a:ext cx="509270" cy="76200"/>
          </a:xfrm>
          <a:custGeom>
            <a:avLst/>
            <a:gdLst/>
            <a:ahLst/>
            <a:cxnLst/>
            <a:rect l="l" t="t" r="r" b="b"/>
            <a:pathLst>
              <a:path w="509270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5051"/>
                </a:lnTo>
                <a:lnTo>
                  <a:pt x="60960" y="33527"/>
                </a:lnTo>
                <a:lnTo>
                  <a:pt x="76200" y="33527"/>
                </a:lnTo>
                <a:close/>
              </a:path>
              <a:path w="509270" h="76200">
                <a:moveTo>
                  <a:pt x="509015" y="40386"/>
                </a:moveTo>
                <a:lnTo>
                  <a:pt x="509015" y="35051"/>
                </a:lnTo>
                <a:lnTo>
                  <a:pt x="507491" y="33527"/>
                </a:lnTo>
                <a:lnTo>
                  <a:pt x="60960" y="33527"/>
                </a:lnTo>
                <a:lnTo>
                  <a:pt x="58674" y="35051"/>
                </a:lnTo>
                <a:lnTo>
                  <a:pt x="58674" y="40386"/>
                </a:lnTo>
                <a:lnTo>
                  <a:pt x="60960" y="42672"/>
                </a:lnTo>
                <a:lnTo>
                  <a:pt x="507491" y="42672"/>
                </a:lnTo>
                <a:lnTo>
                  <a:pt x="509015" y="40386"/>
                </a:lnTo>
                <a:close/>
              </a:path>
              <a:path w="509270" h="76200">
                <a:moveTo>
                  <a:pt x="76200" y="76200"/>
                </a:moveTo>
                <a:lnTo>
                  <a:pt x="76200" y="42672"/>
                </a:lnTo>
                <a:lnTo>
                  <a:pt x="60960" y="42672"/>
                </a:lnTo>
                <a:lnTo>
                  <a:pt x="58674" y="40386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39963" y="4105147"/>
            <a:ext cx="293370" cy="76200"/>
          </a:xfrm>
          <a:custGeom>
            <a:avLst/>
            <a:gdLst/>
            <a:ahLst/>
            <a:cxnLst/>
            <a:rect l="l" t="t" r="r" b="b"/>
            <a:pathLst>
              <a:path w="293369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5051"/>
                </a:lnTo>
                <a:lnTo>
                  <a:pt x="60960" y="33527"/>
                </a:lnTo>
                <a:lnTo>
                  <a:pt x="76200" y="33527"/>
                </a:lnTo>
                <a:close/>
              </a:path>
              <a:path w="293369" h="76200">
                <a:moveTo>
                  <a:pt x="293369" y="40386"/>
                </a:moveTo>
                <a:lnTo>
                  <a:pt x="293369" y="35051"/>
                </a:lnTo>
                <a:lnTo>
                  <a:pt x="291845" y="33527"/>
                </a:lnTo>
                <a:lnTo>
                  <a:pt x="60960" y="33527"/>
                </a:lnTo>
                <a:lnTo>
                  <a:pt x="58674" y="35051"/>
                </a:lnTo>
                <a:lnTo>
                  <a:pt x="58674" y="40386"/>
                </a:lnTo>
                <a:lnTo>
                  <a:pt x="60960" y="42672"/>
                </a:lnTo>
                <a:lnTo>
                  <a:pt x="291845" y="42672"/>
                </a:lnTo>
                <a:lnTo>
                  <a:pt x="293369" y="40386"/>
                </a:lnTo>
                <a:close/>
              </a:path>
              <a:path w="293369" h="76200">
                <a:moveTo>
                  <a:pt x="76200" y="76200"/>
                </a:moveTo>
                <a:lnTo>
                  <a:pt x="76200" y="42672"/>
                </a:lnTo>
                <a:lnTo>
                  <a:pt x="60960" y="42672"/>
                </a:lnTo>
                <a:lnTo>
                  <a:pt x="58674" y="40386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24639" y="3966464"/>
            <a:ext cx="941069" cy="108585"/>
          </a:xfrm>
          <a:custGeom>
            <a:avLst/>
            <a:gdLst/>
            <a:ahLst/>
            <a:cxnLst/>
            <a:rect l="l" t="t" r="r" b="b"/>
            <a:pathLst>
              <a:path w="941070" h="108585">
                <a:moveTo>
                  <a:pt x="865581" y="42896"/>
                </a:moveTo>
                <a:lnTo>
                  <a:pt x="864886" y="32996"/>
                </a:lnTo>
                <a:lnTo>
                  <a:pt x="5333" y="99001"/>
                </a:lnTo>
                <a:lnTo>
                  <a:pt x="1523" y="99060"/>
                </a:lnTo>
                <a:lnTo>
                  <a:pt x="0" y="101346"/>
                </a:lnTo>
                <a:lnTo>
                  <a:pt x="0" y="106680"/>
                </a:lnTo>
                <a:lnTo>
                  <a:pt x="2285" y="108203"/>
                </a:lnTo>
                <a:lnTo>
                  <a:pt x="5333" y="108203"/>
                </a:lnTo>
                <a:lnTo>
                  <a:pt x="865581" y="42896"/>
                </a:lnTo>
                <a:close/>
              </a:path>
              <a:path w="941070" h="108585">
                <a:moveTo>
                  <a:pt x="941057" y="32003"/>
                </a:moveTo>
                <a:lnTo>
                  <a:pt x="862571" y="0"/>
                </a:lnTo>
                <a:lnTo>
                  <a:pt x="864886" y="32996"/>
                </a:lnTo>
                <a:lnTo>
                  <a:pt x="877811" y="32003"/>
                </a:lnTo>
                <a:lnTo>
                  <a:pt x="880097" y="32003"/>
                </a:lnTo>
                <a:lnTo>
                  <a:pt x="882383" y="34289"/>
                </a:lnTo>
                <a:lnTo>
                  <a:pt x="883145" y="36575"/>
                </a:lnTo>
                <a:lnTo>
                  <a:pt x="883145" y="66998"/>
                </a:lnTo>
                <a:lnTo>
                  <a:pt x="941057" y="32003"/>
                </a:lnTo>
                <a:close/>
              </a:path>
              <a:path w="941070" h="108585">
                <a:moveTo>
                  <a:pt x="883145" y="39624"/>
                </a:moveTo>
                <a:lnTo>
                  <a:pt x="883145" y="36575"/>
                </a:lnTo>
                <a:lnTo>
                  <a:pt x="882383" y="34289"/>
                </a:lnTo>
                <a:lnTo>
                  <a:pt x="880097" y="32003"/>
                </a:lnTo>
                <a:lnTo>
                  <a:pt x="877811" y="32003"/>
                </a:lnTo>
                <a:lnTo>
                  <a:pt x="864886" y="32996"/>
                </a:lnTo>
                <a:lnTo>
                  <a:pt x="865581" y="42896"/>
                </a:lnTo>
                <a:lnTo>
                  <a:pt x="877811" y="41967"/>
                </a:lnTo>
                <a:lnTo>
                  <a:pt x="880859" y="41910"/>
                </a:lnTo>
                <a:lnTo>
                  <a:pt x="883145" y="39624"/>
                </a:lnTo>
                <a:close/>
              </a:path>
              <a:path w="941070" h="108585">
                <a:moveTo>
                  <a:pt x="883145" y="66998"/>
                </a:moveTo>
                <a:lnTo>
                  <a:pt x="883145" y="39624"/>
                </a:lnTo>
                <a:lnTo>
                  <a:pt x="880859" y="41910"/>
                </a:lnTo>
                <a:lnTo>
                  <a:pt x="877811" y="41967"/>
                </a:lnTo>
                <a:lnTo>
                  <a:pt x="865581" y="42896"/>
                </a:lnTo>
                <a:lnTo>
                  <a:pt x="867917" y="76200"/>
                </a:lnTo>
                <a:lnTo>
                  <a:pt x="883145" y="6699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85193" y="4187444"/>
            <a:ext cx="1012825" cy="177165"/>
          </a:xfrm>
          <a:custGeom>
            <a:avLst/>
            <a:gdLst/>
            <a:ahLst/>
            <a:cxnLst/>
            <a:rect l="l" t="t" r="r" b="b"/>
            <a:pathLst>
              <a:path w="1012825" h="177164">
                <a:moveTo>
                  <a:pt x="80772" y="0"/>
                </a:moveTo>
                <a:lnTo>
                  <a:pt x="0" y="27431"/>
                </a:lnTo>
                <a:lnTo>
                  <a:pt x="57150" y="66567"/>
                </a:lnTo>
                <a:lnTo>
                  <a:pt x="57150" y="38100"/>
                </a:lnTo>
                <a:lnTo>
                  <a:pt x="57912" y="35051"/>
                </a:lnTo>
                <a:lnTo>
                  <a:pt x="57912" y="32765"/>
                </a:lnTo>
                <a:lnTo>
                  <a:pt x="60960" y="31241"/>
                </a:lnTo>
                <a:lnTo>
                  <a:pt x="63246" y="31241"/>
                </a:lnTo>
                <a:lnTo>
                  <a:pt x="76093" y="33086"/>
                </a:lnTo>
                <a:lnTo>
                  <a:pt x="80772" y="0"/>
                </a:lnTo>
                <a:close/>
              </a:path>
              <a:path w="1012825" h="177164">
                <a:moveTo>
                  <a:pt x="76093" y="33086"/>
                </a:moveTo>
                <a:lnTo>
                  <a:pt x="63246" y="31241"/>
                </a:lnTo>
                <a:lnTo>
                  <a:pt x="60960" y="31241"/>
                </a:lnTo>
                <a:lnTo>
                  <a:pt x="57912" y="32765"/>
                </a:lnTo>
                <a:lnTo>
                  <a:pt x="57912" y="35051"/>
                </a:lnTo>
                <a:lnTo>
                  <a:pt x="57150" y="38100"/>
                </a:lnTo>
                <a:lnTo>
                  <a:pt x="59436" y="40385"/>
                </a:lnTo>
                <a:lnTo>
                  <a:pt x="61722" y="41147"/>
                </a:lnTo>
                <a:lnTo>
                  <a:pt x="74691" y="42997"/>
                </a:lnTo>
                <a:lnTo>
                  <a:pt x="76093" y="33086"/>
                </a:lnTo>
                <a:close/>
              </a:path>
              <a:path w="1012825" h="177164">
                <a:moveTo>
                  <a:pt x="74691" y="42997"/>
                </a:moveTo>
                <a:lnTo>
                  <a:pt x="61722" y="41147"/>
                </a:lnTo>
                <a:lnTo>
                  <a:pt x="59436" y="40385"/>
                </a:lnTo>
                <a:lnTo>
                  <a:pt x="57150" y="38100"/>
                </a:lnTo>
                <a:lnTo>
                  <a:pt x="57150" y="66567"/>
                </a:lnTo>
                <a:lnTo>
                  <a:pt x="70103" y="75437"/>
                </a:lnTo>
                <a:lnTo>
                  <a:pt x="74691" y="42997"/>
                </a:lnTo>
                <a:close/>
              </a:path>
              <a:path w="1012825" h="177164">
                <a:moveTo>
                  <a:pt x="1012697" y="172211"/>
                </a:moveTo>
                <a:lnTo>
                  <a:pt x="1012697" y="169925"/>
                </a:lnTo>
                <a:lnTo>
                  <a:pt x="1011173" y="166877"/>
                </a:lnTo>
                <a:lnTo>
                  <a:pt x="1007363" y="166768"/>
                </a:lnTo>
                <a:lnTo>
                  <a:pt x="76093" y="33086"/>
                </a:lnTo>
                <a:lnTo>
                  <a:pt x="74691" y="42997"/>
                </a:lnTo>
                <a:lnTo>
                  <a:pt x="1007363" y="176021"/>
                </a:lnTo>
                <a:lnTo>
                  <a:pt x="1009649" y="176783"/>
                </a:lnTo>
                <a:lnTo>
                  <a:pt x="1011936" y="174497"/>
                </a:lnTo>
                <a:lnTo>
                  <a:pt x="1012697" y="17221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53011" y="4975352"/>
            <a:ext cx="795655" cy="107950"/>
          </a:xfrm>
          <a:custGeom>
            <a:avLst/>
            <a:gdLst/>
            <a:ahLst/>
            <a:cxnLst/>
            <a:rect l="l" t="t" r="r" b="b"/>
            <a:pathLst>
              <a:path w="795654" h="107950">
                <a:moveTo>
                  <a:pt x="720149" y="43071"/>
                </a:moveTo>
                <a:lnTo>
                  <a:pt x="719255" y="33122"/>
                </a:lnTo>
                <a:lnTo>
                  <a:pt x="5334" y="98228"/>
                </a:lnTo>
                <a:lnTo>
                  <a:pt x="1524" y="98298"/>
                </a:lnTo>
                <a:lnTo>
                  <a:pt x="0" y="100584"/>
                </a:lnTo>
                <a:lnTo>
                  <a:pt x="0" y="102870"/>
                </a:lnTo>
                <a:lnTo>
                  <a:pt x="762" y="105918"/>
                </a:lnTo>
                <a:lnTo>
                  <a:pt x="3048" y="107442"/>
                </a:lnTo>
                <a:lnTo>
                  <a:pt x="5334" y="107442"/>
                </a:lnTo>
                <a:lnTo>
                  <a:pt x="720149" y="43071"/>
                </a:lnTo>
                <a:close/>
              </a:path>
              <a:path w="795654" h="107950">
                <a:moveTo>
                  <a:pt x="795515" y="31242"/>
                </a:moveTo>
                <a:lnTo>
                  <a:pt x="716279" y="0"/>
                </a:lnTo>
                <a:lnTo>
                  <a:pt x="719255" y="33122"/>
                </a:lnTo>
                <a:lnTo>
                  <a:pt x="731520" y="32003"/>
                </a:lnTo>
                <a:lnTo>
                  <a:pt x="734568" y="32003"/>
                </a:lnTo>
                <a:lnTo>
                  <a:pt x="736853" y="34289"/>
                </a:lnTo>
                <a:lnTo>
                  <a:pt x="736853" y="36575"/>
                </a:lnTo>
                <a:lnTo>
                  <a:pt x="737616" y="39624"/>
                </a:lnTo>
                <a:lnTo>
                  <a:pt x="737616" y="67200"/>
                </a:lnTo>
                <a:lnTo>
                  <a:pt x="795515" y="31242"/>
                </a:lnTo>
                <a:close/>
              </a:path>
              <a:path w="795654" h="107950">
                <a:moveTo>
                  <a:pt x="737616" y="39624"/>
                </a:moveTo>
                <a:lnTo>
                  <a:pt x="736853" y="36575"/>
                </a:lnTo>
                <a:lnTo>
                  <a:pt x="736853" y="34289"/>
                </a:lnTo>
                <a:lnTo>
                  <a:pt x="734568" y="32003"/>
                </a:lnTo>
                <a:lnTo>
                  <a:pt x="731520" y="32003"/>
                </a:lnTo>
                <a:lnTo>
                  <a:pt x="719255" y="33122"/>
                </a:lnTo>
                <a:lnTo>
                  <a:pt x="720149" y="43071"/>
                </a:lnTo>
                <a:lnTo>
                  <a:pt x="733044" y="41910"/>
                </a:lnTo>
                <a:lnTo>
                  <a:pt x="735329" y="41910"/>
                </a:lnTo>
                <a:lnTo>
                  <a:pt x="737616" y="39624"/>
                </a:lnTo>
                <a:close/>
              </a:path>
              <a:path w="795654" h="107950">
                <a:moveTo>
                  <a:pt x="737616" y="67200"/>
                </a:moveTo>
                <a:lnTo>
                  <a:pt x="737616" y="39624"/>
                </a:lnTo>
                <a:lnTo>
                  <a:pt x="735329" y="41910"/>
                </a:lnTo>
                <a:lnTo>
                  <a:pt x="733044" y="41910"/>
                </a:lnTo>
                <a:lnTo>
                  <a:pt x="720149" y="43071"/>
                </a:lnTo>
                <a:lnTo>
                  <a:pt x="723125" y="76200"/>
                </a:lnTo>
                <a:lnTo>
                  <a:pt x="737616" y="672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57583" y="5201665"/>
            <a:ext cx="1013460" cy="242570"/>
          </a:xfrm>
          <a:custGeom>
            <a:avLst/>
            <a:gdLst/>
            <a:ahLst/>
            <a:cxnLst/>
            <a:rect l="l" t="t" r="r" b="b"/>
            <a:pathLst>
              <a:path w="1013460" h="242570">
                <a:moveTo>
                  <a:pt x="83058" y="0"/>
                </a:moveTo>
                <a:lnTo>
                  <a:pt x="0" y="20574"/>
                </a:lnTo>
                <a:lnTo>
                  <a:pt x="57150" y="66034"/>
                </a:lnTo>
                <a:lnTo>
                  <a:pt x="57150" y="35813"/>
                </a:lnTo>
                <a:lnTo>
                  <a:pt x="57912" y="33528"/>
                </a:lnTo>
                <a:lnTo>
                  <a:pt x="58674" y="30480"/>
                </a:lnTo>
                <a:lnTo>
                  <a:pt x="60960" y="28956"/>
                </a:lnTo>
                <a:lnTo>
                  <a:pt x="63246" y="29718"/>
                </a:lnTo>
                <a:lnTo>
                  <a:pt x="76031" y="32456"/>
                </a:lnTo>
                <a:lnTo>
                  <a:pt x="83058" y="0"/>
                </a:lnTo>
                <a:close/>
              </a:path>
              <a:path w="1013460" h="242570">
                <a:moveTo>
                  <a:pt x="76031" y="32456"/>
                </a:moveTo>
                <a:lnTo>
                  <a:pt x="63246" y="29718"/>
                </a:lnTo>
                <a:lnTo>
                  <a:pt x="60960" y="28956"/>
                </a:lnTo>
                <a:lnTo>
                  <a:pt x="58674" y="30480"/>
                </a:lnTo>
                <a:lnTo>
                  <a:pt x="57912" y="33528"/>
                </a:lnTo>
                <a:lnTo>
                  <a:pt x="57150" y="35813"/>
                </a:lnTo>
                <a:lnTo>
                  <a:pt x="58674" y="38100"/>
                </a:lnTo>
                <a:lnTo>
                  <a:pt x="61722" y="38862"/>
                </a:lnTo>
                <a:lnTo>
                  <a:pt x="74071" y="41509"/>
                </a:lnTo>
                <a:lnTo>
                  <a:pt x="76031" y="32456"/>
                </a:lnTo>
                <a:close/>
              </a:path>
              <a:path w="1013460" h="242570">
                <a:moveTo>
                  <a:pt x="74071" y="41509"/>
                </a:moveTo>
                <a:lnTo>
                  <a:pt x="61722" y="38862"/>
                </a:lnTo>
                <a:lnTo>
                  <a:pt x="58674" y="38100"/>
                </a:lnTo>
                <a:lnTo>
                  <a:pt x="57150" y="35813"/>
                </a:lnTo>
                <a:lnTo>
                  <a:pt x="57150" y="66034"/>
                </a:lnTo>
                <a:lnTo>
                  <a:pt x="67056" y="73913"/>
                </a:lnTo>
                <a:lnTo>
                  <a:pt x="74071" y="41509"/>
                </a:lnTo>
                <a:close/>
              </a:path>
              <a:path w="1013460" h="242570">
                <a:moveTo>
                  <a:pt x="1013459" y="235458"/>
                </a:moveTo>
                <a:lnTo>
                  <a:pt x="1011935" y="232410"/>
                </a:lnTo>
                <a:lnTo>
                  <a:pt x="1009637" y="232410"/>
                </a:lnTo>
                <a:lnTo>
                  <a:pt x="76031" y="32456"/>
                </a:lnTo>
                <a:lnTo>
                  <a:pt x="74071" y="41509"/>
                </a:lnTo>
                <a:lnTo>
                  <a:pt x="1007351" y="241554"/>
                </a:lnTo>
                <a:lnTo>
                  <a:pt x="1009637" y="242316"/>
                </a:lnTo>
                <a:lnTo>
                  <a:pt x="1012698" y="240030"/>
                </a:lnTo>
                <a:lnTo>
                  <a:pt x="1012698" y="237744"/>
                </a:lnTo>
                <a:lnTo>
                  <a:pt x="1013459" y="23545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18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7835" y="603249"/>
            <a:ext cx="7878445" cy="531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Tasks of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Compilation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Process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Its</a:t>
            </a:r>
            <a:r>
              <a:rPr sz="2800" b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000">
              <a:latin typeface="Times New Roman"/>
              <a:cs typeface="Times New Roman"/>
            </a:endParaRPr>
          </a:p>
          <a:p>
            <a:pPr marL="355600" marR="23812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Each tasks is assigned to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phase, e.g. Lexical  Analyzer phase, Syntax Analyzer phase, and so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on.</a:t>
            </a:r>
            <a:endParaRPr sz="2800">
              <a:latin typeface="Times New Roman"/>
              <a:cs typeface="Times New Roman"/>
            </a:endParaRPr>
          </a:p>
          <a:p>
            <a:pPr marL="444500" indent="-431800">
              <a:lnSpc>
                <a:spcPct val="100000"/>
              </a:lnSpc>
              <a:spcBef>
                <a:spcPts val="680"/>
              </a:spcBef>
              <a:buChar char="•"/>
              <a:tabLst>
                <a:tab pos="444500" algn="l"/>
                <a:tab pos="445134" algn="l"/>
              </a:tabLst>
            </a:pPr>
            <a:r>
              <a:rPr sz="2800" spc="-5" dirty="0">
                <a:latin typeface="Times New Roman"/>
                <a:cs typeface="Times New Roman"/>
              </a:rPr>
              <a:t>Each task has input 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output.</a:t>
            </a:r>
            <a:endParaRPr sz="2800">
              <a:latin typeface="Times New Roman"/>
              <a:cs typeface="Times New Roman"/>
            </a:endParaRPr>
          </a:p>
          <a:p>
            <a:pPr marL="355600" marR="80645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Any thing between brackets in the last figure is  output of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phase.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compiler first analyzes the program, the result is  representations suitable to be translated later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on: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85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Parse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</a:t>
            </a:r>
            <a:endParaRPr sz="2800">
              <a:latin typeface="Times New Roman"/>
              <a:cs typeface="Times New Roman"/>
            </a:endParaRPr>
          </a:p>
          <a:p>
            <a:pPr marL="563245" lvl="1" indent="-207645">
              <a:lnSpc>
                <a:spcPct val="100000"/>
              </a:lnSpc>
              <a:spcBef>
                <a:spcPts val="675"/>
              </a:spcBef>
              <a:buChar char="-"/>
              <a:tabLst>
                <a:tab pos="563880" algn="l"/>
              </a:tabLst>
            </a:pPr>
            <a:r>
              <a:rPr sz="2800" spc="-5" dirty="0">
                <a:latin typeface="Times New Roman"/>
                <a:cs typeface="Times New Roman"/>
              </a:rPr>
              <a:t>Symbol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9603" y="571245"/>
            <a:ext cx="56876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Parse </a:t>
            </a:r>
            <a:r>
              <a:rPr spc="-5" dirty="0"/>
              <a:t>Tree and </a:t>
            </a:r>
            <a:r>
              <a:rPr spc="-10" dirty="0"/>
              <a:t>Symbol</a:t>
            </a:r>
            <a:r>
              <a:rPr spc="-15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615948"/>
            <a:ext cx="7730490" cy="4126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Parse tree defines the program structure; how to  combine parts of the program to produce larger part 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5" dirty="0">
                <a:latin typeface="Times New Roman"/>
                <a:cs typeface="Times New Roman"/>
              </a:rPr>
              <a:t>so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6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Symbol table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provides</a:t>
            </a:r>
            <a:endParaRPr sz="2800">
              <a:latin typeface="Times New Roman"/>
              <a:cs typeface="Times New Roman"/>
            </a:endParaRPr>
          </a:p>
          <a:p>
            <a:pPr marL="545465" marR="208279" lvl="1" indent="-189865">
              <a:lnSpc>
                <a:spcPct val="120200"/>
              </a:lnSpc>
              <a:buChar char="-"/>
              <a:tabLst>
                <a:tab pos="563880" algn="l"/>
                <a:tab pos="6863080" algn="l"/>
              </a:tabLst>
            </a:pPr>
            <a:r>
              <a:rPr sz="2800" spc="-5" dirty="0">
                <a:latin typeface="Times New Roman"/>
                <a:cs typeface="Times New Roman"/>
              </a:rPr>
              <a:t>th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 association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 betwee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 al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 occurrence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 o</a:t>
            </a:r>
            <a:r>
              <a:rPr sz="2800" dirty="0">
                <a:latin typeface="Times New Roman"/>
                <a:cs typeface="Times New Roman"/>
              </a:rPr>
              <a:t>f	</a:t>
            </a:r>
            <a:r>
              <a:rPr sz="2800" spc="-5" dirty="0">
                <a:latin typeface="Times New Roman"/>
                <a:cs typeface="Times New Roman"/>
              </a:rPr>
              <a:t>each  name given in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program.</a:t>
            </a:r>
            <a:endParaRPr sz="2800">
              <a:latin typeface="Times New Roman"/>
              <a:cs typeface="Times New Roman"/>
            </a:endParaRPr>
          </a:p>
          <a:p>
            <a:pPr marL="545465" marR="984885" lvl="1" indent="-189865">
              <a:lnSpc>
                <a:spcPct val="120200"/>
              </a:lnSpc>
              <a:buChar char="-"/>
              <a:tabLst>
                <a:tab pos="563880" algn="l"/>
              </a:tabLst>
            </a:pP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provides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link between each name and it  declaration.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7835" y="628395"/>
            <a:ext cx="7261225" cy="5005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9785">
              <a:lnSpc>
                <a:spcPct val="100000"/>
              </a:lnSpc>
              <a:spcBef>
                <a:spcPts val="95"/>
              </a:spcBef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Example </a:t>
            </a: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Compilation</a:t>
            </a:r>
            <a:r>
              <a:rPr sz="32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Arial"/>
                <a:cs typeface="Arial"/>
              </a:rPr>
              <a:t>Main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()</a:t>
            </a:r>
            <a:endParaRPr sz="3200">
              <a:latin typeface="Arial"/>
              <a:cs typeface="Arial"/>
            </a:endParaRPr>
          </a:p>
          <a:p>
            <a:pPr marL="238125" marR="4331335" indent="-226060">
              <a:lnSpc>
                <a:spcPct val="119700"/>
              </a:lnSpc>
              <a:spcBef>
                <a:spcPts val="5"/>
              </a:spcBef>
            </a:pPr>
            <a:r>
              <a:rPr sz="3200" spc="-5" dirty="0">
                <a:latin typeface="Arial"/>
                <a:cs typeface="Arial"/>
              </a:rPr>
              <a:t>{ int a; </a:t>
            </a:r>
            <a:r>
              <a:rPr sz="3200" spc="-10" dirty="0">
                <a:latin typeface="Arial"/>
                <a:cs typeface="Arial"/>
              </a:rPr>
              <a:t>double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b;  </a:t>
            </a:r>
            <a:r>
              <a:rPr sz="3200" spc="-5" dirty="0">
                <a:latin typeface="Arial"/>
                <a:cs typeface="Arial"/>
              </a:rPr>
              <a:t>a =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1;</a:t>
            </a:r>
            <a:endParaRPr sz="32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latin typeface="Arial"/>
                <a:cs typeface="Arial"/>
              </a:rPr>
              <a:t>b =</a:t>
            </a:r>
            <a:r>
              <a:rPr sz="3200" spc="-10" dirty="0">
                <a:latin typeface="Arial"/>
                <a:cs typeface="Arial"/>
              </a:rPr>
              <a:t> 1.5;</a:t>
            </a:r>
            <a:endParaRPr sz="3200">
              <a:latin typeface="Arial"/>
              <a:cs typeface="Arial"/>
            </a:endParaRPr>
          </a:p>
          <a:p>
            <a:pPr marL="238125" marR="5210175">
              <a:lnSpc>
                <a:spcPct val="119700"/>
              </a:lnSpc>
              <a:spcBef>
                <a:spcPts val="5"/>
              </a:spcBef>
            </a:pPr>
            <a:r>
              <a:rPr sz="3200" spc="-5" dirty="0">
                <a:latin typeface="Arial"/>
                <a:cs typeface="Arial"/>
              </a:rPr>
              <a:t>a = b + </a:t>
            </a:r>
            <a:r>
              <a:rPr sz="3200" spc="-10" dirty="0">
                <a:latin typeface="Arial"/>
                <a:cs typeface="Arial"/>
              </a:rPr>
              <a:t>2;  </a:t>
            </a:r>
            <a:r>
              <a:rPr sz="3200" spc="-5" dirty="0">
                <a:latin typeface="Arial"/>
                <a:cs typeface="Arial"/>
              </a:rPr>
              <a:t>cout &lt;&lt;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134" y="571245"/>
            <a:ext cx="78733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 </a:t>
            </a:r>
            <a:r>
              <a:rPr spc="-5" dirty="0"/>
              <a:t>on </a:t>
            </a:r>
            <a:r>
              <a:rPr spc="-10" dirty="0"/>
              <a:t>Compilation Process</a:t>
            </a:r>
            <a:r>
              <a:rPr spc="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298194"/>
            <a:ext cx="7980680" cy="49193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899794" indent="-342900">
              <a:lnSpc>
                <a:spcPts val="23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  <a:tab pos="1590675" algn="l"/>
              </a:tabLst>
            </a:pPr>
            <a:r>
              <a:rPr sz="2400" spc="-5" dirty="0">
                <a:latin typeface="Times New Roman"/>
                <a:cs typeface="Times New Roman"/>
              </a:rPr>
              <a:t>First,</a:t>
            </a:r>
            <a:r>
              <a:rPr sz="2400" spc="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	</a:t>
            </a:r>
            <a:r>
              <a:rPr sz="2400" b="1" i="1" spc="-5" dirty="0">
                <a:latin typeface="Times New Roman"/>
                <a:cs typeface="Times New Roman"/>
              </a:rPr>
              <a:t>Reading </a:t>
            </a:r>
            <a:r>
              <a:rPr sz="2400" spc="-5" dirty="0">
                <a:latin typeface="Times New Roman"/>
                <a:cs typeface="Times New Roman"/>
              </a:rPr>
              <a:t>phase reads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source program </a:t>
            </a:r>
            <a:r>
              <a:rPr sz="2400" dirty="0">
                <a:latin typeface="Times New Roman"/>
                <a:cs typeface="Times New Roman"/>
              </a:rPr>
              <a:t>and  produces	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symbols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79800"/>
              </a:lnSpc>
              <a:spcBef>
                <a:spcPts val="6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Lexical Analyzer </a:t>
            </a:r>
            <a:r>
              <a:rPr sz="2400" spc="-5" dirty="0">
                <a:latin typeface="Times New Roman"/>
                <a:cs typeface="Times New Roman"/>
              </a:rPr>
              <a:t>(or scanner) </a:t>
            </a:r>
            <a:r>
              <a:rPr sz="2400" dirty="0">
                <a:latin typeface="Times New Roman"/>
                <a:cs typeface="Times New Roman"/>
              </a:rPr>
              <a:t>takes the </a:t>
            </a:r>
            <a:r>
              <a:rPr sz="2400" spc="-5" dirty="0">
                <a:latin typeface="Times New Roman"/>
                <a:cs typeface="Times New Roman"/>
              </a:rPr>
              <a:t>symbols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separates  them into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tokens</a:t>
            </a:r>
            <a:r>
              <a:rPr sz="2400" b="1" spc="-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e.g.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0"/>
              </a:lnSpc>
              <a:buChar char="-"/>
              <a:tabLst>
                <a:tab pos="5334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constants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5"/>
              </a:lnSpc>
              <a:buChar char="-"/>
              <a:tabLst>
                <a:tab pos="533400" algn="l"/>
              </a:tabLst>
            </a:pPr>
            <a:r>
              <a:rPr sz="2400" spc="-5" dirty="0">
                <a:latin typeface="Times New Roman"/>
                <a:cs typeface="Times New Roman"/>
              </a:rPr>
              <a:t>variable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names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5"/>
              </a:lnSpc>
              <a:buChar char="-"/>
              <a:tabLst>
                <a:tab pos="533400" algn="l"/>
              </a:tabLst>
            </a:pPr>
            <a:r>
              <a:rPr sz="2400" dirty="0">
                <a:latin typeface="Times New Roman"/>
                <a:cs typeface="Times New Roman"/>
              </a:rPr>
              <a:t>keywords </a:t>
            </a:r>
            <a:r>
              <a:rPr sz="2400" spc="-5" dirty="0">
                <a:latin typeface="Times New Roman"/>
                <a:cs typeface="Times New Roman"/>
              </a:rPr>
              <a:t>(if, while, switch,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etc.)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latin typeface="Times New Roman"/>
                <a:cs typeface="Times New Roman"/>
              </a:rPr>
              <a:t>operators (+, -, *, </a:t>
            </a:r>
            <a:r>
              <a:rPr sz="2400" dirty="0">
                <a:latin typeface="Times New Roman"/>
                <a:cs typeface="Times New Roman"/>
              </a:rPr>
              <a:t>/, </a:t>
            </a:r>
            <a:r>
              <a:rPr sz="2400" spc="-5" dirty="0">
                <a:latin typeface="Times New Roman"/>
                <a:cs typeface="Times New Roman"/>
              </a:rPr>
              <a:t>&lt;, &gt;,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etc)</a:t>
            </a:r>
            <a:endParaRPr sz="2400">
              <a:latin typeface="Times New Roman"/>
              <a:cs typeface="Times New Roman"/>
            </a:endParaRPr>
          </a:p>
          <a:p>
            <a:pPr marL="355600" marR="217170" indent="-342900">
              <a:lnSpc>
                <a:spcPct val="798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Each token is given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unique internal representation number,  </a:t>
            </a:r>
            <a:r>
              <a:rPr sz="2400" dirty="0">
                <a:latin typeface="Times New Roman"/>
                <a:cs typeface="Times New Roman"/>
              </a:rPr>
              <a:t>e.g.;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5"/>
              </a:lnSpc>
              <a:buChar char="-"/>
              <a:tabLst>
                <a:tab pos="533400" algn="l"/>
              </a:tabLst>
            </a:pPr>
            <a:r>
              <a:rPr sz="2400" spc="-5" dirty="0">
                <a:latin typeface="Times New Roman"/>
                <a:cs typeface="Times New Roman"/>
              </a:rPr>
              <a:t>variable name is given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1,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5"/>
              </a:lnSpc>
              <a:buChar char="-"/>
              <a:tabLst>
                <a:tab pos="5334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constant 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5"/>
              </a:lnSpc>
              <a:buChar char="-"/>
              <a:tabLst>
                <a:tab pos="533400" algn="l"/>
              </a:tabLst>
            </a:pPr>
            <a:r>
              <a:rPr sz="2400" spc="-5" dirty="0">
                <a:latin typeface="Times New Roman"/>
                <a:cs typeface="Times New Roman"/>
              </a:rPr>
              <a:t>addition operation 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532765" lvl="1" indent="-177165">
              <a:lnSpc>
                <a:spcPts val="2875"/>
              </a:lnSpc>
              <a:buChar char="-"/>
              <a:tabLst>
                <a:tab pos="533400" algn="l"/>
              </a:tabLst>
            </a:pPr>
            <a:r>
              <a:rPr sz="2400" spc="-5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134" y="571245"/>
            <a:ext cx="78733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 </a:t>
            </a:r>
            <a:r>
              <a:rPr spc="-5" dirty="0"/>
              <a:t>on </a:t>
            </a:r>
            <a:r>
              <a:rPr spc="-10" dirty="0"/>
              <a:t>Compilation Process</a:t>
            </a:r>
            <a:r>
              <a:rPr spc="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315720"/>
            <a:ext cx="64471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7600" algn="l"/>
              </a:tabLst>
            </a:pPr>
            <a:r>
              <a:rPr sz="1800" dirty="0">
                <a:latin typeface="Times New Roman"/>
                <a:cs typeface="Times New Roman"/>
              </a:rPr>
              <a:t>Example:	a = b +</a:t>
            </a:r>
            <a:r>
              <a:rPr sz="1800" spc="-5" dirty="0">
                <a:latin typeface="Times New Roman"/>
                <a:cs typeface="Times New Roman"/>
              </a:rPr>
              <a:t> 2;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would </a:t>
            </a:r>
            <a:r>
              <a:rPr sz="1800" dirty="0">
                <a:latin typeface="Times New Roman"/>
                <a:cs typeface="Times New Roman"/>
              </a:rPr>
              <a:t>be tokenized by the Lexical analyzer into a </a:t>
            </a:r>
            <a:r>
              <a:rPr sz="1800" spc="-5" dirty="0">
                <a:latin typeface="Times New Roman"/>
                <a:cs typeface="Times New Roman"/>
              </a:rPr>
              <a:t>sequence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tokens: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41685" y="1902705"/>
          <a:ext cx="864235" cy="1626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+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97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97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7835" y="3787617"/>
            <a:ext cx="7741284" cy="21672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5600" marR="5080" indent="-342900">
              <a:lnSpc>
                <a:spcPts val="1730"/>
              </a:lnSpc>
              <a:spcBef>
                <a:spcPts val="515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other output </a:t>
            </a:r>
            <a:r>
              <a:rPr sz="1800" spc="-5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Lexical analyzer is the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symbol table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contain constants,  labels, and variable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names.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A table entry for a variable may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contain:</a:t>
            </a:r>
            <a:endParaRPr sz="1800">
              <a:latin typeface="Times New Roman"/>
              <a:cs typeface="Times New Roman"/>
            </a:endParaRPr>
          </a:p>
          <a:p>
            <a:pPr marL="488950" lvl="1" indent="-133350">
              <a:lnSpc>
                <a:spcPct val="100000"/>
              </a:lnSpc>
              <a:buChar char="-"/>
              <a:tabLst>
                <a:tab pos="488950" algn="l"/>
              </a:tabLst>
            </a:pP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5" dirty="0">
                <a:latin typeface="Times New Roman"/>
                <a:cs typeface="Times New Roman"/>
              </a:rPr>
              <a:t> name</a:t>
            </a:r>
            <a:endParaRPr sz="1800">
              <a:latin typeface="Times New Roman"/>
              <a:cs typeface="Times New Roman"/>
            </a:endParaRPr>
          </a:p>
          <a:p>
            <a:pPr marL="488950" lvl="1" indent="-133350">
              <a:lnSpc>
                <a:spcPct val="100000"/>
              </a:lnSpc>
              <a:spcBef>
                <a:spcPts val="10"/>
              </a:spcBef>
              <a:buChar char="-"/>
              <a:tabLst>
                <a:tab pos="488950" algn="l"/>
              </a:tabLst>
            </a:pPr>
            <a:r>
              <a:rPr sz="1800" dirty="0">
                <a:latin typeface="Times New Roman"/>
                <a:cs typeface="Times New Roman"/>
              </a:rPr>
              <a:t>its type </a:t>
            </a:r>
            <a:r>
              <a:rPr sz="1800" spc="-5" dirty="0">
                <a:latin typeface="Times New Roman"/>
                <a:cs typeface="Times New Roman"/>
              </a:rPr>
              <a:t>(int, </a:t>
            </a:r>
            <a:r>
              <a:rPr sz="1800" dirty="0">
                <a:latin typeface="Times New Roman"/>
                <a:cs typeface="Times New Roman"/>
              </a:rPr>
              <a:t>double,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etc.)</a:t>
            </a:r>
            <a:endParaRPr sz="1800">
              <a:latin typeface="Times New Roman"/>
              <a:cs typeface="Times New Roman"/>
            </a:endParaRPr>
          </a:p>
          <a:p>
            <a:pPr marL="488950" lvl="1" indent="-133350">
              <a:lnSpc>
                <a:spcPct val="100000"/>
              </a:lnSpc>
              <a:buChar char="-"/>
              <a:tabLst>
                <a:tab pos="488950" algn="l"/>
              </a:tabLst>
            </a:pPr>
            <a:r>
              <a:rPr sz="1800" dirty="0">
                <a:latin typeface="Times New Roman"/>
                <a:cs typeface="Times New Roman"/>
              </a:rPr>
              <a:t>object program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  <a:p>
            <a:pPr marL="488950" lvl="1" indent="-133350">
              <a:lnSpc>
                <a:spcPct val="100000"/>
              </a:lnSpc>
              <a:spcBef>
                <a:spcPts val="5"/>
              </a:spcBef>
              <a:buChar char="-"/>
              <a:tabLst>
                <a:tab pos="488950" algn="l"/>
              </a:tabLst>
            </a:pP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endParaRPr sz="1800">
              <a:latin typeface="Times New Roman"/>
              <a:cs typeface="Times New Roman"/>
            </a:endParaRPr>
          </a:p>
          <a:p>
            <a:pPr marL="488950" lvl="1" indent="-133350">
              <a:lnSpc>
                <a:spcPct val="100000"/>
              </a:lnSpc>
              <a:buChar char="-"/>
              <a:tabLst>
                <a:tab pos="488950" algn="l"/>
              </a:tabLst>
            </a:pPr>
            <a:r>
              <a:rPr sz="1800" dirty="0">
                <a:latin typeface="Times New Roman"/>
                <a:cs typeface="Times New Roman"/>
              </a:rPr>
              <a:t>line in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dirty="0">
                <a:latin typeface="Times New Roman"/>
                <a:cs typeface="Times New Roman"/>
              </a:rPr>
              <a:t>it 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declared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134" y="317500"/>
            <a:ext cx="78733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 </a:t>
            </a:r>
            <a:r>
              <a:rPr spc="-5" dirty="0"/>
              <a:t>on </a:t>
            </a:r>
            <a:r>
              <a:rPr spc="-10" dirty="0"/>
              <a:t>Compilation Process</a:t>
            </a:r>
            <a:r>
              <a:rPr spc="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083014"/>
            <a:ext cx="536257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Variables in </a:t>
            </a:r>
            <a:r>
              <a:rPr sz="2000" spc="-10" dirty="0">
                <a:latin typeface="Times New Roman"/>
                <a:cs typeface="Times New Roman"/>
              </a:rPr>
              <a:t>Symbol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table:</a:t>
            </a:r>
            <a:endParaRPr sz="2000">
              <a:latin typeface="Times New Roman"/>
              <a:cs typeface="Times New Roman"/>
            </a:endParaRPr>
          </a:p>
          <a:p>
            <a:pPr marL="1473200">
              <a:lnSpc>
                <a:spcPct val="100000"/>
              </a:lnSpc>
              <a:spcBef>
                <a:spcPts val="470"/>
              </a:spcBef>
              <a:tabLst>
                <a:tab pos="4278630" algn="l"/>
              </a:tabLst>
            </a:pPr>
            <a:r>
              <a:rPr sz="2000" spc="-5" dirty="0">
                <a:latin typeface="Times New Roman"/>
                <a:cs typeface="Times New Roman"/>
              </a:rPr>
              <a:t>Name	</a:t>
            </a:r>
            <a:r>
              <a:rPr sz="2000" spc="-10" dirty="0">
                <a:latin typeface="Times New Roman"/>
                <a:cs typeface="Times New Roman"/>
              </a:rPr>
              <a:t>Descriptor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835" y="3638744"/>
            <a:ext cx="7844155" cy="17907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Tokens </a:t>
            </a:r>
            <a:r>
              <a:rPr sz="2000" spc="-5" dirty="0">
                <a:latin typeface="Times New Roman"/>
                <a:cs typeface="Times New Roman"/>
              </a:rPr>
              <a:t>may take the form of pairs 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items:</a:t>
            </a:r>
            <a:endParaRPr sz="2000">
              <a:latin typeface="Times New Roman"/>
              <a:cs typeface="Times New Roman"/>
            </a:endParaRPr>
          </a:p>
          <a:p>
            <a:pPr marL="629285" lvl="1" indent="-147320">
              <a:lnSpc>
                <a:spcPct val="100000"/>
              </a:lnSpc>
              <a:spcBef>
                <a:spcPts val="470"/>
              </a:spcBef>
              <a:buChar char="-"/>
              <a:tabLst>
                <a:tab pos="629920" algn="l"/>
              </a:tabLst>
            </a:pPr>
            <a:r>
              <a:rPr sz="2000" spc="-5" dirty="0">
                <a:latin typeface="Times New Roman"/>
                <a:cs typeface="Times New Roman"/>
              </a:rPr>
              <a:t>First item gives the address or location of the token in the </a:t>
            </a:r>
            <a:r>
              <a:rPr sz="2000" spc="-10" dirty="0">
                <a:latin typeface="Times New Roman"/>
                <a:cs typeface="Times New Roman"/>
              </a:rPr>
              <a:t>symbol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endParaRPr sz="2000">
              <a:latin typeface="Times New Roman"/>
              <a:cs typeface="Times New Roman"/>
            </a:endParaRPr>
          </a:p>
          <a:p>
            <a:pPr marL="629285" lvl="1" indent="-147320">
              <a:lnSpc>
                <a:spcPct val="100000"/>
              </a:lnSpc>
              <a:spcBef>
                <a:spcPts val="475"/>
              </a:spcBef>
              <a:buChar char="-"/>
              <a:tabLst>
                <a:tab pos="629920" algn="l"/>
              </a:tabLst>
            </a:pPr>
            <a:r>
              <a:rPr sz="2000" spc="-5" dirty="0">
                <a:latin typeface="Times New Roman"/>
                <a:cs typeface="Times New Roman"/>
              </a:rPr>
              <a:t>Second item is the representation number of the token</a:t>
            </a:r>
            <a:endParaRPr sz="2000">
              <a:latin typeface="Times New Roman"/>
              <a:cs typeface="Times New Roman"/>
            </a:endParaRPr>
          </a:p>
          <a:p>
            <a:pPr marL="354965" marR="147955" indent="-342265">
              <a:lnSpc>
                <a:spcPct val="100000"/>
              </a:lnSpc>
              <a:spcBef>
                <a:spcPts val="47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Advantages of such approach: all tokens are </a:t>
            </a:r>
            <a:r>
              <a:rPr sz="2000" spc="-10" dirty="0">
                <a:latin typeface="Times New Roman"/>
                <a:cs typeface="Times New Roman"/>
              </a:rPr>
              <a:t>represented </a:t>
            </a:r>
            <a:r>
              <a:rPr sz="2000" spc="-5" dirty="0">
                <a:latin typeface="Times New Roman"/>
                <a:cs typeface="Times New Roman"/>
              </a:rPr>
              <a:t>by </a:t>
            </a:r>
            <a:r>
              <a:rPr sz="2000" spc="-10" dirty="0">
                <a:latin typeface="Times New Roman"/>
                <a:cs typeface="Times New Roman"/>
              </a:rPr>
              <a:t>fixed-length  </a:t>
            </a:r>
            <a:r>
              <a:rPr sz="2000" spc="-5" dirty="0">
                <a:latin typeface="Times New Roman"/>
                <a:cs typeface="Times New Roman"/>
              </a:rPr>
              <a:t>information: an address (or location) and 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integer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10030" y="1967928"/>
          <a:ext cx="6378575" cy="1634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134" y="425704"/>
            <a:ext cx="78733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 </a:t>
            </a:r>
            <a:r>
              <a:rPr spc="-5" dirty="0"/>
              <a:t>on </a:t>
            </a:r>
            <a:r>
              <a:rPr spc="-10" dirty="0"/>
              <a:t>Compilation Process</a:t>
            </a:r>
            <a:r>
              <a:rPr spc="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22" y="1212849"/>
            <a:ext cx="6910070" cy="446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Syntax Analyzer takes the tokens as input and  produces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parse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tree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355600" marR="1864995" indent="-342900">
              <a:lnSpc>
                <a:spcPct val="120200"/>
              </a:lnSpc>
              <a:buChar char="•"/>
              <a:tabLst>
                <a:tab pos="354965" algn="l"/>
                <a:tab pos="355600" algn="l"/>
                <a:tab pos="4204335" algn="l"/>
              </a:tabLst>
            </a:pPr>
            <a:r>
              <a:rPr sz="2800" spc="-5" dirty="0">
                <a:latin typeface="Times New Roman"/>
                <a:cs typeface="Times New Roman"/>
              </a:rPr>
              <a:t>E.g., for the statement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=	b +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2;  the tree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  <a:p>
            <a:pPr marL="631190" algn="ctr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631190" algn="ctr">
              <a:lnSpc>
                <a:spcPct val="100000"/>
              </a:lnSpc>
              <a:tabLst>
                <a:tab pos="2459990" algn="l"/>
              </a:tabLst>
            </a:pPr>
            <a:r>
              <a:rPr sz="2800" dirty="0">
                <a:latin typeface="Times New Roman"/>
                <a:cs typeface="Times New Roman"/>
              </a:rPr>
              <a:t>a	+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3670300">
              <a:lnSpc>
                <a:spcPct val="100000"/>
              </a:lnSpc>
              <a:tabLst>
                <a:tab pos="5624830" algn="l"/>
              </a:tabLst>
            </a:pPr>
            <a:r>
              <a:rPr sz="2800" dirty="0">
                <a:latin typeface="Times New Roman"/>
                <a:cs typeface="Times New Roman"/>
              </a:rPr>
              <a:t>b	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3385" y="3709670"/>
            <a:ext cx="574675" cy="576580"/>
          </a:xfrm>
          <a:custGeom>
            <a:avLst/>
            <a:gdLst/>
            <a:ahLst/>
            <a:cxnLst/>
            <a:rect l="l" t="t" r="r" b="b"/>
            <a:pathLst>
              <a:path w="574675" h="576579">
                <a:moveTo>
                  <a:pt x="574548" y="0"/>
                </a:moveTo>
                <a:lnTo>
                  <a:pt x="0" y="576071"/>
                </a:lnTo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81511" y="3709670"/>
            <a:ext cx="647700" cy="576580"/>
          </a:xfrm>
          <a:custGeom>
            <a:avLst/>
            <a:gdLst/>
            <a:ahLst/>
            <a:cxnLst/>
            <a:rect l="l" t="t" r="r" b="b"/>
            <a:pathLst>
              <a:path w="647700" h="576579">
                <a:moveTo>
                  <a:pt x="0" y="0"/>
                </a:moveTo>
                <a:lnTo>
                  <a:pt x="647700" y="576071"/>
                </a:lnTo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08359" y="4646167"/>
            <a:ext cx="649605" cy="647700"/>
          </a:xfrm>
          <a:custGeom>
            <a:avLst/>
            <a:gdLst/>
            <a:ahLst/>
            <a:cxnLst/>
            <a:rect l="l" t="t" r="r" b="b"/>
            <a:pathLst>
              <a:path w="649604" h="647700">
                <a:moveTo>
                  <a:pt x="649224" y="0"/>
                </a:moveTo>
                <a:lnTo>
                  <a:pt x="0" y="647700"/>
                </a:lnTo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6485" y="4646167"/>
            <a:ext cx="721360" cy="647700"/>
          </a:xfrm>
          <a:custGeom>
            <a:avLst/>
            <a:gdLst/>
            <a:ahLst/>
            <a:cxnLst/>
            <a:rect l="l" t="t" r="r" b="b"/>
            <a:pathLst>
              <a:path w="721359" h="647700">
                <a:moveTo>
                  <a:pt x="0" y="0"/>
                </a:moveTo>
                <a:lnTo>
                  <a:pt x="720839" y="647700"/>
                </a:lnTo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134" y="317500"/>
            <a:ext cx="78733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 </a:t>
            </a:r>
            <a:r>
              <a:rPr spc="-5" dirty="0"/>
              <a:t>on </a:t>
            </a:r>
            <a:r>
              <a:rPr spc="-10" dirty="0"/>
              <a:t>Compilation Process</a:t>
            </a:r>
            <a:r>
              <a:rPr spc="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321816"/>
            <a:ext cx="346456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6235" algn="l"/>
              </a:tabLst>
            </a:pPr>
            <a:r>
              <a:rPr sz="1600" i="1" dirty="0">
                <a:latin typeface="Times New Roman"/>
                <a:cs typeface="Times New Roman"/>
              </a:rPr>
              <a:t>Object description (Semantics)</a:t>
            </a:r>
            <a:r>
              <a:rPr sz="1600" i="1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phase: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- places descriptions in </a:t>
            </a:r>
            <a:r>
              <a:rPr sz="1600" spc="-5" dirty="0">
                <a:latin typeface="Times New Roman"/>
                <a:cs typeface="Times New Roman"/>
              </a:rPr>
              <a:t>symbol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table.</a:t>
            </a:r>
            <a:endParaRPr sz="16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Name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551" y="1811000"/>
            <a:ext cx="8845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Descriptor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835" y="4255500"/>
            <a:ext cx="7417434" cy="14433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484"/>
              </a:spcBef>
              <a:buFont typeface="Times New Roman"/>
              <a:buChar char="•"/>
              <a:tabLst>
                <a:tab pos="354965" algn="l"/>
                <a:tab pos="356235" algn="l"/>
                <a:tab pos="2245995" algn="l"/>
                <a:tab pos="3281679" algn="l"/>
              </a:tabLst>
            </a:pPr>
            <a:r>
              <a:rPr sz="1600" b="1" i="1" dirty="0">
                <a:latin typeface="Times New Roman"/>
                <a:cs typeface="Times New Roman"/>
              </a:rPr>
              <a:t>Simple Translation </a:t>
            </a:r>
            <a:r>
              <a:rPr sz="1600" dirty="0">
                <a:latin typeface="Times New Roman"/>
                <a:cs typeface="Times New Roman"/>
              </a:rPr>
              <a:t>phase takes the parse tree and </a:t>
            </a:r>
            <a:r>
              <a:rPr sz="1600" spc="-5" dirty="0">
                <a:latin typeface="Times New Roman"/>
                <a:cs typeface="Times New Roman"/>
              </a:rPr>
              <a:t>produces </a:t>
            </a:r>
            <a:r>
              <a:rPr sz="1600" dirty="0">
                <a:latin typeface="Times New Roman"/>
                <a:cs typeface="Times New Roman"/>
              </a:rPr>
              <a:t>the object code. E.g. </a:t>
            </a:r>
            <a:r>
              <a:rPr sz="1600" spc="-5" dirty="0">
                <a:latin typeface="Times New Roman"/>
                <a:cs typeface="Times New Roman"/>
              </a:rPr>
              <a:t>The  </a:t>
            </a:r>
            <a:r>
              <a:rPr sz="1600" dirty="0">
                <a:latin typeface="Times New Roman"/>
                <a:cs typeface="Times New Roman"/>
              </a:rPr>
              <a:t>code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statement	a = 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2;	is</a:t>
            </a:r>
            <a:endParaRPr sz="16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  <a:tabLst>
                <a:tab pos="1430020" algn="l"/>
              </a:tabLst>
            </a:pPr>
            <a:r>
              <a:rPr sz="1600" dirty="0">
                <a:latin typeface="Times New Roman"/>
                <a:cs typeface="Times New Roman"/>
              </a:rPr>
              <a:t>load	r1,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#2</a:t>
            </a:r>
            <a:endParaRPr sz="16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  <a:tabLst>
                <a:tab pos="1423670" algn="l"/>
              </a:tabLst>
            </a:pPr>
            <a:r>
              <a:rPr sz="1600" dirty="0">
                <a:latin typeface="Times New Roman"/>
                <a:cs typeface="Times New Roman"/>
              </a:rPr>
              <a:t>add	</a:t>
            </a:r>
            <a:r>
              <a:rPr sz="1600" spc="-5" dirty="0">
                <a:latin typeface="Times New Roman"/>
                <a:cs typeface="Times New Roman"/>
              </a:rPr>
              <a:t>r1,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926465" marR="5508625">
              <a:lnSpc>
                <a:spcPct val="100000"/>
              </a:lnSpc>
              <a:spcBef>
                <a:spcPts val="5"/>
              </a:spcBef>
              <a:tabLst>
                <a:tab pos="1357630" algn="l"/>
              </a:tabLst>
            </a:pPr>
            <a:r>
              <a:rPr sz="1600" dirty="0">
                <a:latin typeface="Times New Roman"/>
                <a:cs typeface="Times New Roman"/>
              </a:rPr>
              <a:t>fix	r1  store r1,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#1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25676" y="2255202"/>
          <a:ext cx="6235700" cy="1977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function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variable,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int,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#1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variable, double,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#2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Function,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address from loader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0681" y="550671"/>
            <a:ext cx="67246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 2. A </a:t>
            </a:r>
            <a:r>
              <a:rPr spc="-10" dirty="0"/>
              <a:t>Simple </a:t>
            </a:r>
            <a:r>
              <a:rPr spc="-5" dirty="0"/>
              <a:t>One-Pass</a:t>
            </a:r>
            <a:r>
              <a:rPr dirty="0"/>
              <a:t> </a:t>
            </a:r>
            <a:r>
              <a:rPr spc="-10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917700"/>
            <a:ext cx="8036559" cy="3143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889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Build a </a:t>
            </a:r>
            <a:r>
              <a:rPr sz="3200" spc="-10" dirty="0">
                <a:latin typeface="Times New Roman"/>
                <a:cs typeface="Times New Roman"/>
              </a:rPr>
              <a:t>simple </a:t>
            </a:r>
            <a:r>
              <a:rPr sz="3200" spc="-5" dirty="0">
                <a:latin typeface="Times New Roman"/>
                <a:cs typeface="Times New Roman"/>
              </a:rPr>
              <a:t>Infix expression to </a:t>
            </a:r>
            <a:r>
              <a:rPr sz="3200" spc="-10" dirty="0">
                <a:latin typeface="Times New Roman"/>
                <a:cs typeface="Times New Roman"/>
              </a:rPr>
              <a:t>Postfix </a:t>
            </a:r>
            <a:r>
              <a:rPr sz="3200" spc="-5" dirty="0">
                <a:latin typeface="Times New Roman"/>
                <a:cs typeface="Times New Roman"/>
              </a:rPr>
              <a:t>form  translator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Focus on the front-end: lexical analysis, syntax  analysis, and IR code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generation</a:t>
            </a:r>
            <a:endParaRPr sz="3200">
              <a:latin typeface="Times New Roman"/>
              <a:cs typeface="Times New Roman"/>
            </a:endParaRPr>
          </a:p>
          <a:p>
            <a:pPr marL="355600" marR="3048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Cover basic techniques that will be discussed  in details in Ch 3 through Ch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7463" y="373125"/>
            <a:ext cx="183133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962913"/>
            <a:ext cx="7351395" cy="50653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420370" indent="-342900">
              <a:lnSpc>
                <a:spcPts val="3450"/>
              </a:lnSpc>
              <a:spcBef>
                <a:spcPts val="5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CFG (Context Free Grammar) is used to  define the source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language</a:t>
            </a:r>
            <a:endParaRPr sz="32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To define what the program looks like, i.e. the  syntax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To guide program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translation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Infix and </a:t>
            </a:r>
            <a:r>
              <a:rPr sz="3200" spc="-10" dirty="0">
                <a:latin typeface="Times New Roman"/>
                <a:cs typeface="Times New Roman"/>
              </a:rPr>
              <a:t>Postfix </a:t>
            </a:r>
            <a:r>
              <a:rPr sz="3200" spc="-5" dirty="0">
                <a:latin typeface="Times New Roman"/>
                <a:cs typeface="Times New Roman"/>
              </a:rPr>
              <a:t>form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Infix form: for example,</a:t>
            </a:r>
            <a:r>
              <a:rPr sz="2800" spc="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A+B+C*D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Postfix form: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AB+CD*+</a:t>
            </a:r>
            <a:endParaRPr sz="2800">
              <a:latin typeface="Times New Roman"/>
              <a:cs typeface="Times New Roman"/>
            </a:endParaRPr>
          </a:p>
          <a:p>
            <a:pPr marL="755650" marR="16510" lvl="1" indent="-285750">
              <a:lnSpc>
                <a:spcPts val="3020"/>
              </a:lnSpc>
              <a:spcBef>
                <a:spcPts val="72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Postfix notation can be converted directly into  code for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stack machine, 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  <a:spcBef>
                <a:spcPts val="705"/>
              </a:spcBef>
            </a:pPr>
            <a:r>
              <a:rPr sz="2400" dirty="0">
                <a:latin typeface="Times New Roman"/>
                <a:cs typeface="Times New Roman"/>
              </a:rPr>
              <a:t>push </a:t>
            </a:r>
            <a:r>
              <a:rPr sz="2400" spc="-5" dirty="0">
                <a:latin typeface="Times New Roman"/>
                <a:cs typeface="Times New Roman"/>
              </a:rPr>
              <a:t>A, </a:t>
            </a:r>
            <a:r>
              <a:rPr sz="2400" dirty="0">
                <a:latin typeface="Times New Roman"/>
                <a:cs typeface="Times New Roman"/>
              </a:rPr>
              <a:t>push B, +, push C, push </a:t>
            </a:r>
            <a:r>
              <a:rPr sz="2400" spc="-5" dirty="0">
                <a:latin typeface="Times New Roman"/>
                <a:cs typeface="Times New Roman"/>
              </a:rPr>
              <a:t>D, </a:t>
            </a:r>
            <a:r>
              <a:rPr sz="2400" dirty="0">
                <a:latin typeface="Times New Roman"/>
                <a:cs typeface="Times New Roman"/>
              </a:rPr>
              <a:t>*, +,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7475" y="626871"/>
            <a:ext cx="63627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Structure </a:t>
            </a:r>
            <a:r>
              <a:rPr spc="-5" dirty="0"/>
              <a:t>of the </a:t>
            </a:r>
            <a:r>
              <a:rPr spc="-10" dirty="0"/>
              <a:t>Simple</a:t>
            </a:r>
            <a:r>
              <a:rPr spc="5" dirty="0"/>
              <a:t> </a:t>
            </a:r>
            <a:r>
              <a:rPr spc="-10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939" y="3117595"/>
            <a:ext cx="1524000" cy="1524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marL="245745" marR="238125" indent="2159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Lexical  analyzer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339" y="3117595"/>
            <a:ext cx="1524000" cy="1524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02565" rIns="0" bIns="0" rtlCol="0">
            <a:spAutoFit/>
          </a:bodyPr>
          <a:lstStyle/>
          <a:p>
            <a:pPr marL="187325" marR="179070" indent="-79375" algn="ctr">
              <a:lnSpc>
                <a:spcPct val="100000"/>
              </a:lnSpc>
              <a:spcBef>
                <a:spcPts val="1595"/>
              </a:spcBef>
            </a:pPr>
            <a:r>
              <a:rPr sz="2400" spc="-5" dirty="0">
                <a:latin typeface="Times New Roman"/>
                <a:cs typeface="Times New Roman"/>
              </a:rPr>
              <a:t>Syntax  directed  translator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339" y="3836923"/>
            <a:ext cx="1295400" cy="85725"/>
          </a:xfrm>
          <a:custGeom>
            <a:avLst/>
            <a:gdLst/>
            <a:ahLst/>
            <a:cxnLst/>
            <a:rect l="l" t="t" r="r" b="b"/>
            <a:pathLst>
              <a:path w="1295400" h="85725">
                <a:moveTo>
                  <a:pt x="1223772" y="57149"/>
                </a:moveTo>
                <a:lnTo>
                  <a:pt x="12237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223772" y="57149"/>
                </a:lnTo>
                <a:close/>
              </a:path>
              <a:path w="1295400" h="85725">
                <a:moveTo>
                  <a:pt x="1295400" y="42672"/>
                </a:moveTo>
                <a:lnTo>
                  <a:pt x="1209294" y="0"/>
                </a:lnTo>
                <a:lnTo>
                  <a:pt x="1209294" y="28193"/>
                </a:lnTo>
                <a:lnTo>
                  <a:pt x="1223772" y="28193"/>
                </a:lnTo>
                <a:lnTo>
                  <a:pt x="1223772" y="78169"/>
                </a:lnTo>
                <a:lnTo>
                  <a:pt x="1295400" y="42672"/>
                </a:lnTo>
                <a:close/>
              </a:path>
              <a:path w="1295400" h="85725">
                <a:moveTo>
                  <a:pt x="1223772" y="78169"/>
                </a:moveTo>
                <a:lnTo>
                  <a:pt x="1223772" y="57149"/>
                </a:lnTo>
                <a:lnTo>
                  <a:pt x="1209294" y="57149"/>
                </a:lnTo>
                <a:lnTo>
                  <a:pt x="1209294" y="85343"/>
                </a:lnTo>
                <a:lnTo>
                  <a:pt x="12237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8739" y="3836923"/>
            <a:ext cx="1295400" cy="85725"/>
          </a:xfrm>
          <a:custGeom>
            <a:avLst/>
            <a:gdLst/>
            <a:ahLst/>
            <a:cxnLst/>
            <a:rect l="l" t="t" r="r" b="b"/>
            <a:pathLst>
              <a:path w="1295400" h="85725">
                <a:moveTo>
                  <a:pt x="1223772" y="57149"/>
                </a:moveTo>
                <a:lnTo>
                  <a:pt x="12237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223772" y="57149"/>
                </a:lnTo>
                <a:close/>
              </a:path>
              <a:path w="1295400" h="85725">
                <a:moveTo>
                  <a:pt x="1295400" y="42672"/>
                </a:moveTo>
                <a:lnTo>
                  <a:pt x="1209294" y="0"/>
                </a:lnTo>
                <a:lnTo>
                  <a:pt x="1209294" y="28193"/>
                </a:lnTo>
                <a:lnTo>
                  <a:pt x="1223772" y="28193"/>
                </a:lnTo>
                <a:lnTo>
                  <a:pt x="1223772" y="78169"/>
                </a:lnTo>
                <a:lnTo>
                  <a:pt x="1295400" y="42672"/>
                </a:lnTo>
                <a:close/>
              </a:path>
              <a:path w="1295400" h="85725">
                <a:moveTo>
                  <a:pt x="1223772" y="78169"/>
                </a:moveTo>
                <a:lnTo>
                  <a:pt x="1223772" y="57149"/>
                </a:lnTo>
                <a:lnTo>
                  <a:pt x="1209294" y="57149"/>
                </a:lnTo>
                <a:lnTo>
                  <a:pt x="1209294" y="85343"/>
                </a:lnTo>
                <a:lnTo>
                  <a:pt x="12237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10527" y="3760723"/>
            <a:ext cx="1295400" cy="85725"/>
          </a:xfrm>
          <a:custGeom>
            <a:avLst/>
            <a:gdLst/>
            <a:ahLst/>
            <a:cxnLst/>
            <a:rect l="l" t="t" r="r" b="b"/>
            <a:pathLst>
              <a:path w="1295400" h="85725">
                <a:moveTo>
                  <a:pt x="1223772" y="57149"/>
                </a:moveTo>
                <a:lnTo>
                  <a:pt x="12237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223772" y="57149"/>
                </a:lnTo>
                <a:close/>
              </a:path>
              <a:path w="1295400" h="85725">
                <a:moveTo>
                  <a:pt x="1295400" y="42672"/>
                </a:moveTo>
                <a:lnTo>
                  <a:pt x="1209294" y="0"/>
                </a:lnTo>
                <a:lnTo>
                  <a:pt x="1209294" y="28193"/>
                </a:lnTo>
                <a:lnTo>
                  <a:pt x="1223772" y="28193"/>
                </a:lnTo>
                <a:lnTo>
                  <a:pt x="1223772" y="78169"/>
                </a:lnTo>
                <a:lnTo>
                  <a:pt x="1295400" y="42672"/>
                </a:lnTo>
                <a:close/>
              </a:path>
              <a:path w="1295400" h="85725">
                <a:moveTo>
                  <a:pt x="1223772" y="78169"/>
                </a:moveTo>
                <a:lnTo>
                  <a:pt x="1223772" y="57149"/>
                </a:lnTo>
                <a:lnTo>
                  <a:pt x="1209294" y="57149"/>
                </a:lnTo>
                <a:lnTo>
                  <a:pt x="1209294" y="85343"/>
                </a:lnTo>
                <a:lnTo>
                  <a:pt x="12237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70235" y="2987547"/>
            <a:ext cx="836294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Char  </a:t>
            </a:r>
            <a:r>
              <a:rPr sz="2400" spc="-5" dirty="0">
                <a:latin typeface="Times New Roman"/>
                <a:cs typeface="Times New Roman"/>
              </a:rPr>
              <a:t>stream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4435" y="2911347"/>
            <a:ext cx="836294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Token  </a:t>
            </a:r>
            <a:r>
              <a:rPr sz="2400" spc="-5" dirty="0">
                <a:latin typeface="Times New Roman"/>
                <a:cs typeface="Times New Roman"/>
              </a:rPr>
              <a:t>stream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99635" y="3063747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2635" y="4816347"/>
            <a:ext cx="2656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(parser </a:t>
            </a:r>
            <a:r>
              <a:rPr sz="2400" dirty="0">
                <a:latin typeface="Times New Roman"/>
                <a:cs typeface="Times New Roman"/>
              </a:rPr>
              <a:t>and code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3083" y="373125"/>
            <a:ext cx="3338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Syntax</a:t>
            </a:r>
            <a:r>
              <a:rPr spc="-35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364" y="920551"/>
            <a:ext cx="7744459" cy="5153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594100" indent="-342900">
              <a:lnSpc>
                <a:spcPct val="1202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The syntax of an if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statement  If (a </a:t>
            </a:r>
            <a:r>
              <a:rPr sz="2800" dirty="0">
                <a:latin typeface="Times New Roman"/>
                <a:cs typeface="Times New Roman"/>
              </a:rPr>
              <a:t>&gt; </a:t>
            </a:r>
            <a:r>
              <a:rPr sz="2800" spc="-5" dirty="0">
                <a:latin typeface="Times New Roman"/>
                <a:cs typeface="Times New Roman"/>
              </a:rPr>
              <a:t>b) a++; else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b++;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can be defined 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800" b="1" dirty="0">
                <a:latin typeface="Times New Roman"/>
                <a:cs typeface="Times New Roman"/>
              </a:rPr>
              <a:t>stmt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85" dirty="0">
                <a:latin typeface="MS UI Gothic"/>
                <a:cs typeface="MS UI Gothic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if ( expr ) </a:t>
            </a:r>
            <a:r>
              <a:rPr sz="2800" b="1" spc="-5" dirty="0">
                <a:latin typeface="Times New Roman"/>
                <a:cs typeface="Times New Roman"/>
              </a:rPr>
              <a:t>stmt </a:t>
            </a:r>
            <a:r>
              <a:rPr sz="2800" b="1" dirty="0">
                <a:latin typeface="Times New Roman"/>
                <a:cs typeface="Times New Roman"/>
              </a:rPr>
              <a:t>else </a:t>
            </a:r>
            <a:r>
              <a:rPr sz="2800" b="1" spc="-5" dirty="0">
                <a:latin typeface="Times New Roman"/>
                <a:cs typeface="Times New Roman"/>
              </a:rPr>
              <a:t>stmt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This rewriting rule is called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production</a:t>
            </a:r>
            <a:r>
              <a:rPr sz="2800" b="1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2700" marR="540385">
              <a:lnSpc>
                <a:spcPts val="4040"/>
              </a:lnSpc>
              <a:spcBef>
                <a:spcPts val="240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grammar is simply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 rewriting rules in the  following form:</a:t>
            </a:r>
            <a:endParaRPr sz="2800">
              <a:latin typeface="Times New Roman"/>
              <a:cs typeface="Times New Roman"/>
            </a:endParaRPr>
          </a:p>
          <a:p>
            <a:pPr marL="1434465">
              <a:lnSpc>
                <a:spcPct val="100000"/>
              </a:lnSpc>
              <a:spcBef>
                <a:spcPts val="430"/>
              </a:spcBef>
            </a:pPr>
            <a:r>
              <a:rPr sz="2800" b="1" dirty="0">
                <a:latin typeface="Times New Roman"/>
                <a:cs typeface="Times New Roman"/>
              </a:rPr>
              <a:t>A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5" dirty="0">
                <a:latin typeface="MS UI Gothic"/>
                <a:cs typeface="MS UI Gothic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 C D … Z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where </a:t>
            </a:r>
            <a:r>
              <a:rPr sz="2800" b="1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is the left-hand side (LHS) of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production.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b="1" dirty="0">
                <a:latin typeface="Times New Roman"/>
                <a:cs typeface="Times New Roman"/>
              </a:rPr>
              <a:t>B C D … Z </a:t>
            </a:r>
            <a:r>
              <a:rPr sz="2800" spc="-5" dirty="0">
                <a:latin typeface="Times New Roman"/>
                <a:cs typeface="Times New Roman"/>
              </a:rPr>
              <a:t>is the right-hand side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(RHS).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7521" y="373125"/>
            <a:ext cx="39509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Production</a:t>
            </a:r>
            <a:r>
              <a:rPr spc="-3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399" y="922441"/>
            <a:ext cx="7016750" cy="523684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3200" spc="-5" dirty="0">
                <a:latin typeface="Times New Roman"/>
                <a:cs typeface="Times New Roman"/>
              </a:rPr>
              <a:t>stmt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55" dirty="0">
                <a:latin typeface="MS UI Gothic"/>
                <a:cs typeface="MS UI Gothic"/>
              </a:rPr>
              <a:t> </a:t>
            </a:r>
            <a:r>
              <a:rPr sz="3200" b="1" i="1" spc="-5" dirty="0">
                <a:latin typeface="Times New Roman"/>
                <a:cs typeface="Times New Roman"/>
              </a:rPr>
              <a:t>if </a:t>
            </a:r>
            <a:r>
              <a:rPr sz="3200" spc="-5" dirty="0">
                <a:latin typeface="Times New Roman"/>
                <a:cs typeface="Times New Roman"/>
              </a:rPr>
              <a:t>( expr ) stmt </a:t>
            </a:r>
            <a:r>
              <a:rPr sz="3200" b="1" i="1" spc="-5" dirty="0">
                <a:latin typeface="Times New Roman"/>
                <a:cs typeface="Times New Roman"/>
              </a:rPr>
              <a:t>else </a:t>
            </a:r>
            <a:r>
              <a:rPr sz="3200" spc="-5" dirty="0">
                <a:latin typeface="Times New Roman"/>
                <a:cs typeface="Times New Roman"/>
              </a:rPr>
              <a:t>stmt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173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LHS is the name of the syntactic construct; the  RHS shows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possible form of the syntactic  construct.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ts val="3190"/>
              </a:lnSpc>
              <a:spcBef>
                <a:spcPts val="1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LHS are always </a:t>
            </a:r>
            <a:r>
              <a:rPr sz="2800" b="1" i="1" spc="-5" dirty="0">
                <a:latin typeface="Times New Roman"/>
                <a:cs typeface="Times New Roman"/>
              </a:rPr>
              <a:t>nonterminals</a:t>
            </a:r>
            <a:r>
              <a:rPr sz="2800" spc="-5" dirty="0">
                <a:latin typeface="Times New Roman"/>
                <a:cs typeface="Times New Roman"/>
              </a:rPr>
              <a:t>, RHS 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ts val="319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terminals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nonterminals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ts val="3190"/>
              </a:lnSpc>
              <a:spcBef>
                <a:spcPts val="13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“if”, “(“ “)” “else” lexical elements are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ts val="3190"/>
              </a:lnSpc>
            </a:pPr>
            <a:r>
              <a:rPr sz="2800" i="1" spc="-5" dirty="0">
                <a:latin typeface="Times New Roman"/>
                <a:cs typeface="Times New Roman"/>
              </a:rPr>
              <a:t>tokens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i="1" spc="-5" dirty="0">
                <a:latin typeface="Times New Roman"/>
                <a:cs typeface="Times New Roman"/>
              </a:rPr>
              <a:t>terminal</a:t>
            </a:r>
            <a:r>
              <a:rPr sz="2800" i="1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5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Stmt 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nonterminal</a:t>
            </a:r>
            <a:r>
              <a:rPr sz="2800" b="1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Expr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nonterminal</a:t>
            </a:r>
            <a:r>
              <a:rPr sz="2800" b="1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35" y="496569"/>
            <a:ext cx="7672705" cy="515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1040" algn="ctr">
              <a:lnSpc>
                <a:spcPts val="3790"/>
              </a:lnSpc>
              <a:spcBef>
                <a:spcPts val="95"/>
              </a:spcBef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CFG</a:t>
            </a:r>
            <a:endParaRPr sz="3200">
              <a:latin typeface="Arial"/>
              <a:cs typeface="Arial"/>
            </a:endParaRPr>
          </a:p>
          <a:p>
            <a:pPr marL="621665" indent="-608965">
              <a:lnSpc>
                <a:spcPts val="3310"/>
              </a:lnSpc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tokens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34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non-terminals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34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productions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34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start symbol (one of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non-terminals)</a:t>
            </a:r>
            <a:endParaRPr sz="2800">
              <a:latin typeface="Times New Roman"/>
              <a:cs typeface="Times New Roman"/>
            </a:endParaRPr>
          </a:p>
          <a:p>
            <a:pPr marL="1523365" marR="5080" indent="-1511300">
              <a:lnSpc>
                <a:spcPts val="3700"/>
              </a:lnSpc>
              <a:spcBef>
                <a:spcPts val="180"/>
              </a:spcBef>
            </a:pPr>
            <a:r>
              <a:rPr sz="2800" b="1" spc="-5" dirty="0">
                <a:latin typeface="Times New Roman"/>
                <a:cs typeface="Times New Roman"/>
              </a:rPr>
              <a:t>Example: Expressions </a:t>
            </a:r>
            <a:r>
              <a:rPr sz="2800" b="1" dirty="0">
                <a:latin typeface="Times New Roman"/>
                <a:cs typeface="Times New Roman"/>
              </a:rPr>
              <a:t>consisting </a:t>
            </a:r>
            <a:r>
              <a:rPr sz="2800" b="1" spc="-5" dirty="0">
                <a:latin typeface="Times New Roman"/>
                <a:cs typeface="Times New Roman"/>
              </a:rPr>
              <a:t>of digits and plus  </a:t>
            </a:r>
            <a:r>
              <a:rPr sz="2800" b="1" dirty="0">
                <a:latin typeface="Times New Roman"/>
                <a:cs typeface="Times New Roman"/>
              </a:rPr>
              <a:t>and minus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signs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54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Digit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6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Digit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Digit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621665" algn="l"/>
              </a:tabLst>
            </a:pPr>
            <a:r>
              <a:rPr sz="2800" spc="-5" dirty="0">
                <a:latin typeface="Times New Roman"/>
                <a:cs typeface="Times New Roman"/>
              </a:rPr>
              <a:t>4.	Digit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 | 1 | 2 | 3 | 4 | 5 | 6 | 7 | 8 | 9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9393" y="540004"/>
            <a:ext cx="1426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87348"/>
            <a:ext cx="7585075" cy="429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13970" indent="-609600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empty string (string containing no tokens) is  denoted 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622300" marR="975360" indent="-609600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string is derived by repeatedly applying  productions to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non-terminal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language </a:t>
            </a:r>
            <a:r>
              <a:rPr sz="2800" spc="-5" dirty="0">
                <a:latin typeface="Times New Roman"/>
                <a:cs typeface="Times New Roman"/>
              </a:rPr>
              <a:t>defined by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grammar is the token  strings that can be derived from the start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How to derive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9-2+4?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905904" y="6282490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4419" y="610869"/>
            <a:ext cx="32969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String</a:t>
            </a:r>
            <a:r>
              <a:rPr spc="-45" dirty="0"/>
              <a:t> </a:t>
            </a:r>
            <a:r>
              <a:rPr spc="-10" dirty="0"/>
              <a:t>Derivation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14957"/>
            <a:ext cx="5148580" cy="17780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400" dirty="0">
                <a:latin typeface="Times New Roman"/>
                <a:cs typeface="Times New Roman"/>
              </a:rPr>
              <a:t>List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45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400" dirty="0">
                <a:latin typeface="Times New Roman"/>
                <a:cs typeface="Times New Roman"/>
              </a:rPr>
              <a:t>List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35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400" dirty="0">
                <a:latin typeface="Times New Roman"/>
                <a:cs typeface="Times New Roman"/>
              </a:rPr>
              <a:t>List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150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621665" algn="l"/>
              </a:tabLst>
            </a:pPr>
            <a:r>
              <a:rPr sz="2400" spc="-5" dirty="0">
                <a:latin typeface="Times New Roman"/>
                <a:cs typeface="Times New Roman"/>
              </a:rPr>
              <a:t>4.	Digit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320" dirty="0">
                <a:latin typeface="MS UI Gothic"/>
                <a:cs typeface="MS UI Gothic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| 1 | 2 | 3 | 4 | 5 | 6 | 7 | 8 | 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35" y="3067557"/>
            <a:ext cx="4236085" cy="22161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5" dirty="0">
                <a:latin typeface="Times New Roman"/>
                <a:cs typeface="Times New Roman"/>
              </a:rPr>
              <a:t>Step 1: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&lt;list&gt;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Step 2: &lt;list&gt;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&lt;digit&gt;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19800"/>
              </a:lnSpc>
            </a:pPr>
            <a:r>
              <a:rPr sz="2400" spc="-5" dirty="0">
                <a:latin typeface="Times New Roman"/>
                <a:cs typeface="Times New Roman"/>
              </a:rPr>
              <a:t>Step 3: &lt;list&gt;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latin typeface="Times New Roman"/>
                <a:cs typeface="Times New Roman"/>
              </a:rPr>
              <a:t>&lt;digit&gt;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&lt;digit&gt;  Step 4: &lt;digit&gt; </a:t>
            </a:r>
            <a:r>
              <a:rPr sz="2400" dirty="0">
                <a:latin typeface="Times New Roman"/>
                <a:cs typeface="Times New Roman"/>
              </a:rPr>
              <a:t>- </a:t>
            </a:r>
            <a:r>
              <a:rPr sz="2400" spc="-5" dirty="0">
                <a:latin typeface="Times New Roman"/>
                <a:cs typeface="Times New Roman"/>
              </a:rPr>
              <a:t>&lt;digit&gt;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&lt;digit&gt;  Step 5: </a:t>
            </a:r>
            <a:r>
              <a:rPr sz="2400" dirty="0">
                <a:latin typeface="Times New Roman"/>
                <a:cs typeface="Times New Roman"/>
              </a:rPr>
              <a:t>9 – 2 +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7941" y="3067557"/>
            <a:ext cx="2742565" cy="221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1224280" indent="-1905">
              <a:lnSpc>
                <a:spcPct val="1198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start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symbol  rule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rule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rule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1840230" algn="l"/>
              </a:tabLst>
            </a:pPr>
            <a:r>
              <a:rPr sz="2400" spc="-5" dirty="0">
                <a:latin typeface="Times New Roman"/>
                <a:cs typeface="Times New Roman"/>
              </a:rPr>
              <a:t>rule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applied	3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1187" y="1428496"/>
            <a:ext cx="176974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How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derive  9 – 2 + 4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0557" y="5460238"/>
            <a:ext cx="77381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What would happen if we select rule </a:t>
            </a:r>
            <a:r>
              <a:rPr sz="2400" dirty="0">
                <a:latin typeface="Times New Roman"/>
                <a:cs typeface="Times New Roman"/>
              </a:rPr>
              <a:t>2 </a:t>
            </a:r>
            <a:r>
              <a:rPr sz="2400" spc="-5" dirty="0">
                <a:latin typeface="Times New Roman"/>
                <a:cs typeface="Times New Roman"/>
              </a:rPr>
              <a:t>at step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059170" algn="l"/>
              </a:tabLst>
            </a:pPr>
            <a:r>
              <a:rPr sz="2400" spc="-5" dirty="0">
                <a:latin typeface="Times New Roman"/>
                <a:cs typeface="Times New Roman"/>
              </a:rPr>
              <a:t>Parsing is trying to come up with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derivation of	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valid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1827" y="408177"/>
            <a:ext cx="2102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Parse</a:t>
            </a:r>
            <a:r>
              <a:rPr spc="-60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857757"/>
            <a:ext cx="743585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98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Parse </a:t>
            </a:r>
            <a:r>
              <a:rPr sz="2400" dirty="0">
                <a:latin typeface="Times New Roman"/>
                <a:cs typeface="Times New Roman"/>
              </a:rPr>
              <a:t>Tree </a:t>
            </a:r>
            <a:r>
              <a:rPr sz="2400" spc="-5" dirty="0">
                <a:latin typeface="Times New Roman"/>
                <a:cs typeface="Times New Roman"/>
              </a:rPr>
              <a:t>shows </a:t>
            </a:r>
            <a:r>
              <a:rPr sz="2400" dirty="0">
                <a:latin typeface="Times New Roman"/>
                <a:cs typeface="Times New Roman"/>
              </a:rPr>
              <a:t>how the </a:t>
            </a:r>
            <a:r>
              <a:rPr sz="2400" spc="-5" dirty="0">
                <a:latin typeface="Times New Roman"/>
                <a:cs typeface="Times New Roman"/>
              </a:rPr>
              <a:t>start symbol </a:t>
            </a:r>
            <a:r>
              <a:rPr sz="2400" dirty="0">
                <a:latin typeface="Times New Roman"/>
                <a:cs typeface="Times New Roman"/>
              </a:rPr>
              <a:t>derives a </a:t>
            </a:r>
            <a:r>
              <a:rPr sz="2400" spc="-5" dirty="0">
                <a:latin typeface="Times New Roman"/>
                <a:cs typeface="Times New Roman"/>
              </a:rPr>
              <a:t>string.  Example: </a:t>
            </a:r>
            <a:r>
              <a:rPr sz="2400" spc="365" dirty="0">
                <a:latin typeface="Times New Roman"/>
                <a:cs typeface="Times New Roman"/>
              </a:rPr>
              <a:t>A</a:t>
            </a:r>
            <a:r>
              <a:rPr sz="2400" spc="365" dirty="0">
                <a:latin typeface="MS UI Gothic"/>
                <a:cs typeface="MS UI Gothic"/>
              </a:rPr>
              <a:t>€</a:t>
            </a:r>
            <a:r>
              <a:rPr sz="2400" spc="-140" dirty="0">
                <a:latin typeface="MS UI Gothic"/>
                <a:cs typeface="MS UI Gothic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XYZ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35" y="3707638"/>
            <a:ext cx="309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Example: list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35" dirty="0">
                <a:latin typeface="MS UI Gothic"/>
                <a:cs typeface="MS UI Gothic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9 – 2 +4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8739" y="198221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4739" y="2990342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4939" y="3061970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3727" y="2990342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00539" y="2414270"/>
            <a:ext cx="1447800" cy="533400"/>
          </a:xfrm>
          <a:custGeom>
            <a:avLst/>
            <a:gdLst/>
            <a:ahLst/>
            <a:cxnLst/>
            <a:rect l="l" t="t" r="r" b="b"/>
            <a:pathLst>
              <a:path w="1447800" h="533400">
                <a:moveTo>
                  <a:pt x="14478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8339" y="248589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48339" y="2414270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0" y="0"/>
                </a:moveTo>
                <a:lnTo>
                  <a:pt x="1828787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91139" y="421487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list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7139" y="5222240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list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67339" y="5151373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0" y="381000"/>
                </a:lnTo>
                <a:lnTo>
                  <a:pt x="1219200" y="381000"/>
                </a:lnTo>
                <a:lnTo>
                  <a:pt x="12192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78889" y="5134864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6127" y="5222240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9565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52939" y="4646167"/>
            <a:ext cx="1447800" cy="533400"/>
          </a:xfrm>
          <a:custGeom>
            <a:avLst/>
            <a:gdLst/>
            <a:ahLst/>
            <a:cxnLst/>
            <a:rect l="l" t="t" r="r" b="b"/>
            <a:pathLst>
              <a:path w="1447800" h="533400">
                <a:moveTo>
                  <a:pt x="14478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00739" y="464616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00739" y="4646167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0" y="0"/>
                </a:moveTo>
                <a:lnTo>
                  <a:pt x="1828787" y="5333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66939" y="5943091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list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67139" y="6014720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95939" y="6014720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9565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76539" y="5654294"/>
            <a:ext cx="1600200" cy="228600"/>
          </a:xfrm>
          <a:custGeom>
            <a:avLst/>
            <a:gdLst/>
            <a:ahLst/>
            <a:cxnLst/>
            <a:rect l="l" t="t" r="r" b="b"/>
            <a:pathLst>
              <a:path w="1600200" h="228600">
                <a:moveTo>
                  <a:pt x="1600200" y="0"/>
                </a:moveTo>
                <a:lnTo>
                  <a:pt x="0" y="228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76739" y="5654294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76739" y="5654294"/>
            <a:ext cx="1752600" cy="304800"/>
          </a:xfrm>
          <a:custGeom>
            <a:avLst/>
            <a:gdLst/>
            <a:ahLst/>
            <a:cxnLst/>
            <a:rect l="l" t="t" r="r" b="b"/>
            <a:pathLst>
              <a:path w="1752600" h="304800">
                <a:moveTo>
                  <a:pt x="0" y="0"/>
                </a:moveTo>
                <a:lnTo>
                  <a:pt x="1752600" y="304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9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1827" y="373125"/>
            <a:ext cx="2102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Parse</a:t>
            </a:r>
            <a:r>
              <a:rPr spc="-60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926039"/>
            <a:ext cx="7250430" cy="494728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0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A Parse Tree has the </a:t>
            </a:r>
            <a:r>
              <a:rPr sz="2600" spc="-10" dirty="0">
                <a:latin typeface="Times New Roman"/>
                <a:cs typeface="Times New Roman"/>
              </a:rPr>
              <a:t>following</a:t>
            </a:r>
            <a:r>
              <a:rPr sz="2600" spc="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properties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Char char="–"/>
              <a:tabLst>
                <a:tab pos="756285" algn="l"/>
              </a:tabLst>
            </a:pPr>
            <a:r>
              <a:rPr sz="2600" spc="-5" dirty="0">
                <a:latin typeface="Times New Roman"/>
                <a:cs typeface="Times New Roman"/>
              </a:rPr>
              <a:t>The root is labeled by the start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symbol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Char char="–"/>
              <a:tabLst>
                <a:tab pos="756285" algn="l"/>
              </a:tabLst>
            </a:pPr>
            <a:r>
              <a:rPr sz="2600" spc="-5" dirty="0">
                <a:latin typeface="Times New Roman"/>
                <a:cs typeface="Times New Roman"/>
              </a:rPr>
              <a:t>Each leaf is labeled by a token or by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Char char="–"/>
              <a:tabLst>
                <a:tab pos="756285" algn="l"/>
              </a:tabLst>
            </a:pPr>
            <a:r>
              <a:rPr sz="2600" spc="-5" dirty="0">
                <a:latin typeface="Times New Roman"/>
                <a:cs typeface="Times New Roman"/>
              </a:rPr>
              <a:t>Each internal node is labeled by a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non-terminal</a:t>
            </a:r>
            <a:endParaRPr sz="26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400"/>
              </a:lnSpc>
              <a:spcBef>
                <a:spcPts val="615"/>
              </a:spcBef>
              <a:buChar char="–"/>
              <a:tabLst>
                <a:tab pos="756285" algn="l"/>
              </a:tabLst>
            </a:pPr>
            <a:r>
              <a:rPr sz="2600" spc="-5" dirty="0">
                <a:latin typeface="Times New Roman"/>
                <a:cs typeface="Times New Roman"/>
              </a:rPr>
              <a:t>If A is the non-terminal labeling, and </a:t>
            </a:r>
            <a:r>
              <a:rPr sz="2600" spc="-10" dirty="0">
                <a:latin typeface="Times New Roman"/>
                <a:cs typeface="Times New Roman"/>
              </a:rPr>
              <a:t>X,Y,Z </a:t>
            </a:r>
            <a:r>
              <a:rPr sz="2600" spc="-5" dirty="0">
                <a:latin typeface="Times New Roman"/>
                <a:cs typeface="Times New Roman"/>
              </a:rPr>
              <a:t>are  labels of the children of A from left to right, then  </a:t>
            </a:r>
            <a:r>
              <a:rPr sz="2600" spc="400" dirty="0">
                <a:latin typeface="Times New Roman"/>
                <a:cs typeface="Times New Roman"/>
              </a:rPr>
              <a:t>A</a:t>
            </a:r>
            <a:r>
              <a:rPr sz="2600" spc="400" dirty="0">
                <a:latin typeface="MS UI Gothic"/>
                <a:cs typeface="MS UI Gothic"/>
              </a:rPr>
              <a:t>€</a:t>
            </a:r>
            <a:r>
              <a:rPr sz="2600" spc="-145" dirty="0">
                <a:latin typeface="MS UI Gothic"/>
                <a:cs typeface="MS UI Gothic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XYZ is a production</a:t>
            </a:r>
            <a:endParaRPr sz="2600">
              <a:latin typeface="Times New Roman"/>
              <a:cs typeface="Times New Roman"/>
            </a:endParaRPr>
          </a:p>
          <a:p>
            <a:pPr marL="355600" marR="285750" indent="-342900">
              <a:lnSpc>
                <a:spcPct val="100000"/>
              </a:lnSpc>
              <a:spcBef>
                <a:spcPts val="620"/>
              </a:spcBef>
              <a:buFont typeface="Times New Roman"/>
              <a:buChar char="•"/>
              <a:tabLst>
                <a:tab pos="354965" algn="l"/>
                <a:tab pos="356235" algn="l"/>
              </a:tabLst>
            </a:pPr>
            <a:r>
              <a:rPr sz="2600" b="1" i="1" spc="-5" dirty="0">
                <a:latin typeface="Times New Roman"/>
                <a:cs typeface="Times New Roman"/>
              </a:rPr>
              <a:t>Parsing </a:t>
            </a:r>
            <a:r>
              <a:rPr sz="2600" spc="-5" dirty="0">
                <a:latin typeface="Times New Roman"/>
                <a:cs typeface="Times New Roman"/>
              </a:rPr>
              <a:t>is the process of finding a parse tree for a  given string 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tokens.</a:t>
            </a:r>
            <a:endParaRPr sz="2600">
              <a:latin typeface="Times New Roman"/>
              <a:cs typeface="Times New Roman"/>
            </a:endParaRPr>
          </a:p>
          <a:p>
            <a:pPr marL="355600" marR="111125" indent="-342900">
              <a:lnSpc>
                <a:spcPct val="100000"/>
              </a:lnSpc>
              <a:spcBef>
                <a:spcPts val="635"/>
              </a:spcBef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Times New Roman"/>
                <a:cs typeface="Times New Roman"/>
              </a:rPr>
              <a:t>A </a:t>
            </a:r>
            <a:r>
              <a:rPr sz="2600" spc="-10" dirty="0">
                <a:latin typeface="Times New Roman"/>
                <a:cs typeface="Times New Roman"/>
              </a:rPr>
              <a:t>grammar </a:t>
            </a:r>
            <a:r>
              <a:rPr sz="2600" spc="-5" dirty="0">
                <a:latin typeface="Times New Roman"/>
                <a:cs typeface="Times New Roman"/>
              </a:rPr>
              <a:t>can have more than one parse tree for a  given string. Such a grammar 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ambiguous</a:t>
            </a:r>
            <a:r>
              <a:rPr sz="2600" spc="-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222250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066939" y="755395"/>
            <a:ext cx="7772400" cy="5867400"/>
          </a:xfrm>
          <a:custGeom>
            <a:avLst/>
            <a:gdLst/>
            <a:ahLst/>
            <a:cxnLst/>
            <a:rect l="l" t="t" r="r" b="b"/>
            <a:pathLst>
              <a:path w="7772400" h="5867400">
                <a:moveTo>
                  <a:pt x="0" y="0"/>
                </a:moveTo>
                <a:lnTo>
                  <a:pt x="0" y="5867400"/>
                </a:lnTo>
                <a:lnTo>
                  <a:pt x="7772400" y="5867400"/>
                </a:lnTo>
                <a:lnTo>
                  <a:pt x="77724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1008" y="709930"/>
            <a:ext cx="7055484" cy="17780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subset of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grammer: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&lt;function_decl&gt;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25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&lt;type&gt; id </a:t>
            </a:r>
            <a:r>
              <a:rPr sz="2400" dirty="0">
                <a:latin typeface="Times New Roman"/>
                <a:cs typeface="Times New Roman"/>
              </a:rPr>
              <a:t>( </a:t>
            </a:r>
            <a:r>
              <a:rPr sz="2400" spc="-5" dirty="0">
                <a:latin typeface="Times New Roman"/>
                <a:cs typeface="Times New Roman"/>
              </a:rPr>
              <a:t>&lt;expr_list&gt; </a:t>
            </a:r>
            <a:r>
              <a:rPr sz="2400" dirty="0">
                <a:latin typeface="Times New Roman"/>
                <a:cs typeface="Times New Roman"/>
              </a:rPr>
              <a:t>) { </a:t>
            </a:r>
            <a:r>
              <a:rPr sz="2400" spc="-5" dirty="0">
                <a:latin typeface="Times New Roman"/>
                <a:cs typeface="Times New Roman"/>
              </a:rPr>
              <a:t>&lt;block&gt; 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 marR="1734185">
              <a:lnSpc>
                <a:spcPct val="119800"/>
              </a:lnSpc>
            </a:pPr>
            <a:r>
              <a:rPr sz="2400" spc="-5" dirty="0">
                <a:latin typeface="Times New Roman"/>
                <a:cs typeface="Times New Roman"/>
              </a:rPr>
              <a:t>&lt;block&gt;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40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&lt;decl_list&gt; &lt;statement_list&gt; </a:t>
            </a:r>
            <a:r>
              <a:rPr sz="2400" dirty="0">
                <a:latin typeface="Times New Roman"/>
                <a:cs typeface="Times New Roman"/>
              </a:rPr>
              <a:t>| e  A C program – a token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1008" y="2462530"/>
            <a:ext cx="164020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int func() {}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derivation: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1008" y="5601970"/>
            <a:ext cx="7528559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Parsing: </a:t>
            </a:r>
            <a:r>
              <a:rPr sz="2400" dirty="0">
                <a:latin typeface="Times New Roman"/>
                <a:cs typeface="Times New Roman"/>
              </a:rPr>
              <a:t>to come </a:t>
            </a:r>
            <a:r>
              <a:rPr sz="2400" spc="-5" dirty="0">
                <a:latin typeface="Times New Roman"/>
                <a:cs typeface="Times New Roman"/>
              </a:rPr>
              <a:t>up with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parse </a:t>
            </a:r>
            <a:r>
              <a:rPr sz="2400" dirty="0">
                <a:latin typeface="Times New Roman"/>
                <a:cs typeface="Times New Roman"/>
              </a:rPr>
              <a:t>tree and </a:t>
            </a:r>
            <a:r>
              <a:rPr sz="2400" spc="-5" dirty="0">
                <a:latin typeface="Times New Roman"/>
                <a:cs typeface="Times New Roman"/>
              </a:rPr>
              <a:t>validate </a:t>
            </a:r>
            <a:r>
              <a:rPr sz="2400" dirty="0">
                <a:latin typeface="Times New Roman"/>
                <a:cs typeface="Times New Roman"/>
              </a:rPr>
              <a:t>the token  </a:t>
            </a:r>
            <a:r>
              <a:rPr sz="2400" spc="-5" dirty="0">
                <a:latin typeface="Times New Roman"/>
                <a:cs typeface="Times New Roman"/>
              </a:rPr>
              <a:t>string </a:t>
            </a:r>
            <a:r>
              <a:rPr sz="2400" dirty="0">
                <a:latin typeface="Times New Roman"/>
                <a:cs typeface="Times New Roman"/>
              </a:rPr>
              <a:t>is a correct 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139" y="2812795"/>
            <a:ext cx="18288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function_decl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9939" y="372719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7345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6339" y="372719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527" y="372719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expr_list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95726" y="3193795"/>
            <a:ext cx="2515235" cy="533400"/>
          </a:xfrm>
          <a:custGeom>
            <a:avLst/>
            <a:gdLst/>
            <a:ahLst/>
            <a:cxnLst/>
            <a:rect l="l" t="t" r="r" b="b"/>
            <a:pathLst>
              <a:path w="2515235" h="533400">
                <a:moveTo>
                  <a:pt x="2514612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95939" y="3269996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8382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34139" y="3727196"/>
            <a:ext cx="6858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34139" y="3193795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0" y="0"/>
                </a:moveTo>
                <a:lnTo>
                  <a:pt x="304800" y="4571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10339" y="3193795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>
                <a:moveTo>
                  <a:pt x="0" y="0"/>
                </a:moveTo>
                <a:lnTo>
                  <a:pt x="1371587" y="5333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620127" y="3727196"/>
            <a:ext cx="6858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86539" y="3269996"/>
            <a:ext cx="2362200" cy="381000"/>
          </a:xfrm>
          <a:custGeom>
            <a:avLst/>
            <a:gdLst/>
            <a:ahLst/>
            <a:cxnLst/>
            <a:rect l="l" t="t" r="r" b="b"/>
            <a:pathLst>
              <a:path w="2362200" h="381000">
                <a:moveTo>
                  <a:pt x="0" y="0"/>
                </a:moveTo>
                <a:lnTo>
                  <a:pt x="2362187" y="3809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09939" y="464159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2855"/>
              </a:lnSpc>
            </a:pPr>
            <a:r>
              <a:rPr sz="2400" spc="-5" dirty="0">
                <a:latin typeface="Times New Roman"/>
                <a:cs typeface="Times New Roman"/>
              </a:rPr>
              <a:t>int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19539" y="4108196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62739" y="3193795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387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48527" y="4717796"/>
            <a:ext cx="12192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58127" y="4184396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6833" y="6295190"/>
            <a:ext cx="51308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10" dirty="0">
                <a:latin typeface="Arial"/>
                <a:cs typeface="Arial"/>
              </a:rPr>
              <a:t>Compi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6703" y="6265671"/>
            <a:ext cx="8826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ler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6645" y="6295190"/>
            <a:ext cx="28638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10" dirty="0">
                <a:latin typeface="Arial"/>
                <a:cs typeface="Arial"/>
              </a:rPr>
              <a:t>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304" y="6295190"/>
            <a:ext cx="19685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10" dirty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63983" y="373125"/>
            <a:ext cx="417702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Ambiguous</a:t>
            </a:r>
            <a:r>
              <a:rPr spc="-40" dirty="0"/>
              <a:t> </a:t>
            </a:r>
            <a:r>
              <a:rPr spc="-5" dirty="0"/>
              <a:t>Grammar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6435" y="920551"/>
            <a:ext cx="5977255" cy="25895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CFG</a:t>
            </a:r>
            <a:endParaRPr sz="2800">
              <a:latin typeface="Times New Roman"/>
              <a:cs typeface="Times New Roman"/>
            </a:endParaRPr>
          </a:p>
          <a:p>
            <a:pPr marL="469900" marR="1988185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String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29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String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String  String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29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String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String</a:t>
            </a:r>
            <a:endParaRPr sz="280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String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32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 | 1 | 2 | 3 | 4 | 5 | 6 | 7 | 8 | 9  </a:t>
            </a:r>
            <a:r>
              <a:rPr sz="2800" spc="-5" dirty="0">
                <a:latin typeface="Times New Roman"/>
                <a:cs typeface="Times New Roman"/>
              </a:rPr>
              <a:t>The string 9-2+4 can have two parse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trees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8539" y="38033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1739" y="45653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5339" y="45653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539" y="54797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57539" y="5555996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57539" y="5555996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4139" y="62417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8139" y="62417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05139" y="4108196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990587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95726" y="4108196"/>
            <a:ext cx="381635" cy="2133600"/>
          </a:xfrm>
          <a:custGeom>
            <a:avLst/>
            <a:gdLst/>
            <a:ahLst/>
            <a:cxnLst/>
            <a:rect l="l" t="t" r="r" b="b"/>
            <a:pathLst>
              <a:path w="381635" h="2133600">
                <a:moveTo>
                  <a:pt x="0" y="0"/>
                </a:moveTo>
                <a:lnTo>
                  <a:pt x="381012" y="2133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5726" y="4108196"/>
            <a:ext cx="991235" cy="457200"/>
          </a:xfrm>
          <a:custGeom>
            <a:avLst/>
            <a:gdLst/>
            <a:ahLst/>
            <a:cxnLst/>
            <a:rect l="l" t="t" r="r" b="b"/>
            <a:pathLst>
              <a:path w="991235" h="457200">
                <a:moveTo>
                  <a:pt x="0" y="0"/>
                </a:moveTo>
                <a:lnTo>
                  <a:pt x="990612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6939" y="4870196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20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28939" y="4870196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62139" y="62417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6139" y="62417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62539" y="6165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38739" y="4870196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1295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28939" y="487019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14739" y="586079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90739" y="5784596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48527" y="6165596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609600" y="0"/>
                </a:move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lnTo>
                  <a:pt x="6096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48527" y="61655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72527" y="6165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0527" y="6165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6927" y="60893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20127" y="43367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81927" y="52511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05927" y="53273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15327" y="4641596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20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77327" y="4641596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077327" y="464159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63127" y="563219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39127" y="5555996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019927" y="37271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91339" y="4031996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>
                <a:moveTo>
                  <a:pt x="685787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477127" y="4031996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0" y="0"/>
                </a:moveTo>
                <a:lnTo>
                  <a:pt x="1600200" y="304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77127" y="4031996"/>
            <a:ext cx="0" cy="2209800"/>
          </a:xfrm>
          <a:custGeom>
            <a:avLst/>
            <a:gdLst/>
            <a:ahLst/>
            <a:cxnLst/>
            <a:rect l="l" t="t" r="r" b="b"/>
            <a:pathLst>
              <a:path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5327789" y="4482846"/>
          <a:ext cx="933450" cy="207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marL="285750">
                        <a:lnSpc>
                          <a:spcPts val="23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T w="1905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065" algn="ctr">
                        <a:lnSpc>
                          <a:spcPts val="285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1008" y="510285"/>
            <a:ext cx="76053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Association and </a:t>
            </a:r>
            <a:r>
              <a:rPr sz="3000" dirty="0"/>
              <a:t>Precedence of</a:t>
            </a:r>
            <a:r>
              <a:rPr sz="3000" spc="-80" dirty="0"/>
              <a:t> </a:t>
            </a:r>
            <a:r>
              <a:rPr sz="3000" dirty="0"/>
              <a:t>Operators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146435" y="1467357"/>
            <a:ext cx="7409180" cy="42608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Left Association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Right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Association</a:t>
            </a:r>
            <a:endParaRPr sz="24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operator </a:t>
            </a:r>
            <a:r>
              <a:rPr sz="2400" dirty="0">
                <a:latin typeface="Times New Roman"/>
                <a:cs typeface="Times New Roman"/>
              </a:rPr>
              <a:t>associates to the left if an </a:t>
            </a:r>
            <a:r>
              <a:rPr sz="2400" spc="-5" dirty="0">
                <a:latin typeface="Times New Roman"/>
                <a:cs typeface="Times New Roman"/>
              </a:rPr>
              <a:t>operand has  operators on both side, </a:t>
            </a:r>
            <a:r>
              <a:rPr sz="2400" dirty="0">
                <a:latin typeface="Times New Roman"/>
                <a:cs typeface="Times New Roman"/>
              </a:rPr>
              <a:t>and the </a:t>
            </a:r>
            <a:r>
              <a:rPr sz="2400" spc="-5" dirty="0">
                <a:latin typeface="Times New Roman"/>
                <a:cs typeface="Times New Roman"/>
              </a:rPr>
              <a:t>operand </a:t>
            </a:r>
            <a:r>
              <a:rPr sz="2400" dirty="0">
                <a:latin typeface="Times New Roman"/>
                <a:cs typeface="Times New Roman"/>
              </a:rPr>
              <a:t>is taken </a:t>
            </a:r>
            <a:r>
              <a:rPr sz="2400" spc="-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operator to its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left.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5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Left </a:t>
            </a:r>
            <a:r>
              <a:rPr sz="2400" dirty="0">
                <a:latin typeface="Times New Roman"/>
                <a:cs typeface="Times New Roman"/>
              </a:rPr>
              <a:t>associative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operators: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• +, </a:t>
            </a:r>
            <a:r>
              <a:rPr sz="2400" spc="-5" dirty="0">
                <a:latin typeface="Times New Roman"/>
                <a:cs typeface="Times New Roman"/>
              </a:rPr>
              <a:t>-, *,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endParaRPr sz="24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1155700" algn="l"/>
                <a:tab pos="1747520" algn="l"/>
              </a:tabLst>
            </a:pPr>
            <a:r>
              <a:rPr sz="2400" spc="-5" dirty="0">
                <a:latin typeface="Times New Roman"/>
                <a:cs typeface="Times New Roman"/>
              </a:rPr>
              <a:t>e.g.	</a:t>
            </a:r>
            <a:r>
              <a:rPr sz="2400" dirty="0">
                <a:latin typeface="Times New Roman"/>
                <a:cs typeface="Times New Roman"/>
              </a:rPr>
              <a:t>A + B + </a:t>
            </a:r>
            <a:r>
              <a:rPr sz="2400" spc="-5" dirty="0">
                <a:latin typeface="Times New Roman"/>
                <a:cs typeface="Times New Roman"/>
              </a:rPr>
              <a:t>C,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A*B*C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Right associative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operators:</a:t>
            </a:r>
            <a:endParaRPr sz="24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Exponential </a:t>
            </a:r>
            <a:r>
              <a:rPr sz="2400" dirty="0">
                <a:latin typeface="Times New Roman"/>
                <a:cs typeface="Times New Roman"/>
              </a:rPr>
              <a:t>and the assign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operator</a:t>
            </a:r>
            <a:endParaRPr sz="24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e.g. A = B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=C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6043" y="4950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453951"/>
            <a:ext cx="7428230" cy="34429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3683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54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digit</a:t>
            </a:r>
            <a:endParaRPr sz="2800">
              <a:latin typeface="Times New Roman"/>
              <a:cs typeface="Times New Roman"/>
            </a:endParaRPr>
          </a:p>
          <a:p>
            <a:pPr marL="367665" indent="-35496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3683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54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digit</a:t>
            </a:r>
            <a:endParaRPr sz="2800">
              <a:latin typeface="Times New Roman"/>
              <a:cs typeface="Times New Roman"/>
            </a:endParaRPr>
          </a:p>
          <a:p>
            <a:pPr marL="367665" indent="-3549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683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digit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189865" marR="5080" indent="63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are left associative operators. If they are  right associative operators, how would the CFG be  different.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179" y="495045"/>
            <a:ext cx="4853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Precedence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39748"/>
            <a:ext cx="7179309" cy="407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10235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* </a:t>
            </a:r>
            <a:r>
              <a:rPr sz="2800" spc="-5" dirty="0">
                <a:latin typeface="Times New Roman"/>
                <a:cs typeface="Times New Roman"/>
              </a:rPr>
              <a:t>(multiply) and </a:t>
            </a:r>
            <a:r>
              <a:rPr sz="2800" dirty="0">
                <a:latin typeface="Times New Roman"/>
                <a:cs typeface="Times New Roman"/>
              </a:rPr>
              <a:t>/ </a:t>
            </a:r>
            <a:r>
              <a:rPr sz="2800" spc="-5" dirty="0">
                <a:latin typeface="Times New Roman"/>
                <a:cs typeface="Times New Roman"/>
              </a:rPr>
              <a:t>(divide) have higher precedence  than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and -. How is precedence of operators  handled?</a:t>
            </a:r>
            <a:endParaRPr sz="2800">
              <a:latin typeface="Times New Roman"/>
              <a:cs typeface="Times New Roman"/>
            </a:endParaRPr>
          </a:p>
          <a:p>
            <a:pPr marL="622300" marR="203835" indent="-609600">
              <a:lnSpc>
                <a:spcPct val="100000"/>
              </a:lnSpc>
              <a:spcBef>
                <a:spcPts val="68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We can create two non-terminals for the two  levels 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precedence.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75"/>
              </a:spcBef>
              <a:buFont typeface="Times New Roman"/>
              <a:buChar char="•"/>
              <a:tabLst>
                <a:tab pos="621665" algn="l"/>
                <a:tab pos="62293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Example CFG</a:t>
            </a:r>
            <a:endParaRPr sz="2800">
              <a:latin typeface="Times New Roman"/>
              <a:cs typeface="Times New Roman"/>
            </a:endParaRPr>
          </a:p>
          <a:p>
            <a:pPr marL="850900" marR="1001394">
              <a:lnSpc>
                <a:spcPct val="1198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Expr </a:t>
            </a:r>
            <a:r>
              <a:rPr sz="2400" spc="750" dirty="0">
                <a:latin typeface="MS UI Gothic"/>
                <a:cs typeface="MS UI Gothic"/>
              </a:rPr>
              <a:t>€ </a:t>
            </a:r>
            <a:r>
              <a:rPr sz="2400" spc="-5" dirty="0">
                <a:latin typeface="Times New Roman"/>
                <a:cs typeface="Times New Roman"/>
              </a:rPr>
              <a:t>expr </a:t>
            </a:r>
            <a:r>
              <a:rPr sz="2400" dirty="0">
                <a:latin typeface="Times New Roman"/>
                <a:cs typeface="Times New Roman"/>
              </a:rPr>
              <a:t>+ term | </a:t>
            </a:r>
            <a:r>
              <a:rPr sz="2400" spc="-5" dirty="0">
                <a:latin typeface="Times New Roman"/>
                <a:cs typeface="Times New Roman"/>
              </a:rPr>
              <a:t>expr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term  Term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35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* </a:t>
            </a:r>
            <a:r>
              <a:rPr sz="2400" spc="-5" dirty="0">
                <a:latin typeface="Times New Roman"/>
                <a:cs typeface="Times New Roman"/>
              </a:rPr>
              <a:t>factor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/ </a:t>
            </a:r>
            <a:r>
              <a:rPr sz="2400" spc="-5" dirty="0">
                <a:latin typeface="Times New Roman"/>
                <a:cs typeface="Times New Roman"/>
              </a:rPr>
              <a:t>factor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factor  Factor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155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(expr)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95045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471167"/>
            <a:ext cx="6336665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indent="-609600">
              <a:lnSpc>
                <a:spcPts val="3350"/>
              </a:lnSpc>
              <a:spcBef>
                <a:spcPts val="100"/>
              </a:spcBef>
              <a:buFont typeface="Times New Roman"/>
              <a:buChar char="•"/>
              <a:tabLst>
                <a:tab pos="621665" algn="l"/>
                <a:tab pos="62293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Example CFG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ts val="2865"/>
              </a:lnSpc>
              <a:buAutoNum type="arabicPeriod"/>
              <a:tabLst>
                <a:tab pos="1002665" algn="l"/>
                <a:tab pos="1003300" algn="l"/>
              </a:tabLst>
            </a:pPr>
            <a:r>
              <a:rPr sz="2400" dirty="0">
                <a:latin typeface="Times New Roman"/>
                <a:cs typeface="Times New Roman"/>
              </a:rPr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25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expr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expr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  <a:p>
            <a:pPr marL="1002665" lvl="1" indent="-532765">
              <a:lnSpc>
                <a:spcPts val="2875"/>
              </a:lnSpc>
              <a:buAutoNum type="arabicPeriod"/>
              <a:tabLst>
                <a:tab pos="1002665" algn="l"/>
                <a:tab pos="1003300" algn="l"/>
              </a:tabLst>
            </a:pPr>
            <a:r>
              <a:rPr sz="2400" dirty="0">
                <a:latin typeface="Times New Roman"/>
                <a:cs typeface="Times New Roman"/>
              </a:rPr>
              <a:t>Term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50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* </a:t>
            </a:r>
            <a:r>
              <a:rPr sz="2400" spc="-5" dirty="0">
                <a:latin typeface="Times New Roman"/>
                <a:cs typeface="Times New Roman"/>
              </a:rPr>
              <a:t>factor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term </a:t>
            </a:r>
            <a:r>
              <a:rPr sz="2400" dirty="0">
                <a:latin typeface="Times New Roman"/>
                <a:cs typeface="Times New Roman"/>
              </a:rPr>
              <a:t>/ </a:t>
            </a:r>
            <a:r>
              <a:rPr sz="2400" spc="-5" dirty="0">
                <a:latin typeface="Times New Roman"/>
                <a:cs typeface="Times New Roman"/>
              </a:rPr>
              <a:t>factor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factor</a:t>
            </a:r>
            <a:endParaRPr sz="2400">
              <a:latin typeface="Times New Roman"/>
              <a:cs typeface="Times New Roman"/>
            </a:endParaRPr>
          </a:p>
          <a:p>
            <a:pPr marL="1002665" lvl="1" indent="-532765">
              <a:lnSpc>
                <a:spcPts val="2875"/>
              </a:lnSpc>
              <a:buAutoNum type="arabicPeriod"/>
              <a:tabLst>
                <a:tab pos="1002665" algn="l"/>
                <a:tab pos="1003300" algn="l"/>
              </a:tabLst>
            </a:pPr>
            <a:r>
              <a:rPr sz="2400" spc="-5" dirty="0">
                <a:latin typeface="Times New Roman"/>
                <a:cs typeface="Times New Roman"/>
              </a:rPr>
              <a:t>Factor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150" dirty="0">
                <a:latin typeface="MS UI Gothic"/>
                <a:cs typeface="MS UI Gothic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 </a:t>
            </a:r>
            <a:r>
              <a:rPr sz="2400" dirty="0">
                <a:latin typeface="Times New Roman"/>
                <a:cs typeface="Times New Roman"/>
              </a:rPr>
              <a:t>| </a:t>
            </a:r>
            <a:r>
              <a:rPr sz="2400" spc="-5" dirty="0">
                <a:latin typeface="Times New Roman"/>
                <a:cs typeface="Times New Roman"/>
              </a:rPr>
              <a:t>(expr)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72765" algn="l"/>
              </a:tabLst>
            </a:pPr>
            <a:r>
              <a:rPr sz="2800" spc="-5" dirty="0">
                <a:latin typeface="Times New Roman"/>
                <a:cs typeface="Times New Roman"/>
              </a:rPr>
              <a:t>How is </a:t>
            </a:r>
            <a:r>
              <a:rPr sz="2800" dirty="0">
                <a:latin typeface="Times New Roman"/>
                <a:cs typeface="Times New Roman"/>
              </a:rPr>
              <a:t>9 – 5 – 2 *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	</a:t>
            </a:r>
            <a:r>
              <a:rPr sz="2800" spc="-5" dirty="0">
                <a:latin typeface="Times New Roman"/>
                <a:cs typeface="Times New Roman"/>
              </a:rPr>
              <a:t>derived?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48" y="3847830"/>
            <a:ext cx="6584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expr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5240" y="3847830"/>
            <a:ext cx="4845685" cy="216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expr – </a:t>
            </a:r>
            <a:r>
              <a:rPr sz="2800" spc="-5" dirty="0">
                <a:latin typeface="Times New Roman"/>
                <a:cs typeface="Times New Roman"/>
              </a:rPr>
              <a:t>term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8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expr – </a:t>
            </a: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term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15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dirty="0">
                <a:latin typeface="Times New Roman"/>
                <a:cs typeface="Times New Roman"/>
              </a:rPr>
              <a:t>* </a:t>
            </a:r>
            <a:r>
              <a:rPr sz="2800" spc="-5" dirty="0">
                <a:latin typeface="Times New Roman"/>
                <a:cs typeface="Times New Roman"/>
              </a:rPr>
              <a:t>factor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25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factor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factor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factor </a:t>
            </a:r>
            <a:r>
              <a:rPr sz="2800" dirty="0">
                <a:latin typeface="Times New Roman"/>
                <a:cs typeface="Times New Roman"/>
              </a:rPr>
              <a:t>* </a:t>
            </a:r>
            <a:r>
              <a:rPr sz="2800" spc="-5" dirty="0">
                <a:latin typeface="Times New Roman"/>
                <a:cs typeface="Times New Roman"/>
              </a:rPr>
              <a:t>factor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1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 – 5 – 2 * 4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6669" y="495045"/>
            <a:ext cx="53924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Syntax Directed</a:t>
            </a:r>
            <a:r>
              <a:rPr dirty="0"/>
              <a:t> </a:t>
            </a:r>
            <a:r>
              <a:rPr spc="-10" dirty="0"/>
              <a:t>Translation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233713"/>
            <a:ext cx="8080375" cy="46793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Syntax-Directed Definition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CFG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semantic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rules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9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specifies the translation of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construct in terms of  </a:t>
            </a:r>
            <a:r>
              <a:rPr sz="2800" b="1" dirty="0">
                <a:latin typeface="Times New Roman"/>
                <a:cs typeface="Times New Roman"/>
              </a:rPr>
              <a:t>attributes associated </a:t>
            </a:r>
            <a:r>
              <a:rPr sz="2800" b="1" spc="-5" dirty="0">
                <a:latin typeface="Times New Roman"/>
                <a:cs typeface="Times New Roman"/>
              </a:rPr>
              <a:t>with </a:t>
            </a:r>
            <a:r>
              <a:rPr sz="2800" b="1" dirty="0">
                <a:latin typeface="Times New Roman"/>
                <a:cs typeface="Times New Roman"/>
              </a:rPr>
              <a:t>its grammar </a:t>
            </a:r>
            <a:r>
              <a:rPr sz="2800" b="1" spc="-5" dirty="0">
                <a:latin typeface="Times New Roman"/>
                <a:cs typeface="Times New Roman"/>
              </a:rPr>
              <a:t>symbol  and semantic rules associated with each  production</a:t>
            </a:r>
            <a:r>
              <a:rPr sz="2800" spc="-5" dirty="0">
                <a:latin typeface="Times New Roman"/>
                <a:cs typeface="Times New Roman"/>
              </a:rPr>
              <a:t>. Semantic rules can be actual code  known as semantic routines (or action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routines).</a:t>
            </a:r>
            <a:endParaRPr sz="2800">
              <a:latin typeface="Times New Roman"/>
              <a:cs typeface="Times New Roman"/>
            </a:endParaRPr>
          </a:p>
          <a:p>
            <a:pPr marL="755650" marR="1098550" lvl="1" indent="-285750">
              <a:lnSpc>
                <a:spcPts val="3020"/>
              </a:lnSpc>
              <a:spcBef>
                <a:spcPts val="720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Attributes can be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type,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string,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memory  location, </a:t>
            </a:r>
            <a:r>
              <a:rPr sz="2800" dirty="0">
                <a:latin typeface="Times New Roman"/>
                <a:cs typeface="Times New Roman"/>
              </a:rPr>
              <a:t>…</a:t>
            </a:r>
            <a:r>
              <a:rPr sz="2800" spc="-10" dirty="0">
                <a:latin typeface="Times New Roman"/>
                <a:cs typeface="Times New Roman"/>
              </a:rPr>
              <a:t> etc.</a:t>
            </a:r>
            <a:endParaRPr sz="2800">
              <a:latin typeface="Times New Roman"/>
              <a:cs typeface="Times New Roman"/>
            </a:endParaRPr>
          </a:p>
          <a:p>
            <a:pPr marL="755650" marR="431165" lvl="1" indent="-285750">
              <a:lnSpc>
                <a:spcPts val="3020"/>
              </a:lnSpc>
              <a:spcBef>
                <a:spcPts val="68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parse tree showing the attribute values at each  node is called an </a:t>
            </a:r>
            <a:r>
              <a:rPr sz="2800" i="1" spc="-5" dirty="0">
                <a:latin typeface="Times New Roman"/>
                <a:cs typeface="Times New Roman"/>
              </a:rPr>
              <a:t>annotated parse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tree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6117" y="552195"/>
            <a:ext cx="203453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  <a:r>
              <a:rPr spc="-65" dirty="0"/>
              <a:t> </a:t>
            </a:r>
            <a:r>
              <a:rPr spc="-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15831"/>
            <a:ext cx="7769859" cy="36112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spc="-10" dirty="0">
                <a:latin typeface="Times New Roman"/>
                <a:cs typeface="Times New Roman"/>
              </a:rPr>
              <a:t>Syntax-Directed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Definition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Type Checking</a:t>
            </a:r>
            <a:endParaRPr sz="3200">
              <a:latin typeface="Times New Roman"/>
              <a:cs typeface="Times New Roman"/>
            </a:endParaRPr>
          </a:p>
          <a:p>
            <a:pPr marL="755650" marR="638810" lvl="1" indent="-285750">
              <a:lnSpc>
                <a:spcPct val="117100"/>
              </a:lnSpc>
              <a:spcBef>
                <a:spcPts val="12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E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E1 op E2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spc="-5" dirty="0">
                <a:latin typeface="Times New Roman"/>
                <a:cs typeface="Times New Roman"/>
              </a:rPr>
              <a:t>if E1.type != E2.type convert();}  type is 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attribute</a:t>
            </a:r>
            <a:endParaRPr sz="2400">
              <a:latin typeface="Times New Roman"/>
              <a:cs typeface="Times New Roman"/>
            </a:endParaRPr>
          </a:p>
          <a:p>
            <a:pPr marL="755015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semantic rule specified by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Translation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E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E1 op E2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spc="-5" dirty="0">
                <a:latin typeface="Times New Roman"/>
                <a:cs typeface="Times New Roman"/>
              </a:rPr>
              <a:t>emit(E.loc,“:=“, E1.loc, op, E2.loc );}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3409" y="571245"/>
            <a:ext cx="4218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Annotated Parse</a:t>
            </a:r>
            <a:r>
              <a:rPr spc="-20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/>
          <p:nvPr/>
        </p:nvSpPr>
        <p:spPr>
          <a:xfrm>
            <a:off x="6019927" y="2507995"/>
            <a:ext cx="1371600" cy="228600"/>
          </a:xfrm>
          <a:custGeom>
            <a:avLst/>
            <a:gdLst/>
            <a:ahLst/>
            <a:cxnLst/>
            <a:rect l="l" t="t" r="r" b="b"/>
            <a:pathLst>
              <a:path w="1371600" h="228600">
                <a:moveTo>
                  <a:pt x="1371600" y="0"/>
                </a:moveTo>
                <a:lnTo>
                  <a:pt x="1371600" y="228600"/>
                </a:lnTo>
                <a:lnTo>
                  <a:pt x="0" y="228600"/>
                </a:lnTo>
                <a:lnTo>
                  <a:pt x="0" y="0"/>
                </a:lnTo>
                <a:lnTo>
                  <a:pt x="13716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9927" y="2507995"/>
            <a:ext cx="1371600" cy="228600"/>
          </a:xfrm>
          <a:custGeom>
            <a:avLst/>
            <a:gdLst/>
            <a:ahLst/>
            <a:cxnLst/>
            <a:rect l="l" t="t" r="r" b="b"/>
            <a:pathLst>
              <a:path w="1371600" h="228600">
                <a:moveTo>
                  <a:pt x="0" y="0"/>
                </a:moveTo>
                <a:lnTo>
                  <a:pt x="0" y="228600"/>
                </a:lnTo>
                <a:lnTo>
                  <a:pt x="1371600" y="228600"/>
                </a:lnTo>
                <a:lnTo>
                  <a:pt x="137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96387" y="2416047"/>
            <a:ext cx="1220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digit.t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8739" y="5022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1339" y="5022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19739" y="20507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9906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10339" y="20507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587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1539" y="281279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20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00739" y="5022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8127" y="5022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43539" y="281279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9339" y="3803396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0" y="0"/>
                </a:moveTo>
                <a:lnTo>
                  <a:pt x="76200" y="1219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00539" y="50225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508389" y="3416046"/>
          <a:ext cx="1466850" cy="153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49225">
                        <a:lnSpc>
                          <a:spcPts val="23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list.t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3">
                  <a:txBody>
                    <a:bodyPr/>
                    <a:lstStyle/>
                    <a:p>
                      <a:pPr marL="95250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digit.t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5486539" y="2050795"/>
            <a:ext cx="609600" cy="2971800"/>
          </a:xfrm>
          <a:custGeom>
            <a:avLst/>
            <a:gdLst/>
            <a:ahLst/>
            <a:cxnLst/>
            <a:rect l="l" t="t" r="r" b="b"/>
            <a:pathLst>
              <a:path w="609600" h="2971800">
                <a:moveTo>
                  <a:pt x="0" y="0"/>
                </a:moveTo>
                <a:lnTo>
                  <a:pt x="609587" y="2971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61035" y="5883147"/>
            <a:ext cx="2663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Annotated 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575189" y="2501645"/>
          <a:ext cx="2076450" cy="245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marL="23495">
                        <a:lnSpc>
                          <a:spcPts val="23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list.t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92-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8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ts val="23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digit.t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905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495939" y="1745995"/>
            <a:ext cx="16002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list.t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92-4+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8127" y="2736595"/>
            <a:ext cx="304800" cy="2286000"/>
          </a:xfrm>
          <a:custGeom>
            <a:avLst/>
            <a:gdLst/>
            <a:ahLst/>
            <a:cxnLst/>
            <a:rect l="l" t="t" r="r" b="b"/>
            <a:pathLst>
              <a:path w="304800" h="2286000">
                <a:moveTo>
                  <a:pt x="0" y="0"/>
                </a:moveTo>
                <a:lnTo>
                  <a:pt x="304800" y="2286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19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8767" y="628395"/>
            <a:ext cx="53498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Parse </a:t>
            </a:r>
            <a:r>
              <a:rPr spc="-5" dirty="0"/>
              <a:t>Tree and </a:t>
            </a:r>
            <a:r>
              <a:rPr spc="-10" dirty="0"/>
              <a:t>Syntax</a:t>
            </a:r>
            <a:r>
              <a:rPr spc="-30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539" y="18983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ts val="2400"/>
              </a:lnSpc>
            </a:pPr>
            <a:r>
              <a:rPr sz="2400" dirty="0">
                <a:latin typeface="Times New Roman"/>
                <a:cs typeface="Times New Roman"/>
              </a:rPr>
              <a:t>list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2739" y="26603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ts val="2400"/>
              </a:lnSpc>
            </a:pPr>
            <a:r>
              <a:rPr sz="2400" dirty="0">
                <a:latin typeface="Times New Roman"/>
                <a:cs typeface="Times New Roman"/>
              </a:rPr>
              <a:t>list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339" y="26603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8539" y="3650996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5139" y="51749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9139" y="51749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6139" y="22031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9906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6739" y="22031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60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47939" y="296519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20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09939" y="2965195"/>
            <a:ext cx="0" cy="2133600"/>
          </a:xfrm>
          <a:custGeom>
            <a:avLst/>
            <a:gdLst/>
            <a:ahLst/>
            <a:cxnLst/>
            <a:rect l="l" t="t" r="r" b="b"/>
            <a:pathLst>
              <a:path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67139" y="51749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67339" y="51749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09939" y="296519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787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5726" y="3955796"/>
            <a:ext cx="76835" cy="1219200"/>
          </a:xfrm>
          <a:custGeom>
            <a:avLst/>
            <a:gdLst/>
            <a:ahLst/>
            <a:cxnLst/>
            <a:rect l="l" t="t" r="r" b="b"/>
            <a:pathLst>
              <a:path w="76835" h="1219200">
                <a:moveTo>
                  <a:pt x="0" y="0"/>
                </a:moveTo>
                <a:lnTo>
                  <a:pt x="76212" y="1219200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66939" y="51749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08189" y="3568446"/>
          <a:ext cx="933450" cy="153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marL="277495">
                        <a:lnSpc>
                          <a:spcPts val="23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list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107314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digit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3352939" y="2203195"/>
            <a:ext cx="228600" cy="2971800"/>
          </a:xfrm>
          <a:custGeom>
            <a:avLst/>
            <a:gdLst/>
            <a:ahLst/>
            <a:cxnLst/>
            <a:rect l="l" t="t" r="r" b="b"/>
            <a:pathLst>
              <a:path w="228600" h="2971800">
                <a:moveTo>
                  <a:pt x="0" y="0"/>
                </a:moveTo>
                <a:lnTo>
                  <a:pt x="228600" y="2971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5939" y="2965195"/>
            <a:ext cx="152400" cy="2209800"/>
          </a:xfrm>
          <a:custGeom>
            <a:avLst/>
            <a:gdLst/>
            <a:ahLst/>
            <a:cxnLst/>
            <a:rect l="l" t="t" r="r" b="b"/>
            <a:pathLst>
              <a:path w="152400" h="2209800">
                <a:moveTo>
                  <a:pt x="0" y="0"/>
                </a:moveTo>
                <a:lnTo>
                  <a:pt x="152400" y="2209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81927" y="2279395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781927" y="2279395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0"/>
                </a:moveTo>
                <a:lnTo>
                  <a:pt x="0" y="304800"/>
                </a:lnTo>
                <a:lnTo>
                  <a:pt x="914400" y="304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26611" y="2195067"/>
            <a:ext cx="2266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172327" y="3269996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72327" y="3269996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0"/>
                </a:moveTo>
                <a:lnTo>
                  <a:pt x="0" y="304800"/>
                </a:lnTo>
                <a:lnTo>
                  <a:pt x="914400" y="304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556635" y="3185667"/>
            <a:ext cx="1441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38939" y="44891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8127" y="44891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19927" y="3574796"/>
            <a:ext cx="609600" cy="914400"/>
          </a:xfrm>
          <a:custGeom>
            <a:avLst/>
            <a:gdLst/>
            <a:ahLst/>
            <a:cxnLst/>
            <a:rect l="l" t="t" r="r" b="b"/>
            <a:pathLst>
              <a:path w="609600" h="914400">
                <a:moveTo>
                  <a:pt x="609600" y="0"/>
                </a:moveTo>
                <a:lnTo>
                  <a:pt x="0" y="914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29527" y="3574796"/>
            <a:ext cx="609600" cy="914400"/>
          </a:xfrm>
          <a:custGeom>
            <a:avLst/>
            <a:gdLst/>
            <a:ahLst/>
            <a:cxnLst/>
            <a:rect l="l" t="t" r="r" b="b"/>
            <a:pathLst>
              <a:path w="609600" h="914400">
                <a:moveTo>
                  <a:pt x="0" y="0"/>
                </a:moveTo>
                <a:lnTo>
                  <a:pt x="609600" y="914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29527" y="2584195"/>
            <a:ext cx="609600" cy="685800"/>
          </a:xfrm>
          <a:custGeom>
            <a:avLst/>
            <a:gdLst/>
            <a:ahLst/>
            <a:cxnLst/>
            <a:rect l="l" t="t" r="r" b="b"/>
            <a:pathLst>
              <a:path w="609600" h="685800">
                <a:moveTo>
                  <a:pt x="60960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924927" y="33461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62927" y="2584195"/>
            <a:ext cx="1066800" cy="762000"/>
          </a:xfrm>
          <a:custGeom>
            <a:avLst/>
            <a:gdLst/>
            <a:ahLst/>
            <a:cxnLst/>
            <a:rect l="l" t="t" r="r" b="b"/>
            <a:pathLst>
              <a:path w="1066800" h="762000">
                <a:moveTo>
                  <a:pt x="0" y="0"/>
                </a:moveTo>
                <a:lnTo>
                  <a:pt x="1066800" y="762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632835" y="5916336"/>
            <a:ext cx="150495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" dirty="0">
                <a:latin typeface="Times New Roman"/>
                <a:cs typeface="Times New Roman"/>
              </a:rPr>
              <a:t>Syntax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94235" y="5992536"/>
            <a:ext cx="131953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" dirty="0">
                <a:latin typeface="Times New Roman"/>
                <a:cs typeface="Times New Roman"/>
              </a:rPr>
              <a:t>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20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8767" y="628395"/>
            <a:ext cx="53498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Parse </a:t>
            </a:r>
            <a:r>
              <a:rPr spc="-5" dirty="0"/>
              <a:t>Tree and </a:t>
            </a:r>
            <a:r>
              <a:rPr spc="-10" dirty="0"/>
              <a:t>Syntax</a:t>
            </a:r>
            <a:r>
              <a:rPr spc="-30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539" y="18983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4945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stmt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539" y="26603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8745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while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339" y="26603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ts val="2400"/>
              </a:lnSpc>
            </a:pPr>
            <a:r>
              <a:rPr sz="2400" dirty="0">
                <a:latin typeface="Times New Roman"/>
                <a:cs typeface="Times New Roman"/>
              </a:rPr>
              <a:t>body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43339" y="3727196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399" y="0"/>
                </a:moveTo>
                <a:lnTo>
                  <a:pt x="914399" y="304800"/>
                </a:lnTo>
                <a:lnTo>
                  <a:pt x="0" y="304800"/>
                </a:lnTo>
                <a:lnTo>
                  <a:pt x="0" y="0"/>
                </a:lnTo>
                <a:lnTo>
                  <a:pt x="914399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43339" y="3727196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2400"/>
              </a:lnSpc>
            </a:pPr>
            <a:r>
              <a:rPr sz="2400" spc="-5" dirty="0"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9939" y="52511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0939" y="2203195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6858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6739" y="22031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60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52739" y="304139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20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4739" y="3041395"/>
            <a:ext cx="0" cy="2133600"/>
          </a:xfrm>
          <a:custGeom>
            <a:avLst/>
            <a:gdLst/>
            <a:ahLst/>
            <a:cxnLst/>
            <a:rect l="l" t="t" r="r" b="b"/>
            <a:pathLst>
              <a:path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71939" y="5251196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609600" y="0"/>
                </a:move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lnTo>
                  <a:pt x="6096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71939" y="52511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14739" y="304139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00539" y="4031996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0" y="0"/>
                </a:moveTo>
                <a:lnTo>
                  <a:pt x="76200" y="1219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71739" y="5251196"/>
            <a:ext cx="6096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212989" y="3644646"/>
          <a:ext cx="933450" cy="153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marL="191770">
                        <a:lnSpc>
                          <a:spcPts val="23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expr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107314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6781927" y="2279395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81927" y="2279395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0"/>
                </a:moveTo>
                <a:lnTo>
                  <a:pt x="0" y="304800"/>
                </a:lnTo>
                <a:lnTo>
                  <a:pt x="914400" y="304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32479" y="2195067"/>
            <a:ext cx="8147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while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72327" y="3269996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2327" y="3269996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0"/>
                </a:moveTo>
                <a:lnTo>
                  <a:pt x="0" y="304800"/>
                </a:lnTo>
                <a:lnTo>
                  <a:pt x="914400" y="304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17011" y="3185667"/>
            <a:ext cx="2266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38927" y="4489196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609600" y="0"/>
                </a:move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lnTo>
                  <a:pt x="6096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38939" y="44891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58127" y="4489196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609600" y="0"/>
                </a:move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lnTo>
                  <a:pt x="6096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858127" y="44891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19927" y="3574796"/>
            <a:ext cx="609600" cy="914400"/>
          </a:xfrm>
          <a:custGeom>
            <a:avLst/>
            <a:gdLst/>
            <a:ahLst/>
            <a:cxnLst/>
            <a:rect l="l" t="t" r="r" b="b"/>
            <a:pathLst>
              <a:path w="609600" h="914400">
                <a:moveTo>
                  <a:pt x="609600" y="0"/>
                </a:moveTo>
                <a:lnTo>
                  <a:pt x="0" y="914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29527" y="3574796"/>
            <a:ext cx="609600" cy="914400"/>
          </a:xfrm>
          <a:custGeom>
            <a:avLst/>
            <a:gdLst/>
            <a:ahLst/>
            <a:cxnLst/>
            <a:rect l="l" t="t" r="r" b="b"/>
            <a:pathLst>
              <a:path w="609600" h="914400">
                <a:moveTo>
                  <a:pt x="0" y="0"/>
                </a:moveTo>
                <a:lnTo>
                  <a:pt x="609600" y="914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29527" y="2584195"/>
            <a:ext cx="609600" cy="685800"/>
          </a:xfrm>
          <a:custGeom>
            <a:avLst/>
            <a:gdLst/>
            <a:ahLst/>
            <a:cxnLst/>
            <a:rect l="l" t="t" r="r" b="b"/>
            <a:pathLst>
              <a:path w="609600" h="685800">
                <a:moveTo>
                  <a:pt x="60960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24927" y="3346196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609600" y="0"/>
                </a:move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lnTo>
                  <a:pt x="6096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924927" y="3346196"/>
            <a:ext cx="6223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body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62927" y="2584195"/>
            <a:ext cx="1066800" cy="762000"/>
          </a:xfrm>
          <a:custGeom>
            <a:avLst/>
            <a:gdLst/>
            <a:ahLst/>
            <a:cxnLst/>
            <a:rect l="l" t="t" r="r" b="b"/>
            <a:pathLst>
              <a:path w="1066800" h="762000">
                <a:moveTo>
                  <a:pt x="0" y="0"/>
                </a:moveTo>
                <a:lnTo>
                  <a:pt x="1066800" y="762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209939" y="2736595"/>
            <a:ext cx="914400" cy="3048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5420">
              <a:lnSpc>
                <a:spcPts val="2400"/>
              </a:lnSpc>
            </a:pPr>
            <a:r>
              <a:rPr sz="2400" dirty="0">
                <a:latin typeface="Times New Roman"/>
                <a:cs typeface="Times New Roman"/>
              </a:rPr>
              <a:t>expr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43139" y="2203195"/>
            <a:ext cx="2209800" cy="457200"/>
          </a:xfrm>
          <a:custGeom>
            <a:avLst/>
            <a:gdLst/>
            <a:ahLst/>
            <a:cxnLst/>
            <a:rect l="l" t="t" r="r" b="b"/>
            <a:pathLst>
              <a:path w="2209800" h="457200">
                <a:moveTo>
                  <a:pt x="2209800" y="0"/>
                </a:moveTo>
                <a:lnTo>
                  <a:pt x="0" y="457200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76539" y="2660395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304800" y="0"/>
                </a:moveTo>
                <a:lnTo>
                  <a:pt x="304800" y="228599"/>
                </a:lnTo>
                <a:lnTo>
                  <a:pt x="0" y="228599"/>
                </a:lnTo>
                <a:lnTo>
                  <a:pt x="0" y="0"/>
                </a:lnTo>
                <a:lnTo>
                  <a:pt x="3048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76539" y="2660395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0" y="228599"/>
                </a:lnTo>
                <a:lnTo>
                  <a:pt x="304800" y="228599"/>
                </a:lnTo>
                <a:lnTo>
                  <a:pt x="3048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765179" y="2568447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81339" y="2203195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129540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52939" y="2736595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304800" y="0"/>
                </a:moveTo>
                <a:lnTo>
                  <a:pt x="304800" y="228600"/>
                </a:lnTo>
                <a:lnTo>
                  <a:pt x="0" y="228600"/>
                </a:lnTo>
                <a:lnTo>
                  <a:pt x="0" y="0"/>
                </a:lnTo>
                <a:lnTo>
                  <a:pt x="304800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52939" y="2736595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0"/>
                </a:moveTo>
                <a:lnTo>
                  <a:pt x="0" y="228600"/>
                </a:lnTo>
                <a:lnTo>
                  <a:pt x="304800" y="228600"/>
                </a:lnTo>
                <a:lnTo>
                  <a:pt x="3048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441579" y="2644647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276739" y="220319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0"/>
                </a:moveTo>
                <a:lnTo>
                  <a:pt x="15240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19767" y="3095498"/>
            <a:ext cx="2595880" cy="2689225"/>
          </a:xfrm>
          <a:custGeom>
            <a:avLst/>
            <a:gdLst/>
            <a:ahLst/>
            <a:cxnLst/>
            <a:rect l="l" t="t" r="r" b="b"/>
            <a:pathLst>
              <a:path w="2595879" h="2689225">
                <a:moveTo>
                  <a:pt x="880872" y="1546098"/>
                </a:moveTo>
                <a:lnTo>
                  <a:pt x="819140" y="1549168"/>
                </a:lnTo>
                <a:lnTo>
                  <a:pt x="761078" y="1558022"/>
                </a:lnTo>
                <a:lnTo>
                  <a:pt x="707643" y="1572118"/>
                </a:lnTo>
                <a:lnTo>
                  <a:pt x="659797" y="1590919"/>
                </a:lnTo>
                <a:lnTo>
                  <a:pt x="618499" y="1613883"/>
                </a:lnTo>
                <a:lnTo>
                  <a:pt x="584708" y="1640473"/>
                </a:lnTo>
                <a:lnTo>
                  <a:pt x="559383" y="1670148"/>
                </a:lnTo>
                <a:lnTo>
                  <a:pt x="537972" y="1736598"/>
                </a:lnTo>
                <a:lnTo>
                  <a:pt x="537972" y="2498598"/>
                </a:lnTo>
                <a:lnTo>
                  <a:pt x="559383" y="2565047"/>
                </a:lnTo>
                <a:lnTo>
                  <a:pt x="584708" y="2594722"/>
                </a:lnTo>
                <a:lnTo>
                  <a:pt x="618499" y="2621312"/>
                </a:lnTo>
                <a:lnTo>
                  <a:pt x="659797" y="2644276"/>
                </a:lnTo>
                <a:lnTo>
                  <a:pt x="707644" y="2663077"/>
                </a:lnTo>
                <a:lnTo>
                  <a:pt x="761078" y="2677173"/>
                </a:lnTo>
                <a:lnTo>
                  <a:pt x="819140" y="2686027"/>
                </a:lnTo>
                <a:lnTo>
                  <a:pt x="880872" y="2689098"/>
                </a:lnTo>
                <a:lnTo>
                  <a:pt x="2252472" y="2689098"/>
                </a:lnTo>
                <a:lnTo>
                  <a:pt x="2314002" y="2686027"/>
                </a:lnTo>
                <a:lnTo>
                  <a:pt x="2371958" y="2677173"/>
                </a:lnTo>
                <a:lnTo>
                  <a:pt x="2425361" y="2663077"/>
                </a:lnTo>
                <a:lnTo>
                  <a:pt x="2473232" y="2644276"/>
                </a:lnTo>
                <a:lnTo>
                  <a:pt x="2514593" y="2621312"/>
                </a:lnTo>
                <a:lnTo>
                  <a:pt x="2548466" y="2594722"/>
                </a:lnTo>
                <a:lnTo>
                  <a:pt x="2573872" y="2565047"/>
                </a:lnTo>
                <a:lnTo>
                  <a:pt x="2595372" y="2498597"/>
                </a:lnTo>
                <a:lnTo>
                  <a:pt x="2595372" y="1736597"/>
                </a:lnTo>
                <a:lnTo>
                  <a:pt x="2573872" y="1670148"/>
                </a:lnTo>
                <a:lnTo>
                  <a:pt x="2548466" y="1640473"/>
                </a:lnTo>
                <a:lnTo>
                  <a:pt x="2514593" y="1613883"/>
                </a:lnTo>
                <a:lnTo>
                  <a:pt x="2473232" y="1590919"/>
                </a:lnTo>
                <a:lnTo>
                  <a:pt x="2425361" y="1572118"/>
                </a:lnTo>
                <a:lnTo>
                  <a:pt x="2371958" y="1558022"/>
                </a:lnTo>
                <a:lnTo>
                  <a:pt x="2314002" y="1549168"/>
                </a:lnTo>
                <a:lnTo>
                  <a:pt x="2252472" y="1546098"/>
                </a:lnTo>
                <a:lnTo>
                  <a:pt x="1395222" y="1546098"/>
                </a:lnTo>
                <a:lnTo>
                  <a:pt x="0" y="0"/>
                </a:lnTo>
                <a:lnTo>
                  <a:pt x="880872" y="1546098"/>
                </a:lnTo>
                <a:close/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824103" y="4708144"/>
            <a:ext cx="172593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 marR="5080" indent="-558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Internal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node:  nonterminals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118743" y="3479546"/>
            <a:ext cx="2406650" cy="2457450"/>
          </a:xfrm>
          <a:custGeom>
            <a:avLst/>
            <a:gdLst/>
            <a:ahLst/>
            <a:cxnLst/>
            <a:rect l="l" t="t" r="r" b="b"/>
            <a:pathLst>
              <a:path w="2406650" h="2457450">
                <a:moveTo>
                  <a:pt x="691883" y="1314450"/>
                </a:moveTo>
                <a:lnTo>
                  <a:pt x="630151" y="1317520"/>
                </a:lnTo>
                <a:lnTo>
                  <a:pt x="572089" y="1326374"/>
                </a:lnTo>
                <a:lnTo>
                  <a:pt x="518655" y="1340470"/>
                </a:lnTo>
                <a:lnTo>
                  <a:pt x="470809" y="1359271"/>
                </a:lnTo>
                <a:lnTo>
                  <a:pt x="429510" y="1382235"/>
                </a:lnTo>
                <a:lnTo>
                  <a:pt x="395719" y="1408825"/>
                </a:lnTo>
                <a:lnTo>
                  <a:pt x="370394" y="1438500"/>
                </a:lnTo>
                <a:lnTo>
                  <a:pt x="348983" y="1504950"/>
                </a:lnTo>
                <a:lnTo>
                  <a:pt x="348983" y="2266950"/>
                </a:lnTo>
                <a:lnTo>
                  <a:pt x="370394" y="2333399"/>
                </a:lnTo>
                <a:lnTo>
                  <a:pt x="395719" y="2363074"/>
                </a:lnTo>
                <a:lnTo>
                  <a:pt x="429510" y="2389664"/>
                </a:lnTo>
                <a:lnTo>
                  <a:pt x="470809" y="2412628"/>
                </a:lnTo>
                <a:lnTo>
                  <a:pt x="518655" y="2431429"/>
                </a:lnTo>
                <a:lnTo>
                  <a:pt x="572089" y="2445525"/>
                </a:lnTo>
                <a:lnTo>
                  <a:pt x="630151" y="2454379"/>
                </a:lnTo>
                <a:lnTo>
                  <a:pt x="691883" y="2457450"/>
                </a:lnTo>
                <a:lnTo>
                  <a:pt x="2063483" y="2457450"/>
                </a:lnTo>
                <a:lnTo>
                  <a:pt x="2125017" y="2454379"/>
                </a:lnTo>
                <a:lnTo>
                  <a:pt x="2182975" y="2445525"/>
                </a:lnTo>
                <a:lnTo>
                  <a:pt x="2236378" y="2431429"/>
                </a:lnTo>
                <a:lnTo>
                  <a:pt x="2284249" y="2412628"/>
                </a:lnTo>
                <a:lnTo>
                  <a:pt x="2325609" y="2389664"/>
                </a:lnTo>
                <a:lnTo>
                  <a:pt x="2359480" y="2363074"/>
                </a:lnTo>
                <a:lnTo>
                  <a:pt x="2384885" y="2333399"/>
                </a:lnTo>
                <a:lnTo>
                  <a:pt x="2406383" y="2266950"/>
                </a:lnTo>
                <a:lnTo>
                  <a:pt x="2406383" y="1504950"/>
                </a:lnTo>
                <a:lnTo>
                  <a:pt x="2384885" y="1438500"/>
                </a:lnTo>
                <a:lnTo>
                  <a:pt x="2359480" y="1408825"/>
                </a:lnTo>
                <a:lnTo>
                  <a:pt x="2325609" y="1382235"/>
                </a:lnTo>
                <a:lnTo>
                  <a:pt x="2284249" y="1359271"/>
                </a:lnTo>
                <a:lnTo>
                  <a:pt x="2236378" y="1340470"/>
                </a:lnTo>
                <a:lnTo>
                  <a:pt x="2182975" y="1326374"/>
                </a:lnTo>
                <a:lnTo>
                  <a:pt x="2125017" y="1317520"/>
                </a:lnTo>
                <a:lnTo>
                  <a:pt x="2063483" y="1314450"/>
                </a:lnTo>
                <a:lnTo>
                  <a:pt x="1206233" y="1314450"/>
                </a:lnTo>
                <a:lnTo>
                  <a:pt x="0" y="0"/>
                </a:lnTo>
                <a:lnTo>
                  <a:pt x="691883" y="131445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634103" y="4860544"/>
            <a:ext cx="1726564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Internal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node:  operators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32835" y="5916336"/>
            <a:ext cx="150495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" dirty="0">
                <a:latin typeface="Times New Roman"/>
                <a:cs typeface="Times New Roman"/>
              </a:rPr>
              <a:t>Syntax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94235" y="5992536"/>
            <a:ext cx="131953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spc="-5" dirty="0">
                <a:latin typeface="Times New Roman"/>
                <a:cs typeface="Times New Roman"/>
              </a:rPr>
              <a:t>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21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6117" y="437895"/>
            <a:ext cx="203453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  <a:r>
              <a:rPr spc="-65" dirty="0"/>
              <a:t> </a:t>
            </a:r>
            <a:r>
              <a:rPr spc="-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435" y="1082548"/>
            <a:ext cx="80410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Syntax-directed definition for infix to postfix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translation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6452" y="1655508"/>
          <a:ext cx="8348980" cy="424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9931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Production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71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Rules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6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expr1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Expr.t := expr1.t || term.t ||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“+”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60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expr1 -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Expr.t := expr1.t || term.t ||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“-”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4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Expr.t :=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term.t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Term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5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Term.t :=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“0”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Term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5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Term.t :=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“1”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035" y="495045"/>
            <a:ext cx="4109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Translation</a:t>
            </a:r>
            <a:r>
              <a:rPr spc="-30" dirty="0"/>
              <a:t> </a:t>
            </a:r>
            <a:r>
              <a:rPr spc="-10" dirty="0"/>
              <a:t>Schemes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235" y="1082548"/>
            <a:ext cx="7134225" cy="472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7980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procedural specification for defining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translation</a:t>
            </a:r>
            <a:endParaRPr sz="2800">
              <a:latin typeface="Times New Roman"/>
              <a:cs typeface="Times New Roman"/>
            </a:endParaRPr>
          </a:p>
          <a:p>
            <a:pPr marL="355600" marR="52069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Translation scheme is like syntax-directed  definition except that the order of evaluation of  semantic rules 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explicit.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b="1" spc="-5" dirty="0">
                <a:latin typeface="Times New Roman"/>
                <a:cs typeface="Times New Roman"/>
              </a:rPr>
              <a:t>Examples</a:t>
            </a:r>
            <a:endParaRPr sz="2800">
              <a:latin typeface="Times New Roman"/>
              <a:cs typeface="Times New Roman"/>
            </a:endParaRPr>
          </a:p>
          <a:p>
            <a:pPr marL="355600" marR="518795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rest </a:t>
            </a:r>
            <a:r>
              <a:rPr sz="2800" spc="880" dirty="0">
                <a:latin typeface="MS UI Gothic"/>
                <a:cs typeface="MS UI Gothic"/>
              </a:rPr>
              <a:t>€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dirty="0">
                <a:latin typeface="Times New Roman"/>
                <a:cs typeface="Times New Roman"/>
              </a:rPr>
              <a:t>{ </a:t>
            </a:r>
            <a:r>
              <a:rPr sz="2800" i="1" dirty="0">
                <a:latin typeface="Times New Roman"/>
                <a:cs typeface="Times New Roman"/>
              </a:rPr>
              <a:t>print(“+”) </a:t>
            </a:r>
            <a:r>
              <a:rPr sz="2800" dirty="0">
                <a:latin typeface="Times New Roman"/>
                <a:cs typeface="Times New Roman"/>
              </a:rPr>
              <a:t>} rest  </a:t>
            </a:r>
            <a:r>
              <a:rPr sz="2800" spc="-5" dirty="0">
                <a:latin typeface="Times New Roman"/>
                <a:cs typeface="Times New Roman"/>
              </a:rPr>
              <a:t>while_stmt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04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while </a:t>
            </a:r>
            <a:r>
              <a:rPr sz="2800" i="1" spc="-5" dirty="0">
                <a:latin typeface="Times New Roman"/>
                <a:cs typeface="Times New Roman"/>
              </a:rPr>
              <a:t>#Startwhile </a:t>
            </a:r>
            <a:r>
              <a:rPr sz="2800" spc="-5" dirty="0">
                <a:latin typeface="Times New Roman"/>
                <a:cs typeface="Times New Roman"/>
              </a:rPr>
              <a:t>&lt;b_exper&gt;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800" i="1" spc="-5" dirty="0">
                <a:latin typeface="Times New Roman"/>
                <a:cs typeface="Times New Roman"/>
              </a:rPr>
              <a:t>#Whiletest </a:t>
            </a:r>
            <a:r>
              <a:rPr sz="2800" spc="-5" dirty="0">
                <a:latin typeface="Times New Roman"/>
                <a:cs typeface="Times New Roman"/>
              </a:rPr>
              <a:t>do begin &lt;stmn&gt; end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#Finish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800" i="1" spc="-5" dirty="0">
                <a:latin typeface="Times New Roman"/>
                <a:cs typeface="Times New Roman"/>
              </a:rPr>
              <a:t>Startwhile, whiletest and Finish are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procedures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035" y="437895"/>
            <a:ext cx="4109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Translation</a:t>
            </a:r>
            <a:r>
              <a:rPr spc="-30" dirty="0"/>
              <a:t> </a:t>
            </a:r>
            <a:r>
              <a:rPr spc="-10" dirty="0"/>
              <a:t>Schemes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4052" y="1045908"/>
          <a:ext cx="8044180" cy="409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8407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Production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85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Actions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70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expr1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{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print (“+”)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6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expr1 -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{print(“-”)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Expr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4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Term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5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{print(“0”)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Term </a:t>
                      </a:r>
                      <a:r>
                        <a:rPr sz="2400" spc="750" dirty="0">
                          <a:latin typeface="MS UI Gothic"/>
                          <a:cs typeface="MS UI Gothic"/>
                        </a:rPr>
                        <a:t>€</a:t>
                      </a:r>
                      <a:r>
                        <a:rPr sz="2400" spc="-155" dirty="0">
                          <a:latin typeface="MS UI Gothic"/>
                          <a:cs typeface="MS UI Gothic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{print(“1”)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}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9769" y="5438647"/>
            <a:ext cx="7848600" cy="38100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50"/>
              </a:spcBef>
              <a:tabLst>
                <a:tab pos="3822700" algn="l"/>
              </a:tabLst>
            </a:pPr>
            <a:r>
              <a:rPr sz="2000" spc="-5" dirty="0">
                <a:latin typeface="Arial"/>
                <a:cs typeface="Arial"/>
              </a:rPr>
              <a:t>Semantic </a:t>
            </a:r>
            <a:r>
              <a:rPr sz="2000" spc="-10" dirty="0">
                <a:latin typeface="Arial"/>
                <a:cs typeface="Arial"/>
              </a:rPr>
              <a:t>action </a:t>
            </a:r>
            <a:r>
              <a:rPr sz="2000" spc="-5" dirty="0">
                <a:latin typeface="Arial"/>
                <a:cs typeface="Arial"/>
              </a:rPr>
              <a:t>routine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called	when the </a:t>
            </a:r>
            <a:r>
              <a:rPr sz="2000" spc="-10" dirty="0">
                <a:latin typeface="Arial"/>
                <a:cs typeface="Arial"/>
              </a:rPr>
              <a:t>production </a:t>
            </a:r>
            <a:r>
              <a:rPr sz="2000" spc="-5" dirty="0">
                <a:latin typeface="Arial"/>
                <a:cs typeface="Arial"/>
              </a:rPr>
              <a:t>rule is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applied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418845"/>
            <a:ext cx="7440930" cy="5104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1335">
              <a:lnSpc>
                <a:spcPct val="100000"/>
              </a:lnSpc>
              <a:spcBef>
                <a:spcPts val="95"/>
              </a:spcBef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Parsing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 marL="355600" marR="23241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Parsing is to determine if a string of token  can be generated by 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grammar</a:t>
            </a:r>
            <a:endParaRPr sz="3200">
              <a:latin typeface="Times New Roman"/>
              <a:cs typeface="Times New Roman"/>
            </a:endParaRPr>
          </a:p>
          <a:p>
            <a:pPr marL="355600" marR="121285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Two common parsing methods: Top-down  and Bottom-up</a:t>
            </a:r>
            <a:endParaRPr sz="3200">
              <a:latin typeface="Times New Roman"/>
              <a:cs typeface="Times New Roman"/>
            </a:endParaRPr>
          </a:p>
          <a:p>
            <a:pPr marL="355600" marR="43815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Top-down starts at the root and proceeds  towards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leaves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Bottom-up starts at the leaves and proceeds  towards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root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25704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35" y="1311148"/>
            <a:ext cx="192976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String: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abcxy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035" y="2165339"/>
            <a:ext cx="18224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Productions: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035" y="3019531"/>
            <a:ext cx="1847214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4" dirty="0">
                <a:latin typeface="Times New Roman"/>
                <a:cs typeface="Times New Roman"/>
              </a:rPr>
              <a:t>S</a:t>
            </a:r>
            <a:r>
              <a:rPr sz="2800" spc="434" dirty="0">
                <a:latin typeface="MS UI Gothic"/>
                <a:cs typeface="MS UI Gothic"/>
              </a:rPr>
              <a:t>€</a:t>
            </a:r>
            <a:r>
              <a:rPr sz="2800" spc="-175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5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abc </a:t>
            </a:r>
            <a:r>
              <a:rPr sz="2800" dirty="0">
                <a:latin typeface="Times New Roman"/>
                <a:cs typeface="Times New Roman"/>
              </a:rPr>
              <a:t>| w  B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7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 | xy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4435" y="1844547"/>
            <a:ext cx="1363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Top-Down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4939" y="2660395"/>
            <a:ext cx="914400" cy="5334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5339" y="3955796"/>
            <a:ext cx="914400" cy="5334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3139" y="3955796"/>
            <a:ext cx="914400" cy="5334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14939" y="3186176"/>
            <a:ext cx="469900" cy="693420"/>
          </a:xfrm>
          <a:custGeom>
            <a:avLst/>
            <a:gdLst/>
            <a:ahLst/>
            <a:cxnLst/>
            <a:rect l="l" t="t" r="r" b="b"/>
            <a:pathLst>
              <a:path w="469900" h="693420">
                <a:moveTo>
                  <a:pt x="35639" y="614053"/>
                </a:moveTo>
                <a:lnTo>
                  <a:pt x="12191" y="598170"/>
                </a:lnTo>
                <a:lnTo>
                  <a:pt x="0" y="693420"/>
                </a:lnTo>
                <a:lnTo>
                  <a:pt x="27431" y="677816"/>
                </a:lnTo>
                <a:lnTo>
                  <a:pt x="27431" y="626363"/>
                </a:lnTo>
                <a:lnTo>
                  <a:pt x="35639" y="614053"/>
                </a:lnTo>
                <a:close/>
              </a:path>
              <a:path w="469900" h="693420">
                <a:moveTo>
                  <a:pt x="59435" y="630174"/>
                </a:moveTo>
                <a:lnTo>
                  <a:pt x="35639" y="614053"/>
                </a:lnTo>
                <a:lnTo>
                  <a:pt x="27431" y="626363"/>
                </a:lnTo>
                <a:lnTo>
                  <a:pt x="51815" y="641603"/>
                </a:lnTo>
                <a:lnTo>
                  <a:pt x="59435" y="630174"/>
                </a:lnTo>
                <a:close/>
              </a:path>
              <a:path w="469900" h="693420">
                <a:moveTo>
                  <a:pt x="83057" y="646176"/>
                </a:moveTo>
                <a:lnTo>
                  <a:pt x="59435" y="630174"/>
                </a:lnTo>
                <a:lnTo>
                  <a:pt x="51815" y="641603"/>
                </a:lnTo>
                <a:lnTo>
                  <a:pt x="27431" y="626363"/>
                </a:lnTo>
                <a:lnTo>
                  <a:pt x="27431" y="677816"/>
                </a:lnTo>
                <a:lnTo>
                  <a:pt x="83057" y="646176"/>
                </a:lnTo>
                <a:close/>
              </a:path>
              <a:path w="469900" h="693420">
                <a:moveTo>
                  <a:pt x="469391" y="15239"/>
                </a:moveTo>
                <a:lnTo>
                  <a:pt x="445007" y="0"/>
                </a:lnTo>
                <a:lnTo>
                  <a:pt x="35639" y="614053"/>
                </a:lnTo>
                <a:lnTo>
                  <a:pt x="59435" y="630174"/>
                </a:lnTo>
                <a:lnTo>
                  <a:pt x="469391" y="1523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2233" y="3183127"/>
            <a:ext cx="848360" cy="772795"/>
          </a:xfrm>
          <a:custGeom>
            <a:avLst/>
            <a:gdLst/>
            <a:ahLst/>
            <a:cxnLst/>
            <a:rect l="l" t="t" r="r" b="b"/>
            <a:pathLst>
              <a:path w="848360" h="772795">
                <a:moveTo>
                  <a:pt x="794434" y="704680"/>
                </a:moveTo>
                <a:lnTo>
                  <a:pt x="19812" y="0"/>
                </a:lnTo>
                <a:lnTo>
                  <a:pt x="0" y="21336"/>
                </a:lnTo>
                <a:lnTo>
                  <a:pt x="775114" y="725780"/>
                </a:lnTo>
                <a:lnTo>
                  <a:pt x="794434" y="704680"/>
                </a:lnTo>
                <a:close/>
              </a:path>
              <a:path w="848360" h="772795">
                <a:moveTo>
                  <a:pt x="804672" y="760463"/>
                </a:moveTo>
                <a:lnTo>
                  <a:pt x="804672" y="713994"/>
                </a:lnTo>
                <a:lnTo>
                  <a:pt x="785622" y="735330"/>
                </a:lnTo>
                <a:lnTo>
                  <a:pt x="775114" y="725780"/>
                </a:lnTo>
                <a:lnTo>
                  <a:pt x="755903" y="746760"/>
                </a:lnTo>
                <a:lnTo>
                  <a:pt x="804672" y="760463"/>
                </a:lnTo>
                <a:close/>
              </a:path>
              <a:path w="848360" h="772795">
                <a:moveTo>
                  <a:pt x="804672" y="713994"/>
                </a:moveTo>
                <a:lnTo>
                  <a:pt x="794434" y="704680"/>
                </a:lnTo>
                <a:lnTo>
                  <a:pt x="775114" y="725780"/>
                </a:lnTo>
                <a:lnTo>
                  <a:pt x="785622" y="735330"/>
                </a:lnTo>
                <a:lnTo>
                  <a:pt x="804672" y="713994"/>
                </a:lnTo>
                <a:close/>
              </a:path>
              <a:path w="848360" h="772795">
                <a:moveTo>
                  <a:pt x="848106" y="772668"/>
                </a:moveTo>
                <a:lnTo>
                  <a:pt x="813815" y="683513"/>
                </a:lnTo>
                <a:lnTo>
                  <a:pt x="794434" y="704680"/>
                </a:lnTo>
                <a:lnTo>
                  <a:pt x="804672" y="713994"/>
                </a:lnTo>
                <a:lnTo>
                  <a:pt x="804672" y="760463"/>
                </a:lnTo>
                <a:lnTo>
                  <a:pt x="848106" y="77266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19539" y="5174996"/>
            <a:ext cx="19050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0545">
              <a:lnSpc>
                <a:spcPts val="2855"/>
              </a:lnSpc>
              <a:tabLst>
                <a:tab pos="837565" algn="l"/>
                <a:tab pos="1142365" algn="l"/>
              </a:tabLst>
            </a:pPr>
            <a:r>
              <a:rPr sz="2400" dirty="0">
                <a:latin typeface="Times New Roman"/>
                <a:cs typeface="Times New Roman"/>
              </a:rPr>
              <a:t>a	b	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2939" y="4482338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46862" y="479679"/>
                </a:moveTo>
                <a:lnTo>
                  <a:pt x="26669" y="459486"/>
                </a:lnTo>
                <a:lnTo>
                  <a:pt x="0" y="540258"/>
                </a:lnTo>
                <a:lnTo>
                  <a:pt x="38100" y="527677"/>
                </a:lnTo>
                <a:lnTo>
                  <a:pt x="38100" y="488441"/>
                </a:lnTo>
                <a:lnTo>
                  <a:pt x="46862" y="479679"/>
                </a:lnTo>
                <a:close/>
              </a:path>
              <a:path w="540385" h="540385">
                <a:moveTo>
                  <a:pt x="60578" y="493395"/>
                </a:moveTo>
                <a:lnTo>
                  <a:pt x="46862" y="479679"/>
                </a:lnTo>
                <a:lnTo>
                  <a:pt x="38100" y="488441"/>
                </a:lnTo>
                <a:lnTo>
                  <a:pt x="51815" y="502158"/>
                </a:lnTo>
                <a:lnTo>
                  <a:pt x="60578" y="493395"/>
                </a:lnTo>
                <a:close/>
              </a:path>
              <a:path w="540385" h="540385">
                <a:moveTo>
                  <a:pt x="80771" y="513588"/>
                </a:moveTo>
                <a:lnTo>
                  <a:pt x="60578" y="493395"/>
                </a:lnTo>
                <a:lnTo>
                  <a:pt x="51815" y="502158"/>
                </a:lnTo>
                <a:lnTo>
                  <a:pt x="38100" y="488441"/>
                </a:lnTo>
                <a:lnTo>
                  <a:pt x="38100" y="527677"/>
                </a:lnTo>
                <a:lnTo>
                  <a:pt x="80771" y="513588"/>
                </a:lnTo>
                <a:close/>
              </a:path>
              <a:path w="540385" h="540385">
                <a:moveTo>
                  <a:pt x="540257" y="13715"/>
                </a:moveTo>
                <a:lnTo>
                  <a:pt x="526541" y="0"/>
                </a:lnTo>
                <a:lnTo>
                  <a:pt x="46862" y="479679"/>
                </a:lnTo>
                <a:lnTo>
                  <a:pt x="60578" y="493395"/>
                </a:lnTo>
                <a:lnTo>
                  <a:pt x="540257" y="137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48239" y="4489196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76200" y="533400"/>
                </a:moveTo>
                <a:lnTo>
                  <a:pt x="0" y="533400"/>
                </a:lnTo>
                <a:lnTo>
                  <a:pt x="32003" y="597407"/>
                </a:lnTo>
                <a:lnTo>
                  <a:pt x="32003" y="546353"/>
                </a:lnTo>
                <a:lnTo>
                  <a:pt x="44195" y="546353"/>
                </a:lnTo>
                <a:lnTo>
                  <a:pt x="44195" y="597408"/>
                </a:lnTo>
                <a:lnTo>
                  <a:pt x="76200" y="533400"/>
                </a:lnTo>
                <a:close/>
              </a:path>
              <a:path w="76200" h="609600">
                <a:moveTo>
                  <a:pt x="44195" y="533400"/>
                </a:moveTo>
                <a:lnTo>
                  <a:pt x="44195" y="0"/>
                </a:lnTo>
                <a:lnTo>
                  <a:pt x="32003" y="0"/>
                </a:lnTo>
                <a:lnTo>
                  <a:pt x="32003" y="533400"/>
                </a:lnTo>
                <a:lnTo>
                  <a:pt x="44195" y="533400"/>
                </a:lnTo>
                <a:close/>
              </a:path>
              <a:path w="76200" h="609600">
                <a:moveTo>
                  <a:pt x="44195" y="597408"/>
                </a:moveTo>
                <a:lnTo>
                  <a:pt x="44195" y="546353"/>
                </a:lnTo>
                <a:lnTo>
                  <a:pt x="32003" y="546353"/>
                </a:lnTo>
                <a:lnTo>
                  <a:pt x="32003" y="597407"/>
                </a:lnTo>
                <a:lnTo>
                  <a:pt x="38100" y="609600"/>
                </a:lnTo>
                <a:lnTo>
                  <a:pt x="44195" y="59740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81767" y="4484623"/>
            <a:ext cx="538480" cy="538480"/>
          </a:xfrm>
          <a:custGeom>
            <a:avLst/>
            <a:gdLst/>
            <a:ahLst/>
            <a:cxnLst/>
            <a:rect l="l" t="t" r="r" b="b"/>
            <a:pathLst>
              <a:path w="538479" h="538479">
                <a:moveTo>
                  <a:pt x="488823" y="479678"/>
                </a:moveTo>
                <a:lnTo>
                  <a:pt x="9143" y="0"/>
                </a:lnTo>
                <a:lnTo>
                  <a:pt x="0" y="9143"/>
                </a:lnTo>
                <a:lnTo>
                  <a:pt x="479678" y="488823"/>
                </a:lnTo>
                <a:lnTo>
                  <a:pt x="488823" y="479678"/>
                </a:lnTo>
                <a:close/>
              </a:path>
              <a:path w="538479" h="538479">
                <a:moveTo>
                  <a:pt x="497586" y="524637"/>
                </a:moveTo>
                <a:lnTo>
                  <a:pt x="497586" y="488441"/>
                </a:lnTo>
                <a:lnTo>
                  <a:pt x="488441" y="497586"/>
                </a:lnTo>
                <a:lnTo>
                  <a:pt x="479678" y="488823"/>
                </a:lnTo>
                <a:lnTo>
                  <a:pt x="457200" y="511301"/>
                </a:lnTo>
                <a:lnTo>
                  <a:pt x="497586" y="524637"/>
                </a:lnTo>
                <a:close/>
              </a:path>
              <a:path w="538479" h="538479">
                <a:moveTo>
                  <a:pt x="497586" y="488441"/>
                </a:moveTo>
                <a:lnTo>
                  <a:pt x="488823" y="479678"/>
                </a:lnTo>
                <a:lnTo>
                  <a:pt x="479678" y="488823"/>
                </a:lnTo>
                <a:lnTo>
                  <a:pt x="488441" y="497586"/>
                </a:lnTo>
                <a:lnTo>
                  <a:pt x="497586" y="488441"/>
                </a:lnTo>
                <a:close/>
              </a:path>
              <a:path w="538479" h="538479">
                <a:moveTo>
                  <a:pt x="537972" y="537972"/>
                </a:moveTo>
                <a:lnTo>
                  <a:pt x="511301" y="457200"/>
                </a:lnTo>
                <a:lnTo>
                  <a:pt x="488823" y="479678"/>
                </a:lnTo>
                <a:lnTo>
                  <a:pt x="497586" y="488441"/>
                </a:lnTo>
                <a:lnTo>
                  <a:pt x="497586" y="524637"/>
                </a:lnTo>
                <a:lnTo>
                  <a:pt x="537972" y="537972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53139" y="5174996"/>
            <a:ext cx="10668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6065">
              <a:lnSpc>
                <a:spcPts val="2855"/>
              </a:lnSpc>
              <a:tabLst>
                <a:tab pos="570865" algn="l"/>
              </a:tabLst>
            </a:pPr>
            <a:r>
              <a:rPr sz="2400" dirty="0">
                <a:latin typeface="Times New Roman"/>
                <a:cs typeface="Times New Roman"/>
              </a:rPr>
              <a:t>x	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41937" y="4487671"/>
            <a:ext cx="174625" cy="535305"/>
          </a:xfrm>
          <a:custGeom>
            <a:avLst/>
            <a:gdLst/>
            <a:ahLst/>
            <a:cxnLst/>
            <a:rect l="l" t="t" r="r" b="b"/>
            <a:pathLst>
              <a:path w="174625" h="535304">
                <a:moveTo>
                  <a:pt x="30970" y="460044"/>
                </a:moveTo>
                <a:lnTo>
                  <a:pt x="0" y="451103"/>
                </a:lnTo>
                <a:lnTo>
                  <a:pt x="16002" y="534924"/>
                </a:lnTo>
                <a:lnTo>
                  <a:pt x="27432" y="522591"/>
                </a:lnTo>
                <a:lnTo>
                  <a:pt x="27432" y="472439"/>
                </a:lnTo>
                <a:lnTo>
                  <a:pt x="30970" y="460044"/>
                </a:lnTo>
                <a:close/>
              </a:path>
              <a:path w="174625" h="535304">
                <a:moveTo>
                  <a:pt x="43038" y="463527"/>
                </a:moveTo>
                <a:lnTo>
                  <a:pt x="30970" y="460044"/>
                </a:lnTo>
                <a:lnTo>
                  <a:pt x="27432" y="472439"/>
                </a:lnTo>
                <a:lnTo>
                  <a:pt x="39624" y="475488"/>
                </a:lnTo>
                <a:lnTo>
                  <a:pt x="43038" y="463527"/>
                </a:lnTo>
                <a:close/>
              </a:path>
              <a:path w="174625" h="535304">
                <a:moveTo>
                  <a:pt x="73914" y="472439"/>
                </a:moveTo>
                <a:lnTo>
                  <a:pt x="43038" y="463527"/>
                </a:lnTo>
                <a:lnTo>
                  <a:pt x="39624" y="475488"/>
                </a:lnTo>
                <a:lnTo>
                  <a:pt x="27432" y="472439"/>
                </a:lnTo>
                <a:lnTo>
                  <a:pt x="27432" y="522591"/>
                </a:lnTo>
                <a:lnTo>
                  <a:pt x="73914" y="472439"/>
                </a:lnTo>
                <a:close/>
              </a:path>
              <a:path w="174625" h="535304">
                <a:moveTo>
                  <a:pt x="174498" y="3048"/>
                </a:moveTo>
                <a:lnTo>
                  <a:pt x="162306" y="0"/>
                </a:lnTo>
                <a:lnTo>
                  <a:pt x="30970" y="460044"/>
                </a:lnTo>
                <a:lnTo>
                  <a:pt x="43038" y="463527"/>
                </a:lnTo>
                <a:lnTo>
                  <a:pt x="174498" y="304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04243" y="4486909"/>
            <a:ext cx="243840" cy="612140"/>
          </a:xfrm>
          <a:custGeom>
            <a:avLst/>
            <a:gdLst/>
            <a:ahLst/>
            <a:cxnLst/>
            <a:rect l="l" t="t" r="r" b="b"/>
            <a:pathLst>
              <a:path w="243839" h="612139">
                <a:moveTo>
                  <a:pt x="214249" y="538321"/>
                </a:moveTo>
                <a:lnTo>
                  <a:pt x="12191" y="0"/>
                </a:lnTo>
                <a:lnTo>
                  <a:pt x="0" y="4572"/>
                </a:lnTo>
                <a:lnTo>
                  <a:pt x="202046" y="542865"/>
                </a:lnTo>
                <a:lnTo>
                  <a:pt x="214249" y="538321"/>
                </a:lnTo>
                <a:close/>
              </a:path>
              <a:path w="243839" h="612139">
                <a:moveTo>
                  <a:pt x="218693" y="597054"/>
                </a:moveTo>
                <a:lnTo>
                  <a:pt x="218693" y="550163"/>
                </a:lnTo>
                <a:lnTo>
                  <a:pt x="206501" y="554735"/>
                </a:lnTo>
                <a:lnTo>
                  <a:pt x="202046" y="542865"/>
                </a:lnTo>
                <a:lnTo>
                  <a:pt x="172212" y="553973"/>
                </a:lnTo>
                <a:lnTo>
                  <a:pt x="218693" y="597054"/>
                </a:lnTo>
                <a:close/>
              </a:path>
              <a:path w="243839" h="612139">
                <a:moveTo>
                  <a:pt x="218693" y="550163"/>
                </a:moveTo>
                <a:lnTo>
                  <a:pt x="214249" y="538321"/>
                </a:lnTo>
                <a:lnTo>
                  <a:pt x="202046" y="542865"/>
                </a:lnTo>
                <a:lnTo>
                  <a:pt x="206501" y="554735"/>
                </a:lnTo>
                <a:lnTo>
                  <a:pt x="218693" y="550163"/>
                </a:lnTo>
                <a:close/>
              </a:path>
              <a:path w="243839" h="612139">
                <a:moveTo>
                  <a:pt x="243839" y="527303"/>
                </a:moveTo>
                <a:lnTo>
                  <a:pt x="214249" y="538321"/>
                </a:lnTo>
                <a:lnTo>
                  <a:pt x="218693" y="550163"/>
                </a:lnTo>
                <a:lnTo>
                  <a:pt x="218693" y="597054"/>
                </a:lnTo>
                <a:lnTo>
                  <a:pt x="234696" y="611885"/>
                </a:lnTo>
                <a:lnTo>
                  <a:pt x="243839" y="5273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90035" y="1920747"/>
            <a:ext cx="1345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Bottom-up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20127" y="2736595"/>
            <a:ext cx="914400" cy="5334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0527" y="4031996"/>
            <a:ext cx="914400" cy="5334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8327" y="4031996"/>
            <a:ext cx="914400" cy="5334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07948" y="3269996"/>
            <a:ext cx="469900" cy="693420"/>
          </a:xfrm>
          <a:custGeom>
            <a:avLst/>
            <a:gdLst/>
            <a:ahLst/>
            <a:cxnLst/>
            <a:rect l="l" t="t" r="r" b="b"/>
            <a:pathLst>
              <a:path w="469900" h="693420">
                <a:moveTo>
                  <a:pt x="433752" y="79366"/>
                </a:moveTo>
                <a:lnTo>
                  <a:pt x="409955" y="63245"/>
                </a:lnTo>
                <a:lnTo>
                  <a:pt x="0" y="678179"/>
                </a:lnTo>
                <a:lnTo>
                  <a:pt x="24383" y="693419"/>
                </a:lnTo>
                <a:lnTo>
                  <a:pt x="433752" y="79366"/>
                </a:lnTo>
                <a:close/>
              </a:path>
              <a:path w="469900" h="693420">
                <a:moveTo>
                  <a:pt x="469379" y="0"/>
                </a:moveTo>
                <a:lnTo>
                  <a:pt x="386333" y="47243"/>
                </a:lnTo>
                <a:lnTo>
                  <a:pt x="409955" y="63246"/>
                </a:lnTo>
                <a:lnTo>
                  <a:pt x="417575" y="51815"/>
                </a:lnTo>
                <a:lnTo>
                  <a:pt x="441959" y="67055"/>
                </a:lnTo>
                <a:lnTo>
                  <a:pt x="441959" y="84926"/>
                </a:lnTo>
                <a:lnTo>
                  <a:pt x="457200" y="95250"/>
                </a:lnTo>
                <a:lnTo>
                  <a:pt x="469379" y="0"/>
                </a:lnTo>
                <a:close/>
              </a:path>
              <a:path w="469900" h="693420">
                <a:moveTo>
                  <a:pt x="441959" y="67055"/>
                </a:moveTo>
                <a:lnTo>
                  <a:pt x="417575" y="51815"/>
                </a:lnTo>
                <a:lnTo>
                  <a:pt x="409955" y="63245"/>
                </a:lnTo>
                <a:lnTo>
                  <a:pt x="433752" y="79366"/>
                </a:lnTo>
                <a:lnTo>
                  <a:pt x="441959" y="67055"/>
                </a:lnTo>
                <a:close/>
              </a:path>
              <a:path w="469900" h="693420">
                <a:moveTo>
                  <a:pt x="441959" y="84926"/>
                </a:moveTo>
                <a:lnTo>
                  <a:pt x="441959" y="67055"/>
                </a:lnTo>
                <a:lnTo>
                  <a:pt x="433752" y="79366"/>
                </a:lnTo>
                <a:lnTo>
                  <a:pt x="441959" y="8492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77327" y="3269996"/>
            <a:ext cx="848360" cy="772795"/>
          </a:xfrm>
          <a:custGeom>
            <a:avLst/>
            <a:gdLst/>
            <a:ahLst/>
            <a:cxnLst/>
            <a:rect l="l" t="t" r="r" b="b"/>
            <a:pathLst>
              <a:path w="848359" h="772795">
                <a:moveTo>
                  <a:pt x="92214" y="25907"/>
                </a:moveTo>
                <a:lnTo>
                  <a:pt x="0" y="0"/>
                </a:lnTo>
                <a:lnTo>
                  <a:pt x="34302" y="89153"/>
                </a:lnTo>
                <a:lnTo>
                  <a:pt x="43446" y="79167"/>
                </a:lnTo>
                <a:lnTo>
                  <a:pt x="43446" y="58674"/>
                </a:lnTo>
                <a:lnTo>
                  <a:pt x="62496" y="37337"/>
                </a:lnTo>
                <a:lnTo>
                  <a:pt x="73004" y="46887"/>
                </a:lnTo>
                <a:lnTo>
                  <a:pt x="92214" y="25907"/>
                </a:lnTo>
                <a:close/>
              </a:path>
              <a:path w="848359" h="772795">
                <a:moveTo>
                  <a:pt x="73004" y="46887"/>
                </a:moveTo>
                <a:lnTo>
                  <a:pt x="62496" y="37337"/>
                </a:lnTo>
                <a:lnTo>
                  <a:pt x="43446" y="58674"/>
                </a:lnTo>
                <a:lnTo>
                  <a:pt x="53684" y="67987"/>
                </a:lnTo>
                <a:lnTo>
                  <a:pt x="73004" y="46887"/>
                </a:lnTo>
                <a:close/>
              </a:path>
              <a:path w="848359" h="772795">
                <a:moveTo>
                  <a:pt x="53684" y="67987"/>
                </a:moveTo>
                <a:lnTo>
                  <a:pt x="43446" y="58674"/>
                </a:lnTo>
                <a:lnTo>
                  <a:pt x="43446" y="79167"/>
                </a:lnTo>
                <a:lnTo>
                  <a:pt x="53684" y="67987"/>
                </a:lnTo>
                <a:close/>
              </a:path>
              <a:path w="848359" h="772795">
                <a:moveTo>
                  <a:pt x="848118" y="751331"/>
                </a:moveTo>
                <a:lnTo>
                  <a:pt x="73004" y="46887"/>
                </a:lnTo>
                <a:lnTo>
                  <a:pt x="53684" y="67987"/>
                </a:lnTo>
                <a:lnTo>
                  <a:pt x="828294" y="772667"/>
                </a:lnTo>
                <a:lnTo>
                  <a:pt x="848118" y="75133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24727" y="5251196"/>
            <a:ext cx="19050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0545">
              <a:lnSpc>
                <a:spcPts val="2855"/>
              </a:lnSpc>
              <a:tabLst>
                <a:tab pos="837565" algn="l"/>
                <a:tab pos="1142365" algn="l"/>
              </a:tabLst>
            </a:pPr>
            <a:r>
              <a:rPr sz="2400" dirty="0">
                <a:latin typeface="Times New Roman"/>
                <a:cs typeface="Times New Roman"/>
              </a:rPr>
              <a:t>a	b	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51281" y="4565396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4" h="540385">
                <a:moveTo>
                  <a:pt x="493388" y="60572"/>
                </a:moveTo>
                <a:lnTo>
                  <a:pt x="479678" y="46863"/>
                </a:lnTo>
                <a:lnTo>
                  <a:pt x="0" y="526541"/>
                </a:lnTo>
                <a:lnTo>
                  <a:pt x="13716" y="540257"/>
                </a:lnTo>
                <a:lnTo>
                  <a:pt x="493388" y="60572"/>
                </a:lnTo>
                <a:close/>
              </a:path>
              <a:path w="540384" h="540385">
                <a:moveTo>
                  <a:pt x="540245" y="0"/>
                </a:moveTo>
                <a:lnTo>
                  <a:pt x="459485" y="26669"/>
                </a:lnTo>
                <a:lnTo>
                  <a:pt x="479678" y="46863"/>
                </a:lnTo>
                <a:lnTo>
                  <a:pt x="488442" y="38100"/>
                </a:lnTo>
                <a:lnTo>
                  <a:pt x="502145" y="51815"/>
                </a:lnTo>
                <a:lnTo>
                  <a:pt x="502145" y="69329"/>
                </a:lnTo>
                <a:lnTo>
                  <a:pt x="513587" y="80771"/>
                </a:lnTo>
                <a:lnTo>
                  <a:pt x="540245" y="0"/>
                </a:lnTo>
                <a:close/>
              </a:path>
              <a:path w="540384" h="540385">
                <a:moveTo>
                  <a:pt x="502145" y="51815"/>
                </a:moveTo>
                <a:lnTo>
                  <a:pt x="488442" y="38100"/>
                </a:lnTo>
                <a:lnTo>
                  <a:pt x="479678" y="46863"/>
                </a:lnTo>
                <a:lnTo>
                  <a:pt x="493388" y="60572"/>
                </a:lnTo>
                <a:lnTo>
                  <a:pt x="502145" y="51815"/>
                </a:lnTo>
                <a:close/>
              </a:path>
              <a:path w="540384" h="540385">
                <a:moveTo>
                  <a:pt x="502145" y="69329"/>
                </a:moveTo>
                <a:lnTo>
                  <a:pt x="502145" y="51815"/>
                </a:lnTo>
                <a:lnTo>
                  <a:pt x="493388" y="60572"/>
                </a:lnTo>
                <a:lnTo>
                  <a:pt x="502145" y="6932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91527" y="4565396"/>
            <a:ext cx="538480" cy="538480"/>
          </a:xfrm>
          <a:custGeom>
            <a:avLst/>
            <a:gdLst/>
            <a:ahLst/>
            <a:cxnLst/>
            <a:rect l="l" t="t" r="r" b="b"/>
            <a:pathLst>
              <a:path w="538479" h="538479">
                <a:moveTo>
                  <a:pt x="80772" y="26669"/>
                </a:moveTo>
                <a:lnTo>
                  <a:pt x="0" y="0"/>
                </a:lnTo>
                <a:lnTo>
                  <a:pt x="26670" y="80771"/>
                </a:lnTo>
                <a:lnTo>
                  <a:pt x="40386" y="67055"/>
                </a:lnTo>
                <a:lnTo>
                  <a:pt x="40386" y="49529"/>
                </a:lnTo>
                <a:lnTo>
                  <a:pt x="49542" y="40386"/>
                </a:lnTo>
                <a:lnTo>
                  <a:pt x="58299" y="49142"/>
                </a:lnTo>
                <a:lnTo>
                  <a:pt x="80772" y="26669"/>
                </a:lnTo>
                <a:close/>
              </a:path>
              <a:path w="538479" h="538479">
                <a:moveTo>
                  <a:pt x="58299" y="49142"/>
                </a:moveTo>
                <a:lnTo>
                  <a:pt x="49542" y="40386"/>
                </a:lnTo>
                <a:lnTo>
                  <a:pt x="40386" y="49529"/>
                </a:lnTo>
                <a:lnTo>
                  <a:pt x="49149" y="58292"/>
                </a:lnTo>
                <a:lnTo>
                  <a:pt x="58299" y="49142"/>
                </a:lnTo>
                <a:close/>
              </a:path>
              <a:path w="538479" h="538479">
                <a:moveTo>
                  <a:pt x="49149" y="58292"/>
                </a:moveTo>
                <a:lnTo>
                  <a:pt x="40386" y="49529"/>
                </a:lnTo>
                <a:lnTo>
                  <a:pt x="40386" y="67055"/>
                </a:lnTo>
                <a:lnTo>
                  <a:pt x="49149" y="58292"/>
                </a:lnTo>
                <a:close/>
              </a:path>
              <a:path w="538479" h="538479">
                <a:moveTo>
                  <a:pt x="537972" y="528827"/>
                </a:moveTo>
                <a:lnTo>
                  <a:pt x="58299" y="49142"/>
                </a:lnTo>
                <a:lnTo>
                  <a:pt x="49149" y="58292"/>
                </a:lnTo>
                <a:lnTo>
                  <a:pt x="528840" y="537971"/>
                </a:lnTo>
                <a:lnTo>
                  <a:pt x="537972" y="52882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458327" y="5251196"/>
            <a:ext cx="1066800" cy="381000"/>
          </a:xfrm>
          <a:prstGeom prst="rect">
            <a:avLst/>
          </a:prstGeom>
          <a:solidFill>
            <a:srgbClr val="BBE0E3"/>
          </a:solidFill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6700">
              <a:lnSpc>
                <a:spcPts val="2855"/>
              </a:lnSpc>
              <a:tabLst>
                <a:tab pos="570865" algn="l"/>
              </a:tabLst>
            </a:pPr>
            <a:r>
              <a:rPr sz="2400" dirty="0">
                <a:latin typeface="Times New Roman"/>
                <a:cs typeface="Times New Roman"/>
              </a:rPr>
              <a:t>x	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80843" y="4641596"/>
            <a:ext cx="174625" cy="535305"/>
          </a:xfrm>
          <a:custGeom>
            <a:avLst/>
            <a:gdLst/>
            <a:ahLst/>
            <a:cxnLst/>
            <a:rect l="l" t="t" r="r" b="b"/>
            <a:pathLst>
              <a:path w="174625" h="535304">
                <a:moveTo>
                  <a:pt x="143515" y="74876"/>
                </a:moveTo>
                <a:lnTo>
                  <a:pt x="131459" y="71396"/>
                </a:lnTo>
                <a:lnTo>
                  <a:pt x="0" y="531876"/>
                </a:lnTo>
                <a:lnTo>
                  <a:pt x="12179" y="534924"/>
                </a:lnTo>
                <a:lnTo>
                  <a:pt x="143515" y="74876"/>
                </a:lnTo>
                <a:close/>
              </a:path>
              <a:path w="174625" h="535304">
                <a:moveTo>
                  <a:pt x="174498" y="83819"/>
                </a:moveTo>
                <a:lnTo>
                  <a:pt x="158483" y="0"/>
                </a:lnTo>
                <a:lnTo>
                  <a:pt x="100584" y="62483"/>
                </a:lnTo>
                <a:lnTo>
                  <a:pt x="131459" y="71396"/>
                </a:lnTo>
                <a:lnTo>
                  <a:pt x="134874" y="59436"/>
                </a:lnTo>
                <a:lnTo>
                  <a:pt x="147053" y="62483"/>
                </a:lnTo>
                <a:lnTo>
                  <a:pt x="147053" y="75897"/>
                </a:lnTo>
                <a:lnTo>
                  <a:pt x="174498" y="83819"/>
                </a:lnTo>
                <a:close/>
              </a:path>
              <a:path w="174625" h="535304">
                <a:moveTo>
                  <a:pt x="147053" y="62483"/>
                </a:moveTo>
                <a:lnTo>
                  <a:pt x="134874" y="59436"/>
                </a:lnTo>
                <a:lnTo>
                  <a:pt x="131459" y="71396"/>
                </a:lnTo>
                <a:lnTo>
                  <a:pt x="143515" y="74876"/>
                </a:lnTo>
                <a:lnTo>
                  <a:pt x="147053" y="62483"/>
                </a:lnTo>
                <a:close/>
              </a:path>
              <a:path w="174625" h="535304">
                <a:moveTo>
                  <a:pt x="147053" y="75897"/>
                </a:moveTo>
                <a:lnTo>
                  <a:pt x="147053" y="62483"/>
                </a:lnTo>
                <a:lnTo>
                  <a:pt x="143515" y="74876"/>
                </a:lnTo>
                <a:lnTo>
                  <a:pt x="147053" y="7589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906395" y="4565396"/>
            <a:ext cx="243840" cy="612140"/>
          </a:xfrm>
          <a:custGeom>
            <a:avLst/>
            <a:gdLst/>
            <a:ahLst/>
            <a:cxnLst/>
            <a:rect l="l" t="t" r="r" b="b"/>
            <a:pathLst>
              <a:path w="243840" h="612139">
                <a:moveTo>
                  <a:pt x="71627" y="57912"/>
                </a:moveTo>
                <a:lnTo>
                  <a:pt x="9131" y="0"/>
                </a:lnTo>
                <a:lnTo>
                  <a:pt x="0" y="84581"/>
                </a:lnTo>
                <a:lnTo>
                  <a:pt x="25145" y="75219"/>
                </a:lnTo>
                <a:lnTo>
                  <a:pt x="25145" y="61721"/>
                </a:lnTo>
                <a:lnTo>
                  <a:pt x="37325" y="57150"/>
                </a:lnTo>
                <a:lnTo>
                  <a:pt x="41782" y="69024"/>
                </a:lnTo>
                <a:lnTo>
                  <a:pt x="71627" y="57912"/>
                </a:lnTo>
                <a:close/>
              </a:path>
              <a:path w="243840" h="612139">
                <a:moveTo>
                  <a:pt x="41782" y="69024"/>
                </a:moveTo>
                <a:lnTo>
                  <a:pt x="37325" y="57150"/>
                </a:lnTo>
                <a:lnTo>
                  <a:pt x="25145" y="61721"/>
                </a:lnTo>
                <a:lnTo>
                  <a:pt x="29590" y="73564"/>
                </a:lnTo>
                <a:lnTo>
                  <a:pt x="41782" y="69024"/>
                </a:lnTo>
                <a:close/>
              </a:path>
              <a:path w="243840" h="612139">
                <a:moveTo>
                  <a:pt x="29590" y="73564"/>
                </a:moveTo>
                <a:lnTo>
                  <a:pt x="25145" y="61721"/>
                </a:lnTo>
                <a:lnTo>
                  <a:pt x="25145" y="75219"/>
                </a:lnTo>
                <a:lnTo>
                  <a:pt x="29590" y="73564"/>
                </a:lnTo>
                <a:close/>
              </a:path>
              <a:path w="243840" h="612139">
                <a:moveTo>
                  <a:pt x="243827" y="607313"/>
                </a:moveTo>
                <a:lnTo>
                  <a:pt x="41782" y="69024"/>
                </a:lnTo>
                <a:lnTo>
                  <a:pt x="29590" y="73564"/>
                </a:lnTo>
                <a:lnTo>
                  <a:pt x="231647" y="611886"/>
                </a:lnTo>
                <a:lnTo>
                  <a:pt x="243827" y="60731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26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9001" y="469900"/>
            <a:ext cx="3128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  <a:r>
              <a:rPr spc="-40" dirty="0"/>
              <a:t> </a:t>
            </a:r>
            <a:r>
              <a:rPr spc="-10" dirty="0"/>
              <a:t>(9-2+4)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139" y="1136396"/>
            <a:ext cx="5562600" cy="45720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2800" spc="-5" dirty="0">
                <a:latin typeface="Arial"/>
                <a:cs typeface="Arial"/>
              </a:rPr>
              <a:t>Construct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parse </a:t>
            </a:r>
            <a:r>
              <a:rPr sz="2800" dirty="0">
                <a:latin typeface="Arial"/>
                <a:cs typeface="Arial"/>
              </a:rPr>
              <a:t>tree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top-down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1139" y="1822195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13129" y="1969515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expr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4739" y="2736595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36729" y="2883915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expr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91339" y="2660395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187" y="0"/>
                </a:moveTo>
                <a:lnTo>
                  <a:pt x="399895" y="2373"/>
                </a:lnTo>
                <a:lnTo>
                  <a:pt x="344711" y="9304"/>
                </a:lnTo>
                <a:lnTo>
                  <a:pt x="292065" y="20508"/>
                </a:lnTo>
                <a:lnTo>
                  <a:pt x="242388" y="35699"/>
                </a:lnTo>
                <a:lnTo>
                  <a:pt x="196112" y="54592"/>
                </a:lnTo>
                <a:lnTo>
                  <a:pt x="153666" y="76901"/>
                </a:lnTo>
                <a:lnTo>
                  <a:pt x="115482" y="102343"/>
                </a:lnTo>
                <a:lnTo>
                  <a:pt x="81991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1" y="478967"/>
                </a:lnTo>
                <a:lnTo>
                  <a:pt x="115482" y="507256"/>
                </a:lnTo>
                <a:lnTo>
                  <a:pt x="153666" y="532698"/>
                </a:lnTo>
                <a:lnTo>
                  <a:pt x="196112" y="555007"/>
                </a:lnTo>
                <a:lnTo>
                  <a:pt x="242388" y="573900"/>
                </a:lnTo>
                <a:lnTo>
                  <a:pt x="292065" y="589091"/>
                </a:lnTo>
                <a:lnTo>
                  <a:pt x="344711" y="600295"/>
                </a:lnTo>
                <a:lnTo>
                  <a:pt x="399895" y="607226"/>
                </a:lnTo>
                <a:lnTo>
                  <a:pt x="457187" y="609600"/>
                </a:lnTo>
                <a:lnTo>
                  <a:pt x="514481" y="607226"/>
                </a:lnTo>
                <a:lnTo>
                  <a:pt x="569668" y="600295"/>
                </a:lnTo>
                <a:lnTo>
                  <a:pt x="622316" y="589091"/>
                </a:lnTo>
                <a:lnTo>
                  <a:pt x="671994" y="573900"/>
                </a:lnTo>
                <a:lnTo>
                  <a:pt x="718272" y="555007"/>
                </a:lnTo>
                <a:lnTo>
                  <a:pt x="760718" y="532698"/>
                </a:lnTo>
                <a:lnTo>
                  <a:pt x="798903" y="507256"/>
                </a:lnTo>
                <a:lnTo>
                  <a:pt x="832395" y="478967"/>
                </a:lnTo>
                <a:lnTo>
                  <a:pt x="860763" y="448117"/>
                </a:lnTo>
                <a:lnTo>
                  <a:pt x="883577" y="414989"/>
                </a:lnTo>
                <a:lnTo>
                  <a:pt x="900407" y="379871"/>
                </a:lnTo>
                <a:lnTo>
                  <a:pt x="910820" y="343046"/>
                </a:lnTo>
                <a:lnTo>
                  <a:pt x="914387" y="304800"/>
                </a:lnTo>
                <a:lnTo>
                  <a:pt x="910820" y="266553"/>
                </a:lnTo>
                <a:lnTo>
                  <a:pt x="900407" y="229728"/>
                </a:lnTo>
                <a:lnTo>
                  <a:pt x="883577" y="194610"/>
                </a:lnTo>
                <a:lnTo>
                  <a:pt x="860763" y="161482"/>
                </a:lnTo>
                <a:lnTo>
                  <a:pt x="832395" y="130632"/>
                </a:lnTo>
                <a:lnTo>
                  <a:pt x="798903" y="102343"/>
                </a:lnTo>
                <a:lnTo>
                  <a:pt x="760718" y="76901"/>
                </a:lnTo>
                <a:lnTo>
                  <a:pt x="718272" y="54592"/>
                </a:lnTo>
                <a:lnTo>
                  <a:pt x="671994" y="35699"/>
                </a:lnTo>
                <a:lnTo>
                  <a:pt x="622316" y="20508"/>
                </a:lnTo>
                <a:lnTo>
                  <a:pt x="569668" y="9304"/>
                </a:lnTo>
                <a:lnTo>
                  <a:pt x="514481" y="2373"/>
                </a:lnTo>
                <a:lnTo>
                  <a:pt x="457187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07233" y="2807715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19739" y="2812795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0" y="0"/>
                </a:moveTo>
                <a:lnTo>
                  <a:pt x="0" y="381000"/>
                </a:lnTo>
                <a:lnTo>
                  <a:pt x="609600" y="381000"/>
                </a:lnTo>
                <a:lnTo>
                  <a:pt x="609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78483" y="2702559"/>
            <a:ext cx="292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939" y="2342642"/>
            <a:ext cx="920750" cy="470534"/>
          </a:xfrm>
          <a:custGeom>
            <a:avLst/>
            <a:gdLst/>
            <a:ahLst/>
            <a:cxnLst/>
            <a:rect l="l" t="t" r="r" b="b"/>
            <a:pathLst>
              <a:path w="920750" h="470535">
                <a:moveTo>
                  <a:pt x="96012" y="470153"/>
                </a:moveTo>
                <a:lnTo>
                  <a:pt x="83109" y="444601"/>
                </a:lnTo>
                <a:lnTo>
                  <a:pt x="70103" y="451103"/>
                </a:lnTo>
                <a:lnTo>
                  <a:pt x="57150" y="425195"/>
                </a:lnTo>
                <a:lnTo>
                  <a:pt x="57150" y="393191"/>
                </a:lnTo>
                <a:lnTo>
                  <a:pt x="0" y="470153"/>
                </a:lnTo>
                <a:lnTo>
                  <a:pt x="57150" y="470153"/>
                </a:lnTo>
                <a:lnTo>
                  <a:pt x="57150" y="425195"/>
                </a:lnTo>
                <a:lnTo>
                  <a:pt x="70055" y="418749"/>
                </a:lnTo>
                <a:lnTo>
                  <a:pt x="70055" y="470153"/>
                </a:lnTo>
                <a:lnTo>
                  <a:pt x="96012" y="470153"/>
                </a:lnTo>
                <a:close/>
              </a:path>
              <a:path w="920750" h="470535">
                <a:moveTo>
                  <a:pt x="83109" y="444601"/>
                </a:moveTo>
                <a:lnTo>
                  <a:pt x="70055" y="418749"/>
                </a:lnTo>
                <a:lnTo>
                  <a:pt x="57150" y="425195"/>
                </a:lnTo>
                <a:lnTo>
                  <a:pt x="70103" y="451103"/>
                </a:lnTo>
                <a:lnTo>
                  <a:pt x="83109" y="444601"/>
                </a:lnTo>
                <a:close/>
              </a:path>
              <a:path w="920750" h="470535">
                <a:moveTo>
                  <a:pt x="920495" y="25907"/>
                </a:moveTo>
                <a:lnTo>
                  <a:pt x="908303" y="0"/>
                </a:lnTo>
                <a:lnTo>
                  <a:pt x="70055" y="418749"/>
                </a:lnTo>
                <a:lnTo>
                  <a:pt x="83109" y="444601"/>
                </a:lnTo>
                <a:lnTo>
                  <a:pt x="920495" y="2590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81867" y="2431795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218694"/>
                </a:moveTo>
                <a:lnTo>
                  <a:pt x="0" y="218694"/>
                </a:lnTo>
                <a:lnTo>
                  <a:pt x="28194" y="275585"/>
                </a:lnTo>
                <a:lnTo>
                  <a:pt x="28194" y="233171"/>
                </a:lnTo>
                <a:lnTo>
                  <a:pt x="57150" y="233171"/>
                </a:lnTo>
                <a:lnTo>
                  <a:pt x="57150" y="275585"/>
                </a:lnTo>
                <a:lnTo>
                  <a:pt x="85343" y="218694"/>
                </a:lnTo>
                <a:close/>
              </a:path>
              <a:path w="85725" h="304800">
                <a:moveTo>
                  <a:pt x="57150" y="218694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18694"/>
                </a:lnTo>
                <a:lnTo>
                  <a:pt x="57150" y="218694"/>
                </a:lnTo>
                <a:close/>
              </a:path>
              <a:path w="85725" h="304800">
                <a:moveTo>
                  <a:pt x="57150" y="275585"/>
                </a:moveTo>
                <a:lnTo>
                  <a:pt x="57150" y="233171"/>
                </a:lnTo>
                <a:lnTo>
                  <a:pt x="28194" y="233171"/>
                </a:lnTo>
                <a:lnTo>
                  <a:pt x="28194" y="275585"/>
                </a:lnTo>
                <a:lnTo>
                  <a:pt x="42672" y="304800"/>
                </a:lnTo>
                <a:lnTo>
                  <a:pt x="57150" y="2755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4767" y="2341879"/>
            <a:ext cx="995680" cy="334645"/>
          </a:xfrm>
          <a:custGeom>
            <a:avLst/>
            <a:gdLst/>
            <a:ahLst/>
            <a:cxnLst/>
            <a:rect l="l" t="t" r="r" b="b"/>
            <a:pathLst>
              <a:path w="995679" h="334644">
                <a:moveTo>
                  <a:pt x="917556" y="279284"/>
                </a:moveTo>
                <a:lnTo>
                  <a:pt x="8381" y="0"/>
                </a:lnTo>
                <a:lnTo>
                  <a:pt x="0" y="27431"/>
                </a:lnTo>
                <a:lnTo>
                  <a:pt x="909169" y="306718"/>
                </a:lnTo>
                <a:lnTo>
                  <a:pt x="917556" y="279284"/>
                </a:lnTo>
                <a:close/>
              </a:path>
              <a:path w="995679" h="334644">
                <a:moveTo>
                  <a:pt x="931163" y="329353"/>
                </a:moveTo>
                <a:lnTo>
                  <a:pt x="931163" y="283463"/>
                </a:lnTo>
                <a:lnTo>
                  <a:pt x="922769" y="310895"/>
                </a:lnTo>
                <a:lnTo>
                  <a:pt x="909169" y="306718"/>
                </a:lnTo>
                <a:lnTo>
                  <a:pt x="900671" y="334518"/>
                </a:lnTo>
                <a:lnTo>
                  <a:pt x="931163" y="329353"/>
                </a:lnTo>
                <a:close/>
              </a:path>
              <a:path w="995679" h="334644">
                <a:moveTo>
                  <a:pt x="931163" y="283463"/>
                </a:moveTo>
                <a:lnTo>
                  <a:pt x="917556" y="279284"/>
                </a:lnTo>
                <a:lnTo>
                  <a:pt x="909169" y="306718"/>
                </a:lnTo>
                <a:lnTo>
                  <a:pt x="922769" y="310895"/>
                </a:lnTo>
                <a:lnTo>
                  <a:pt x="931163" y="283463"/>
                </a:lnTo>
                <a:close/>
              </a:path>
              <a:path w="995679" h="334644">
                <a:moveTo>
                  <a:pt x="995159" y="318515"/>
                </a:moveTo>
                <a:lnTo>
                  <a:pt x="925829" y="252221"/>
                </a:lnTo>
                <a:lnTo>
                  <a:pt x="917556" y="279284"/>
                </a:lnTo>
                <a:lnTo>
                  <a:pt x="931163" y="283463"/>
                </a:lnTo>
                <a:lnTo>
                  <a:pt x="931163" y="329353"/>
                </a:lnTo>
                <a:lnTo>
                  <a:pt x="995159" y="3185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8339" y="37271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60329" y="3874516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expr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4939" y="36509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30833" y="3798316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43339" y="3803396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0" y="0"/>
                </a:moveTo>
                <a:lnTo>
                  <a:pt x="0" y="381000"/>
                </a:lnTo>
                <a:lnTo>
                  <a:pt x="609599" y="381000"/>
                </a:lnTo>
                <a:lnTo>
                  <a:pt x="6095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59233" y="3693159"/>
            <a:ext cx="17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-</a:t>
            </a:r>
            <a:endParaRPr sz="3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76539" y="3333241"/>
            <a:ext cx="920750" cy="470534"/>
          </a:xfrm>
          <a:custGeom>
            <a:avLst/>
            <a:gdLst/>
            <a:ahLst/>
            <a:cxnLst/>
            <a:rect l="l" t="t" r="r" b="b"/>
            <a:pathLst>
              <a:path w="920750" h="470535">
                <a:moveTo>
                  <a:pt x="96012" y="470154"/>
                </a:moveTo>
                <a:lnTo>
                  <a:pt x="83109" y="444601"/>
                </a:lnTo>
                <a:lnTo>
                  <a:pt x="70104" y="451104"/>
                </a:lnTo>
                <a:lnTo>
                  <a:pt x="57150" y="425196"/>
                </a:lnTo>
                <a:lnTo>
                  <a:pt x="57150" y="393192"/>
                </a:lnTo>
                <a:lnTo>
                  <a:pt x="0" y="470154"/>
                </a:lnTo>
                <a:lnTo>
                  <a:pt x="57150" y="470154"/>
                </a:lnTo>
                <a:lnTo>
                  <a:pt x="57150" y="425196"/>
                </a:lnTo>
                <a:lnTo>
                  <a:pt x="70055" y="418749"/>
                </a:lnTo>
                <a:lnTo>
                  <a:pt x="70055" y="470154"/>
                </a:lnTo>
                <a:lnTo>
                  <a:pt x="96012" y="470154"/>
                </a:lnTo>
                <a:close/>
              </a:path>
              <a:path w="920750" h="470535">
                <a:moveTo>
                  <a:pt x="83109" y="444601"/>
                </a:moveTo>
                <a:lnTo>
                  <a:pt x="70055" y="418749"/>
                </a:lnTo>
                <a:lnTo>
                  <a:pt x="57150" y="425196"/>
                </a:lnTo>
                <a:lnTo>
                  <a:pt x="70104" y="451104"/>
                </a:lnTo>
                <a:lnTo>
                  <a:pt x="83109" y="444601"/>
                </a:lnTo>
                <a:close/>
              </a:path>
              <a:path w="920750" h="470535">
                <a:moveTo>
                  <a:pt x="920496" y="25908"/>
                </a:moveTo>
                <a:lnTo>
                  <a:pt x="908304" y="0"/>
                </a:lnTo>
                <a:lnTo>
                  <a:pt x="70055" y="418749"/>
                </a:lnTo>
                <a:lnTo>
                  <a:pt x="83109" y="444601"/>
                </a:lnTo>
                <a:lnTo>
                  <a:pt x="920496" y="2590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05467" y="34223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218693"/>
                </a:moveTo>
                <a:lnTo>
                  <a:pt x="0" y="218693"/>
                </a:lnTo>
                <a:lnTo>
                  <a:pt x="28194" y="275585"/>
                </a:lnTo>
                <a:lnTo>
                  <a:pt x="28194" y="233172"/>
                </a:lnTo>
                <a:lnTo>
                  <a:pt x="57150" y="233172"/>
                </a:lnTo>
                <a:lnTo>
                  <a:pt x="57150" y="275585"/>
                </a:lnTo>
                <a:lnTo>
                  <a:pt x="85343" y="218693"/>
                </a:lnTo>
                <a:close/>
              </a:path>
              <a:path w="85725" h="304800">
                <a:moveTo>
                  <a:pt x="57150" y="2186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18693"/>
                </a:lnTo>
                <a:lnTo>
                  <a:pt x="57150" y="218693"/>
                </a:lnTo>
                <a:close/>
              </a:path>
              <a:path w="85725" h="304800">
                <a:moveTo>
                  <a:pt x="57150" y="275585"/>
                </a:moveTo>
                <a:lnTo>
                  <a:pt x="57150" y="233172"/>
                </a:lnTo>
                <a:lnTo>
                  <a:pt x="28194" y="233172"/>
                </a:lnTo>
                <a:lnTo>
                  <a:pt x="28194" y="275585"/>
                </a:lnTo>
                <a:lnTo>
                  <a:pt x="42672" y="304800"/>
                </a:lnTo>
                <a:lnTo>
                  <a:pt x="57150" y="2755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48367" y="3332479"/>
            <a:ext cx="995680" cy="334645"/>
          </a:xfrm>
          <a:custGeom>
            <a:avLst/>
            <a:gdLst/>
            <a:ahLst/>
            <a:cxnLst/>
            <a:rect l="l" t="t" r="r" b="b"/>
            <a:pathLst>
              <a:path w="995679" h="334645">
                <a:moveTo>
                  <a:pt x="917560" y="279285"/>
                </a:moveTo>
                <a:lnTo>
                  <a:pt x="8381" y="0"/>
                </a:lnTo>
                <a:lnTo>
                  <a:pt x="0" y="27432"/>
                </a:lnTo>
                <a:lnTo>
                  <a:pt x="909178" y="306717"/>
                </a:lnTo>
                <a:lnTo>
                  <a:pt x="917560" y="279285"/>
                </a:lnTo>
                <a:close/>
              </a:path>
              <a:path w="995679" h="334645">
                <a:moveTo>
                  <a:pt x="931163" y="329356"/>
                </a:moveTo>
                <a:lnTo>
                  <a:pt x="931163" y="283464"/>
                </a:lnTo>
                <a:lnTo>
                  <a:pt x="922781" y="310896"/>
                </a:lnTo>
                <a:lnTo>
                  <a:pt x="909178" y="306717"/>
                </a:lnTo>
                <a:lnTo>
                  <a:pt x="900684" y="334518"/>
                </a:lnTo>
                <a:lnTo>
                  <a:pt x="931163" y="329356"/>
                </a:lnTo>
                <a:close/>
              </a:path>
              <a:path w="995679" h="334645">
                <a:moveTo>
                  <a:pt x="931163" y="283464"/>
                </a:moveTo>
                <a:lnTo>
                  <a:pt x="917560" y="279285"/>
                </a:lnTo>
                <a:lnTo>
                  <a:pt x="909178" y="306717"/>
                </a:lnTo>
                <a:lnTo>
                  <a:pt x="922781" y="310896"/>
                </a:lnTo>
                <a:lnTo>
                  <a:pt x="931163" y="283464"/>
                </a:lnTo>
                <a:close/>
              </a:path>
              <a:path w="995679" h="334645">
                <a:moveTo>
                  <a:pt x="995172" y="318516"/>
                </a:moveTo>
                <a:lnTo>
                  <a:pt x="925829" y="252222"/>
                </a:lnTo>
                <a:lnTo>
                  <a:pt x="917560" y="279285"/>
                </a:lnTo>
                <a:lnTo>
                  <a:pt x="931163" y="283464"/>
                </a:lnTo>
                <a:lnTo>
                  <a:pt x="931163" y="329356"/>
                </a:lnTo>
                <a:lnTo>
                  <a:pt x="995172" y="31851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8339" y="47177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54234" y="4865116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52867" y="4336796"/>
            <a:ext cx="85725" cy="381000"/>
          </a:xfrm>
          <a:custGeom>
            <a:avLst/>
            <a:gdLst/>
            <a:ahLst/>
            <a:cxnLst/>
            <a:rect l="l" t="t" r="r" b="b"/>
            <a:pathLst>
              <a:path w="85725" h="381000">
                <a:moveTo>
                  <a:pt x="85343" y="294893"/>
                </a:moveTo>
                <a:lnTo>
                  <a:pt x="0" y="294893"/>
                </a:lnTo>
                <a:lnTo>
                  <a:pt x="28193" y="351785"/>
                </a:lnTo>
                <a:lnTo>
                  <a:pt x="28193" y="309372"/>
                </a:lnTo>
                <a:lnTo>
                  <a:pt x="57150" y="309372"/>
                </a:lnTo>
                <a:lnTo>
                  <a:pt x="57150" y="351785"/>
                </a:lnTo>
                <a:lnTo>
                  <a:pt x="85343" y="294893"/>
                </a:lnTo>
                <a:close/>
              </a:path>
              <a:path w="85725" h="381000">
                <a:moveTo>
                  <a:pt x="57150" y="294893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294893"/>
                </a:lnTo>
                <a:lnTo>
                  <a:pt x="57150" y="294893"/>
                </a:lnTo>
                <a:close/>
              </a:path>
              <a:path w="85725" h="381000">
                <a:moveTo>
                  <a:pt x="57150" y="351785"/>
                </a:moveTo>
                <a:lnTo>
                  <a:pt x="57150" y="309372"/>
                </a:lnTo>
                <a:lnTo>
                  <a:pt x="28193" y="309372"/>
                </a:lnTo>
                <a:lnTo>
                  <a:pt x="28193" y="351785"/>
                </a:lnTo>
                <a:lnTo>
                  <a:pt x="42671" y="381000"/>
                </a:lnTo>
                <a:lnTo>
                  <a:pt x="57150" y="3517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52867" y="5327396"/>
            <a:ext cx="85725" cy="381000"/>
          </a:xfrm>
          <a:custGeom>
            <a:avLst/>
            <a:gdLst/>
            <a:ahLst/>
            <a:cxnLst/>
            <a:rect l="l" t="t" r="r" b="b"/>
            <a:pathLst>
              <a:path w="85725" h="381000">
                <a:moveTo>
                  <a:pt x="85343" y="294893"/>
                </a:moveTo>
                <a:lnTo>
                  <a:pt x="0" y="294893"/>
                </a:lnTo>
                <a:lnTo>
                  <a:pt x="28193" y="351785"/>
                </a:lnTo>
                <a:lnTo>
                  <a:pt x="28193" y="309372"/>
                </a:lnTo>
                <a:lnTo>
                  <a:pt x="57150" y="309372"/>
                </a:lnTo>
                <a:lnTo>
                  <a:pt x="57150" y="351785"/>
                </a:lnTo>
                <a:lnTo>
                  <a:pt x="85343" y="294893"/>
                </a:lnTo>
                <a:close/>
              </a:path>
              <a:path w="85725" h="381000">
                <a:moveTo>
                  <a:pt x="57150" y="294893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294893"/>
                </a:lnTo>
                <a:lnTo>
                  <a:pt x="57150" y="294893"/>
                </a:lnTo>
                <a:close/>
              </a:path>
              <a:path w="85725" h="381000">
                <a:moveTo>
                  <a:pt x="57150" y="351785"/>
                </a:moveTo>
                <a:lnTo>
                  <a:pt x="57150" y="309372"/>
                </a:lnTo>
                <a:lnTo>
                  <a:pt x="28193" y="309372"/>
                </a:lnTo>
                <a:lnTo>
                  <a:pt x="28193" y="351785"/>
                </a:lnTo>
                <a:lnTo>
                  <a:pt x="42671" y="381000"/>
                </a:lnTo>
                <a:lnTo>
                  <a:pt x="57150" y="3517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22635" y="5656070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9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29467" y="4336796"/>
            <a:ext cx="85725" cy="381000"/>
          </a:xfrm>
          <a:custGeom>
            <a:avLst/>
            <a:gdLst/>
            <a:ahLst/>
            <a:cxnLst/>
            <a:rect l="l" t="t" r="r" b="b"/>
            <a:pathLst>
              <a:path w="85725" h="381000">
                <a:moveTo>
                  <a:pt x="85343" y="294893"/>
                </a:moveTo>
                <a:lnTo>
                  <a:pt x="0" y="294893"/>
                </a:lnTo>
                <a:lnTo>
                  <a:pt x="28194" y="351785"/>
                </a:lnTo>
                <a:lnTo>
                  <a:pt x="28194" y="309372"/>
                </a:lnTo>
                <a:lnTo>
                  <a:pt x="57150" y="309372"/>
                </a:lnTo>
                <a:lnTo>
                  <a:pt x="57150" y="351785"/>
                </a:lnTo>
                <a:lnTo>
                  <a:pt x="85343" y="294893"/>
                </a:lnTo>
                <a:close/>
              </a:path>
              <a:path w="85725" h="381000">
                <a:moveTo>
                  <a:pt x="57150" y="2948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94893"/>
                </a:lnTo>
                <a:lnTo>
                  <a:pt x="57150" y="294893"/>
                </a:lnTo>
                <a:close/>
              </a:path>
              <a:path w="85725" h="381000">
                <a:moveTo>
                  <a:pt x="57150" y="351785"/>
                </a:moveTo>
                <a:lnTo>
                  <a:pt x="57150" y="309372"/>
                </a:lnTo>
                <a:lnTo>
                  <a:pt x="28194" y="309372"/>
                </a:lnTo>
                <a:lnTo>
                  <a:pt x="28194" y="351785"/>
                </a:lnTo>
                <a:lnTo>
                  <a:pt x="42672" y="381000"/>
                </a:lnTo>
                <a:lnTo>
                  <a:pt x="57150" y="3517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499235" y="4665472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05867" y="3269996"/>
            <a:ext cx="85725" cy="381000"/>
          </a:xfrm>
          <a:custGeom>
            <a:avLst/>
            <a:gdLst/>
            <a:ahLst/>
            <a:cxnLst/>
            <a:rect l="l" t="t" r="r" b="b"/>
            <a:pathLst>
              <a:path w="85725" h="381000">
                <a:moveTo>
                  <a:pt x="85331" y="294893"/>
                </a:moveTo>
                <a:lnTo>
                  <a:pt x="0" y="294893"/>
                </a:lnTo>
                <a:lnTo>
                  <a:pt x="28194" y="351802"/>
                </a:lnTo>
                <a:lnTo>
                  <a:pt x="28194" y="309372"/>
                </a:lnTo>
                <a:lnTo>
                  <a:pt x="57150" y="309372"/>
                </a:lnTo>
                <a:lnTo>
                  <a:pt x="57150" y="351759"/>
                </a:lnTo>
                <a:lnTo>
                  <a:pt x="85331" y="294893"/>
                </a:lnTo>
                <a:close/>
              </a:path>
              <a:path w="85725" h="381000">
                <a:moveTo>
                  <a:pt x="57150" y="2948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94893"/>
                </a:lnTo>
                <a:lnTo>
                  <a:pt x="57150" y="294893"/>
                </a:lnTo>
                <a:close/>
              </a:path>
              <a:path w="85725" h="381000">
                <a:moveTo>
                  <a:pt x="57150" y="351759"/>
                </a:moveTo>
                <a:lnTo>
                  <a:pt x="57150" y="309372"/>
                </a:lnTo>
                <a:lnTo>
                  <a:pt x="28194" y="309372"/>
                </a:lnTo>
                <a:lnTo>
                  <a:pt x="28194" y="351802"/>
                </a:lnTo>
                <a:lnTo>
                  <a:pt x="42659" y="381000"/>
                </a:lnTo>
                <a:lnTo>
                  <a:pt x="57150" y="35175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175635" y="3598672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4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27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7628" y="5427470"/>
            <a:ext cx="29006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8464" algn="l"/>
                <a:tab pos="2069464" algn="l"/>
                <a:tab pos="2679065" algn="l"/>
              </a:tabLst>
            </a:pPr>
            <a:r>
              <a:rPr sz="2800" spc="-5" dirty="0">
                <a:latin typeface="Arial"/>
                <a:cs typeface="Arial"/>
              </a:rPr>
              <a:t>Output</a:t>
            </a:r>
            <a:r>
              <a:rPr sz="2800" dirty="0">
                <a:latin typeface="Arial"/>
                <a:cs typeface="Arial"/>
              </a:rPr>
              <a:t>: 9	2	-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4	+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9001" y="469900"/>
            <a:ext cx="3128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  <a:r>
              <a:rPr spc="-40" dirty="0"/>
              <a:t> </a:t>
            </a:r>
            <a:r>
              <a:rPr spc="-10" dirty="0"/>
              <a:t>(9-2+4)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139" y="1136396"/>
            <a:ext cx="5562600" cy="457200"/>
          </a:xfrm>
          <a:prstGeom prst="rect">
            <a:avLst/>
          </a:prstGeom>
          <a:ln w="9525">
            <a:solidFill>
              <a:srgbClr val="010101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50"/>
              </a:spcBef>
            </a:pPr>
            <a:r>
              <a:rPr sz="2800" spc="-5" dirty="0">
                <a:latin typeface="Arial"/>
                <a:cs typeface="Arial"/>
              </a:rPr>
              <a:t>Construct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parse </a:t>
            </a:r>
            <a:r>
              <a:rPr sz="2800" dirty="0">
                <a:latin typeface="Arial"/>
                <a:cs typeface="Arial"/>
              </a:rPr>
              <a:t>tree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bottom-up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824" y="5503664"/>
            <a:ext cx="29006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9100" algn="l"/>
                <a:tab pos="2069464" algn="l"/>
                <a:tab pos="2679065" algn="l"/>
              </a:tabLst>
            </a:pPr>
            <a:r>
              <a:rPr sz="2800" spc="-5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utput: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9	2	-</a:t>
            </a:r>
            <a:r>
              <a:rPr sz="2800" spc="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4	+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2624" y="5046463"/>
            <a:ext cx="1747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</a:tabLst>
            </a:pPr>
            <a:r>
              <a:rPr sz="2800" dirty="0">
                <a:latin typeface="Arial"/>
                <a:cs typeface="Arial"/>
              </a:rPr>
              <a:t>9	-	2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7018" y="5046463"/>
            <a:ext cx="2336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+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7609" y="5046463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4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339" y="41081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54234" y="4255516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52867" y="47939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85343"/>
                </a:moveTo>
                <a:lnTo>
                  <a:pt x="42671" y="0"/>
                </a:lnTo>
                <a:lnTo>
                  <a:pt x="0" y="85343"/>
                </a:lnTo>
                <a:lnTo>
                  <a:pt x="28193" y="85343"/>
                </a:lnTo>
                <a:lnTo>
                  <a:pt x="28193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304800">
                <a:moveTo>
                  <a:pt x="57150" y="85343"/>
                </a:moveTo>
                <a:lnTo>
                  <a:pt x="57150" y="71627"/>
                </a:lnTo>
                <a:lnTo>
                  <a:pt x="28193" y="71627"/>
                </a:lnTo>
                <a:lnTo>
                  <a:pt x="28193" y="85343"/>
                </a:lnTo>
                <a:lnTo>
                  <a:pt x="57150" y="85343"/>
                </a:lnTo>
                <a:close/>
              </a:path>
              <a:path w="85725" h="304800">
                <a:moveTo>
                  <a:pt x="57150" y="304800"/>
                </a:moveTo>
                <a:lnTo>
                  <a:pt x="57150" y="85343"/>
                </a:lnTo>
                <a:lnTo>
                  <a:pt x="28193" y="85343"/>
                </a:lnTo>
                <a:lnTo>
                  <a:pt x="28193" y="304800"/>
                </a:lnTo>
                <a:lnTo>
                  <a:pt x="57150" y="3048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8339" y="3193795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60329" y="3341115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expr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52867" y="38033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85343"/>
                </a:moveTo>
                <a:lnTo>
                  <a:pt x="42671" y="0"/>
                </a:lnTo>
                <a:lnTo>
                  <a:pt x="0" y="85343"/>
                </a:lnTo>
                <a:lnTo>
                  <a:pt x="28193" y="85343"/>
                </a:lnTo>
                <a:lnTo>
                  <a:pt x="28193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304800">
                <a:moveTo>
                  <a:pt x="57150" y="85343"/>
                </a:moveTo>
                <a:lnTo>
                  <a:pt x="57150" y="71627"/>
                </a:lnTo>
                <a:lnTo>
                  <a:pt x="28193" y="71627"/>
                </a:lnTo>
                <a:lnTo>
                  <a:pt x="28193" y="85343"/>
                </a:lnTo>
                <a:lnTo>
                  <a:pt x="57150" y="85343"/>
                </a:lnTo>
                <a:close/>
              </a:path>
              <a:path w="85725" h="304800">
                <a:moveTo>
                  <a:pt x="57150" y="304800"/>
                </a:moveTo>
                <a:lnTo>
                  <a:pt x="57150" y="85343"/>
                </a:lnTo>
                <a:lnTo>
                  <a:pt x="28193" y="85343"/>
                </a:lnTo>
                <a:lnTo>
                  <a:pt x="28193" y="304800"/>
                </a:lnTo>
                <a:lnTo>
                  <a:pt x="57150" y="3048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62339" y="41081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78233" y="4255516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6867" y="47939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85343"/>
                </a:moveTo>
                <a:lnTo>
                  <a:pt x="42671" y="0"/>
                </a:lnTo>
                <a:lnTo>
                  <a:pt x="0" y="85343"/>
                </a:lnTo>
                <a:lnTo>
                  <a:pt x="28193" y="85343"/>
                </a:lnTo>
                <a:lnTo>
                  <a:pt x="28193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304800">
                <a:moveTo>
                  <a:pt x="57150" y="85343"/>
                </a:moveTo>
                <a:lnTo>
                  <a:pt x="57150" y="71627"/>
                </a:lnTo>
                <a:lnTo>
                  <a:pt x="28193" y="71627"/>
                </a:lnTo>
                <a:lnTo>
                  <a:pt x="28193" y="85343"/>
                </a:lnTo>
                <a:lnTo>
                  <a:pt x="57150" y="85343"/>
                </a:lnTo>
                <a:close/>
              </a:path>
              <a:path w="85725" h="304800">
                <a:moveTo>
                  <a:pt x="57150" y="304800"/>
                </a:moveTo>
                <a:lnTo>
                  <a:pt x="57150" y="85343"/>
                </a:lnTo>
                <a:lnTo>
                  <a:pt x="28193" y="85343"/>
                </a:lnTo>
                <a:lnTo>
                  <a:pt x="28193" y="304800"/>
                </a:lnTo>
                <a:lnTo>
                  <a:pt x="57150" y="3048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28939" y="2203195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799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599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799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50929" y="2350515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expr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16519" y="2812795"/>
            <a:ext cx="617220" cy="393700"/>
          </a:xfrm>
          <a:custGeom>
            <a:avLst/>
            <a:gdLst/>
            <a:ahLst/>
            <a:cxnLst/>
            <a:rect l="l" t="t" r="r" b="b"/>
            <a:pathLst>
              <a:path w="617219" h="393700">
                <a:moveTo>
                  <a:pt x="552098" y="57655"/>
                </a:moveTo>
                <a:lnTo>
                  <a:pt x="537135" y="33563"/>
                </a:lnTo>
                <a:lnTo>
                  <a:pt x="0" y="368807"/>
                </a:lnTo>
                <a:lnTo>
                  <a:pt x="15239" y="393191"/>
                </a:lnTo>
                <a:lnTo>
                  <a:pt x="552098" y="57655"/>
                </a:lnTo>
                <a:close/>
              </a:path>
              <a:path w="617219" h="393700">
                <a:moveTo>
                  <a:pt x="617219" y="0"/>
                </a:moveTo>
                <a:lnTo>
                  <a:pt x="521969" y="9143"/>
                </a:lnTo>
                <a:lnTo>
                  <a:pt x="537135" y="33563"/>
                </a:lnTo>
                <a:lnTo>
                  <a:pt x="549401" y="25907"/>
                </a:lnTo>
                <a:lnTo>
                  <a:pt x="563880" y="50291"/>
                </a:lnTo>
                <a:lnTo>
                  <a:pt x="563880" y="76626"/>
                </a:lnTo>
                <a:lnTo>
                  <a:pt x="566927" y="81533"/>
                </a:lnTo>
                <a:lnTo>
                  <a:pt x="617219" y="0"/>
                </a:lnTo>
                <a:close/>
              </a:path>
              <a:path w="617219" h="393700">
                <a:moveTo>
                  <a:pt x="563880" y="50291"/>
                </a:moveTo>
                <a:lnTo>
                  <a:pt x="549401" y="25907"/>
                </a:lnTo>
                <a:lnTo>
                  <a:pt x="537135" y="33563"/>
                </a:lnTo>
                <a:lnTo>
                  <a:pt x="552098" y="57655"/>
                </a:lnTo>
                <a:lnTo>
                  <a:pt x="563880" y="50291"/>
                </a:lnTo>
                <a:close/>
              </a:path>
              <a:path w="617219" h="393700">
                <a:moveTo>
                  <a:pt x="563880" y="76626"/>
                </a:moveTo>
                <a:lnTo>
                  <a:pt x="563880" y="50291"/>
                </a:lnTo>
                <a:lnTo>
                  <a:pt x="552098" y="57655"/>
                </a:lnTo>
                <a:lnTo>
                  <a:pt x="563880" y="7662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43061" y="2812795"/>
            <a:ext cx="204470" cy="2363470"/>
          </a:xfrm>
          <a:custGeom>
            <a:avLst/>
            <a:gdLst/>
            <a:ahLst/>
            <a:cxnLst/>
            <a:rect l="l" t="t" r="r" b="b"/>
            <a:pathLst>
              <a:path w="204469" h="2363470">
                <a:moveTo>
                  <a:pt x="175865" y="86620"/>
                </a:moveTo>
                <a:lnTo>
                  <a:pt x="146879" y="84808"/>
                </a:lnTo>
                <a:lnTo>
                  <a:pt x="0" y="2361438"/>
                </a:lnTo>
                <a:lnTo>
                  <a:pt x="28956" y="2362962"/>
                </a:lnTo>
                <a:lnTo>
                  <a:pt x="175865" y="86620"/>
                </a:lnTo>
                <a:close/>
              </a:path>
              <a:path w="204469" h="2363470">
                <a:moveTo>
                  <a:pt x="204215" y="88391"/>
                </a:moveTo>
                <a:lnTo>
                  <a:pt x="166877" y="0"/>
                </a:lnTo>
                <a:lnTo>
                  <a:pt x="118871" y="83057"/>
                </a:lnTo>
                <a:lnTo>
                  <a:pt x="146879" y="84808"/>
                </a:lnTo>
                <a:lnTo>
                  <a:pt x="147827" y="70103"/>
                </a:lnTo>
                <a:lnTo>
                  <a:pt x="176783" y="72389"/>
                </a:lnTo>
                <a:lnTo>
                  <a:pt x="176783" y="86677"/>
                </a:lnTo>
                <a:lnTo>
                  <a:pt x="204215" y="88391"/>
                </a:lnTo>
                <a:close/>
              </a:path>
              <a:path w="204469" h="2363470">
                <a:moveTo>
                  <a:pt x="176783" y="72389"/>
                </a:moveTo>
                <a:lnTo>
                  <a:pt x="147827" y="70103"/>
                </a:lnTo>
                <a:lnTo>
                  <a:pt x="146879" y="84808"/>
                </a:lnTo>
                <a:lnTo>
                  <a:pt x="175865" y="86620"/>
                </a:lnTo>
                <a:lnTo>
                  <a:pt x="176783" y="72389"/>
                </a:lnTo>
                <a:close/>
              </a:path>
              <a:path w="204469" h="2363470">
                <a:moveTo>
                  <a:pt x="176783" y="86677"/>
                </a:moveTo>
                <a:lnTo>
                  <a:pt x="176783" y="72389"/>
                </a:lnTo>
                <a:lnTo>
                  <a:pt x="175865" y="86620"/>
                </a:lnTo>
                <a:lnTo>
                  <a:pt x="176783" y="8667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79281" y="2812795"/>
            <a:ext cx="553720" cy="1301115"/>
          </a:xfrm>
          <a:custGeom>
            <a:avLst/>
            <a:gdLst/>
            <a:ahLst/>
            <a:cxnLst/>
            <a:rect l="l" t="t" r="r" b="b"/>
            <a:pathLst>
              <a:path w="553719" h="1301114">
                <a:moveTo>
                  <a:pt x="79248" y="63245"/>
                </a:moveTo>
                <a:lnTo>
                  <a:pt x="6857" y="0"/>
                </a:lnTo>
                <a:lnTo>
                  <a:pt x="0" y="95250"/>
                </a:lnTo>
                <a:lnTo>
                  <a:pt x="20574" y="86941"/>
                </a:lnTo>
                <a:lnTo>
                  <a:pt x="20574" y="71627"/>
                </a:lnTo>
                <a:lnTo>
                  <a:pt x="47243" y="60959"/>
                </a:lnTo>
                <a:lnTo>
                  <a:pt x="52612" y="74002"/>
                </a:lnTo>
                <a:lnTo>
                  <a:pt x="79248" y="63245"/>
                </a:lnTo>
                <a:close/>
              </a:path>
              <a:path w="553719" h="1301114">
                <a:moveTo>
                  <a:pt x="52612" y="74002"/>
                </a:moveTo>
                <a:lnTo>
                  <a:pt x="47243" y="60959"/>
                </a:lnTo>
                <a:lnTo>
                  <a:pt x="20574" y="71627"/>
                </a:lnTo>
                <a:lnTo>
                  <a:pt x="25986" y="84755"/>
                </a:lnTo>
                <a:lnTo>
                  <a:pt x="52612" y="74002"/>
                </a:lnTo>
                <a:close/>
              </a:path>
              <a:path w="553719" h="1301114">
                <a:moveTo>
                  <a:pt x="25986" y="84755"/>
                </a:moveTo>
                <a:lnTo>
                  <a:pt x="20574" y="71627"/>
                </a:lnTo>
                <a:lnTo>
                  <a:pt x="20574" y="86941"/>
                </a:lnTo>
                <a:lnTo>
                  <a:pt x="25986" y="84755"/>
                </a:lnTo>
                <a:close/>
              </a:path>
              <a:path w="553719" h="1301114">
                <a:moveTo>
                  <a:pt x="553212" y="1290065"/>
                </a:moveTo>
                <a:lnTo>
                  <a:pt x="52612" y="74002"/>
                </a:lnTo>
                <a:lnTo>
                  <a:pt x="25986" y="84755"/>
                </a:lnTo>
                <a:lnTo>
                  <a:pt x="527304" y="1300733"/>
                </a:lnTo>
                <a:lnTo>
                  <a:pt x="553212" y="129006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19739" y="41081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35633" y="4255516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834267" y="47939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3048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304800">
                <a:moveTo>
                  <a:pt x="57150" y="304800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304800"/>
                </a:lnTo>
                <a:lnTo>
                  <a:pt x="57150" y="3048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57739" y="159359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399905" y="2373"/>
                </a:lnTo>
                <a:lnTo>
                  <a:pt x="344718" y="9304"/>
                </a:lnTo>
                <a:lnTo>
                  <a:pt x="292071" y="20508"/>
                </a:lnTo>
                <a:lnTo>
                  <a:pt x="242392" y="35699"/>
                </a:lnTo>
                <a:lnTo>
                  <a:pt x="196115" y="54592"/>
                </a:lnTo>
                <a:lnTo>
                  <a:pt x="153668" y="76901"/>
                </a:lnTo>
                <a:lnTo>
                  <a:pt x="115484" y="102343"/>
                </a:lnTo>
                <a:lnTo>
                  <a:pt x="81992" y="130632"/>
                </a:lnTo>
                <a:lnTo>
                  <a:pt x="53623" y="161482"/>
                </a:lnTo>
                <a:lnTo>
                  <a:pt x="30809" y="194610"/>
                </a:lnTo>
                <a:lnTo>
                  <a:pt x="13980" y="229728"/>
                </a:lnTo>
                <a:lnTo>
                  <a:pt x="3566" y="266553"/>
                </a:lnTo>
                <a:lnTo>
                  <a:pt x="0" y="304800"/>
                </a:lnTo>
                <a:lnTo>
                  <a:pt x="3566" y="343046"/>
                </a:lnTo>
                <a:lnTo>
                  <a:pt x="13980" y="379871"/>
                </a:lnTo>
                <a:lnTo>
                  <a:pt x="30809" y="414989"/>
                </a:lnTo>
                <a:lnTo>
                  <a:pt x="53623" y="448117"/>
                </a:lnTo>
                <a:lnTo>
                  <a:pt x="81992" y="478967"/>
                </a:lnTo>
                <a:lnTo>
                  <a:pt x="115484" y="507256"/>
                </a:lnTo>
                <a:lnTo>
                  <a:pt x="153668" y="532698"/>
                </a:lnTo>
                <a:lnTo>
                  <a:pt x="196115" y="555007"/>
                </a:lnTo>
                <a:lnTo>
                  <a:pt x="242392" y="573900"/>
                </a:lnTo>
                <a:lnTo>
                  <a:pt x="292071" y="589091"/>
                </a:lnTo>
                <a:lnTo>
                  <a:pt x="344718" y="600295"/>
                </a:lnTo>
                <a:lnTo>
                  <a:pt x="399905" y="607226"/>
                </a:lnTo>
                <a:lnTo>
                  <a:pt x="457200" y="609600"/>
                </a:lnTo>
                <a:lnTo>
                  <a:pt x="514494" y="607226"/>
                </a:lnTo>
                <a:lnTo>
                  <a:pt x="569681" y="600295"/>
                </a:lnTo>
                <a:lnTo>
                  <a:pt x="622328" y="589091"/>
                </a:lnTo>
                <a:lnTo>
                  <a:pt x="672007" y="573900"/>
                </a:lnTo>
                <a:lnTo>
                  <a:pt x="718284" y="555007"/>
                </a:lnTo>
                <a:lnTo>
                  <a:pt x="760731" y="532698"/>
                </a:lnTo>
                <a:lnTo>
                  <a:pt x="798915" y="507256"/>
                </a:lnTo>
                <a:lnTo>
                  <a:pt x="832407" y="478967"/>
                </a:lnTo>
                <a:lnTo>
                  <a:pt x="860776" y="448117"/>
                </a:lnTo>
                <a:lnTo>
                  <a:pt x="883590" y="414989"/>
                </a:lnTo>
                <a:lnTo>
                  <a:pt x="900419" y="379871"/>
                </a:lnTo>
                <a:lnTo>
                  <a:pt x="910833" y="343046"/>
                </a:lnTo>
                <a:lnTo>
                  <a:pt x="914400" y="304800"/>
                </a:lnTo>
                <a:lnTo>
                  <a:pt x="910833" y="266553"/>
                </a:lnTo>
                <a:lnTo>
                  <a:pt x="900419" y="229728"/>
                </a:lnTo>
                <a:lnTo>
                  <a:pt x="883590" y="194610"/>
                </a:lnTo>
                <a:lnTo>
                  <a:pt x="860776" y="161482"/>
                </a:lnTo>
                <a:lnTo>
                  <a:pt x="832407" y="130632"/>
                </a:lnTo>
                <a:lnTo>
                  <a:pt x="798915" y="102343"/>
                </a:lnTo>
                <a:lnTo>
                  <a:pt x="760731" y="76901"/>
                </a:lnTo>
                <a:lnTo>
                  <a:pt x="718284" y="54592"/>
                </a:lnTo>
                <a:lnTo>
                  <a:pt x="672007" y="35699"/>
                </a:lnTo>
                <a:lnTo>
                  <a:pt x="622328" y="20508"/>
                </a:lnTo>
                <a:lnTo>
                  <a:pt x="569681" y="9304"/>
                </a:lnTo>
                <a:lnTo>
                  <a:pt x="514494" y="2373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879729" y="1740915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expr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39529" y="2109470"/>
            <a:ext cx="1070610" cy="336550"/>
          </a:xfrm>
          <a:custGeom>
            <a:avLst/>
            <a:gdLst/>
            <a:ahLst/>
            <a:cxnLst/>
            <a:rect l="l" t="t" r="r" b="b"/>
            <a:pathLst>
              <a:path w="1070610" h="336550">
                <a:moveTo>
                  <a:pt x="991917" y="55028"/>
                </a:moveTo>
                <a:lnTo>
                  <a:pt x="984062" y="27663"/>
                </a:lnTo>
                <a:lnTo>
                  <a:pt x="0" y="308610"/>
                </a:lnTo>
                <a:lnTo>
                  <a:pt x="7619" y="336042"/>
                </a:lnTo>
                <a:lnTo>
                  <a:pt x="991917" y="55028"/>
                </a:lnTo>
                <a:close/>
              </a:path>
              <a:path w="1070610" h="336550">
                <a:moveTo>
                  <a:pt x="1070610" y="17525"/>
                </a:moveTo>
                <a:lnTo>
                  <a:pt x="976122" y="0"/>
                </a:lnTo>
                <a:lnTo>
                  <a:pt x="984062" y="27663"/>
                </a:lnTo>
                <a:lnTo>
                  <a:pt x="998219" y="23622"/>
                </a:lnTo>
                <a:lnTo>
                  <a:pt x="1005839" y="51054"/>
                </a:lnTo>
                <a:lnTo>
                  <a:pt x="1005839" y="76724"/>
                </a:lnTo>
                <a:lnTo>
                  <a:pt x="1070610" y="17525"/>
                </a:lnTo>
                <a:close/>
              </a:path>
              <a:path w="1070610" h="336550">
                <a:moveTo>
                  <a:pt x="1005839" y="51054"/>
                </a:moveTo>
                <a:lnTo>
                  <a:pt x="998219" y="23622"/>
                </a:lnTo>
                <a:lnTo>
                  <a:pt x="984062" y="27663"/>
                </a:lnTo>
                <a:lnTo>
                  <a:pt x="991917" y="55028"/>
                </a:lnTo>
                <a:lnTo>
                  <a:pt x="1005839" y="51054"/>
                </a:lnTo>
                <a:close/>
              </a:path>
              <a:path w="1070610" h="336550">
                <a:moveTo>
                  <a:pt x="1005839" y="76724"/>
                </a:moveTo>
                <a:lnTo>
                  <a:pt x="1005839" y="51054"/>
                </a:lnTo>
                <a:lnTo>
                  <a:pt x="991917" y="55028"/>
                </a:lnTo>
                <a:lnTo>
                  <a:pt x="999743" y="82296"/>
                </a:lnTo>
                <a:lnTo>
                  <a:pt x="1005839" y="7672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71861" y="2203195"/>
            <a:ext cx="205104" cy="2973070"/>
          </a:xfrm>
          <a:custGeom>
            <a:avLst/>
            <a:gdLst/>
            <a:ahLst/>
            <a:cxnLst/>
            <a:rect l="l" t="t" r="r" b="b"/>
            <a:pathLst>
              <a:path w="205104" h="2973070">
                <a:moveTo>
                  <a:pt x="176842" y="86122"/>
                </a:moveTo>
                <a:lnTo>
                  <a:pt x="147887" y="84571"/>
                </a:lnTo>
                <a:lnTo>
                  <a:pt x="0" y="2971038"/>
                </a:lnTo>
                <a:lnTo>
                  <a:pt x="28956" y="2972562"/>
                </a:lnTo>
                <a:lnTo>
                  <a:pt x="176842" y="86122"/>
                </a:lnTo>
                <a:close/>
              </a:path>
              <a:path w="205104" h="2973070">
                <a:moveTo>
                  <a:pt x="204978" y="87630"/>
                </a:moveTo>
                <a:lnTo>
                  <a:pt x="166878" y="0"/>
                </a:lnTo>
                <a:lnTo>
                  <a:pt x="119634" y="83058"/>
                </a:lnTo>
                <a:lnTo>
                  <a:pt x="147887" y="84571"/>
                </a:lnTo>
                <a:lnTo>
                  <a:pt x="148590" y="70866"/>
                </a:lnTo>
                <a:lnTo>
                  <a:pt x="177546" y="72390"/>
                </a:lnTo>
                <a:lnTo>
                  <a:pt x="177546" y="86160"/>
                </a:lnTo>
                <a:lnTo>
                  <a:pt x="204978" y="87630"/>
                </a:lnTo>
                <a:close/>
              </a:path>
              <a:path w="205104" h="2973070">
                <a:moveTo>
                  <a:pt x="177546" y="72390"/>
                </a:moveTo>
                <a:lnTo>
                  <a:pt x="148590" y="70866"/>
                </a:lnTo>
                <a:lnTo>
                  <a:pt x="147887" y="84571"/>
                </a:lnTo>
                <a:lnTo>
                  <a:pt x="176842" y="86122"/>
                </a:lnTo>
                <a:lnTo>
                  <a:pt x="177546" y="72390"/>
                </a:lnTo>
                <a:close/>
              </a:path>
              <a:path w="205104" h="2973070">
                <a:moveTo>
                  <a:pt x="177546" y="86160"/>
                </a:moveTo>
                <a:lnTo>
                  <a:pt x="177546" y="72390"/>
                </a:lnTo>
                <a:lnTo>
                  <a:pt x="176842" y="86122"/>
                </a:lnTo>
                <a:lnTo>
                  <a:pt x="177546" y="8616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52861" y="2203195"/>
            <a:ext cx="638175" cy="1910080"/>
          </a:xfrm>
          <a:custGeom>
            <a:avLst/>
            <a:gdLst/>
            <a:ahLst/>
            <a:cxnLst/>
            <a:rect l="l" t="t" r="r" b="b"/>
            <a:pathLst>
              <a:path w="638175" h="1910079">
                <a:moveTo>
                  <a:pt x="81534" y="68580"/>
                </a:moveTo>
                <a:lnTo>
                  <a:pt x="14478" y="0"/>
                </a:lnTo>
                <a:lnTo>
                  <a:pt x="0" y="94487"/>
                </a:lnTo>
                <a:lnTo>
                  <a:pt x="22860" y="87224"/>
                </a:lnTo>
                <a:lnTo>
                  <a:pt x="22860" y="72390"/>
                </a:lnTo>
                <a:lnTo>
                  <a:pt x="49530" y="64008"/>
                </a:lnTo>
                <a:lnTo>
                  <a:pt x="53815" y="77387"/>
                </a:lnTo>
                <a:lnTo>
                  <a:pt x="81534" y="68580"/>
                </a:lnTo>
                <a:close/>
              </a:path>
              <a:path w="638175" h="1910079">
                <a:moveTo>
                  <a:pt x="53815" y="77387"/>
                </a:moveTo>
                <a:lnTo>
                  <a:pt x="49530" y="64008"/>
                </a:lnTo>
                <a:lnTo>
                  <a:pt x="22860" y="72390"/>
                </a:lnTo>
                <a:lnTo>
                  <a:pt x="27166" y="85855"/>
                </a:lnTo>
                <a:lnTo>
                  <a:pt x="53815" y="77387"/>
                </a:lnTo>
                <a:close/>
              </a:path>
              <a:path w="638175" h="1910079">
                <a:moveTo>
                  <a:pt x="27166" y="85855"/>
                </a:moveTo>
                <a:lnTo>
                  <a:pt x="22860" y="72390"/>
                </a:lnTo>
                <a:lnTo>
                  <a:pt x="22860" y="87224"/>
                </a:lnTo>
                <a:lnTo>
                  <a:pt x="27166" y="85855"/>
                </a:lnTo>
                <a:close/>
              </a:path>
              <a:path w="638175" h="1910079">
                <a:moveTo>
                  <a:pt x="637794" y="1900428"/>
                </a:moveTo>
                <a:lnTo>
                  <a:pt x="53815" y="77387"/>
                </a:lnTo>
                <a:lnTo>
                  <a:pt x="27166" y="85855"/>
                </a:lnTo>
                <a:lnTo>
                  <a:pt x="610362" y="1909572"/>
                </a:lnTo>
                <a:lnTo>
                  <a:pt x="637794" y="190042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28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1201" y="380745"/>
            <a:ext cx="60248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Two </a:t>
            </a:r>
            <a:r>
              <a:rPr spc="-10" dirty="0"/>
              <a:t>common </a:t>
            </a:r>
            <a:r>
              <a:rPr spc="-5" dirty="0"/>
              <a:t>parsing</a:t>
            </a:r>
            <a:r>
              <a:rPr spc="-15" dirty="0"/>
              <a:t> </a:t>
            </a:r>
            <a:r>
              <a:rPr spc="-10" dirty="0"/>
              <a:t>methods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4052" y="1276032"/>
          <a:ext cx="8044180" cy="475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2015">
                <a:tc>
                  <a:txBody>
                    <a:bodyPr/>
                    <a:lstStyle/>
                    <a:p>
                      <a:pPr marR="927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Top-down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78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Bottom-up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R="92011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Easy to</a:t>
                      </a:r>
                      <a:r>
                        <a:rPr sz="24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understand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11582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Can handle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 larger class</a:t>
                      </a:r>
                      <a:r>
                        <a:rPr sz="24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of  grammars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106045" marR="3702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Efficient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parsers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2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be  built by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hand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6527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Efficient parsers can be built by  tools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045">
                <a:tc>
                  <a:txBody>
                    <a:bodyPr/>
                    <a:lstStyle/>
                    <a:p>
                      <a:pPr marL="106045" marR="346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Some restrictions on  grammars. May need</a:t>
                      </a:r>
                      <a:r>
                        <a:rPr sz="2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to 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productions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12941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restrictions placed</a:t>
                      </a:r>
                      <a:r>
                        <a:rPr sz="2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on  grammars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106045" marR="132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Also known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predictive  parsing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More commonly used in production  compilers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0307" y="418845"/>
            <a:ext cx="35667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Top-down</a:t>
            </a:r>
            <a:r>
              <a:rPr spc="-50" dirty="0"/>
              <a:t> </a:t>
            </a:r>
            <a:r>
              <a:rPr spc="-10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235" y="1006348"/>
            <a:ext cx="1074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type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endParaRPr sz="28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9040" y="1006348"/>
            <a:ext cx="2357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3370" algn="l"/>
                <a:tab pos="2272665" algn="l"/>
              </a:tabLst>
            </a:pPr>
            <a:r>
              <a:rPr sz="2800" spc="-5" dirty="0">
                <a:latin typeface="Times New Roman"/>
                <a:cs typeface="Times New Roman"/>
              </a:rPr>
              <a:t>simpl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	</a:t>
            </a:r>
            <a:r>
              <a:rPr sz="2800" spc="-5" dirty="0">
                <a:latin typeface="Times New Roman"/>
                <a:cs typeface="Times New Roman"/>
              </a:rPr>
              <a:t>^i</a:t>
            </a:r>
            <a:r>
              <a:rPr sz="2800" dirty="0">
                <a:latin typeface="Times New Roman"/>
                <a:cs typeface="Times New Roman"/>
              </a:rPr>
              <a:t>d	|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35" y="2031990"/>
            <a:ext cx="14090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simple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endParaRPr sz="2800">
              <a:latin typeface="MS UI Gothic"/>
              <a:cs typeface="MS UI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040" y="1433372"/>
            <a:ext cx="3115945" cy="2077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array </a:t>
            </a:r>
            <a:r>
              <a:rPr sz="2800" spc="-5" dirty="0">
                <a:latin typeface="Times New Roman"/>
                <a:cs typeface="Times New Roman"/>
              </a:rPr>
              <a:t>[simple] 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  scalar_type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2700" marR="584200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num dotdot num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  id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0235" y="3569706"/>
            <a:ext cx="5786120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scalar_type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 id_list)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Input string</a:t>
            </a:r>
            <a:endParaRPr sz="2800">
              <a:latin typeface="Times New Roman"/>
              <a:cs typeface="Times New Roman"/>
            </a:endParaRPr>
          </a:p>
          <a:p>
            <a:pPr marL="2276475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array [ </a:t>
            </a:r>
            <a:r>
              <a:rPr sz="2800" spc="-5" dirty="0">
                <a:latin typeface="Times New Roman"/>
                <a:cs typeface="Times New Roman"/>
              </a:rPr>
              <a:t>1..100] 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integer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9435" y="1158747"/>
            <a:ext cx="401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0" u="none" spc="-5" dirty="0">
                <a:latin typeface="Times New Roman"/>
                <a:cs typeface="Times New Roman"/>
              </a:rPr>
              <a:t>Input:	array </a:t>
            </a:r>
            <a:r>
              <a:rPr sz="2400" b="0" u="none" dirty="0">
                <a:latin typeface="Times New Roman"/>
                <a:cs typeface="Times New Roman"/>
              </a:rPr>
              <a:t>[ </a:t>
            </a:r>
            <a:r>
              <a:rPr sz="2400" b="0" u="none" spc="-5" dirty="0">
                <a:latin typeface="Times New Roman"/>
                <a:cs typeface="Times New Roman"/>
              </a:rPr>
              <a:t>1..100 </a:t>
            </a:r>
            <a:r>
              <a:rPr sz="2400" b="0" u="none" dirty="0">
                <a:latin typeface="Times New Roman"/>
                <a:cs typeface="Times New Roman"/>
              </a:rPr>
              <a:t>] </a:t>
            </a:r>
            <a:r>
              <a:rPr sz="2400" b="0" u="none" spc="-5" dirty="0">
                <a:latin typeface="Times New Roman"/>
                <a:cs typeface="Times New Roman"/>
              </a:rPr>
              <a:t>of</a:t>
            </a:r>
            <a:r>
              <a:rPr sz="2400" b="0" u="none" spc="-90" dirty="0">
                <a:latin typeface="Times New Roman"/>
                <a:cs typeface="Times New Roman"/>
              </a:rPr>
              <a:t> </a:t>
            </a:r>
            <a:r>
              <a:rPr sz="2400" b="0" u="none" spc="-5" dirty="0">
                <a:latin typeface="Times New Roman"/>
                <a:cs typeface="Times New Roman"/>
              </a:rPr>
              <a:t>integer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78669" y="1628648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7620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762000">
                <a:moveTo>
                  <a:pt x="57150" y="761999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761999"/>
                </a:lnTo>
                <a:lnTo>
                  <a:pt x="57150" y="7619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8835" y="2758947"/>
            <a:ext cx="130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2941" y="2771648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3941" y="3990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41" y="3990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[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0941" y="3990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simple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6341" y="3990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7941" y="3990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3341" y="3990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9741" y="3381247"/>
            <a:ext cx="3124200" cy="609600"/>
          </a:xfrm>
          <a:custGeom>
            <a:avLst/>
            <a:gdLst/>
            <a:ahLst/>
            <a:cxnLst/>
            <a:rect l="l" t="t" r="r" b="b"/>
            <a:pathLst>
              <a:path w="3124200" h="609600">
                <a:moveTo>
                  <a:pt x="31242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7541" y="3381247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>
                <a:moveTo>
                  <a:pt x="16764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64341" y="3381247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6096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73941" y="3381247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0"/>
                </a:moveTo>
                <a:lnTo>
                  <a:pt x="533400" y="6095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73941" y="3381247"/>
            <a:ext cx="1981200" cy="609600"/>
          </a:xfrm>
          <a:custGeom>
            <a:avLst/>
            <a:gdLst/>
            <a:ahLst/>
            <a:cxnLst/>
            <a:rect l="l" t="t" r="r" b="b"/>
            <a:pathLst>
              <a:path w="1981200" h="609600">
                <a:moveTo>
                  <a:pt x="0" y="0"/>
                </a:moveTo>
                <a:lnTo>
                  <a:pt x="1981199" y="6095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73941" y="3381247"/>
            <a:ext cx="3200400" cy="609600"/>
          </a:xfrm>
          <a:custGeom>
            <a:avLst/>
            <a:gdLst/>
            <a:ahLst/>
            <a:cxnLst/>
            <a:rect l="l" t="t" r="r" b="b"/>
            <a:pathLst>
              <a:path w="3200400" h="609600">
                <a:moveTo>
                  <a:pt x="0" y="0"/>
                </a:moveTo>
                <a:lnTo>
                  <a:pt x="3200399" y="609599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8435" y="777747"/>
            <a:ext cx="401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0" u="none" spc="-5" dirty="0">
                <a:latin typeface="Times New Roman"/>
                <a:cs typeface="Times New Roman"/>
              </a:rPr>
              <a:t>Input:	array </a:t>
            </a:r>
            <a:r>
              <a:rPr sz="2400" b="0" u="none" dirty="0">
                <a:latin typeface="Times New Roman"/>
                <a:cs typeface="Times New Roman"/>
              </a:rPr>
              <a:t>[ </a:t>
            </a:r>
            <a:r>
              <a:rPr sz="2400" b="0" u="none" spc="-5" dirty="0">
                <a:latin typeface="Times New Roman"/>
                <a:cs typeface="Times New Roman"/>
              </a:rPr>
              <a:t>1..100 </a:t>
            </a:r>
            <a:r>
              <a:rPr sz="2400" b="0" u="none" dirty="0">
                <a:latin typeface="Times New Roman"/>
                <a:cs typeface="Times New Roman"/>
              </a:rPr>
              <a:t>] </a:t>
            </a:r>
            <a:r>
              <a:rPr sz="2400" b="0" u="none" spc="-5" dirty="0">
                <a:latin typeface="Times New Roman"/>
                <a:cs typeface="Times New Roman"/>
              </a:rPr>
              <a:t>of</a:t>
            </a:r>
            <a:r>
              <a:rPr sz="2400" b="0" u="none" spc="-90" dirty="0">
                <a:latin typeface="Times New Roman"/>
                <a:cs typeface="Times New Roman"/>
              </a:rPr>
              <a:t> </a:t>
            </a:r>
            <a:r>
              <a:rPr sz="2400" b="0" u="none" spc="-5" dirty="0">
                <a:latin typeface="Times New Roman"/>
                <a:cs typeface="Times New Roman"/>
              </a:rPr>
              <a:t>integer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54869" y="1171447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7620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762000">
                <a:moveTo>
                  <a:pt x="57150" y="761999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761999"/>
                </a:lnTo>
                <a:lnTo>
                  <a:pt x="57150" y="7619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835" y="2377947"/>
            <a:ext cx="130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1941" y="2390648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941" y="3609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8341" y="3609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[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9941" y="3609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simple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5341" y="3609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16941" y="3609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12341" y="36098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68741" y="3000248"/>
            <a:ext cx="3124200" cy="609600"/>
          </a:xfrm>
          <a:custGeom>
            <a:avLst/>
            <a:gdLst/>
            <a:ahLst/>
            <a:cxnLst/>
            <a:rect l="l" t="t" r="r" b="b"/>
            <a:pathLst>
              <a:path w="3124200" h="609600">
                <a:moveTo>
                  <a:pt x="31242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16541" y="3000248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>
                <a:moveTo>
                  <a:pt x="16764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83341" y="3000248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6096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92941" y="3000248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0"/>
                </a:moveTo>
                <a:lnTo>
                  <a:pt x="53340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92941" y="3000248"/>
            <a:ext cx="1981200" cy="609600"/>
          </a:xfrm>
          <a:custGeom>
            <a:avLst/>
            <a:gdLst/>
            <a:ahLst/>
            <a:cxnLst/>
            <a:rect l="l" t="t" r="r" b="b"/>
            <a:pathLst>
              <a:path w="1981200" h="609600">
                <a:moveTo>
                  <a:pt x="0" y="0"/>
                </a:moveTo>
                <a:lnTo>
                  <a:pt x="1981199" y="6095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92941" y="3000248"/>
            <a:ext cx="3200400" cy="609600"/>
          </a:xfrm>
          <a:custGeom>
            <a:avLst/>
            <a:gdLst/>
            <a:ahLst/>
            <a:cxnLst/>
            <a:rect l="l" t="t" r="r" b="b"/>
            <a:pathLst>
              <a:path w="3200400" h="609600">
                <a:moveTo>
                  <a:pt x="0" y="0"/>
                </a:moveTo>
                <a:lnTo>
                  <a:pt x="3200399" y="609599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6035" y="625347"/>
            <a:ext cx="401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0" u="none" spc="-5" dirty="0">
                <a:latin typeface="Times New Roman"/>
                <a:cs typeface="Times New Roman"/>
              </a:rPr>
              <a:t>Input:	array </a:t>
            </a:r>
            <a:r>
              <a:rPr sz="2400" b="0" u="none" dirty="0">
                <a:latin typeface="Times New Roman"/>
                <a:cs typeface="Times New Roman"/>
              </a:rPr>
              <a:t>[ </a:t>
            </a:r>
            <a:r>
              <a:rPr sz="2400" b="0" u="none" spc="-5" dirty="0">
                <a:latin typeface="Times New Roman"/>
                <a:cs typeface="Times New Roman"/>
              </a:rPr>
              <a:t>1..100 </a:t>
            </a:r>
            <a:r>
              <a:rPr sz="2400" b="0" u="none" dirty="0">
                <a:latin typeface="Times New Roman"/>
                <a:cs typeface="Times New Roman"/>
              </a:rPr>
              <a:t>] </a:t>
            </a:r>
            <a:r>
              <a:rPr sz="2400" b="0" u="none" spc="-5" dirty="0">
                <a:latin typeface="Times New Roman"/>
                <a:cs typeface="Times New Roman"/>
              </a:rPr>
              <a:t>of</a:t>
            </a:r>
            <a:r>
              <a:rPr sz="2400" b="0" u="none" spc="-90" dirty="0">
                <a:latin typeface="Times New Roman"/>
                <a:cs typeface="Times New Roman"/>
              </a:rPr>
              <a:t> </a:t>
            </a:r>
            <a:r>
              <a:rPr sz="2400" b="0" u="none" spc="-5" dirty="0">
                <a:latin typeface="Times New Roman"/>
                <a:cs typeface="Times New Roman"/>
              </a:rPr>
              <a:t>integer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31069" y="1019047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7620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762000">
                <a:moveTo>
                  <a:pt x="57150" y="761999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761999"/>
                </a:lnTo>
                <a:lnTo>
                  <a:pt x="57150" y="7619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35" y="2225547"/>
            <a:ext cx="130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9541" y="2238248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541" y="34574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5941" y="34574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[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7541" y="34574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simple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2941" y="34574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4541" y="34574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9941" y="3457447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16341" y="2847848"/>
            <a:ext cx="3124200" cy="609600"/>
          </a:xfrm>
          <a:custGeom>
            <a:avLst/>
            <a:gdLst/>
            <a:ahLst/>
            <a:cxnLst/>
            <a:rect l="l" t="t" r="r" b="b"/>
            <a:pathLst>
              <a:path w="3124200" h="609600">
                <a:moveTo>
                  <a:pt x="31242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64141" y="2847848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>
                <a:moveTo>
                  <a:pt x="16764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30941" y="2847848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6096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40541" y="2847848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0"/>
                </a:moveTo>
                <a:lnTo>
                  <a:pt x="53340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40541" y="2847848"/>
            <a:ext cx="1981200" cy="609600"/>
          </a:xfrm>
          <a:custGeom>
            <a:avLst/>
            <a:gdLst/>
            <a:ahLst/>
            <a:cxnLst/>
            <a:rect l="l" t="t" r="r" b="b"/>
            <a:pathLst>
              <a:path w="1981200" h="609600">
                <a:moveTo>
                  <a:pt x="0" y="0"/>
                </a:moveTo>
                <a:lnTo>
                  <a:pt x="1981199" y="6095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40541" y="2847848"/>
            <a:ext cx="3200400" cy="609600"/>
          </a:xfrm>
          <a:custGeom>
            <a:avLst/>
            <a:gdLst/>
            <a:ahLst/>
            <a:cxnLst/>
            <a:rect l="l" t="t" r="r" b="b"/>
            <a:pathLst>
              <a:path w="3200400" h="609600">
                <a:moveTo>
                  <a:pt x="0" y="0"/>
                </a:moveTo>
                <a:lnTo>
                  <a:pt x="3200399" y="609599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83469" y="4143247"/>
            <a:ext cx="85725" cy="1066800"/>
          </a:xfrm>
          <a:custGeom>
            <a:avLst/>
            <a:gdLst/>
            <a:ahLst/>
            <a:cxnLst/>
            <a:rect l="l" t="t" r="r" b="b"/>
            <a:pathLst>
              <a:path w="85725" h="10668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10668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1066800">
                <a:moveTo>
                  <a:pt x="57150" y="1066800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1066800"/>
                </a:lnTo>
                <a:lnTo>
                  <a:pt x="57150" y="10668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80435" y="777747"/>
            <a:ext cx="203962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1..100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num dotdot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  (three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tokens)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33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3833" y="514096"/>
            <a:ext cx="401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0" u="none" spc="-5" dirty="0">
                <a:latin typeface="Times New Roman"/>
                <a:cs typeface="Times New Roman"/>
              </a:rPr>
              <a:t>Input:	array </a:t>
            </a:r>
            <a:r>
              <a:rPr sz="2400" b="0" u="none" dirty="0">
                <a:latin typeface="Times New Roman"/>
                <a:cs typeface="Times New Roman"/>
              </a:rPr>
              <a:t>[ </a:t>
            </a:r>
            <a:r>
              <a:rPr sz="2400" b="0" u="none" spc="-5" dirty="0">
                <a:latin typeface="Times New Roman"/>
                <a:cs typeface="Times New Roman"/>
              </a:rPr>
              <a:t>1..100 </a:t>
            </a:r>
            <a:r>
              <a:rPr sz="2400" b="0" u="none" dirty="0">
                <a:latin typeface="Times New Roman"/>
                <a:cs typeface="Times New Roman"/>
              </a:rPr>
              <a:t>] </a:t>
            </a:r>
            <a:r>
              <a:rPr sz="2400" b="0" u="none" spc="-5" dirty="0">
                <a:latin typeface="Times New Roman"/>
                <a:cs typeface="Times New Roman"/>
              </a:rPr>
              <a:t>of</a:t>
            </a:r>
            <a:r>
              <a:rPr sz="2400" b="0" u="none" spc="-90" dirty="0">
                <a:latin typeface="Times New Roman"/>
                <a:cs typeface="Times New Roman"/>
              </a:rPr>
              <a:t> </a:t>
            </a:r>
            <a:r>
              <a:rPr sz="2400" b="0" u="none" spc="-5" dirty="0">
                <a:latin typeface="Times New Roman"/>
                <a:cs typeface="Times New Roman"/>
              </a:rPr>
              <a:t>integer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38867" y="907796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7620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762000">
                <a:moveTo>
                  <a:pt x="57150" y="761999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761999"/>
                </a:lnTo>
                <a:lnTo>
                  <a:pt x="57150" y="7619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233" y="2114296"/>
            <a:ext cx="1303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Parse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tree: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7339" y="2126995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875"/>
              </a:spcBef>
            </a:pPr>
            <a:r>
              <a:rPr sz="2400" spc="-5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339" y="3346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3739" y="3346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[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0739" y="3346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2327" y="3346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875"/>
              </a:spcBef>
            </a:pPr>
            <a:r>
              <a:rPr sz="2400" spc="-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7727" y="3346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4139" y="2736595"/>
            <a:ext cx="3124200" cy="609600"/>
          </a:xfrm>
          <a:custGeom>
            <a:avLst/>
            <a:gdLst/>
            <a:ahLst/>
            <a:cxnLst/>
            <a:rect l="l" t="t" r="r" b="b"/>
            <a:pathLst>
              <a:path w="3124200" h="609600">
                <a:moveTo>
                  <a:pt x="312420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71939" y="2736595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>
                <a:moveTo>
                  <a:pt x="16764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8339" y="2736595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0"/>
                </a:moveTo>
                <a:lnTo>
                  <a:pt x="53340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48339" y="2736595"/>
            <a:ext cx="1981200" cy="609600"/>
          </a:xfrm>
          <a:custGeom>
            <a:avLst/>
            <a:gdLst/>
            <a:ahLst/>
            <a:cxnLst/>
            <a:rect l="l" t="t" r="r" b="b"/>
            <a:pathLst>
              <a:path w="1981200" h="609600">
                <a:moveTo>
                  <a:pt x="0" y="0"/>
                </a:moveTo>
                <a:lnTo>
                  <a:pt x="1981187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48339" y="2736595"/>
            <a:ext cx="3200400" cy="609600"/>
          </a:xfrm>
          <a:custGeom>
            <a:avLst/>
            <a:gdLst/>
            <a:ahLst/>
            <a:cxnLst/>
            <a:rect l="l" t="t" r="r" b="b"/>
            <a:pathLst>
              <a:path w="3200400" h="609600">
                <a:moveTo>
                  <a:pt x="0" y="0"/>
                </a:moveTo>
                <a:lnTo>
                  <a:pt x="3200387" y="609600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739" y="4489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num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24339" y="4489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875"/>
              </a:spcBef>
            </a:pPr>
            <a:r>
              <a:rPr sz="2400" spc="-5" dirty="0">
                <a:latin typeface="Times New Roman"/>
                <a:cs typeface="Times New Roman"/>
              </a:rPr>
              <a:t>dotdot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9739" y="4489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num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14867" y="5098796"/>
            <a:ext cx="85725" cy="609600"/>
          </a:xfrm>
          <a:custGeom>
            <a:avLst/>
            <a:gdLst/>
            <a:ahLst/>
            <a:cxnLst/>
            <a:rect l="l" t="t" r="r" b="b"/>
            <a:pathLst>
              <a:path w="85725" h="609600">
                <a:moveTo>
                  <a:pt x="85343" y="85343"/>
                </a:moveTo>
                <a:lnTo>
                  <a:pt x="42671" y="0"/>
                </a:lnTo>
                <a:lnTo>
                  <a:pt x="0" y="85343"/>
                </a:lnTo>
                <a:lnTo>
                  <a:pt x="28193" y="85343"/>
                </a:lnTo>
                <a:lnTo>
                  <a:pt x="28193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609600">
                <a:moveTo>
                  <a:pt x="57150" y="85343"/>
                </a:moveTo>
                <a:lnTo>
                  <a:pt x="57150" y="71627"/>
                </a:lnTo>
                <a:lnTo>
                  <a:pt x="28193" y="71627"/>
                </a:lnTo>
                <a:lnTo>
                  <a:pt x="28193" y="85343"/>
                </a:lnTo>
                <a:lnTo>
                  <a:pt x="57150" y="85343"/>
                </a:lnTo>
                <a:close/>
              </a:path>
              <a:path w="85725" h="609600">
                <a:moveTo>
                  <a:pt x="57150" y="609600"/>
                </a:moveTo>
                <a:lnTo>
                  <a:pt x="57150" y="85343"/>
                </a:lnTo>
                <a:lnTo>
                  <a:pt x="28193" y="85343"/>
                </a:lnTo>
                <a:lnTo>
                  <a:pt x="28193" y="609600"/>
                </a:lnTo>
                <a:lnTo>
                  <a:pt x="57150" y="6096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05339" y="3346196"/>
            <a:ext cx="914400" cy="609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75"/>
              </a:spcBef>
            </a:pPr>
            <a:r>
              <a:rPr sz="2400" spc="-5" dirty="0">
                <a:latin typeface="Times New Roman"/>
                <a:cs typeface="Times New Roman"/>
              </a:rPr>
              <a:t>simple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038739" y="27365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5334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86139" y="395579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15240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57739" y="3955796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1524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10139" y="3955796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0"/>
                </a:moveTo>
                <a:lnTo>
                  <a:pt x="106680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34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1276095"/>
            <a:ext cx="7096759" cy="21602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non-terminal </a:t>
            </a:r>
            <a:r>
              <a:rPr sz="2800" i="1" spc="-5" dirty="0">
                <a:latin typeface="Times New Roman"/>
                <a:cs typeface="Times New Roman"/>
              </a:rPr>
              <a:t>simple </a:t>
            </a:r>
            <a:r>
              <a:rPr sz="2800" spc="-5" dirty="0">
                <a:latin typeface="Times New Roman"/>
                <a:cs typeface="Times New Roman"/>
              </a:rPr>
              <a:t>will be expanded with  production </a:t>
            </a:r>
            <a:r>
              <a:rPr sz="2800" spc="114" dirty="0">
                <a:latin typeface="Times New Roman"/>
                <a:cs typeface="Times New Roman"/>
              </a:rPr>
              <a:t>simple</a:t>
            </a:r>
            <a:r>
              <a:rPr sz="2800" spc="114" dirty="0">
                <a:latin typeface="MS UI Gothic"/>
                <a:cs typeface="MS UI Gothic"/>
              </a:rPr>
              <a:t>€ </a:t>
            </a:r>
            <a:r>
              <a:rPr sz="2800" spc="-5" dirty="0">
                <a:latin typeface="Times New Roman"/>
                <a:cs typeface="Times New Roman"/>
              </a:rPr>
              <a:t>num dotdot</a:t>
            </a:r>
            <a:r>
              <a:rPr sz="2800" spc="-3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</a:t>
            </a:r>
            <a:endParaRPr sz="2800">
              <a:latin typeface="Times New Roman"/>
              <a:cs typeface="Times New Roman"/>
            </a:endParaRPr>
          </a:p>
          <a:p>
            <a:pPr marL="355600" marR="1394460" indent="-342900">
              <a:lnSpc>
                <a:spcPts val="303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predictive parsing, there will be no  backtracking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If Pascal type is defined 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9336" y="3453922"/>
            <a:ext cx="15113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imes New Roman"/>
                <a:cs typeface="Times New Roman"/>
              </a:rPr>
              <a:t>Simple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endParaRPr sz="28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9642" y="3410792"/>
            <a:ext cx="2747645" cy="1905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800" b="1" spc="-5" dirty="0">
                <a:latin typeface="Times New Roman"/>
                <a:cs typeface="Times New Roman"/>
              </a:rPr>
              <a:t>scalar_type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10100"/>
              </a:lnSpc>
              <a:spcBef>
                <a:spcPts val="5"/>
              </a:spcBef>
            </a:pPr>
            <a:r>
              <a:rPr sz="2800" b="1" dirty="0">
                <a:latin typeface="Times New Roman"/>
                <a:cs typeface="Times New Roman"/>
              </a:rPr>
              <a:t>num dotdot num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|  type_id |  </a:t>
            </a:r>
            <a:r>
              <a:rPr sz="2800" b="1" spc="-5" dirty="0">
                <a:latin typeface="Times New Roman"/>
                <a:cs typeface="Times New Roman"/>
              </a:rPr>
              <a:t>integer_const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9336" y="5333792"/>
            <a:ext cx="27070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What will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happen?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8335" y="370840"/>
            <a:ext cx="14693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u="none" spc="-5" dirty="0">
                <a:latin typeface="Times New Roman"/>
                <a:cs typeface="Times New Roman"/>
              </a:rPr>
              <a:t>Simple</a:t>
            </a:r>
            <a:r>
              <a:rPr sz="2800" b="0" u="none" spc="-85" dirty="0">
                <a:latin typeface="Times New Roman"/>
                <a:cs typeface="Times New Roman"/>
              </a:rPr>
              <a:t> </a:t>
            </a:r>
            <a:r>
              <a:rPr sz="2800" b="0" u="none" spc="880" dirty="0">
                <a:latin typeface="MS UI Gothic"/>
                <a:cs typeface="MS UI Gothic"/>
              </a:rPr>
              <a:t>€</a:t>
            </a:r>
            <a:endParaRPr sz="2800">
              <a:latin typeface="MS UI Gothic"/>
              <a:cs typeface="MS UI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34" y="275115"/>
            <a:ext cx="8197215" cy="56007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755900">
              <a:lnSpc>
                <a:spcPct val="100000"/>
              </a:lnSpc>
              <a:spcBef>
                <a:spcPts val="855"/>
              </a:spcBef>
            </a:pPr>
            <a:r>
              <a:rPr sz="2800" spc="-5" dirty="0">
                <a:latin typeface="Times New Roman"/>
                <a:cs typeface="Times New Roman"/>
              </a:rPr>
              <a:t>scalar_type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2755900" marR="2922270">
              <a:lnSpc>
                <a:spcPct val="120200"/>
              </a:lnSpc>
              <a:spcBef>
                <a:spcPts val="75"/>
              </a:spcBef>
            </a:pPr>
            <a:r>
              <a:rPr sz="2800" spc="-5" dirty="0">
                <a:latin typeface="Times New Roman"/>
                <a:cs typeface="Times New Roman"/>
              </a:rPr>
              <a:t>num dotdot num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|  type_id |  </a:t>
            </a:r>
            <a:r>
              <a:rPr sz="2800" spc="-5" dirty="0">
                <a:latin typeface="Times New Roman"/>
                <a:cs typeface="Times New Roman"/>
              </a:rPr>
              <a:t>integer_const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What will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happen?</a:t>
            </a:r>
            <a:endParaRPr sz="2800">
              <a:latin typeface="Times New Roman"/>
              <a:cs typeface="Times New Roman"/>
            </a:endParaRPr>
          </a:p>
          <a:p>
            <a:pPr marL="444500">
              <a:lnSpc>
                <a:spcPct val="100000"/>
              </a:lnSpc>
              <a:spcBef>
                <a:spcPts val="675"/>
              </a:spcBef>
              <a:tabLst>
                <a:tab pos="3850640" algn="l"/>
              </a:tabLst>
            </a:pPr>
            <a:r>
              <a:rPr sz="2800" dirty="0">
                <a:latin typeface="Times New Roman"/>
                <a:cs typeface="Times New Roman"/>
              </a:rPr>
              <a:t>array [ </a:t>
            </a:r>
            <a:r>
              <a:rPr sz="2800" spc="-5" dirty="0">
                <a:latin typeface="Times New Roman"/>
                <a:cs typeface="Times New Roman"/>
              </a:rPr>
              <a:t>100 </a:t>
            </a:r>
            <a:r>
              <a:rPr sz="2800" dirty="0">
                <a:latin typeface="Times New Roman"/>
                <a:cs typeface="Times New Roman"/>
              </a:rPr>
              <a:t>] </a:t>
            </a:r>
            <a:r>
              <a:rPr sz="2800" spc="-5" dirty="0">
                <a:latin typeface="Times New Roman"/>
                <a:cs typeface="Times New Roman"/>
              </a:rPr>
              <a:t>of integer	is now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legal</a:t>
            </a:r>
            <a:endParaRPr sz="28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but </a:t>
            </a:r>
            <a:r>
              <a:rPr sz="2800" dirty="0">
                <a:latin typeface="Times New Roman"/>
                <a:cs typeface="Times New Roman"/>
              </a:rPr>
              <a:t>in array [ </a:t>
            </a:r>
            <a:r>
              <a:rPr sz="2800" spc="-5" dirty="0">
                <a:latin typeface="Times New Roman"/>
                <a:cs typeface="Times New Roman"/>
              </a:rPr>
              <a:t>1..100] of </a:t>
            </a:r>
            <a:r>
              <a:rPr sz="2800" dirty="0">
                <a:latin typeface="Times New Roman"/>
                <a:cs typeface="Times New Roman"/>
              </a:rPr>
              <a:t>integer, 1 may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endParaRPr sz="2800">
              <a:latin typeface="Times New Roman"/>
              <a:cs typeface="Times New Roman"/>
            </a:endParaRPr>
          </a:p>
          <a:p>
            <a:pPr marL="355600" marR="5080" indent="13335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returned as “num” or “integer_const”, which gives two  productions to expand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!!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85"/>
              </a:spcBef>
            </a:pPr>
            <a:r>
              <a:rPr sz="2800" i="1" spc="-5" dirty="0">
                <a:latin typeface="Times New Roman"/>
                <a:cs typeface="Times New Roman"/>
              </a:rPr>
              <a:t>What to do in this</a:t>
            </a:r>
            <a:r>
              <a:rPr sz="2800" i="1" spc="-1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case?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8783" y="418845"/>
            <a:ext cx="35680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Predictive</a:t>
            </a:r>
            <a:r>
              <a:rPr spc="-30" dirty="0"/>
              <a:t> </a:t>
            </a:r>
            <a:r>
              <a:rPr spc="-10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35" y="1082547"/>
            <a:ext cx="8077200" cy="455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Predictive parsing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5" dirty="0">
                <a:latin typeface="Times New Roman"/>
                <a:cs typeface="Times New Roman"/>
              </a:rPr>
              <a:t>recursive decent parsing,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which we  </a:t>
            </a:r>
            <a:r>
              <a:rPr sz="2400" dirty="0">
                <a:latin typeface="Times New Roman"/>
                <a:cs typeface="Times New Roman"/>
              </a:rPr>
              <a:t>execute a </a:t>
            </a:r>
            <a:r>
              <a:rPr sz="2400" spc="-5" dirty="0">
                <a:latin typeface="Times New Roman"/>
                <a:cs typeface="Times New Roman"/>
              </a:rPr>
              <a:t>set of recursive procedures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dirty="0">
                <a:latin typeface="Times New Roman"/>
                <a:cs typeface="Times New Roman"/>
              </a:rPr>
              <a:t>the input. Each  </a:t>
            </a:r>
            <a:r>
              <a:rPr sz="2400" spc="-5" dirty="0">
                <a:latin typeface="Times New Roman"/>
                <a:cs typeface="Times New Roman"/>
              </a:rPr>
              <a:t>procedure is associated 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non-terminal of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grammar.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  <a:p>
            <a:pPr marL="469900" marR="5763895">
              <a:lnSpc>
                <a:spcPct val="119800"/>
              </a:lnSpc>
            </a:pPr>
            <a:r>
              <a:rPr sz="2400" spc="-5" dirty="0">
                <a:latin typeface="Times New Roman"/>
                <a:cs typeface="Times New Roman"/>
              </a:rPr>
              <a:t>Procedure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type  </a:t>
            </a:r>
            <a:r>
              <a:rPr sz="2400" dirty="0">
                <a:latin typeface="Times New Roman"/>
                <a:cs typeface="Times New Roman"/>
              </a:rPr>
              <a:t>begin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if lookahead in {“(“, id, num} then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simple();</a:t>
            </a:r>
            <a:endParaRPr sz="2400">
              <a:latin typeface="Times New Roman"/>
              <a:cs typeface="Times New Roman"/>
            </a:endParaRPr>
          </a:p>
          <a:p>
            <a:pPr marL="755650" marR="539115" indent="152400">
              <a:lnSpc>
                <a:spcPct val="109800"/>
              </a:lnSpc>
              <a:spcBef>
                <a:spcPts val="290"/>
              </a:spcBef>
            </a:pPr>
            <a:r>
              <a:rPr sz="2400" spc="-5" dirty="0">
                <a:latin typeface="Times New Roman"/>
                <a:cs typeface="Times New Roman"/>
              </a:rPr>
              <a:t>else if lookahead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“^” then match(“^”); match(id)…  else if lookahead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“array” then match(“array”),match  (“[“), simple(); match(“]”); match(“of”),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type();</a:t>
            </a:r>
            <a:endParaRPr sz="2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end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8783" y="418845"/>
            <a:ext cx="35680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Predictive</a:t>
            </a:r>
            <a:r>
              <a:rPr spc="-30" dirty="0"/>
              <a:t> </a:t>
            </a:r>
            <a:r>
              <a:rPr spc="-10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11148"/>
            <a:ext cx="7186295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predictive parsing, the lookahead symbol can  uniquely select the procedure for each non-  terminal.</a:t>
            </a:r>
            <a:endParaRPr sz="2800">
              <a:latin typeface="Times New Roman"/>
              <a:cs typeface="Times New Roman"/>
            </a:endParaRPr>
          </a:p>
          <a:p>
            <a:pPr marL="355600" marR="13843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FIRST(a)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defined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be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set of </a:t>
            </a:r>
            <a:r>
              <a:rPr sz="2800" dirty="0">
                <a:latin typeface="Times New Roman"/>
                <a:cs typeface="Times New Roman"/>
              </a:rPr>
              <a:t>tokens  </a:t>
            </a:r>
            <a:r>
              <a:rPr sz="2800" spc="-5" dirty="0">
                <a:latin typeface="Times New Roman"/>
                <a:cs typeface="Times New Roman"/>
              </a:rPr>
              <a:t>that appear as the first symbols that can be  generated 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a.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FIRST(</a:t>
            </a:r>
            <a:r>
              <a:rPr sz="2800" i="1" spc="-5" dirty="0">
                <a:latin typeface="Times New Roman"/>
                <a:cs typeface="Times New Roman"/>
              </a:rPr>
              <a:t>simple</a:t>
            </a:r>
            <a:r>
              <a:rPr sz="2800" spc="-5" dirty="0">
                <a:latin typeface="Times New Roman"/>
                <a:cs typeface="Times New Roman"/>
              </a:rPr>
              <a:t>)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5" dirty="0">
                <a:latin typeface="Times New Roman"/>
                <a:cs typeface="Times New Roman"/>
              </a:rPr>
              <a:t>{“(“, </a:t>
            </a:r>
            <a:r>
              <a:rPr sz="2800" dirty="0">
                <a:latin typeface="Times New Roman"/>
                <a:cs typeface="Times New Roman"/>
              </a:rPr>
              <a:t>id,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num}</a:t>
            </a:r>
            <a:endParaRPr sz="2800">
              <a:latin typeface="Times New Roman"/>
              <a:cs typeface="Times New Roman"/>
            </a:endParaRPr>
          </a:p>
          <a:p>
            <a:pPr marL="355600" marR="27178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444500" algn="l"/>
                <a:tab pos="445134" algn="l"/>
              </a:tabLst>
            </a:pPr>
            <a:r>
              <a:rPr sz="2800" spc="-5" dirty="0">
                <a:latin typeface="Times New Roman"/>
                <a:cs typeface="Times New Roman"/>
              </a:rPr>
              <a:t>e-production is used as default when no other  productions can 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135" y="418845"/>
            <a:ext cx="6315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Constructing </a:t>
            </a:r>
            <a:r>
              <a:rPr spc="-5" dirty="0"/>
              <a:t>a </a:t>
            </a:r>
            <a:r>
              <a:rPr spc="-10" dirty="0"/>
              <a:t>Predictive</a:t>
            </a:r>
            <a:r>
              <a:rPr spc="5" dirty="0"/>
              <a:t> </a:t>
            </a:r>
            <a:r>
              <a:rPr spc="-10" dirty="0"/>
              <a:t>Parser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25351"/>
            <a:ext cx="7612380" cy="335787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Create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procedure for 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non-terminal</a:t>
            </a:r>
            <a:endParaRPr sz="2800">
              <a:latin typeface="Times New Roman"/>
              <a:cs typeface="Times New Roman"/>
            </a:endParaRPr>
          </a:p>
          <a:p>
            <a:pPr marL="355600" marR="3302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decides which production to use by look at the  lookahead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procedure mimicking the right hand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side:</a:t>
            </a:r>
            <a:endParaRPr sz="2800">
              <a:latin typeface="Times New Roman"/>
              <a:cs typeface="Times New Roman"/>
            </a:endParaRPr>
          </a:p>
          <a:p>
            <a:pPr marL="355600" marR="5080">
              <a:lnSpc>
                <a:spcPct val="100000"/>
              </a:lnSpc>
              <a:spcBef>
                <a:spcPts val="10"/>
              </a:spcBef>
            </a:pPr>
            <a:r>
              <a:rPr sz="2800" spc="-5" dirty="0">
                <a:latin typeface="Times New Roman"/>
                <a:cs typeface="Times New Roman"/>
              </a:rPr>
              <a:t>non-terminal will be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call, and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token match with  the lookahead will cause the next token to be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read.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Action routines can be copied into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parser.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7857" y="418845"/>
            <a:ext cx="46697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Left </a:t>
            </a:r>
            <a:r>
              <a:rPr spc="-10" dirty="0"/>
              <a:t>Recursion</a:t>
            </a:r>
            <a:r>
              <a:rPr spc="-35" dirty="0"/>
              <a:t> </a:t>
            </a:r>
            <a:r>
              <a:rPr spc="-10" dirty="0"/>
              <a:t>Removal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76095"/>
            <a:ext cx="7102475" cy="459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Example of left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recursion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expre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8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term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tabLst>
                <a:tab pos="3669029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6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Aa </a:t>
            </a: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	{ </a:t>
            </a:r>
            <a:r>
              <a:rPr sz="2800" spc="-5" dirty="0">
                <a:latin typeface="Times New Roman"/>
                <a:cs typeface="Times New Roman"/>
              </a:rPr>
              <a:t>b, ba, baa, baaa,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…..}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50">
              <a:latin typeface="Times New Roman"/>
              <a:cs typeface="Times New Roman"/>
            </a:endParaRPr>
          </a:p>
          <a:p>
            <a:pPr marL="355600" marR="513715" indent="-342900">
              <a:lnSpc>
                <a:spcPts val="302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To eliminate left recursion, we can rewrite the  productions.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95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 R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340"/>
              </a:spcBef>
              <a:tabLst>
                <a:tab pos="3759200" algn="l"/>
              </a:tabLst>
            </a:pPr>
            <a:r>
              <a:rPr sz="2800" dirty="0">
                <a:latin typeface="Times New Roman"/>
                <a:cs typeface="Times New Roman"/>
              </a:rPr>
              <a:t>R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8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R |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	{ </a:t>
            </a:r>
            <a:r>
              <a:rPr sz="2800" spc="-5" dirty="0">
                <a:latin typeface="Times New Roman"/>
                <a:cs typeface="Times New Roman"/>
              </a:rPr>
              <a:t>b, ba, baa, baaa,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…..}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188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385"/>
              </a:spcBef>
            </a:pPr>
            <a:r>
              <a:rPr spc="-5" dirty="0"/>
              <a:t>CFG</a:t>
            </a:r>
          </a:p>
          <a:p>
            <a:pPr marL="621665" indent="-608965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400" dirty="0"/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40" dirty="0">
                <a:latin typeface="MS UI Gothic"/>
                <a:cs typeface="MS UI Gothic"/>
              </a:rPr>
              <a:t> </a:t>
            </a:r>
            <a:r>
              <a:rPr sz="2400" spc="-5" dirty="0"/>
              <a:t>Expr </a:t>
            </a:r>
            <a:r>
              <a:rPr sz="2400" dirty="0"/>
              <a:t>+ </a:t>
            </a:r>
            <a:r>
              <a:rPr sz="2400" spc="-5" dirty="0"/>
              <a:t>term</a:t>
            </a:r>
            <a:endParaRPr sz="2400">
              <a:latin typeface="MS UI Gothic"/>
              <a:cs typeface="MS UI Gothic"/>
            </a:endParaRPr>
          </a:p>
          <a:p>
            <a:pPr marL="621665" indent="-60896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400" dirty="0"/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35" dirty="0">
                <a:latin typeface="MS UI Gothic"/>
                <a:cs typeface="MS UI Gothic"/>
              </a:rPr>
              <a:t> </a:t>
            </a:r>
            <a:r>
              <a:rPr sz="2400" spc="-5" dirty="0"/>
              <a:t>Expr </a:t>
            </a:r>
            <a:r>
              <a:rPr sz="2400" dirty="0"/>
              <a:t>– </a:t>
            </a:r>
            <a:r>
              <a:rPr sz="2400" spc="-5" dirty="0"/>
              <a:t>term</a:t>
            </a:r>
            <a:endParaRPr sz="2400">
              <a:latin typeface="MS UI Gothic"/>
              <a:cs typeface="MS UI Gothic"/>
            </a:endParaRPr>
          </a:p>
          <a:p>
            <a:pPr marL="621665" indent="-608965">
              <a:lnSpc>
                <a:spcPct val="100000"/>
              </a:lnSpc>
              <a:spcBef>
                <a:spcPts val="284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2400" dirty="0"/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155" dirty="0">
                <a:latin typeface="MS UI Gothic"/>
                <a:cs typeface="MS UI Gothic"/>
              </a:rPr>
              <a:t> </a:t>
            </a:r>
            <a:r>
              <a:rPr sz="2400" spc="-5" dirty="0"/>
              <a:t>term</a:t>
            </a:r>
            <a:endParaRPr sz="2400">
              <a:latin typeface="MS UI Gothic"/>
              <a:cs typeface="MS UI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/>
          </a:p>
          <a:p>
            <a:pPr marL="622300" marR="5080">
              <a:lnSpc>
                <a:spcPct val="110100"/>
              </a:lnSpc>
              <a:tabLst>
                <a:tab pos="2075180" algn="l"/>
              </a:tabLst>
            </a:pPr>
            <a:r>
              <a:rPr spc="-5" dirty="0"/>
              <a:t>After rewriting:  </a:t>
            </a:r>
            <a:r>
              <a:rPr dirty="0"/>
              <a:t>expr </a:t>
            </a:r>
            <a:r>
              <a:rPr spc="880" dirty="0">
                <a:latin typeface="MS UI Gothic"/>
                <a:cs typeface="MS UI Gothic"/>
              </a:rPr>
              <a:t>€ </a:t>
            </a:r>
            <a:r>
              <a:rPr spc="-5" dirty="0"/>
              <a:t>term Rest  Rest </a:t>
            </a:r>
            <a:r>
              <a:rPr spc="880" dirty="0">
                <a:latin typeface="MS UI Gothic"/>
                <a:cs typeface="MS UI Gothic"/>
              </a:rPr>
              <a:t>€</a:t>
            </a:r>
            <a:r>
              <a:rPr spc="-254" dirty="0">
                <a:latin typeface="MS UI Gothic"/>
                <a:cs typeface="MS UI Gothic"/>
              </a:rPr>
              <a:t> </a:t>
            </a:r>
            <a:r>
              <a:rPr dirty="0"/>
              <a:t>+ </a:t>
            </a:r>
            <a:r>
              <a:rPr spc="-5" dirty="0"/>
              <a:t>term Rest  Rest</a:t>
            </a:r>
            <a:r>
              <a:rPr spc="-10" dirty="0"/>
              <a:t> </a:t>
            </a:r>
            <a:r>
              <a:rPr spc="880" dirty="0">
                <a:latin typeface="MS UI Gothic"/>
                <a:cs typeface="MS UI Gothic"/>
              </a:rPr>
              <a:t>€</a:t>
            </a:r>
            <a:r>
              <a:rPr spc="-155" dirty="0">
                <a:latin typeface="MS UI Gothic"/>
                <a:cs typeface="MS UI Gothic"/>
              </a:rPr>
              <a:t> </a:t>
            </a:r>
            <a:r>
              <a:rPr dirty="0"/>
              <a:t>-	</a:t>
            </a:r>
            <a:r>
              <a:rPr spc="-5" dirty="0"/>
              <a:t>term</a:t>
            </a:r>
            <a:r>
              <a:rPr spc="-85" dirty="0"/>
              <a:t> </a:t>
            </a:r>
            <a:r>
              <a:rPr spc="-5" dirty="0"/>
              <a:t>Rest  Rest </a:t>
            </a:r>
            <a:r>
              <a:rPr spc="880" dirty="0">
                <a:latin typeface="MS UI Gothic"/>
                <a:cs typeface="MS UI Gothic"/>
              </a:rPr>
              <a:t>€</a:t>
            </a:r>
            <a:r>
              <a:rPr spc="-175" dirty="0">
                <a:latin typeface="MS UI Gothic"/>
                <a:cs typeface="MS UI Gothic"/>
              </a:rPr>
              <a:t> </a:t>
            </a:r>
            <a:r>
              <a:rPr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02039" y="1788488"/>
            <a:ext cx="2849245" cy="26485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65"/>
              </a:spcBef>
              <a:tabLst>
                <a:tab pos="1948814" algn="l"/>
              </a:tabLst>
            </a:pPr>
            <a:r>
              <a:rPr sz="2800" spc="-5" dirty="0">
                <a:solidFill>
                  <a:srgbClr val="FFFF00"/>
                </a:solidFill>
                <a:latin typeface="Times New Roman"/>
                <a:cs typeface="Times New Roman"/>
              </a:rPr>
              <a:t>What is</a:t>
            </a:r>
            <a:r>
              <a:rPr sz="28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sz="2800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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sz="2800" dirty="0">
                <a:solidFill>
                  <a:srgbClr val="FFFF00"/>
                </a:solidFill>
                <a:latin typeface="Times New Roman"/>
                <a:cs typeface="Times New Roman"/>
              </a:rPr>
              <a:t> is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term and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  <a:spcBef>
                <a:spcPts val="2400"/>
              </a:spcBef>
              <a:tabLst>
                <a:tab pos="1920875" algn="l"/>
              </a:tabLst>
            </a:pPr>
            <a:r>
              <a:rPr sz="2800" spc="-5" dirty="0">
                <a:solidFill>
                  <a:srgbClr val="FFFF00"/>
                </a:solidFill>
                <a:latin typeface="Times New Roman"/>
                <a:cs typeface="Times New Roman"/>
              </a:rPr>
              <a:t>What is</a:t>
            </a:r>
            <a:r>
              <a:rPr sz="28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sz="2800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</a:t>
            </a:r>
            <a:endParaRPr sz="2800">
              <a:latin typeface="Symbol"/>
              <a:cs typeface="Symbol"/>
            </a:endParaRPr>
          </a:p>
          <a:p>
            <a:pPr marL="165735">
              <a:lnSpc>
                <a:spcPct val="100000"/>
              </a:lnSpc>
              <a:spcBef>
                <a:spcPts val="2880"/>
              </a:spcBef>
            </a:pP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sz="280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00"/>
                </a:solidFill>
                <a:latin typeface="Times New Roman"/>
                <a:cs typeface="Times New Roman"/>
              </a:rPr>
              <a:t>is</a:t>
            </a:r>
            <a:r>
              <a:rPr sz="2800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56035" y="1366011"/>
            <a:ext cx="5898515" cy="44748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60"/>
              </a:spcBef>
            </a:pPr>
            <a:r>
              <a:rPr sz="2800" spc="-5" dirty="0">
                <a:latin typeface="Times New Roman"/>
                <a:cs typeface="Times New Roman"/>
              </a:rPr>
              <a:t>New syntax definition after left recursion  eliminated:</a:t>
            </a:r>
            <a:endParaRPr sz="2800">
              <a:latin typeface="Times New Roman"/>
              <a:cs typeface="Times New Roman"/>
            </a:endParaRPr>
          </a:p>
          <a:p>
            <a:pPr marL="12700" marR="2935605">
              <a:lnSpc>
                <a:spcPct val="120200"/>
              </a:lnSpc>
              <a:tabLst>
                <a:tab pos="1465580" algn="l"/>
              </a:tabLst>
            </a:pPr>
            <a:r>
              <a:rPr sz="2800" dirty="0">
                <a:latin typeface="Times New Roman"/>
                <a:cs typeface="Times New Roman"/>
              </a:rPr>
              <a:t>Expr </a:t>
            </a:r>
            <a:r>
              <a:rPr sz="2800" spc="880" dirty="0">
                <a:latin typeface="MS UI Gothic"/>
                <a:cs typeface="MS UI Gothic"/>
              </a:rPr>
              <a:t>€ </a:t>
            </a:r>
            <a:r>
              <a:rPr sz="2800" spc="-5" dirty="0">
                <a:latin typeface="Times New Roman"/>
                <a:cs typeface="Times New Roman"/>
              </a:rPr>
              <a:t>Term Rest  Rest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Term Rest  Rest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5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	</a:t>
            </a:r>
            <a:r>
              <a:rPr sz="2800" spc="-5" dirty="0">
                <a:latin typeface="Times New Roman"/>
                <a:cs typeface="Times New Roman"/>
              </a:rPr>
              <a:t>Term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Rest  Rest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6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….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6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56035" y="1315256"/>
            <a:ext cx="5093970" cy="416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Adding translation scheme to them:  </a:t>
            </a:r>
            <a:r>
              <a:rPr sz="2800" dirty="0">
                <a:latin typeface="Times New Roman"/>
                <a:cs typeface="Times New Roman"/>
              </a:rPr>
              <a:t>Expr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5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Term Rest</a:t>
            </a:r>
            <a:endParaRPr sz="2800">
              <a:latin typeface="Times New Roman"/>
              <a:cs typeface="Times New Roman"/>
            </a:endParaRPr>
          </a:p>
          <a:p>
            <a:pPr marL="12700" marR="359410" algn="just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Rest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 Term </a:t>
            </a:r>
            <a:r>
              <a:rPr sz="2800" spc="-5" dirty="0">
                <a:latin typeface="Times New Roman"/>
                <a:cs typeface="Times New Roman"/>
              </a:rPr>
              <a:t>{print(‘+’)} Rest  Rest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1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 Term </a:t>
            </a:r>
            <a:r>
              <a:rPr sz="2800" spc="-5" dirty="0">
                <a:latin typeface="Times New Roman"/>
                <a:cs typeface="Times New Roman"/>
              </a:rPr>
              <a:t>{print(‘-’)} Rest  Rest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70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6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 {print(‘0’)}</a:t>
            </a: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….</a:t>
            </a: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Term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6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 {print(‘9’)}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4793" y="296925"/>
            <a:ext cx="6835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0" dirty="0"/>
              <a:t>translator </a:t>
            </a:r>
            <a:r>
              <a:rPr spc="-5" dirty="0"/>
              <a:t>for </a:t>
            </a:r>
            <a:r>
              <a:rPr spc="-10" dirty="0"/>
              <a:t>simple</a:t>
            </a:r>
            <a:r>
              <a:rPr spc="1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942339"/>
            <a:ext cx="5972175" cy="52470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spc="-5" dirty="0">
                <a:latin typeface="Times New Roman"/>
                <a:cs typeface="Times New Roman"/>
              </a:rPr>
              <a:t>Expr()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284"/>
              </a:spcBef>
            </a:pPr>
            <a:r>
              <a:rPr sz="2400" spc="-5" dirty="0">
                <a:latin typeface="Times New Roman"/>
                <a:cs typeface="Times New Roman"/>
              </a:rPr>
              <a:t>Term();</a:t>
            </a:r>
            <a:endParaRPr sz="24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Rest();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Rest()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imes New Roman"/>
                <a:cs typeface="Times New Roman"/>
              </a:rPr>
              <a:t>if (lookahead == ‘+’)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622300" marR="133985">
              <a:lnSpc>
                <a:spcPct val="109800"/>
              </a:lnSpc>
            </a:pPr>
            <a:r>
              <a:rPr sz="2400" spc="-5" dirty="0">
                <a:latin typeface="Times New Roman"/>
                <a:cs typeface="Times New Roman"/>
              </a:rPr>
              <a:t>match(‘+’); Term(); putchar(‘+’); Rest(); </a:t>
            </a:r>
            <a:r>
              <a:rPr sz="2400" dirty="0">
                <a:latin typeface="Times New Roman"/>
                <a:cs typeface="Times New Roman"/>
              </a:rPr>
              <a:t>}  else if </a:t>
            </a:r>
            <a:r>
              <a:rPr sz="2400" spc="-5" dirty="0">
                <a:latin typeface="Times New Roman"/>
                <a:cs typeface="Times New Roman"/>
              </a:rPr>
              <a:t>(lookahead == ‘-’)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match(‘-’); Term(); </a:t>
            </a:r>
            <a:r>
              <a:rPr sz="2400" spc="-5" dirty="0">
                <a:latin typeface="Times New Roman"/>
                <a:cs typeface="Times New Roman"/>
              </a:rPr>
              <a:t>putchar(‘-’); Rest();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imes New Roman"/>
                <a:cs typeface="Times New Roman"/>
              </a:rPr>
              <a:t>Term()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27100" marR="5080" indent="-304800">
              <a:lnSpc>
                <a:spcPct val="1098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if (isdigit(lookahead)) </a:t>
            </a:r>
            <a:r>
              <a:rPr sz="2400" dirty="0">
                <a:latin typeface="Times New Roman"/>
                <a:cs typeface="Times New Roman"/>
              </a:rPr>
              <a:t>{  </a:t>
            </a:r>
            <a:r>
              <a:rPr sz="2400" spc="-5" dirty="0">
                <a:latin typeface="Times New Roman"/>
                <a:cs typeface="Times New Roman"/>
              </a:rPr>
              <a:t>putchar(lookahead); match(lookahead);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else error();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6814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418845"/>
            <a:ext cx="6666230" cy="520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0360">
              <a:lnSpc>
                <a:spcPct val="100000"/>
              </a:lnSpc>
              <a:spcBef>
                <a:spcPts val="9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Summary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spc="-10" dirty="0">
                <a:latin typeface="Times New Roman"/>
                <a:cs typeface="Times New Roman"/>
              </a:rPr>
              <a:t>syntax-directed </a:t>
            </a:r>
            <a:r>
              <a:rPr sz="3200" spc="-5" dirty="0">
                <a:latin typeface="Times New Roman"/>
                <a:cs typeface="Times New Roman"/>
              </a:rPr>
              <a:t>translator for </a:t>
            </a:r>
            <a:r>
              <a:rPr sz="3200" spc="-10" dirty="0">
                <a:latin typeface="Times New Roman"/>
                <a:cs typeface="Times New Roman"/>
              </a:rPr>
              <a:t>simple  </a:t>
            </a:r>
            <a:r>
              <a:rPr sz="3200" spc="-5" dirty="0">
                <a:latin typeface="Times New Roman"/>
                <a:cs typeface="Times New Roman"/>
              </a:rPr>
              <a:t>expressions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Syntax definition – using CFG</a:t>
            </a:r>
            <a:endParaRPr sz="3200">
              <a:latin typeface="Times New Roman"/>
              <a:cs typeface="Times New Roman"/>
            </a:endParaRPr>
          </a:p>
          <a:p>
            <a:pPr marL="355600" marR="27114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Syntax-directed schemes – CFG plus  semantic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routines</a:t>
            </a:r>
            <a:endParaRPr sz="3200">
              <a:latin typeface="Times New Roman"/>
              <a:cs typeface="Times New Roman"/>
            </a:endParaRPr>
          </a:p>
          <a:p>
            <a:pPr marL="355600" marR="31496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Predictive parsing – recursive desent  parsing with unique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FIRST()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Left recursion elimination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909" y="399795"/>
            <a:ext cx="7038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Recursive Descent Parsing</a:t>
            </a:r>
            <a:r>
              <a:rPr spc="35" dirty="0"/>
              <a:t> </a:t>
            </a:r>
            <a:r>
              <a:rPr spc="-10" dirty="0"/>
              <a:t>Exercise</a:t>
            </a:r>
          </a:p>
        </p:txBody>
      </p:sp>
      <p:sp>
        <p:nvSpPr>
          <p:cNvPr id="3" name="object 3"/>
          <p:cNvSpPr/>
          <p:nvPr/>
        </p:nvSpPr>
        <p:spPr>
          <a:xfrm>
            <a:off x="1065415" y="1550924"/>
            <a:ext cx="8077200" cy="3286125"/>
          </a:xfrm>
          <a:custGeom>
            <a:avLst/>
            <a:gdLst/>
            <a:ahLst/>
            <a:cxnLst/>
            <a:rect l="l" t="t" r="r" b="b"/>
            <a:pathLst>
              <a:path w="8077200" h="3286125">
                <a:moveTo>
                  <a:pt x="0" y="0"/>
                </a:moveTo>
                <a:lnTo>
                  <a:pt x="0" y="3285744"/>
                </a:lnTo>
                <a:lnTo>
                  <a:pt x="8077200" y="3285744"/>
                </a:lnTo>
                <a:lnTo>
                  <a:pt x="8077200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5035" y="1450929"/>
            <a:ext cx="5296535" cy="17462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662305" indent="-635">
              <a:lnSpc>
                <a:spcPts val="3350"/>
              </a:lnSpc>
              <a:spcBef>
                <a:spcPts val="380"/>
              </a:spcBef>
            </a:pPr>
            <a:r>
              <a:rPr sz="2950" i="1" spc="-80" dirty="0">
                <a:latin typeface="Tahoma"/>
                <a:cs typeface="Tahoma"/>
              </a:rPr>
              <a:t>stmt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135" dirty="0">
                <a:latin typeface="MS UI Gothic"/>
                <a:cs typeface="MS UI Gothic"/>
              </a:rPr>
              <a:t> </a:t>
            </a:r>
            <a:r>
              <a:rPr sz="2800" b="1" dirty="0">
                <a:latin typeface="Tahoma"/>
                <a:cs typeface="Tahoma"/>
              </a:rPr>
              <a:t>if </a:t>
            </a:r>
            <a:r>
              <a:rPr sz="2950" i="1" spc="-80" dirty="0">
                <a:latin typeface="Tahoma"/>
                <a:cs typeface="Tahoma"/>
              </a:rPr>
              <a:t>expr </a:t>
            </a:r>
            <a:r>
              <a:rPr sz="2800" b="1" spc="-5" dirty="0">
                <a:latin typeface="Tahoma"/>
                <a:cs typeface="Tahoma"/>
              </a:rPr>
              <a:t>then </a:t>
            </a:r>
            <a:r>
              <a:rPr sz="2950" i="1" spc="-80" dirty="0">
                <a:latin typeface="Tahoma"/>
                <a:cs typeface="Tahoma"/>
              </a:rPr>
              <a:t>stmt </a:t>
            </a:r>
            <a:r>
              <a:rPr sz="2950" i="1" spc="-55" dirty="0">
                <a:latin typeface="Tahoma"/>
                <a:cs typeface="Tahoma"/>
              </a:rPr>
              <a:t>tail  tail </a:t>
            </a:r>
            <a:r>
              <a:rPr sz="2950" spc="780" dirty="0">
                <a:latin typeface="MS UI Gothic"/>
                <a:cs typeface="MS UI Gothic"/>
              </a:rPr>
              <a:t>€</a:t>
            </a:r>
            <a:r>
              <a:rPr sz="2950" spc="50" dirty="0">
                <a:latin typeface="MS UI Gothic"/>
                <a:cs typeface="MS UI Gothic"/>
              </a:rPr>
              <a:t> </a:t>
            </a:r>
            <a:r>
              <a:rPr sz="2800" b="1" spc="-5" dirty="0">
                <a:latin typeface="Tahoma"/>
                <a:cs typeface="Tahoma"/>
              </a:rPr>
              <a:t>else </a:t>
            </a:r>
            <a:r>
              <a:rPr sz="2950" i="1" spc="-80" dirty="0">
                <a:latin typeface="Tahoma"/>
                <a:cs typeface="Tahoma"/>
              </a:rPr>
              <a:t>stmt </a:t>
            </a:r>
            <a:r>
              <a:rPr sz="2800" dirty="0">
                <a:latin typeface="Tahoma"/>
                <a:cs typeface="Tahoma"/>
              </a:rPr>
              <a:t>| </a:t>
            </a:r>
            <a:r>
              <a:rPr sz="2950" i="1" spc="-65" dirty="0"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3204"/>
              </a:spcBef>
            </a:pPr>
            <a:r>
              <a:rPr sz="2800" spc="-5" dirty="0">
                <a:latin typeface="Times New Roman"/>
                <a:cs typeface="Times New Roman"/>
              </a:rPr>
              <a:t>How to write the procedure 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stmt?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909" y="399795"/>
            <a:ext cx="7038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Recursive Descent Parsing</a:t>
            </a:r>
            <a:r>
              <a:rPr spc="35" dirty="0"/>
              <a:t> </a:t>
            </a:r>
            <a:r>
              <a:rPr spc="-10" dirty="0"/>
              <a:t>Exercise</a:t>
            </a:r>
          </a:p>
        </p:txBody>
      </p:sp>
      <p:sp>
        <p:nvSpPr>
          <p:cNvPr id="3" name="object 3"/>
          <p:cNvSpPr/>
          <p:nvPr/>
        </p:nvSpPr>
        <p:spPr>
          <a:xfrm>
            <a:off x="1066927" y="1288796"/>
            <a:ext cx="8077200" cy="5105400"/>
          </a:xfrm>
          <a:custGeom>
            <a:avLst/>
            <a:gdLst/>
            <a:ahLst/>
            <a:cxnLst/>
            <a:rect l="l" t="t" r="r" b="b"/>
            <a:pathLst>
              <a:path w="8077200" h="5105400">
                <a:moveTo>
                  <a:pt x="8077200" y="0"/>
                </a:moveTo>
                <a:lnTo>
                  <a:pt x="8077200" y="5105400"/>
                </a:lnTo>
                <a:lnTo>
                  <a:pt x="0" y="5105400"/>
                </a:lnTo>
                <a:lnTo>
                  <a:pt x="0" y="0"/>
                </a:lnTo>
                <a:lnTo>
                  <a:pt x="807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6939" y="1288796"/>
            <a:ext cx="8077200" cy="5105400"/>
          </a:xfrm>
          <a:custGeom>
            <a:avLst/>
            <a:gdLst/>
            <a:ahLst/>
            <a:cxnLst/>
            <a:rect l="l" t="t" r="r" b="b"/>
            <a:pathLst>
              <a:path w="8077200" h="5105400">
                <a:moveTo>
                  <a:pt x="0" y="0"/>
                </a:moveTo>
                <a:lnTo>
                  <a:pt x="0" y="5105400"/>
                </a:lnTo>
                <a:lnTo>
                  <a:pt x="8077200" y="5105400"/>
                </a:lnTo>
                <a:lnTo>
                  <a:pt x="80772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5020" y="1454596"/>
            <a:ext cx="3975100" cy="46539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345"/>
              </a:spcBef>
            </a:pPr>
            <a:r>
              <a:rPr sz="2500" i="1" spc="-55" dirty="0">
                <a:latin typeface="Tahoma"/>
                <a:cs typeface="Tahoma"/>
              </a:rPr>
              <a:t>stmt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55" dirty="0">
                <a:latin typeface="MS UI Gothic"/>
                <a:cs typeface="MS UI Gothic"/>
              </a:rPr>
              <a:t> </a:t>
            </a:r>
            <a:r>
              <a:rPr sz="2400" b="1" spc="-5" dirty="0">
                <a:latin typeface="Tahoma"/>
                <a:cs typeface="Tahoma"/>
              </a:rPr>
              <a:t>if </a:t>
            </a:r>
            <a:r>
              <a:rPr sz="2500" i="1" spc="-55" dirty="0">
                <a:latin typeface="Tahoma"/>
                <a:cs typeface="Tahoma"/>
              </a:rPr>
              <a:t>expr </a:t>
            </a:r>
            <a:r>
              <a:rPr sz="2400" b="1" dirty="0">
                <a:latin typeface="Tahoma"/>
                <a:cs typeface="Tahoma"/>
              </a:rPr>
              <a:t>then </a:t>
            </a:r>
            <a:r>
              <a:rPr sz="2500" i="1" spc="-55" dirty="0">
                <a:latin typeface="Tahoma"/>
                <a:cs typeface="Tahoma"/>
              </a:rPr>
              <a:t>stmt </a:t>
            </a:r>
            <a:r>
              <a:rPr sz="2500" i="1" spc="-40" dirty="0">
                <a:latin typeface="Tahoma"/>
                <a:cs typeface="Tahoma"/>
              </a:rPr>
              <a:t>tail  tail </a:t>
            </a:r>
            <a:r>
              <a:rPr sz="2500" spc="685" dirty="0">
                <a:latin typeface="MS UI Gothic"/>
                <a:cs typeface="MS UI Gothic"/>
              </a:rPr>
              <a:t>€</a:t>
            </a:r>
            <a:r>
              <a:rPr sz="2500" spc="35" dirty="0">
                <a:latin typeface="MS UI Gothic"/>
                <a:cs typeface="MS UI Gothic"/>
              </a:rPr>
              <a:t> </a:t>
            </a:r>
            <a:r>
              <a:rPr sz="2400" b="1" dirty="0">
                <a:latin typeface="Tahoma"/>
                <a:cs typeface="Tahoma"/>
              </a:rPr>
              <a:t>else </a:t>
            </a:r>
            <a:r>
              <a:rPr sz="2500" i="1" spc="-55" dirty="0">
                <a:latin typeface="Tahoma"/>
                <a:cs typeface="Tahoma"/>
              </a:rPr>
              <a:t>stmt </a:t>
            </a:r>
            <a:r>
              <a:rPr sz="2400" dirty="0">
                <a:latin typeface="Tahoma"/>
                <a:cs typeface="Tahoma"/>
              </a:rPr>
              <a:t>| </a:t>
            </a:r>
            <a:r>
              <a:rPr sz="2500" i="1" spc="-45" dirty="0"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Times New Roman"/>
              <a:cs typeface="Times New Roman"/>
            </a:endParaRPr>
          </a:p>
          <a:p>
            <a:pPr marR="350520" algn="ctr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stmt()</a:t>
            </a:r>
            <a:endParaRPr sz="2800">
              <a:latin typeface="Times New Roman"/>
              <a:cs typeface="Times New Roman"/>
            </a:endParaRPr>
          </a:p>
          <a:p>
            <a:pPr marR="102743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739900" marR="17399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match(‘if’);  </a:t>
            </a:r>
            <a:r>
              <a:rPr sz="2800" dirty="0">
                <a:latin typeface="Times New Roman"/>
                <a:cs typeface="Times New Roman"/>
              </a:rPr>
              <a:t>expr();  </a:t>
            </a:r>
            <a:r>
              <a:rPr sz="2800" spc="-5" dirty="0">
                <a:latin typeface="Times New Roman"/>
                <a:cs typeface="Times New Roman"/>
              </a:rPr>
              <a:t>match(‘then’);  stmt();</a:t>
            </a:r>
            <a:endParaRPr sz="2800">
              <a:latin typeface="Times New Roman"/>
              <a:cs typeface="Times New Roman"/>
            </a:endParaRPr>
          </a:p>
          <a:p>
            <a:pPr marL="295275" algn="ctr">
              <a:lnSpc>
                <a:spcPct val="100000"/>
              </a:lnSpc>
              <a:spcBef>
                <a:spcPts val="15"/>
              </a:spcBef>
            </a:pPr>
            <a:r>
              <a:rPr sz="2800" spc="-5" dirty="0">
                <a:latin typeface="Times New Roman"/>
                <a:cs typeface="Times New Roman"/>
              </a:rPr>
              <a:t>tail();</a:t>
            </a:r>
            <a:endParaRPr sz="2800">
              <a:latin typeface="Times New Roman"/>
              <a:cs typeface="Times New Roman"/>
            </a:endParaRPr>
          </a:p>
          <a:p>
            <a:pPr marR="102743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909" y="399795"/>
            <a:ext cx="7038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Recursive Descent Parsing</a:t>
            </a:r>
            <a:r>
              <a:rPr spc="35" dirty="0"/>
              <a:t> </a:t>
            </a:r>
            <a:r>
              <a:rPr spc="-10" dirty="0"/>
              <a:t>Exercise</a:t>
            </a:r>
          </a:p>
        </p:txBody>
      </p:sp>
      <p:sp>
        <p:nvSpPr>
          <p:cNvPr id="3" name="object 3"/>
          <p:cNvSpPr/>
          <p:nvPr/>
        </p:nvSpPr>
        <p:spPr>
          <a:xfrm>
            <a:off x="1066927" y="1288796"/>
            <a:ext cx="8077200" cy="5105400"/>
          </a:xfrm>
          <a:custGeom>
            <a:avLst/>
            <a:gdLst/>
            <a:ahLst/>
            <a:cxnLst/>
            <a:rect l="l" t="t" r="r" b="b"/>
            <a:pathLst>
              <a:path w="8077200" h="5105400">
                <a:moveTo>
                  <a:pt x="8077200" y="0"/>
                </a:moveTo>
                <a:lnTo>
                  <a:pt x="8077200" y="5105400"/>
                </a:lnTo>
                <a:lnTo>
                  <a:pt x="0" y="5105400"/>
                </a:lnTo>
                <a:lnTo>
                  <a:pt x="0" y="0"/>
                </a:lnTo>
                <a:lnTo>
                  <a:pt x="807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6939" y="1288796"/>
            <a:ext cx="8077200" cy="5105400"/>
          </a:xfrm>
          <a:custGeom>
            <a:avLst/>
            <a:gdLst/>
            <a:ahLst/>
            <a:cxnLst/>
            <a:rect l="l" t="t" r="r" b="b"/>
            <a:pathLst>
              <a:path w="8077200" h="5105400">
                <a:moveTo>
                  <a:pt x="0" y="0"/>
                </a:moveTo>
                <a:lnTo>
                  <a:pt x="0" y="5105400"/>
                </a:lnTo>
                <a:lnTo>
                  <a:pt x="8077200" y="5105400"/>
                </a:lnTo>
                <a:lnTo>
                  <a:pt x="80772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5035" y="1450929"/>
            <a:ext cx="7440930" cy="46285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454"/>
              </a:lnSpc>
              <a:spcBef>
                <a:spcPts val="110"/>
              </a:spcBef>
            </a:pPr>
            <a:r>
              <a:rPr sz="2950" i="1" spc="-80" dirty="0">
                <a:latin typeface="Tahoma"/>
                <a:cs typeface="Tahoma"/>
              </a:rPr>
              <a:t>stmt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160" dirty="0">
                <a:latin typeface="MS UI Gothic"/>
                <a:cs typeface="MS UI Gothic"/>
              </a:rPr>
              <a:t> </a:t>
            </a:r>
            <a:r>
              <a:rPr sz="2800" b="1" dirty="0">
                <a:latin typeface="Tahoma"/>
                <a:cs typeface="Tahoma"/>
              </a:rPr>
              <a:t>if </a:t>
            </a:r>
            <a:r>
              <a:rPr sz="2950" i="1" spc="-80" dirty="0">
                <a:latin typeface="Tahoma"/>
                <a:cs typeface="Tahoma"/>
              </a:rPr>
              <a:t>expr </a:t>
            </a:r>
            <a:r>
              <a:rPr sz="2800" b="1" spc="-5" dirty="0">
                <a:latin typeface="Tahoma"/>
                <a:cs typeface="Tahoma"/>
              </a:rPr>
              <a:t>then </a:t>
            </a:r>
            <a:r>
              <a:rPr sz="2950" i="1" spc="-80" dirty="0">
                <a:latin typeface="Tahoma"/>
                <a:cs typeface="Tahoma"/>
              </a:rPr>
              <a:t>stmt </a:t>
            </a:r>
            <a:r>
              <a:rPr sz="2950" i="1" spc="-55" dirty="0">
                <a:latin typeface="Tahoma"/>
                <a:cs typeface="Tahoma"/>
              </a:rPr>
              <a:t>tail</a:t>
            </a:r>
            <a:endParaRPr sz="2950">
              <a:latin typeface="Tahoma"/>
              <a:cs typeface="Tahoma"/>
            </a:endParaRPr>
          </a:p>
          <a:p>
            <a:pPr marL="926465">
              <a:lnSpc>
                <a:spcPts val="3454"/>
              </a:lnSpc>
            </a:pPr>
            <a:r>
              <a:rPr sz="2800" dirty="0">
                <a:latin typeface="Tahoma"/>
                <a:cs typeface="Tahoma"/>
              </a:rPr>
              <a:t>| </a:t>
            </a:r>
            <a:r>
              <a:rPr sz="2800" b="1" dirty="0">
                <a:latin typeface="Tahoma"/>
                <a:cs typeface="Tahoma"/>
              </a:rPr>
              <a:t>while </a:t>
            </a:r>
            <a:r>
              <a:rPr sz="2800" dirty="0">
                <a:latin typeface="Tahoma"/>
                <a:cs typeface="Tahoma"/>
              </a:rPr>
              <a:t>( </a:t>
            </a:r>
            <a:r>
              <a:rPr sz="2950" i="1" spc="-80" dirty="0">
                <a:latin typeface="Tahoma"/>
                <a:cs typeface="Tahoma"/>
              </a:rPr>
              <a:t>expr </a:t>
            </a:r>
            <a:r>
              <a:rPr sz="2800" dirty="0">
                <a:latin typeface="Tahoma"/>
                <a:cs typeface="Tahoma"/>
              </a:rPr>
              <a:t>)</a:t>
            </a:r>
            <a:r>
              <a:rPr sz="2800" spc="75" dirty="0">
                <a:latin typeface="Tahoma"/>
                <a:cs typeface="Tahoma"/>
              </a:rPr>
              <a:t> </a:t>
            </a:r>
            <a:r>
              <a:rPr sz="2950" i="1" spc="-80" dirty="0">
                <a:latin typeface="Tahoma"/>
                <a:cs typeface="Tahoma"/>
              </a:rPr>
              <a:t>stmt</a:t>
            </a:r>
            <a:endParaRPr sz="2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ahoma"/>
                <a:cs typeface="Tahoma"/>
              </a:rPr>
              <a:t>stmt()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ahoma"/>
                <a:cs typeface="Tahoma"/>
              </a:rPr>
              <a:t>{</a:t>
            </a:r>
            <a:endParaRPr sz="2400">
              <a:latin typeface="Tahoma"/>
              <a:cs typeface="Tahoma"/>
            </a:endParaRPr>
          </a:p>
          <a:p>
            <a:pPr marL="393700">
              <a:lnSpc>
                <a:spcPts val="2875"/>
              </a:lnSpc>
            </a:pPr>
            <a:r>
              <a:rPr sz="2400" dirty="0">
                <a:latin typeface="Tahoma"/>
                <a:cs typeface="Tahoma"/>
              </a:rPr>
              <a:t>if (lookahead ==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‘if’)</a:t>
            </a:r>
            <a:endParaRPr sz="2400">
              <a:latin typeface="Tahoma"/>
              <a:cs typeface="Tahoma"/>
            </a:endParaRPr>
          </a:p>
          <a:p>
            <a:pPr marL="393700" marR="5080" indent="28575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{match(‘if’); expr(); </a:t>
            </a:r>
            <a:r>
              <a:rPr sz="2400" dirty="0">
                <a:latin typeface="Tahoma"/>
                <a:cs typeface="Tahoma"/>
              </a:rPr>
              <a:t>match(‘then’); stmt(); </a:t>
            </a:r>
            <a:r>
              <a:rPr sz="2400" spc="-5" dirty="0">
                <a:latin typeface="Tahoma"/>
                <a:cs typeface="Tahoma"/>
              </a:rPr>
              <a:t>tail(); </a:t>
            </a:r>
            <a:r>
              <a:rPr sz="2400" dirty="0">
                <a:latin typeface="Tahoma"/>
                <a:cs typeface="Tahoma"/>
              </a:rPr>
              <a:t>}  else (lookahead ==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‘while’)</a:t>
            </a:r>
            <a:endParaRPr sz="2400">
              <a:latin typeface="Tahoma"/>
              <a:cs typeface="Tahoma"/>
            </a:endParaRPr>
          </a:p>
          <a:p>
            <a:pPr marL="927100" marR="556260" indent="-247650">
              <a:lnSpc>
                <a:spcPts val="2880"/>
              </a:lnSpc>
            </a:pPr>
            <a:r>
              <a:rPr sz="2400" dirty="0">
                <a:latin typeface="Tahoma"/>
                <a:cs typeface="Tahoma"/>
              </a:rPr>
              <a:t>{match(‘while’); match(‘(‘); expr();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match(‘)’);  </a:t>
            </a:r>
            <a:r>
              <a:rPr sz="2400" spc="-5" dirty="0">
                <a:latin typeface="Tahoma"/>
                <a:cs typeface="Tahoma"/>
              </a:rPr>
              <a:t>stmt();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}</a:t>
            </a:r>
            <a:endParaRPr sz="2400">
              <a:latin typeface="Tahoma"/>
              <a:cs typeface="Tahoma"/>
            </a:endParaRPr>
          </a:p>
          <a:p>
            <a:pPr marL="393700">
              <a:lnSpc>
                <a:spcPts val="2775"/>
              </a:lnSpc>
            </a:pPr>
            <a:r>
              <a:rPr sz="2400" spc="-5" dirty="0">
                <a:latin typeface="Tahoma"/>
                <a:cs typeface="Tahoma"/>
              </a:rPr>
              <a:t>else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error();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ahoma"/>
                <a:cs typeface="Tahoma"/>
              </a:rPr>
              <a:t>}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3499" y="342645"/>
            <a:ext cx="27787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More</a:t>
            </a:r>
            <a:r>
              <a:rPr spc="-65" dirty="0"/>
              <a:t> </a:t>
            </a:r>
            <a:r>
              <a:rPr spc="-10" dirty="0"/>
              <a:t>Exercise</a:t>
            </a:r>
          </a:p>
        </p:txBody>
      </p:sp>
      <p:sp>
        <p:nvSpPr>
          <p:cNvPr id="3" name="object 3"/>
          <p:cNvSpPr/>
          <p:nvPr/>
        </p:nvSpPr>
        <p:spPr>
          <a:xfrm>
            <a:off x="762139" y="1288796"/>
            <a:ext cx="8609965" cy="5105400"/>
          </a:xfrm>
          <a:custGeom>
            <a:avLst/>
            <a:gdLst/>
            <a:ahLst/>
            <a:cxnLst/>
            <a:rect l="l" t="t" r="r" b="b"/>
            <a:pathLst>
              <a:path w="8609965" h="5105400">
                <a:moveTo>
                  <a:pt x="8609838" y="0"/>
                </a:moveTo>
                <a:lnTo>
                  <a:pt x="8609838" y="5105400"/>
                </a:lnTo>
                <a:lnTo>
                  <a:pt x="0" y="5105400"/>
                </a:lnTo>
                <a:lnTo>
                  <a:pt x="0" y="0"/>
                </a:lnTo>
                <a:lnTo>
                  <a:pt x="86098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139" y="1288796"/>
            <a:ext cx="8610600" cy="5105400"/>
          </a:xfrm>
          <a:custGeom>
            <a:avLst/>
            <a:gdLst/>
            <a:ahLst/>
            <a:cxnLst/>
            <a:rect l="l" t="t" r="r" b="b"/>
            <a:pathLst>
              <a:path w="8610600" h="5105400">
                <a:moveTo>
                  <a:pt x="0" y="0"/>
                </a:moveTo>
                <a:lnTo>
                  <a:pt x="0" y="5105400"/>
                </a:lnTo>
                <a:lnTo>
                  <a:pt x="8610600" y="5105400"/>
                </a:lnTo>
                <a:lnTo>
                  <a:pt x="8610600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5035" y="1450929"/>
            <a:ext cx="3615054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i="1" spc="-90" dirty="0">
                <a:latin typeface="Tahoma"/>
                <a:cs typeface="Tahoma"/>
              </a:rPr>
              <a:t>A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30" dirty="0">
                <a:latin typeface="MS UI Gothic"/>
                <a:cs typeface="MS UI Gothic"/>
              </a:rPr>
              <a:t> </a:t>
            </a:r>
            <a:r>
              <a:rPr sz="2800" dirty="0">
                <a:latin typeface="Tahoma"/>
                <a:cs typeface="Tahoma"/>
              </a:rPr>
              <a:t>B { C } | D </a:t>
            </a:r>
            <a:r>
              <a:rPr sz="2800" spc="-5" dirty="0">
                <a:latin typeface="Tahoma"/>
                <a:cs typeface="Tahoma"/>
              </a:rPr>
              <a:t>E; </a:t>
            </a:r>
            <a:r>
              <a:rPr sz="2800" dirty="0">
                <a:latin typeface="Tahoma"/>
                <a:cs typeface="Tahoma"/>
              </a:rPr>
              <a:t>| </a:t>
            </a:r>
            <a:r>
              <a:rPr sz="2800" spc="-5" dirty="0">
                <a:latin typeface="Tahoma"/>
                <a:cs typeface="Tahoma"/>
              </a:rPr>
              <a:t>F;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5035" y="2310129"/>
            <a:ext cx="315214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A()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ahoma"/>
                <a:cs typeface="Tahoma"/>
              </a:rPr>
              <a:t>{</a:t>
            </a:r>
            <a:endParaRPr sz="2400">
              <a:latin typeface="Tahoma"/>
              <a:cs typeface="Tahoma"/>
            </a:endParaRPr>
          </a:p>
          <a:p>
            <a:pPr marL="393700">
              <a:lnSpc>
                <a:spcPts val="2875"/>
              </a:lnSpc>
            </a:pPr>
            <a:r>
              <a:rPr sz="2400" dirty="0">
                <a:latin typeface="Tahoma"/>
                <a:cs typeface="Tahoma"/>
              </a:rPr>
              <a:t>if (lookahead == ?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6035" y="3405123"/>
            <a:ext cx="455676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{B; </a:t>
            </a:r>
            <a:r>
              <a:rPr sz="2400" dirty="0">
                <a:latin typeface="Tahoma"/>
                <a:cs typeface="Tahoma"/>
              </a:rPr>
              <a:t>match (‘{‘); C; match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(‘}’);}  </a:t>
            </a:r>
            <a:r>
              <a:rPr sz="2400" spc="-5" dirty="0">
                <a:latin typeface="Tahoma"/>
                <a:cs typeface="Tahoma"/>
              </a:rPr>
              <a:t>else </a:t>
            </a:r>
            <a:r>
              <a:rPr sz="2400" dirty="0">
                <a:latin typeface="Tahoma"/>
                <a:cs typeface="Tahoma"/>
              </a:rPr>
              <a:t>(lookahead ==?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6035" y="4135120"/>
            <a:ext cx="3038475" cy="148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{D();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E();}</a:t>
            </a:r>
            <a:endParaRPr sz="2400">
              <a:latin typeface="Tahoma"/>
              <a:cs typeface="Tahoma"/>
            </a:endParaRPr>
          </a:p>
          <a:p>
            <a:pPr marL="546100" marR="5080" indent="-533400">
              <a:lnSpc>
                <a:spcPts val="2820"/>
              </a:lnSpc>
              <a:spcBef>
                <a:spcPts val="140"/>
              </a:spcBef>
            </a:pPr>
            <a:r>
              <a:rPr sz="2400" spc="-5" dirty="0">
                <a:latin typeface="Tahoma"/>
                <a:cs typeface="Tahoma"/>
              </a:rPr>
              <a:t>else </a:t>
            </a:r>
            <a:r>
              <a:rPr sz="2400" dirty="0">
                <a:latin typeface="Arial"/>
                <a:cs typeface="Arial"/>
              </a:rPr>
              <a:t>(lookahead == ?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)  </a:t>
            </a:r>
            <a:r>
              <a:rPr sz="2400" spc="-5" dirty="0">
                <a:latin typeface="Arial"/>
                <a:cs typeface="Arial"/>
              </a:rPr>
              <a:t>F();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45"/>
              </a:lnSpc>
            </a:pPr>
            <a:r>
              <a:rPr sz="2400" spc="-5" dirty="0">
                <a:latin typeface="Tahoma"/>
                <a:cs typeface="Tahoma"/>
              </a:rPr>
              <a:t>else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error();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5035" y="5595873"/>
            <a:ext cx="17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}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55909" y="1288796"/>
            <a:ext cx="5040630" cy="2057400"/>
          </a:xfrm>
          <a:custGeom>
            <a:avLst/>
            <a:gdLst/>
            <a:ahLst/>
            <a:cxnLst/>
            <a:rect l="l" t="t" r="r" b="b"/>
            <a:pathLst>
              <a:path w="5040630" h="2057400">
                <a:moveTo>
                  <a:pt x="1078230" y="0"/>
                </a:moveTo>
                <a:lnTo>
                  <a:pt x="1078230" y="1200150"/>
                </a:lnTo>
                <a:lnTo>
                  <a:pt x="0" y="1849374"/>
                </a:lnTo>
                <a:lnTo>
                  <a:pt x="1078230" y="1714500"/>
                </a:lnTo>
                <a:lnTo>
                  <a:pt x="1078230" y="2057400"/>
                </a:lnTo>
                <a:lnTo>
                  <a:pt x="5040617" y="2057400"/>
                </a:lnTo>
                <a:lnTo>
                  <a:pt x="5040617" y="0"/>
                </a:lnTo>
                <a:lnTo>
                  <a:pt x="1738884" y="0"/>
                </a:lnTo>
                <a:lnTo>
                  <a:pt x="1078230" y="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18207" y="1317244"/>
            <a:ext cx="343154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75"/>
              </a:lnSpc>
              <a:spcBef>
                <a:spcPts val="100"/>
              </a:spcBef>
              <a:buAutoNum type="arabicParenR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FIRST( </a:t>
            </a:r>
            <a:r>
              <a:rPr sz="2400" dirty="0">
                <a:latin typeface="Arial"/>
                <a:cs typeface="Arial"/>
              </a:rPr>
              <a:t>B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ts val="2875"/>
              </a:lnSpc>
              <a:buAutoNum type="arabicParenR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FIRST( B{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875"/>
              </a:lnSpc>
              <a:buAutoNum type="arabicParenR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FIRST( </a:t>
            </a:r>
            <a:r>
              <a:rPr sz="2400" dirty="0">
                <a:latin typeface="Arial"/>
                <a:cs typeface="Arial"/>
              </a:rPr>
              <a:t>B { C }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875"/>
              </a:lnSpc>
              <a:buAutoNum type="arabicParenR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FIRST( B,D,F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Which </a:t>
            </a:r>
            <a:r>
              <a:rPr sz="2400" spc="-5" dirty="0">
                <a:latin typeface="Arial"/>
                <a:cs typeface="Arial"/>
              </a:rPr>
              <a:t>of above are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true?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19927" y="3468115"/>
            <a:ext cx="1981200" cy="1935480"/>
          </a:xfrm>
          <a:custGeom>
            <a:avLst/>
            <a:gdLst/>
            <a:ahLst/>
            <a:cxnLst/>
            <a:rect l="l" t="t" r="r" b="b"/>
            <a:pathLst>
              <a:path w="1981200" h="1935479">
                <a:moveTo>
                  <a:pt x="329946" y="1325880"/>
                </a:moveTo>
                <a:lnTo>
                  <a:pt x="263484" y="1327953"/>
                </a:lnTo>
                <a:lnTo>
                  <a:pt x="201566" y="1333892"/>
                </a:lnTo>
                <a:lnTo>
                  <a:pt x="145522" y="1343279"/>
                </a:lnTo>
                <a:lnTo>
                  <a:pt x="96683" y="1355693"/>
                </a:lnTo>
                <a:lnTo>
                  <a:pt x="56380" y="1370714"/>
                </a:lnTo>
                <a:lnTo>
                  <a:pt x="6708" y="1406900"/>
                </a:lnTo>
                <a:lnTo>
                  <a:pt x="0" y="1427226"/>
                </a:lnTo>
                <a:lnTo>
                  <a:pt x="0" y="1834134"/>
                </a:lnTo>
                <a:lnTo>
                  <a:pt x="25945" y="1873436"/>
                </a:lnTo>
                <a:lnTo>
                  <a:pt x="96683" y="1905666"/>
                </a:lnTo>
                <a:lnTo>
                  <a:pt x="145522" y="1918080"/>
                </a:lnTo>
                <a:lnTo>
                  <a:pt x="201566" y="1927467"/>
                </a:lnTo>
                <a:lnTo>
                  <a:pt x="263484" y="1933406"/>
                </a:lnTo>
                <a:lnTo>
                  <a:pt x="329946" y="1935480"/>
                </a:lnTo>
                <a:lnTo>
                  <a:pt x="1651266" y="1935480"/>
                </a:lnTo>
                <a:lnTo>
                  <a:pt x="1717727" y="1933406"/>
                </a:lnTo>
                <a:lnTo>
                  <a:pt x="1779644" y="1927467"/>
                </a:lnTo>
                <a:lnTo>
                  <a:pt x="1835686" y="1918080"/>
                </a:lnTo>
                <a:lnTo>
                  <a:pt x="1884522" y="1905666"/>
                </a:lnTo>
                <a:lnTo>
                  <a:pt x="1924823" y="1890645"/>
                </a:lnTo>
                <a:lnTo>
                  <a:pt x="1974492" y="1854459"/>
                </a:lnTo>
                <a:lnTo>
                  <a:pt x="1981200" y="1834134"/>
                </a:lnTo>
                <a:lnTo>
                  <a:pt x="1981200" y="1427226"/>
                </a:lnTo>
                <a:lnTo>
                  <a:pt x="1955256" y="1387923"/>
                </a:lnTo>
                <a:lnTo>
                  <a:pt x="1884522" y="1355693"/>
                </a:lnTo>
                <a:lnTo>
                  <a:pt x="1835686" y="1343279"/>
                </a:lnTo>
                <a:lnTo>
                  <a:pt x="1779644" y="1333892"/>
                </a:lnTo>
                <a:lnTo>
                  <a:pt x="1717727" y="1327953"/>
                </a:lnTo>
                <a:lnTo>
                  <a:pt x="1651266" y="1325880"/>
                </a:lnTo>
                <a:lnTo>
                  <a:pt x="1276350" y="0"/>
                </a:lnTo>
                <a:lnTo>
                  <a:pt x="1155966" y="1325880"/>
                </a:lnTo>
                <a:lnTo>
                  <a:pt x="329946" y="1325880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52241" y="4844542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(2) And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(3)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394" y="418845"/>
            <a:ext cx="7595870" cy="5547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83995">
              <a:lnSpc>
                <a:spcPct val="100000"/>
              </a:lnSpc>
              <a:spcBef>
                <a:spcPts val="9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Left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Recursion Removal</a:t>
            </a:r>
            <a:endParaRPr sz="3200">
              <a:latin typeface="Arial"/>
              <a:cs typeface="Arial"/>
            </a:endParaRPr>
          </a:p>
          <a:p>
            <a:pPr marL="355600" marR="3431540" indent="-343535">
              <a:lnSpc>
                <a:spcPct val="110300"/>
              </a:lnSpc>
              <a:spcBef>
                <a:spcPts val="2450"/>
              </a:spcBef>
            </a:pPr>
            <a:r>
              <a:rPr sz="3200" spc="-5" dirty="0">
                <a:latin typeface="Times New Roman"/>
                <a:cs typeface="Times New Roman"/>
              </a:rPr>
              <a:t>Example of left recursion  expr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95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expr + term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50">
              <a:latin typeface="Times New Roman"/>
              <a:cs typeface="Times New Roman"/>
            </a:endParaRPr>
          </a:p>
          <a:p>
            <a:pPr marL="12700" indent="342900">
              <a:lnSpc>
                <a:spcPct val="100000"/>
              </a:lnSpc>
              <a:tabLst>
                <a:tab pos="3669665" algn="l"/>
              </a:tabLst>
            </a:pP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6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Aa |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	{ b, ba, baa, baaa,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…..}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350">
              <a:latin typeface="Times New Roman"/>
              <a:cs typeface="Times New Roman"/>
            </a:endParaRPr>
          </a:p>
          <a:p>
            <a:pPr marL="355600" marR="52705" indent="-343535">
              <a:lnSpc>
                <a:spcPts val="3450"/>
              </a:lnSpc>
            </a:pPr>
            <a:r>
              <a:rPr sz="3200" spc="-5" dirty="0">
                <a:latin typeface="Times New Roman"/>
                <a:cs typeface="Times New Roman"/>
              </a:rPr>
              <a:t>To eliminate left recursion, we can rewrite the  productions.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340"/>
              </a:spcBef>
            </a:pP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7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 R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375"/>
              </a:spcBef>
              <a:tabLst>
                <a:tab pos="3770629" algn="l"/>
              </a:tabLst>
            </a:pPr>
            <a:r>
              <a:rPr sz="3200" spc="-5" dirty="0">
                <a:latin typeface="Times New Roman"/>
                <a:cs typeface="Times New Roman"/>
              </a:rPr>
              <a:t>R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45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R |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	{ b, ba, baa, baaa, …..}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188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385"/>
              </a:spcBef>
            </a:pPr>
            <a:r>
              <a:rPr spc="-5" dirty="0"/>
              <a:t>CFG</a:t>
            </a:r>
          </a:p>
          <a:p>
            <a:pPr marL="622300" indent="-60960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sz="2400" dirty="0"/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45" dirty="0">
                <a:latin typeface="MS UI Gothic"/>
                <a:cs typeface="MS UI Gothic"/>
              </a:rPr>
              <a:t> </a:t>
            </a:r>
            <a:r>
              <a:rPr sz="2400" spc="-5" dirty="0"/>
              <a:t>Expr </a:t>
            </a:r>
            <a:r>
              <a:rPr sz="2400" dirty="0"/>
              <a:t>+ </a:t>
            </a:r>
            <a:r>
              <a:rPr sz="2400" spc="-5" dirty="0"/>
              <a:t>term</a:t>
            </a:r>
            <a:endParaRPr sz="2400">
              <a:latin typeface="MS UI Gothic"/>
              <a:cs typeface="MS UI Gothic"/>
            </a:endParaRPr>
          </a:p>
          <a:p>
            <a:pPr marL="622300" indent="-60960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sz="2400" dirty="0"/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240" dirty="0">
                <a:latin typeface="MS UI Gothic"/>
                <a:cs typeface="MS UI Gothic"/>
              </a:rPr>
              <a:t> </a:t>
            </a:r>
            <a:r>
              <a:rPr sz="2400" spc="-5" dirty="0"/>
              <a:t>Expr </a:t>
            </a:r>
            <a:r>
              <a:rPr sz="2400" dirty="0"/>
              <a:t>– </a:t>
            </a:r>
            <a:r>
              <a:rPr sz="2400" spc="-5" dirty="0"/>
              <a:t>term</a:t>
            </a:r>
            <a:endParaRPr sz="2400">
              <a:latin typeface="MS UI Gothic"/>
              <a:cs typeface="MS UI Gothic"/>
            </a:endParaRPr>
          </a:p>
          <a:p>
            <a:pPr marL="622300" indent="-609600">
              <a:lnSpc>
                <a:spcPct val="100000"/>
              </a:lnSpc>
              <a:spcBef>
                <a:spcPts val="284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sz="2400" dirty="0"/>
              <a:t>expr </a:t>
            </a:r>
            <a:r>
              <a:rPr sz="2400" spc="750" dirty="0">
                <a:latin typeface="MS UI Gothic"/>
                <a:cs typeface="MS UI Gothic"/>
              </a:rPr>
              <a:t>€</a:t>
            </a:r>
            <a:r>
              <a:rPr sz="2400" spc="-160" dirty="0">
                <a:latin typeface="MS UI Gothic"/>
                <a:cs typeface="MS UI Gothic"/>
              </a:rPr>
              <a:t> </a:t>
            </a:r>
            <a:r>
              <a:rPr sz="2400" spc="-5" dirty="0"/>
              <a:t>term</a:t>
            </a:r>
            <a:endParaRPr sz="2400">
              <a:latin typeface="MS UI Gothic"/>
              <a:cs typeface="MS UI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/>
          </a:p>
          <a:p>
            <a:pPr marL="622300" marR="5080">
              <a:lnSpc>
                <a:spcPct val="110100"/>
              </a:lnSpc>
              <a:tabLst>
                <a:tab pos="2075180" algn="l"/>
              </a:tabLst>
            </a:pPr>
            <a:r>
              <a:rPr spc="-5" dirty="0"/>
              <a:t>After rewriting:  </a:t>
            </a:r>
            <a:r>
              <a:rPr dirty="0"/>
              <a:t>expr </a:t>
            </a:r>
            <a:r>
              <a:rPr spc="880" dirty="0">
                <a:latin typeface="MS UI Gothic"/>
                <a:cs typeface="MS UI Gothic"/>
              </a:rPr>
              <a:t>€ </a:t>
            </a:r>
            <a:r>
              <a:rPr spc="-5" dirty="0"/>
              <a:t>term Rest  Rest </a:t>
            </a:r>
            <a:r>
              <a:rPr spc="880" dirty="0">
                <a:latin typeface="MS UI Gothic"/>
                <a:cs typeface="MS UI Gothic"/>
              </a:rPr>
              <a:t>€</a:t>
            </a:r>
            <a:r>
              <a:rPr spc="-254" dirty="0">
                <a:latin typeface="MS UI Gothic"/>
                <a:cs typeface="MS UI Gothic"/>
              </a:rPr>
              <a:t> </a:t>
            </a:r>
            <a:r>
              <a:rPr dirty="0"/>
              <a:t>+ </a:t>
            </a:r>
            <a:r>
              <a:rPr spc="-5" dirty="0"/>
              <a:t>term Rest  Rest</a:t>
            </a:r>
            <a:r>
              <a:rPr spc="-10" dirty="0"/>
              <a:t> </a:t>
            </a:r>
            <a:r>
              <a:rPr spc="880" dirty="0">
                <a:latin typeface="MS UI Gothic"/>
                <a:cs typeface="MS UI Gothic"/>
              </a:rPr>
              <a:t>€</a:t>
            </a:r>
            <a:r>
              <a:rPr spc="-155" dirty="0">
                <a:latin typeface="MS UI Gothic"/>
                <a:cs typeface="MS UI Gothic"/>
              </a:rPr>
              <a:t> </a:t>
            </a:r>
            <a:r>
              <a:rPr dirty="0"/>
              <a:t>-	</a:t>
            </a:r>
            <a:r>
              <a:rPr spc="-5" dirty="0"/>
              <a:t>term</a:t>
            </a:r>
            <a:r>
              <a:rPr spc="-85" dirty="0"/>
              <a:t> </a:t>
            </a:r>
            <a:r>
              <a:rPr spc="-5" dirty="0"/>
              <a:t>Rest  Rest </a:t>
            </a:r>
            <a:r>
              <a:rPr spc="880" dirty="0">
                <a:latin typeface="MS UI Gothic"/>
                <a:cs typeface="MS UI Gothic"/>
              </a:rPr>
              <a:t>€</a:t>
            </a:r>
            <a:r>
              <a:rPr spc="-175" dirty="0">
                <a:latin typeface="MS UI Gothic"/>
                <a:cs typeface="MS UI Gothic"/>
              </a:rPr>
              <a:t> </a:t>
            </a:r>
            <a:r>
              <a:rPr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02039" y="2460269"/>
            <a:ext cx="28492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sz="2800" dirty="0">
                <a:solidFill>
                  <a:srgbClr val="FFFF00"/>
                </a:solidFill>
                <a:latin typeface="Times New Roman"/>
                <a:cs typeface="Times New Roman"/>
              </a:rPr>
              <a:t> is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term and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55189" y="3984244"/>
            <a:ext cx="11938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sz="280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00"/>
                </a:solidFill>
                <a:latin typeface="Times New Roman"/>
                <a:cs typeface="Times New Roman"/>
              </a:rPr>
              <a:t>is</a:t>
            </a:r>
            <a:r>
              <a:rPr sz="2800" spc="-9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1827" y="418845"/>
            <a:ext cx="2102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Parse</a:t>
            </a:r>
            <a:r>
              <a:rPr spc="-60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14078"/>
            <a:ext cx="3345815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0"/>
              </a:spcBef>
            </a:pPr>
            <a:r>
              <a:rPr sz="3200" spc="-5" dirty="0">
                <a:latin typeface="Arial"/>
                <a:cs typeface="Arial"/>
              </a:rPr>
              <a:t>expr </a:t>
            </a:r>
            <a:r>
              <a:rPr sz="3200" spc="1000" dirty="0">
                <a:latin typeface="MS UI Gothic"/>
                <a:cs typeface="MS UI Gothic"/>
              </a:rPr>
              <a:t>€ </a:t>
            </a:r>
            <a:r>
              <a:rPr sz="3200" spc="-5" dirty="0">
                <a:latin typeface="Arial"/>
                <a:cs typeface="Arial"/>
              </a:rPr>
              <a:t>term </a:t>
            </a:r>
            <a:r>
              <a:rPr sz="3200" spc="-10" dirty="0">
                <a:latin typeface="Arial"/>
                <a:cs typeface="Arial"/>
              </a:rPr>
              <a:t>rest  </a:t>
            </a:r>
            <a:r>
              <a:rPr sz="3200" spc="-5" dirty="0">
                <a:latin typeface="Arial"/>
                <a:cs typeface="Arial"/>
              </a:rPr>
              <a:t>rest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45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Arial"/>
                <a:cs typeface="Arial"/>
              </a:rPr>
              <a:t>+ term </a:t>
            </a:r>
            <a:r>
              <a:rPr sz="3200" b="1" spc="-10" dirty="0">
                <a:latin typeface="Arial"/>
                <a:cs typeface="Arial"/>
              </a:rPr>
              <a:t>rest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5939" y="2279395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5420">
              <a:lnSpc>
                <a:spcPts val="2400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expr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9139" y="3041395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2400"/>
              </a:lnSpc>
            </a:pPr>
            <a:r>
              <a:rPr sz="2400" spc="-5" dirty="0">
                <a:solidFill>
                  <a:srgbClr val="0033CC"/>
                </a:solidFill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2739" y="3041395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400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rest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139" y="38795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2539" y="25841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99060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53139" y="2584195"/>
            <a:ext cx="990600" cy="457200"/>
          </a:xfrm>
          <a:custGeom>
            <a:avLst/>
            <a:gdLst/>
            <a:ahLst/>
            <a:cxnLst/>
            <a:rect l="l" t="t" r="r" b="b"/>
            <a:pathLst>
              <a:path w="990600" h="457200">
                <a:moveTo>
                  <a:pt x="0" y="0"/>
                </a:moveTo>
                <a:lnTo>
                  <a:pt x="990587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05539" y="47939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5726" y="38795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0539" y="3346196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6858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2139" y="3346196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>
                <a:moveTo>
                  <a:pt x="1371587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29339" y="3955796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2400"/>
              </a:lnSpc>
            </a:pPr>
            <a:r>
              <a:rPr sz="2400" spc="-5" dirty="0">
                <a:solidFill>
                  <a:srgbClr val="0033CC"/>
                </a:solidFill>
                <a:latin typeface="Times New Roman"/>
                <a:cs typeface="Times New Roman"/>
              </a:rPr>
              <a:t>term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739" y="3346196"/>
            <a:ext cx="381000" cy="533400"/>
          </a:xfrm>
          <a:custGeom>
            <a:avLst/>
            <a:gdLst/>
            <a:ahLst/>
            <a:cxnLst/>
            <a:rect l="l" t="t" r="r" b="b"/>
            <a:pathLst>
              <a:path w="381000" h="533400">
                <a:moveTo>
                  <a:pt x="380987" y="0"/>
                </a:moveTo>
                <a:lnTo>
                  <a:pt x="0" y="533400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72327" y="3955796"/>
            <a:ext cx="914400" cy="304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6220">
              <a:lnSpc>
                <a:spcPts val="2400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rest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67527" y="3346196"/>
            <a:ext cx="762000" cy="533400"/>
          </a:xfrm>
          <a:custGeom>
            <a:avLst/>
            <a:gdLst/>
            <a:ahLst/>
            <a:cxnLst/>
            <a:rect l="l" t="t" r="r" b="b"/>
            <a:pathLst>
              <a:path w="762000" h="533400">
                <a:moveTo>
                  <a:pt x="0" y="0"/>
                </a:moveTo>
                <a:lnTo>
                  <a:pt x="76200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86539" y="4260596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867527" y="47939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72327" y="4260596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45720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9527" y="4260596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0"/>
                </a:moveTo>
                <a:lnTo>
                  <a:pt x="45720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775577" y="4940046"/>
          <a:ext cx="933450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marL="183515">
                        <a:lnSpc>
                          <a:spcPts val="2300"/>
                        </a:lnSpc>
                      </a:pPr>
                      <a:r>
                        <a:rPr sz="2400" spc="-5" dirty="0">
                          <a:solidFill>
                            <a:srgbClr val="0033CC"/>
                          </a:solidFill>
                          <a:latin typeface="Times New Roman"/>
                          <a:cs typeface="Times New Roman"/>
                        </a:rPr>
                        <a:t>term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T w="12700">
                      <a:solidFill>
                        <a:srgbClr val="01010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10101"/>
                      </a:solidFill>
                      <a:prstDash val="solid"/>
                    </a:lnR>
                    <a:lnT w="1270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12700" algn="ctr">
                        <a:lnSpc>
                          <a:spcPts val="2855"/>
                        </a:lnSpc>
                      </a:pPr>
                      <a:r>
                        <a:rPr sz="2400" dirty="0">
                          <a:solidFill>
                            <a:srgbClr val="0033CC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7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1227" y="418845"/>
            <a:ext cx="40855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Identical Syntax</a:t>
            </a:r>
            <a:r>
              <a:rPr spc="-15" dirty="0"/>
              <a:t> </a:t>
            </a:r>
            <a:r>
              <a:rPr spc="-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14078"/>
            <a:ext cx="3345815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0"/>
              </a:spcBef>
            </a:pPr>
            <a:r>
              <a:rPr sz="3200" spc="-5" dirty="0">
                <a:latin typeface="Arial"/>
                <a:cs typeface="Arial"/>
              </a:rPr>
              <a:t>expr </a:t>
            </a:r>
            <a:r>
              <a:rPr sz="3200" spc="1000" dirty="0">
                <a:latin typeface="MS UI Gothic"/>
                <a:cs typeface="MS UI Gothic"/>
              </a:rPr>
              <a:t>€ </a:t>
            </a:r>
            <a:r>
              <a:rPr sz="3200" spc="-5" dirty="0">
                <a:latin typeface="Arial"/>
                <a:cs typeface="Arial"/>
              </a:rPr>
              <a:t>term </a:t>
            </a:r>
            <a:r>
              <a:rPr sz="3200" spc="-10" dirty="0">
                <a:latin typeface="Arial"/>
                <a:cs typeface="Arial"/>
              </a:rPr>
              <a:t>rest  </a:t>
            </a:r>
            <a:r>
              <a:rPr sz="3200" spc="-5" dirty="0">
                <a:latin typeface="Arial"/>
                <a:cs typeface="Arial"/>
              </a:rPr>
              <a:t>rest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45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Arial"/>
                <a:cs typeface="Arial"/>
              </a:rPr>
              <a:t>+ term </a:t>
            </a:r>
            <a:r>
              <a:rPr sz="3200" b="1" spc="-10" dirty="0">
                <a:latin typeface="Arial"/>
                <a:cs typeface="Arial"/>
              </a:rPr>
              <a:t>rest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394" y="4231865"/>
            <a:ext cx="35013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expr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5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Arial"/>
                <a:cs typeface="Arial"/>
              </a:rPr>
              <a:t>expr + </a:t>
            </a:r>
            <a:r>
              <a:rPr sz="3200" spc="-10" dirty="0">
                <a:latin typeface="Arial"/>
                <a:cs typeface="Arial"/>
              </a:rPr>
              <a:t>term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127" y="2203195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3727" y="33461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7939" y="43367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0927" y="43367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739" y="372719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87" y="0"/>
                </a:moveTo>
                <a:lnTo>
                  <a:pt x="0" y="609600"/>
                </a:lnTo>
              </a:path>
            </a:pathLst>
          </a:custGeom>
          <a:ln w="12699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72327" y="3727196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0"/>
                </a:moveTo>
                <a:lnTo>
                  <a:pt x="53340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24727" y="2584195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762000"/>
                </a:moveTo>
                <a:lnTo>
                  <a:pt x="838200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96327" y="4336796"/>
            <a:ext cx="609600" cy="3810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86727" y="2584195"/>
            <a:ext cx="990600" cy="1752600"/>
          </a:xfrm>
          <a:custGeom>
            <a:avLst/>
            <a:gdLst/>
            <a:ahLst/>
            <a:cxnLst/>
            <a:rect l="l" t="t" r="r" b="b"/>
            <a:pathLst>
              <a:path w="990600" h="1752600">
                <a:moveTo>
                  <a:pt x="0" y="0"/>
                </a:moveTo>
                <a:lnTo>
                  <a:pt x="990600" y="1752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3045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47" y="1149151"/>
            <a:ext cx="7612380" cy="45548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Times New Roman"/>
                <a:cs typeface="Times New Roman"/>
              </a:rPr>
              <a:t>Dim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165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Dim </a:t>
            </a:r>
            <a:r>
              <a:rPr sz="2800" dirty="0">
                <a:latin typeface="Times New Roman"/>
                <a:cs typeface="Times New Roman"/>
              </a:rPr>
              <a:t>[ expr ]</a:t>
            </a:r>
            <a:endParaRPr sz="28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680"/>
              </a:spcBef>
              <a:tabLst>
                <a:tab pos="2755900" algn="l"/>
              </a:tabLst>
            </a:pPr>
            <a:r>
              <a:rPr sz="2800" dirty="0">
                <a:latin typeface="Times New Roman"/>
                <a:cs typeface="Times New Roman"/>
              </a:rPr>
              <a:t>|	[</a:t>
            </a:r>
            <a:r>
              <a:rPr sz="2800" spc="-5" dirty="0">
                <a:latin typeface="Times New Roman"/>
                <a:cs typeface="Times New Roman"/>
              </a:rPr>
              <a:t> expr]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845310" algn="l"/>
              </a:tabLst>
            </a:pPr>
            <a:r>
              <a:rPr sz="2800" dirty="0">
                <a:latin typeface="Times New Roman"/>
                <a:cs typeface="Times New Roman"/>
              </a:rPr>
              <a:t>example:	</a:t>
            </a:r>
            <a:r>
              <a:rPr sz="2800" spc="-5" dirty="0">
                <a:latin typeface="Times New Roman"/>
                <a:cs typeface="Times New Roman"/>
              </a:rPr>
              <a:t>A[100], A[100][5],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A[B[i][j]]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To eliminate left recursion of this production, what is  a?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what 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b?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what is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transformation?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3045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895" y="1236472"/>
            <a:ext cx="1094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Dim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endParaRPr sz="28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7666" y="1152206"/>
            <a:ext cx="1794510" cy="10483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spc="-5" dirty="0">
                <a:latin typeface="Times New Roman"/>
                <a:cs typeface="Times New Roman"/>
              </a:rPr>
              <a:t>Dim </a:t>
            </a:r>
            <a:r>
              <a:rPr sz="2800" dirty="0">
                <a:latin typeface="Times New Roman"/>
                <a:cs typeface="Times New Roman"/>
              </a:rPr>
              <a:t>[ expr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261620" algn="l"/>
              </a:tabLst>
            </a:pPr>
            <a:r>
              <a:rPr sz="2800" dirty="0">
                <a:latin typeface="Times New Roman"/>
                <a:cs typeface="Times New Roman"/>
              </a:rPr>
              <a:t>|	[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expr]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8861" y="2174788"/>
            <a:ext cx="2568575" cy="36144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Times New Roman"/>
                <a:cs typeface="Times New Roman"/>
              </a:rPr>
              <a:t>a 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[expr]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800" dirty="0">
                <a:latin typeface="Symbol"/>
                <a:cs typeface="Symbol"/>
              </a:rPr>
              <a:t></a:t>
            </a:r>
            <a:r>
              <a:rPr sz="2800" dirty="0">
                <a:latin typeface="Times New Roman"/>
                <a:cs typeface="Times New Roman"/>
              </a:rPr>
              <a:t>	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[expr]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Transformation: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 marR="5080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Dim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 expr ] R  R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6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 </a:t>
            </a:r>
            <a:r>
              <a:rPr sz="2800" spc="-5" dirty="0">
                <a:latin typeface="Times New Roman"/>
                <a:cs typeface="Times New Roman"/>
              </a:rPr>
              <a:t>expr </a:t>
            </a:r>
            <a:r>
              <a:rPr sz="2800" dirty="0">
                <a:latin typeface="Times New Roman"/>
                <a:cs typeface="Times New Roman"/>
              </a:rPr>
              <a:t>] R | 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4024" y="304545"/>
            <a:ext cx="7443470" cy="4848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3565">
              <a:lnSpc>
                <a:spcPct val="100000"/>
              </a:lnSpc>
              <a:spcBef>
                <a:spcPts val="9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Exercise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00">
              <a:latin typeface="Times New Roman"/>
              <a:cs typeface="Times New Roman"/>
            </a:endParaRPr>
          </a:p>
          <a:p>
            <a:pPr marL="125095">
              <a:lnSpc>
                <a:spcPct val="100000"/>
              </a:lnSpc>
            </a:pPr>
            <a:r>
              <a:rPr sz="3200" spc="-10" dirty="0">
                <a:latin typeface="Times New Roman"/>
                <a:cs typeface="Times New Roman"/>
              </a:rPr>
              <a:t>Stmtlist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60" dirty="0">
                <a:latin typeface="MS UI Gothic"/>
                <a:cs typeface="MS UI Gothic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Stmtlist; </a:t>
            </a:r>
            <a:r>
              <a:rPr sz="3200" spc="-5" dirty="0">
                <a:latin typeface="Times New Roman"/>
                <a:cs typeface="Times New Roman"/>
              </a:rPr>
              <a:t>Stmt</a:t>
            </a:r>
            <a:endParaRPr sz="320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750"/>
              </a:spcBef>
            </a:pPr>
            <a:r>
              <a:rPr sz="3200" spc="-5" dirty="0">
                <a:latin typeface="Times New Roman"/>
                <a:cs typeface="Times New Roman"/>
              </a:rPr>
              <a:t>|</a:t>
            </a:r>
            <a:r>
              <a:rPr sz="3200" spc="-10" dirty="0">
                <a:latin typeface="Times New Roman"/>
                <a:cs typeface="Times New Roman"/>
              </a:rPr>
              <a:t> Stmt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65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</a:pPr>
            <a:r>
              <a:rPr sz="3200" spc="-5" dirty="0">
                <a:latin typeface="Times New Roman"/>
                <a:cs typeface="Times New Roman"/>
              </a:rPr>
              <a:t>To eliminate left recursion of this production,  what is a?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latin typeface="Times New Roman"/>
                <a:cs typeface="Times New Roman"/>
              </a:rPr>
              <a:t>what is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b?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latin typeface="Times New Roman"/>
                <a:cs typeface="Times New Roman"/>
              </a:rPr>
              <a:t>what is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transformation?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3045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41" y="1194871"/>
            <a:ext cx="3733165" cy="47402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500"/>
              </a:spcBef>
            </a:pPr>
            <a:r>
              <a:rPr sz="2800" spc="-5" dirty="0">
                <a:latin typeface="Times New Roman"/>
                <a:cs typeface="Times New Roman"/>
              </a:rPr>
              <a:t>Stmtlist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20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Stmtlist; Stmt</a:t>
            </a:r>
            <a:endParaRPr sz="28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400"/>
              </a:spcBef>
            </a:pP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Stmt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	;Stmt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354965" algn="l"/>
                <a:tab pos="927100" algn="l"/>
              </a:tabLst>
            </a:pPr>
            <a:r>
              <a:rPr sz="2800" dirty="0">
                <a:latin typeface="Symbol"/>
                <a:cs typeface="Symbol"/>
              </a:rPr>
              <a:t>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is	Stmt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Transformation: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1083310" indent="-635">
              <a:lnSpc>
                <a:spcPct val="110000"/>
              </a:lnSpc>
            </a:pPr>
            <a:r>
              <a:rPr sz="2800" spc="-5" dirty="0">
                <a:latin typeface="Times New Roman"/>
                <a:cs typeface="Times New Roman"/>
              </a:rPr>
              <a:t>Stmtlist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35" dirty="0">
                <a:latin typeface="MS UI Gothic"/>
                <a:cs typeface="MS UI Gothic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Stmt </a:t>
            </a:r>
            <a:r>
              <a:rPr sz="2800" dirty="0">
                <a:latin typeface="Times New Roman"/>
                <a:cs typeface="Times New Roman"/>
              </a:rPr>
              <a:t>R  R </a:t>
            </a:r>
            <a:r>
              <a:rPr sz="2800" spc="880" dirty="0">
                <a:latin typeface="MS UI Gothic"/>
                <a:cs typeface="MS UI Gothic"/>
              </a:rPr>
              <a:t>€</a:t>
            </a:r>
            <a:r>
              <a:rPr sz="2800" spc="-245" dirty="0">
                <a:latin typeface="MS UI Gothic"/>
                <a:cs typeface="MS UI Gothic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; </a:t>
            </a:r>
            <a:r>
              <a:rPr sz="2800" spc="-5" dirty="0">
                <a:latin typeface="Times New Roman"/>
                <a:cs typeface="Times New Roman"/>
              </a:rPr>
              <a:t>Stmt </a:t>
            </a:r>
            <a:r>
              <a:rPr sz="2800" dirty="0">
                <a:latin typeface="Times New Roman"/>
                <a:cs typeface="Times New Roman"/>
              </a:rPr>
              <a:t>R | 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456945"/>
            <a:ext cx="7459980" cy="4980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9675">
              <a:lnSpc>
                <a:spcPct val="100000"/>
              </a:lnSpc>
              <a:spcBef>
                <a:spcPts val="9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550">
              <a:latin typeface="Times New Roman"/>
              <a:cs typeface="Times New Roman"/>
            </a:endParaRPr>
          </a:p>
          <a:p>
            <a:pPr marL="355600" marR="14160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Extending the </a:t>
            </a:r>
            <a:r>
              <a:rPr sz="3200" spc="-10" dirty="0">
                <a:latin typeface="Times New Roman"/>
                <a:cs typeface="Times New Roman"/>
              </a:rPr>
              <a:t>simple </a:t>
            </a:r>
            <a:r>
              <a:rPr sz="3200" spc="-5" dirty="0">
                <a:latin typeface="Times New Roman"/>
                <a:cs typeface="Times New Roman"/>
              </a:rPr>
              <a:t>compiler into a more  practical one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imes New Roman"/>
                <a:cs typeface="Times New Roman"/>
              </a:rPr>
              <a:t>So far, the compiler handles only digits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imes New Roman"/>
                <a:cs typeface="Times New Roman"/>
              </a:rPr>
              <a:t>+/-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operators.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760"/>
              </a:spcBef>
              <a:tabLst>
                <a:tab pos="1840864" algn="l"/>
              </a:tabLst>
            </a:pPr>
            <a:r>
              <a:rPr sz="3200" spc="-5" dirty="0">
                <a:latin typeface="Times New Roman"/>
                <a:cs typeface="Times New Roman"/>
              </a:rPr>
              <a:t>e.g.	9+2-5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imes New Roman"/>
                <a:cs typeface="Times New Roman"/>
              </a:rPr>
              <a:t>Need to be more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practical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760"/>
              </a:spcBef>
              <a:tabLst>
                <a:tab pos="1841500" algn="l"/>
                <a:tab pos="3989704" algn="l"/>
                <a:tab pos="4496435" algn="l"/>
              </a:tabLst>
            </a:pPr>
            <a:r>
              <a:rPr sz="3200" spc="-5" dirty="0">
                <a:latin typeface="Times New Roman"/>
                <a:cs typeface="Times New Roman"/>
              </a:rPr>
              <a:t>e.g.	129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+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	*	(months /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12);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3577" y="456945"/>
            <a:ext cx="4578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Extending </a:t>
            </a:r>
            <a:r>
              <a:rPr spc="-5" dirty="0"/>
              <a:t>the</a:t>
            </a:r>
            <a:r>
              <a:rPr spc="-35" dirty="0"/>
              <a:t> </a:t>
            </a:r>
            <a:r>
              <a:rPr spc="-10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911" y="1209801"/>
            <a:ext cx="7322820" cy="3993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Extending the </a:t>
            </a:r>
            <a:r>
              <a:rPr sz="3200" spc="-10" dirty="0">
                <a:latin typeface="Times New Roman"/>
                <a:cs typeface="Times New Roman"/>
              </a:rPr>
              <a:t>simple </a:t>
            </a:r>
            <a:r>
              <a:rPr sz="3200" spc="-5" dirty="0">
                <a:latin typeface="Times New Roman"/>
                <a:cs typeface="Times New Roman"/>
              </a:rPr>
              <a:t>compiler into a more  practical one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White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space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Constants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(numbers)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Identifiers 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keywords</a:t>
            </a:r>
            <a:endParaRPr sz="2800">
              <a:latin typeface="Times New Roman"/>
              <a:cs typeface="Times New Roman"/>
            </a:endParaRPr>
          </a:p>
          <a:p>
            <a:pPr marL="755650" marR="91440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IR </a:t>
            </a:r>
            <a:r>
              <a:rPr sz="2800" spc="-5" dirty="0">
                <a:latin typeface="Times New Roman"/>
                <a:cs typeface="Times New Roman"/>
              </a:rPr>
              <a:t>code generation for an abstract stack  machine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Examples on translating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statements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8604" y="6265671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1569" y="373125"/>
            <a:ext cx="31832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Lexical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235" y="1073699"/>
            <a:ext cx="5941695" cy="47796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Removal of white space 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comments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while (1)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755015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t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getchar();</a:t>
            </a: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if (t== </a:t>
            </a:r>
            <a:r>
              <a:rPr sz="2400" dirty="0">
                <a:latin typeface="Times New Roman"/>
                <a:cs typeface="Times New Roman"/>
              </a:rPr>
              <a:t>‘ ‘ </a:t>
            </a:r>
            <a:r>
              <a:rPr sz="2400" spc="-5" dirty="0">
                <a:latin typeface="Times New Roman"/>
                <a:cs typeface="Times New Roman"/>
              </a:rPr>
              <a:t>|| </a:t>
            </a:r>
            <a:r>
              <a:rPr sz="2400" dirty="0">
                <a:latin typeface="Times New Roman"/>
                <a:cs typeface="Times New Roman"/>
              </a:rPr>
              <a:t>t </a:t>
            </a:r>
            <a:r>
              <a:rPr sz="2400" spc="-5" dirty="0">
                <a:latin typeface="Times New Roman"/>
                <a:cs typeface="Times New Roman"/>
              </a:rPr>
              <a:t>== ‘\t’ || </a:t>
            </a:r>
            <a:r>
              <a:rPr sz="2400" dirty="0">
                <a:latin typeface="Times New Roman"/>
                <a:cs typeface="Times New Roman"/>
              </a:rPr>
              <a:t>t </a:t>
            </a:r>
            <a:r>
              <a:rPr sz="2400" spc="-5" dirty="0">
                <a:latin typeface="Times New Roman"/>
                <a:cs typeface="Times New Roman"/>
              </a:rPr>
              <a:t>==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‘\n’)</a:t>
            </a: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/* </a:t>
            </a:r>
            <a:r>
              <a:rPr sz="2400" spc="-5" dirty="0">
                <a:latin typeface="Times New Roman"/>
                <a:cs typeface="Times New Roman"/>
              </a:rPr>
              <a:t>strip off blanks, </a:t>
            </a:r>
            <a:r>
              <a:rPr sz="2400" dirty="0">
                <a:latin typeface="Times New Roman"/>
                <a:cs typeface="Times New Roman"/>
              </a:rPr>
              <a:t>tabs, </a:t>
            </a:r>
            <a:r>
              <a:rPr sz="2400" spc="-5" dirty="0">
                <a:latin typeface="Times New Roman"/>
                <a:cs typeface="Times New Roman"/>
              </a:rPr>
              <a:t>new </a:t>
            </a:r>
            <a:r>
              <a:rPr sz="2400" dirty="0">
                <a:latin typeface="Times New Roman"/>
                <a:cs typeface="Times New Roman"/>
              </a:rPr>
              <a:t>lines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Numbers</a:t>
            </a:r>
            <a:endParaRPr sz="2800">
              <a:latin typeface="Times New Roman"/>
              <a:cs typeface="Times New Roman"/>
            </a:endParaRPr>
          </a:p>
          <a:p>
            <a:pPr marL="355600" marR="2369185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token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attribute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  while </a:t>
            </a:r>
            <a:r>
              <a:rPr sz="2800" dirty="0">
                <a:latin typeface="Times New Roman"/>
                <a:cs typeface="Times New Roman"/>
              </a:rPr>
              <a:t>( isdigit(t))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value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5" dirty="0">
                <a:latin typeface="Times New Roman"/>
                <a:cs typeface="Times New Roman"/>
              </a:rPr>
              <a:t>value*10 </a:t>
            </a:r>
            <a:r>
              <a:rPr sz="2800" dirty="0">
                <a:latin typeface="Times New Roman"/>
                <a:cs typeface="Times New Roman"/>
              </a:rPr>
              <a:t>+ t –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‘0’;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4637" y="5914391"/>
            <a:ext cx="385826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t = </a:t>
            </a:r>
            <a:r>
              <a:rPr sz="2800" spc="-5" dirty="0">
                <a:latin typeface="Times New Roman"/>
                <a:cs typeface="Times New Roman"/>
              </a:rPr>
              <a:t>getchar();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}</a:t>
            </a:r>
            <a:endParaRPr sz="2800">
              <a:latin typeface="Arial"/>
              <a:cs typeface="Arial"/>
            </a:endParaRPr>
          </a:p>
          <a:p>
            <a:pPr marL="2091689">
              <a:lnSpc>
                <a:spcPts val="1380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168467"/>
            <a:ext cx="7411084" cy="579628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9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Identifier</a:t>
            </a:r>
            <a:endParaRPr sz="2800">
              <a:latin typeface="Times New Roman"/>
              <a:cs typeface="Times New Roman"/>
            </a:endParaRPr>
          </a:p>
          <a:p>
            <a:pPr marL="355600" marR="5210175">
              <a:lnSpc>
                <a:spcPct val="126200"/>
              </a:lnSpc>
              <a:spcBef>
                <a:spcPts val="785"/>
              </a:spcBef>
            </a:pPr>
            <a:r>
              <a:rPr sz="2400" spc="-5" dirty="0">
                <a:latin typeface="Times New Roman"/>
                <a:cs typeface="Times New Roman"/>
              </a:rPr>
              <a:t>if (isalpha(t))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 </a:t>
            </a:r>
            <a:r>
              <a:rPr sz="2400" spc="-5" dirty="0">
                <a:latin typeface="Times New Roman"/>
                <a:cs typeface="Times New Roman"/>
              </a:rPr>
              <a:t>int </a:t>
            </a:r>
            <a:r>
              <a:rPr sz="2400" dirty="0">
                <a:latin typeface="Times New Roman"/>
                <a:cs typeface="Times New Roman"/>
              </a:rPr>
              <a:t>b 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927100" marR="4403725" indent="-571500">
              <a:lnSpc>
                <a:spcPct val="119800"/>
              </a:lnSpc>
            </a:pPr>
            <a:r>
              <a:rPr sz="2400" spc="-5" dirty="0"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( isalnum(t)) {  </a:t>
            </a:r>
            <a:r>
              <a:rPr sz="2400" spc="-5" dirty="0">
                <a:latin typeface="Times New Roman"/>
                <a:cs typeface="Times New Roman"/>
              </a:rPr>
              <a:t>lexbuff[b++]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t;  </a:t>
            </a:r>
            <a:r>
              <a:rPr sz="2400" dirty="0">
                <a:latin typeface="Times New Roman"/>
                <a:cs typeface="Times New Roman"/>
              </a:rPr>
              <a:t>t 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getchar();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symbol </a:t>
            </a:r>
            <a:r>
              <a:rPr sz="2400" dirty="0">
                <a:latin typeface="Times New Roman"/>
                <a:cs typeface="Times New Roman"/>
              </a:rPr>
              <a:t>table is </a:t>
            </a:r>
            <a:r>
              <a:rPr sz="2400" spc="-5" dirty="0">
                <a:latin typeface="Times New Roman"/>
                <a:cs typeface="Times New Roman"/>
              </a:rPr>
              <a:t>needed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distinguish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identifiers.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Keyword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fixed </a:t>
            </a:r>
            <a:r>
              <a:rPr sz="2400" dirty="0">
                <a:latin typeface="Times New Roman"/>
                <a:cs typeface="Times New Roman"/>
              </a:rPr>
              <a:t>char </a:t>
            </a:r>
            <a:r>
              <a:rPr sz="2400" spc="-5" dirty="0">
                <a:latin typeface="Times New Roman"/>
                <a:cs typeface="Times New Roman"/>
              </a:rPr>
              <a:t>strings </a:t>
            </a:r>
            <a:r>
              <a:rPr sz="2400" dirty="0">
                <a:latin typeface="Times New Roman"/>
                <a:cs typeface="Times New Roman"/>
              </a:rPr>
              <a:t>to identify certain constructs, e.g.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begin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Reserved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word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keywords </a:t>
            </a:r>
            <a:r>
              <a:rPr sz="2400" dirty="0">
                <a:latin typeface="Times New Roman"/>
                <a:cs typeface="Times New Roman"/>
              </a:rPr>
              <a:t>that may </a:t>
            </a:r>
            <a:r>
              <a:rPr sz="2400" spc="-5" dirty="0">
                <a:latin typeface="Times New Roman"/>
                <a:cs typeface="Times New Roman"/>
              </a:rPr>
              <a:t>not be used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identifiers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6435" y="1158748"/>
            <a:ext cx="6227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10" dirty="0">
                <a:latin typeface="Arial"/>
                <a:cs typeface="Arial"/>
              </a:rPr>
              <a:t>Interface </a:t>
            </a:r>
            <a:r>
              <a:rPr sz="3200" spc="-5" dirty="0">
                <a:latin typeface="Arial"/>
                <a:cs typeface="Arial"/>
              </a:rPr>
              <a:t>to the </a:t>
            </a:r>
            <a:r>
              <a:rPr sz="3200" spc="-10" dirty="0">
                <a:latin typeface="Arial"/>
                <a:cs typeface="Arial"/>
              </a:rPr>
              <a:t>lexical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analyzer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7739" y="3041395"/>
            <a:ext cx="2133600" cy="1371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550545" marR="542925" indent="5969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Lexical  analyzer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127" y="2965195"/>
            <a:ext cx="1600200" cy="1371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335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Parser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139" y="3269996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876300" y="0"/>
                </a:moveTo>
                <a:lnTo>
                  <a:pt x="810912" y="1045"/>
                </a:lnTo>
                <a:lnTo>
                  <a:pt x="746828" y="4133"/>
                </a:lnTo>
                <a:lnTo>
                  <a:pt x="684217" y="9189"/>
                </a:lnTo>
                <a:lnTo>
                  <a:pt x="623248" y="16139"/>
                </a:lnTo>
                <a:lnTo>
                  <a:pt x="564091" y="24910"/>
                </a:lnTo>
                <a:lnTo>
                  <a:pt x="506916" y="35428"/>
                </a:lnTo>
                <a:lnTo>
                  <a:pt x="451891" y="47619"/>
                </a:lnTo>
                <a:lnTo>
                  <a:pt x="399188" y="61408"/>
                </a:lnTo>
                <a:lnTo>
                  <a:pt x="348975" y="76723"/>
                </a:lnTo>
                <a:lnTo>
                  <a:pt x="301422" y="93489"/>
                </a:lnTo>
                <a:lnTo>
                  <a:pt x="256698" y="111633"/>
                </a:lnTo>
                <a:lnTo>
                  <a:pt x="214974" y="131080"/>
                </a:lnTo>
                <a:lnTo>
                  <a:pt x="176418" y="151756"/>
                </a:lnTo>
                <a:lnTo>
                  <a:pt x="141201" y="173589"/>
                </a:lnTo>
                <a:lnTo>
                  <a:pt x="109492" y="196504"/>
                </a:lnTo>
                <a:lnTo>
                  <a:pt x="57277" y="245284"/>
                </a:lnTo>
                <a:lnTo>
                  <a:pt x="21128" y="297506"/>
                </a:lnTo>
                <a:lnTo>
                  <a:pt x="2404" y="352579"/>
                </a:lnTo>
                <a:lnTo>
                  <a:pt x="0" y="381000"/>
                </a:lnTo>
                <a:lnTo>
                  <a:pt x="2404" y="409420"/>
                </a:lnTo>
                <a:lnTo>
                  <a:pt x="21128" y="464493"/>
                </a:lnTo>
                <a:lnTo>
                  <a:pt x="57277" y="516715"/>
                </a:lnTo>
                <a:lnTo>
                  <a:pt x="109492" y="565495"/>
                </a:lnTo>
                <a:lnTo>
                  <a:pt x="141201" y="588410"/>
                </a:lnTo>
                <a:lnTo>
                  <a:pt x="176418" y="610243"/>
                </a:lnTo>
                <a:lnTo>
                  <a:pt x="214974" y="630919"/>
                </a:lnTo>
                <a:lnTo>
                  <a:pt x="256698" y="650367"/>
                </a:lnTo>
                <a:lnTo>
                  <a:pt x="301422" y="668510"/>
                </a:lnTo>
                <a:lnTo>
                  <a:pt x="348975" y="685276"/>
                </a:lnTo>
                <a:lnTo>
                  <a:pt x="399188" y="700591"/>
                </a:lnTo>
                <a:lnTo>
                  <a:pt x="451891" y="714380"/>
                </a:lnTo>
                <a:lnTo>
                  <a:pt x="506916" y="726571"/>
                </a:lnTo>
                <a:lnTo>
                  <a:pt x="564091" y="737089"/>
                </a:lnTo>
                <a:lnTo>
                  <a:pt x="623248" y="745860"/>
                </a:lnTo>
                <a:lnTo>
                  <a:pt x="684217" y="752810"/>
                </a:lnTo>
                <a:lnTo>
                  <a:pt x="746828" y="757866"/>
                </a:lnTo>
                <a:lnTo>
                  <a:pt x="810912" y="760954"/>
                </a:lnTo>
                <a:lnTo>
                  <a:pt x="876300" y="762000"/>
                </a:lnTo>
                <a:lnTo>
                  <a:pt x="941687" y="760954"/>
                </a:lnTo>
                <a:lnTo>
                  <a:pt x="1005771" y="757866"/>
                </a:lnTo>
                <a:lnTo>
                  <a:pt x="1068382" y="752810"/>
                </a:lnTo>
                <a:lnTo>
                  <a:pt x="1129351" y="745860"/>
                </a:lnTo>
                <a:lnTo>
                  <a:pt x="1188508" y="737089"/>
                </a:lnTo>
                <a:lnTo>
                  <a:pt x="1245683" y="726571"/>
                </a:lnTo>
                <a:lnTo>
                  <a:pt x="1300708" y="714380"/>
                </a:lnTo>
                <a:lnTo>
                  <a:pt x="1353411" y="700591"/>
                </a:lnTo>
                <a:lnTo>
                  <a:pt x="1403624" y="685276"/>
                </a:lnTo>
                <a:lnTo>
                  <a:pt x="1451177" y="668510"/>
                </a:lnTo>
                <a:lnTo>
                  <a:pt x="1495901" y="650366"/>
                </a:lnTo>
                <a:lnTo>
                  <a:pt x="1537625" y="630919"/>
                </a:lnTo>
                <a:lnTo>
                  <a:pt x="1576181" y="610243"/>
                </a:lnTo>
                <a:lnTo>
                  <a:pt x="1611398" y="588410"/>
                </a:lnTo>
                <a:lnTo>
                  <a:pt x="1643107" y="565495"/>
                </a:lnTo>
                <a:lnTo>
                  <a:pt x="1695322" y="516715"/>
                </a:lnTo>
                <a:lnTo>
                  <a:pt x="1731471" y="464493"/>
                </a:lnTo>
                <a:lnTo>
                  <a:pt x="1750195" y="409420"/>
                </a:lnTo>
                <a:lnTo>
                  <a:pt x="1752600" y="381000"/>
                </a:lnTo>
                <a:lnTo>
                  <a:pt x="1750195" y="352579"/>
                </a:lnTo>
                <a:lnTo>
                  <a:pt x="1731471" y="297506"/>
                </a:lnTo>
                <a:lnTo>
                  <a:pt x="1695322" y="245284"/>
                </a:lnTo>
                <a:lnTo>
                  <a:pt x="1643107" y="196504"/>
                </a:lnTo>
                <a:lnTo>
                  <a:pt x="1611398" y="173589"/>
                </a:lnTo>
                <a:lnTo>
                  <a:pt x="1576181" y="151756"/>
                </a:lnTo>
                <a:lnTo>
                  <a:pt x="1537625" y="131080"/>
                </a:lnTo>
                <a:lnTo>
                  <a:pt x="1495901" y="111632"/>
                </a:lnTo>
                <a:lnTo>
                  <a:pt x="1451177" y="93489"/>
                </a:lnTo>
                <a:lnTo>
                  <a:pt x="1403624" y="76723"/>
                </a:lnTo>
                <a:lnTo>
                  <a:pt x="1353411" y="61408"/>
                </a:lnTo>
                <a:lnTo>
                  <a:pt x="1300708" y="47619"/>
                </a:lnTo>
                <a:lnTo>
                  <a:pt x="1245683" y="35428"/>
                </a:lnTo>
                <a:lnTo>
                  <a:pt x="1188508" y="24910"/>
                </a:lnTo>
                <a:lnTo>
                  <a:pt x="1129351" y="16139"/>
                </a:lnTo>
                <a:lnTo>
                  <a:pt x="1068382" y="9189"/>
                </a:lnTo>
                <a:lnTo>
                  <a:pt x="1005771" y="4133"/>
                </a:lnTo>
                <a:lnTo>
                  <a:pt x="941687" y="1045"/>
                </a:lnTo>
                <a:lnTo>
                  <a:pt x="8763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03407" y="3444747"/>
            <a:ext cx="668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9939" y="3379723"/>
            <a:ext cx="1447800" cy="85725"/>
          </a:xfrm>
          <a:custGeom>
            <a:avLst/>
            <a:gdLst/>
            <a:ahLst/>
            <a:cxnLst/>
            <a:rect l="l" t="t" r="r" b="b"/>
            <a:pathLst>
              <a:path w="1447800" h="85725">
                <a:moveTo>
                  <a:pt x="1376171" y="57149"/>
                </a:moveTo>
                <a:lnTo>
                  <a:pt x="13761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1376171" y="57149"/>
                </a:lnTo>
                <a:close/>
              </a:path>
              <a:path w="1447800" h="85725">
                <a:moveTo>
                  <a:pt x="1447800" y="42672"/>
                </a:moveTo>
                <a:lnTo>
                  <a:pt x="1361694" y="0"/>
                </a:lnTo>
                <a:lnTo>
                  <a:pt x="1361694" y="28193"/>
                </a:lnTo>
                <a:lnTo>
                  <a:pt x="1376171" y="28193"/>
                </a:lnTo>
                <a:lnTo>
                  <a:pt x="1376171" y="78169"/>
                </a:lnTo>
                <a:lnTo>
                  <a:pt x="1447800" y="42672"/>
                </a:lnTo>
                <a:close/>
              </a:path>
              <a:path w="1447800" h="85725">
                <a:moveTo>
                  <a:pt x="1376171" y="78169"/>
                </a:moveTo>
                <a:lnTo>
                  <a:pt x="1376171" y="57149"/>
                </a:lnTo>
                <a:lnTo>
                  <a:pt x="1361694" y="57149"/>
                </a:lnTo>
                <a:lnTo>
                  <a:pt x="1361694" y="85343"/>
                </a:lnTo>
                <a:lnTo>
                  <a:pt x="13761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13235" y="2835147"/>
            <a:ext cx="1150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read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6139" y="3913123"/>
            <a:ext cx="1371600" cy="85725"/>
          </a:xfrm>
          <a:custGeom>
            <a:avLst/>
            <a:gdLst/>
            <a:ahLst/>
            <a:cxnLst/>
            <a:rect l="l" t="t" r="r" b="b"/>
            <a:pathLst>
              <a:path w="1371600" h="85725">
                <a:moveTo>
                  <a:pt x="85343" y="28193"/>
                </a:moveTo>
                <a:lnTo>
                  <a:pt x="85343" y="0"/>
                </a:lnTo>
                <a:lnTo>
                  <a:pt x="0" y="42672"/>
                </a:lnTo>
                <a:lnTo>
                  <a:pt x="71628" y="78486"/>
                </a:lnTo>
                <a:lnTo>
                  <a:pt x="71628" y="28193"/>
                </a:lnTo>
                <a:lnTo>
                  <a:pt x="85343" y="28193"/>
                </a:lnTo>
                <a:close/>
              </a:path>
              <a:path w="1371600" h="85725">
                <a:moveTo>
                  <a:pt x="1371600" y="57149"/>
                </a:moveTo>
                <a:lnTo>
                  <a:pt x="1371600" y="28193"/>
                </a:lnTo>
                <a:lnTo>
                  <a:pt x="71628" y="28193"/>
                </a:lnTo>
                <a:lnTo>
                  <a:pt x="71628" y="57149"/>
                </a:lnTo>
                <a:lnTo>
                  <a:pt x="1371600" y="57149"/>
                </a:lnTo>
                <a:close/>
              </a:path>
              <a:path w="1371600" h="85725">
                <a:moveTo>
                  <a:pt x="85343" y="85343"/>
                </a:moveTo>
                <a:lnTo>
                  <a:pt x="85343" y="57149"/>
                </a:lnTo>
                <a:lnTo>
                  <a:pt x="71628" y="57149"/>
                </a:lnTo>
                <a:lnTo>
                  <a:pt x="71628" y="78486"/>
                </a:lnTo>
                <a:lnTo>
                  <a:pt x="85343" y="8534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89435" y="4130547"/>
            <a:ext cx="10668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put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  char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5835" y="4663947"/>
            <a:ext cx="161544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keep track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 Line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1327" y="3608323"/>
            <a:ext cx="1447800" cy="85725"/>
          </a:xfrm>
          <a:custGeom>
            <a:avLst/>
            <a:gdLst/>
            <a:ahLst/>
            <a:cxnLst/>
            <a:rect l="l" t="t" r="r" b="b"/>
            <a:pathLst>
              <a:path w="1447800" h="85725">
                <a:moveTo>
                  <a:pt x="1376172" y="57149"/>
                </a:moveTo>
                <a:lnTo>
                  <a:pt x="13761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376172" y="57149"/>
                </a:lnTo>
                <a:close/>
              </a:path>
              <a:path w="1447800" h="85725">
                <a:moveTo>
                  <a:pt x="1447800" y="42672"/>
                </a:moveTo>
                <a:lnTo>
                  <a:pt x="1361694" y="0"/>
                </a:lnTo>
                <a:lnTo>
                  <a:pt x="1361694" y="28193"/>
                </a:lnTo>
                <a:lnTo>
                  <a:pt x="1376172" y="28193"/>
                </a:lnTo>
                <a:lnTo>
                  <a:pt x="1376172" y="78169"/>
                </a:lnTo>
                <a:lnTo>
                  <a:pt x="1447800" y="42672"/>
                </a:lnTo>
                <a:close/>
              </a:path>
              <a:path w="1447800" h="85725">
                <a:moveTo>
                  <a:pt x="1376172" y="78169"/>
                </a:moveTo>
                <a:lnTo>
                  <a:pt x="1376172" y="57149"/>
                </a:lnTo>
                <a:lnTo>
                  <a:pt x="1361694" y="57149"/>
                </a:lnTo>
                <a:lnTo>
                  <a:pt x="1361694" y="85343"/>
                </a:lnTo>
                <a:lnTo>
                  <a:pt x="13761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42235" y="2225547"/>
            <a:ext cx="229171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pass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token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and attribute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03635" y="437895"/>
            <a:ext cx="6570980" cy="12211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545465" marR="5080" indent="-533400" algn="just">
              <a:lnSpc>
                <a:spcPts val="3020"/>
              </a:lnSpc>
              <a:spcBef>
                <a:spcPts val="484"/>
              </a:spcBef>
            </a:pP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How to distinguish the “&lt;“ token from the  “&lt;=“ token when the scanner read the “&lt;“  character?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3635" y="2145532"/>
            <a:ext cx="6568440" cy="12217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45465" marR="5080" indent="-533400">
              <a:lnSpc>
                <a:spcPct val="90100"/>
              </a:lnSpc>
              <a:spcBef>
                <a:spcPts val="434"/>
              </a:spcBef>
              <a:tabLst>
                <a:tab pos="545465" algn="l"/>
              </a:tabLst>
            </a:pPr>
            <a:r>
              <a:rPr sz="2800" dirty="0">
                <a:latin typeface="Times New Roman"/>
                <a:cs typeface="Times New Roman"/>
              </a:rPr>
              <a:t>–	</a:t>
            </a:r>
            <a:r>
              <a:rPr sz="2800" spc="-5" dirty="0">
                <a:latin typeface="Times New Roman"/>
                <a:cs typeface="Times New Roman"/>
              </a:rPr>
              <a:t>The scanner is often implemented as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procedure called by the parser, returning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token at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34" y="3340668"/>
            <a:ext cx="7424420" cy="220408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44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Input buffer</a:t>
            </a:r>
            <a:endParaRPr sz="2800">
              <a:latin typeface="Times New Roman"/>
              <a:cs typeface="Times New Roman"/>
            </a:endParaRPr>
          </a:p>
          <a:p>
            <a:pPr marL="622300" marR="5080">
              <a:lnSpc>
                <a:spcPts val="3020"/>
              </a:lnSpc>
              <a:spcBef>
                <a:spcPts val="725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block of characters is read into the buffer at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time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for I/O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efficiency.</a:t>
            </a:r>
            <a:endParaRPr sz="2800">
              <a:latin typeface="Times New Roman"/>
              <a:cs typeface="Times New Roman"/>
            </a:endParaRPr>
          </a:p>
          <a:p>
            <a:pPr marL="622300" marR="161290">
              <a:lnSpc>
                <a:spcPts val="3020"/>
              </a:lnSpc>
              <a:spcBef>
                <a:spcPts val="685"/>
              </a:spcBef>
              <a:tabLst>
                <a:tab pos="423354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pointer keeps</a:t>
            </a:r>
            <a:r>
              <a:rPr sz="2800" spc="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track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	how many characters  have been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analyzed.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2862" y="1920739"/>
            <a:ext cx="41268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latin typeface="Times New Roman"/>
                <a:cs typeface="Times New Roman"/>
              </a:rPr>
              <a:t>the scanner must read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ahead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0649" y="487425"/>
            <a:ext cx="26644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</a:t>
            </a:r>
            <a:r>
              <a:rPr spc="-55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114" y="1289049"/>
            <a:ext cx="8279765" cy="4175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2300" marR="102235" indent="-609600">
              <a:lnSpc>
                <a:spcPct val="8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Symbol table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database that contains information  about identifiers (procedure names, variable names,  labels, </a:t>
            </a:r>
            <a:r>
              <a:rPr sz="2800" dirty="0">
                <a:latin typeface="Times New Roman"/>
                <a:cs typeface="Times New Roman"/>
              </a:rPr>
              <a:t>… </a:t>
            </a:r>
            <a:r>
              <a:rPr sz="2800" spc="-5" dirty="0">
                <a:latin typeface="Times New Roman"/>
                <a:cs typeface="Times New Roman"/>
              </a:rPr>
              <a:t>etc). It can be used to communicate among  multiple compiling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phases.</a:t>
            </a:r>
            <a:endParaRPr sz="2800">
              <a:latin typeface="Times New Roman"/>
              <a:cs typeface="Times New Roman"/>
            </a:endParaRPr>
          </a:p>
          <a:p>
            <a:pPr marL="1003300" lvl="1" indent="-533400">
              <a:lnSpc>
                <a:spcPts val="2850"/>
              </a:lnSpc>
              <a:buChar char="–"/>
              <a:tabLst>
                <a:tab pos="1002665" algn="l"/>
                <a:tab pos="1003300" algn="l"/>
              </a:tabLst>
            </a:pPr>
            <a:r>
              <a:rPr sz="2400" spc="-5" dirty="0">
                <a:latin typeface="Times New Roman"/>
                <a:cs typeface="Times New Roman"/>
              </a:rPr>
              <a:t>Symbol table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interface</a:t>
            </a:r>
            <a:endParaRPr sz="2400">
              <a:latin typeface="Times New Roman"/>
              <a:cs typeface="Times New Roman"/>
            </a:endParaRPr>
          </a:p>
          <a:p>
            <a:pPr marL="1002665" marR="626745">
              <a:lnSpc>
                <a:spcPct val="798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Insert(s, </a:t>
            </a:r>
            <a:r>
              <a:rPr sz="2400" dirty="0">
                <a:latin typeface="Times New Roman"/>
                <a:cs typeface="Times New Roman"/>
              </a:rPr>
              <a:t>t): </a:t>
            </a:r>
            <a:r>
              <a:rPr sz="2400" spc="-5" dirty="0">
                <a:latin typeface="Times New Roman"/>
                <a:cs typeface="Times New Roman"/>
              </a:rPr>
              <a:t>return </a:t>
            </a:r>
            <a:r>
              <a:rPr sz="2400" dirty="0">
                <a:latin typeface="Times New Roman"/>
                <a:cs typeface="Times New Roman"/>
              </a:rPr>
              <a:t>the index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new </a:t>
            </a:r>
            <a:r>
              <a:rPr sz="2400" dirty="0">
                <a:latin typeface="Times New Roman"/>
                <a:cs typeface="Times New Roman"/>
              </a:rPr>
              <a:t>entry </a:t>
            </a:r>
            <a:r>
              <a:rPr sz="2400" spc="-5" dirty="0">
                <a:latin typeface="Times New Roman"/>
                <a:cs typeface="Times New Roman"/>
              </a:rPr>
              <a:t>for string s,  </a:t>
            </a:r>
            <a:r>
              <a:rPr sz="2400" dirty="0">
                <a:latin typeface="Times New Roman"/>
                <a:cs typeface="Times New Roman"/>
              </a:rPr>
              <a:t>token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t.</a:t>
            </a:r>
            <a:endParaRPr sz="2400">
              <a:latin typeface="Times New Roman"/>
              <a:cs typeface="Times New Roman"/>
            </a:endParaRPr>
          </a:p>
          <a:p>
            <a:pPr marL="1002665" marR="142240">
              <a:lnSpc>
                <a:spcPct val="80000"/>
              </a:lnSpc>
              <a:spcBef>
                <a:spcPts val="570"/>
              </a:spcBef>
              <a:tabLst>
                <a:tab pos="5447030" algn="l"/>
              </a:tabLst>
            </a:pPr>
            <a:r>
              <a:rPr sz="2400" dirty="0">
                <a:latin typeface="Times New Roman"/>
                <a:cs typeface="Times New Roman"/>
              </a:rPr>
              <a:t>lookup(s): </a:t>
            </a:r>
            <a:r>
              <a:rPr sz="2400" spc="-5" dirty="0">
                <a:latin typeface="Times New Roman"/>
                <a:cs typeface="Times New Roman"/>
              </a:rPr>
              <a:t>return </a:t>
            </a:r>
            <a:r>
              <a:rPr sz="2400" dirty="0">
                <a:latin typeface="Times New Roman"/>
                <a:cs typeface="Times New Roman"/>
              </a:rPr>
              <a:t>the index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entry	</a:t>
            </a:r>
            <a:r>
              <a:rPr sz="2400" spc="-5" dirty="0">
                <a:latin typeface="Times New Roman"/>
                <a:cs typeface="Times New Roman"/>
              </a:rPr>
              <a:t>for string s, or </a:t>
            </a:r>
            <a:r>
              <a:rPr sz="2400" dirty="0">
                <a:latin typeface="Times New Roman"/>
                <a:cs typeface="Times New Roman"/>
              </a:rPr>
              <a:t>0 if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not  found</a:t>
            </a:r>
            <a:endParaRPr sz="2400">
              <a:latin typeface="Times New Roman"/>
              <a:cs typeface="Times New Roman"/>
            </a:endParaRPr>
          </a:p>
          <a:p>
            <a:pPr marL="1003300" lvl="1" indent="-533400">
              <a:lnSpc>
                <a:spcPts val="2870"/>
              </a:lnSpc>
              <a:buChar char="–"/>
              <a:tabLst>
                <a:tab pos="1002665" algn="l"/>
                <a:tab pos="1003300" algn="l"/>
              </a:tabLst>
            </a:pPr>
            <a:r>
              <a:rPr sz="2400" dirty="0">
                <a:latin typeface="Times New Roman"/>
                <a:cs typeface="Times New Roman"/>
              </a:rPr>
              <a:t>Handling </a:t>
            </a:r>
            <a:r>
              <a:rPr sz="2400" spc="-5" dirty="0">
                <a:latin typeface="Times New Roman"/>
                <a:cs typeface="Times New Roman"/>
              </a:rPr>
              <a:t>reserved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words</a:t>
            </a:r>
            <a:endParaRPr sz="2400">
              <a:latin typeface="Times New Roman"/>
              <a:cs typeface="Times New Roman"/>
            </a:endParaRPr>
          </a:p>
          <a:p>
            <a:pPr marL="1002665" marR="5080">
              <a:lnSpc>
                <a:spcPct val="79800"/>
              </a:lnSpc>
              <a:spcBef>
                <a:spcPts val="580"/>
              </a:spcBef>
            </a:pPr>
            <a:r>
              <a:rPr sz="2400" spc="-5" dirty="0">
                <a:latin typeface="Times New Roman"/>
                <a:cs typeface="Times New Roman"/>
              </a:rPr>
              <a:t>We may initialize the symbol table by inserting all reserved  </a:t>
            </a:r>
            <a:r>
              <a:rPr sz="2400" dirty="0">
                <a:latin typeface="Times New Roman"/>
                <a:cs typeface="Times New Roman"/>
              </a:rPr>
              <a:t>words.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517" y="366268"/>
            <a:ext cx="4015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 Table</a:t>
            </a:r>
            <a:r>
              <a:rPr spc="-2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01551"/>
            <a:ext cx="7492365" cy="39560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Symbol table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implementation</a:t>
            </a:r>
            <a:endParaRPr sz="2800">
              <a:latin typeface="Times New Roman"/>
              <a:cs typeface="Times New Roman"/>
            </a:endParaRPr>
          </a:p>
          <a:p>
            <a:pPr marL="622300" marR="508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Symbol table is probably the most complex data  structure in the compiler.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good design needs  to meet the following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requirement: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8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Fast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7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Easy 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maintain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8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Flexible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7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Supporting nested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517" y="487425"/>
            <a:ext cx="4015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 Table</a:t>
            </a:r>
            <a:r>
              <a:rPr spc="-2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3635" y="1309913"/>
            <a:ext cx="7042150" cy="45542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45465" indent="-532765">
              <a:lnSpc>
                <a:spcPct val="100000"/>
              </a:lnSpc>
              <a:spcBef>
                <a:spcPts val="434"/>
              </a:spcBef>
              <a:buFont typeface="MS UI Gothic"/>
              <a:buChar char="❖"/>
              <a:tabLst>
                <a:tab pos="545465" algn="l"/>
                <a:tab pos="546100" algn="l"/>
              </a:tabLst>
            </a:pPr>
            <a:r>
              <a:rPr sz="2800" spc="-5" dirty="0">
                <a:latin typeface="Times New Roman"/>
                <a:cs typeface="Times New Roman"/>
              </a:rPr>
              <a:t>Fast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545465" marR="66040">
              <a:lnSpc>
                <a:spcPts val="3020"/>
              </a:lnSpc>
              <a:spcBef>
                <a:spcPts val="720"/>
              </a:spcBef>
            </a:pPr>
            <a:r>
              <a:rPr sz="2800" spc="-5" dirty="0">
                <a:latin typeface="Times New Roman"/>
                <a:cs typeface="Times New Roman"/>
              </a:rPr>
              <a:t>Search methods: linear search, binary search,  indexed search, hash table,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545465" marR="3370579" indent="-532765">
              <a:lnSpc>
                <a:spcPts val="3700"/>
              </a:lnSpc>
              <a:spcBef>
                <a:spcPts val="140"/>
              </a:spcBef>
              <a:buFont typeface="MS UI Gothic"/>
              <a:buChar char="❖"/>
              <a:tabLst>
                <a:tab pos="545465" algn="l"/>
                <a:tab pos="546100" algn="l"/>
              </a:tabLst>
            </a:pPr>
            <a:r>
              <a:rPr sz="2800" spc="-5" dirty="0">
                <a:latin typeface="Times New Roman"/>
                <a:cs typeface="Times New Roman"/>
              </a:rPr>
              <a:t>Easy to maintain  Insertion, deletion,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160"/>
              </a:spcBef>
              <a:buFont typeface="MS UI Gothic"/>
              <a:buChar char="❖"/>
              <a:tabLst>
                <a:tab pos="545465" algn="l"/>
                <a:tab pos="546100" algn="l"/>
              </a:tabLst>
            </a:pPr>
            <a:r>
              <a:rPr sz="2800" spc="-5" dirty="0">
                <a:latin typeface="Times New Roman"/>
                <a:cs typeface="Times New Roman"/>
              </a:rPr>
              <a:t>Flexible</a:t>
            </a:r>
            <a:endParaRPr sz="28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340"/>
              </a:spcBef>
            </a:pPr>
            <a:r>
              <a:rPr sz="2800" spc="-5" dirty="0">
                <a:latin typeface="Times New Roman"/>
                <a:cs typeface="Times New Roman"/>
              </a:rPr>
              <a:t>Dynamic allocation,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345"/>
              </a:spcBef>
              <a:buFont typeface="MS UI Gothic"/>
              <a:buChar char="❖"/>
              <a:tabLst>
                <a:tab pos="545465" algn="l"/>
                <a:tab pos="546100" algn="l"/>
              </a:tabLst>
            </a:pPr>
            <a:r>
              <a:rPr sz="2800" spc="-5" dirty="0">
                <a:latin typeface="Times New Roman"/>
                <a:cs typeface="Times New Roman"/>
              </a:rPr>
              <a:t>Supporting nested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  <a:p>
            <a:pPr marL="545465" marR="5080">
              <a:lnSpc>
                <a:spcPts val="3040"/>
              </a:lnSpc>
              <a:spcBef>
                <a:spcPts val="705"/>
              </a:spcBef>
            </a:pPr>
            <a:r>
              <a:rPr sz="2800" spc="-5" dirty="0">
                <a:latin typeface="Times New Roman"/>
                <a:cs typeface="Times New Roman"/>
              </a:rPr>
              <a:t>All names in the current scope be visible, and  can be taken out when the scope 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closed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517" y="525525"/>
            <a:ext cx="4015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 Table</a:t>
            </a:r>
            <a:r>
              <a:rPr spc="-2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1388872"/>
            <a:ext cx="4634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Arial"/>
                <a:cs typeface="Arial"/>
              </a:rPr>
              <a:t>A sample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implementation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1077" y="4404105"/>
            <a:ext cx="12065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4727" y="3980941"/>
            <a:ext cx="1219200" cy="395605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4727" y="3586226"/>
            <a:ext cx="1219200" cy="39497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9"/>
              </a:spcBef>
            </a:pP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4727" y="3190748"/>
            <a:ext cx="1219200" cy="395605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9"/>
              </a:spcBef>
            </a:pPr>
            <a:r>
              <a:rPr sz="2000" spc="-10" dirty="0">
                <a:latin typeface="Arial"/>
                <a:cs typeface="Arial"/>
              </a:rPr>
              <a:t>mod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4727" y="2795270"/>
            <a:ext cx="1219200" cy="395605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000" spc="-10" dirty="0">
                <a:latin typeface="Arial"/>
                <a:cs typeface="Arial"/>
              </a:rPr>
              <a:t>div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0277" y="1998471"/>
            <a:ext cx="135128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5621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attribute  </a:t>
            </a:r>
            <a:r>
              <a:rPr sz="240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31077" y="1998471"/>
            <a:ext cx="1206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token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8835" y="1998471"/>
            <a:ext cx="77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lexptr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29339" y="1974595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9339" y="2795270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9339" y="3190748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29339" y="3586226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339" y="3980941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9339" y="4376420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29339" y="4771897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>
                <a:moveTo>
                  <a:pt x="0" y="0"/>
                </a:moveTo>
                <a:lnTo>
                  <a:pt x="3886187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29339" y="1974595"/>
            <a:ext cx="0" cy="2797810"/>
          </a:xfrm>
          <a:custGeom>
            <a:avLst/>
            <a:gdLst/>
            <a:ahLst/>
            <a:cxnLst/>
            <a:rect l="l" t="t" r="r" b="b"/>
            <a:pathLst>
              <a:path h="2797810">
                <a:moveTo>
                  <a:pt x="0" y="0"/>
                </a:moveTo>
                <a:lnTo>
                  <a:pt x="0" y="2797302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4727" y="1974595"/>
            <a:ext cx="0" cy="2797810"/>
          </a:xfrm>
          <a:custGeom>
            <a:avLst/>
            <a:gdLst/>
            <a:ahLst/>
            <a:cxnLst/>
            <a:rect l="l" t="t" r="r" b="b"/>
            <a:pathLst>
              <a:path h="2797810">
                <a:moveTo>
                  <a:pt x="0" y="0"/>
                </a:moveTo>
                <a:lnTo>
                  <a:pt x="0" y="2797302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43927" y="1974595"/>
            <a:ext cx="0" cy="2797810"/>
          </a:xfrm>
          <a:custGeom>
            <a:avLst/>
            <a:gdLst/>
            <a:ahLst/>
            <a:cxnLst/>
            <a:rect l="l" t="t" r="r" b="b"/>
            <a:pathLst>
              <a:path h="2797810">
                <a:moveTo>
                  <a:pt x="0" y="0"/>
                </a:moveTo>
                <a:lnTo>
                  <a:pt x="0" y="2797302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15527" y="1974595"/>
            <a:ext cx="0" cy="2797810"/>
          </a:xfrm>
          <a:custGeom>
            <a:avLst/>
            <a:gdLst/>
            <a:ahLst/>
            <a:cxnLst/>
            <a:rect l="l" t="t" r="r" b="b"/>
            <a:pathLst>
              <a:path h="2797810">
                <a:moveTo>
                  <a:pt x="0" y="0"/>
                </a:moveTo>
                <a:lnTo>
                  <a:pt x="0" y="2797302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060589" y="5625846"/>
          <a:ext cx="7181850" cy="469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div’\0’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mod’\0’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thefastestprocedure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i’\0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k’\0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990739" y="2584195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>
                <a:moveTo>
                  <a:pt x="4419600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48067" y="2584195"/>
            <a:ext cx="85725" cy="3048000"/>
          </a:xfrm>
          <a:custGeom>
            <a:avLst/>
            <a:gdLst/>
            <a:ahLst/>
            <a:cxnLst/>
            <a:rect l="l" t="t" r="r" b="b"/>
            <a:pathLst>
              <a:path w="85725" h="3048000">
                <a:moveTo>
                  <a:pt x="85343" y="2961893"/>
                </a:moveTo>
                <a:lnTo>
                  <a:pt x="0" y="2961893"/>
                </a:lnTo>
                <a:lnTo>
                  <a:pt x="28193" y="3018785"/>
                </a:lnTo>
                <a:lnTo>
                  <a:pt x="28193" y="2976372"/>
                </a:lnTo>
                <a:lnTo>
                  <a:pt x="57150" y="2976372"/>
                </a:lnTo>
                <a:lnTo>
                  <a:pt x="57150" y="3018785"/>
                </a:lnTo>
                <a:lnTo>
                  <a:pt x="85343" y="2961893"/>
                </a:lnTo>
                <a:close/>
              </a:path>
              <a:path w="85725" h="3048000">
                <a:moveTo>
                  <a:pt x="57150" y="2961893"/>
                </a:moveTo>
                <a:lnTo>
                  <a:pt x="57149" y="0"/>
                </a:lnTo>
                <a:lnTo>
                  <a:pt x="28193" y="0"/>
                </a:lnTo>
                <a:lnTo>
                  <a:pt x="28193" y="2961893"/>
                </a:lnTo>
                <a:lnTo>
                  <a:pt x="57150" y="2961893"/>
                </a:lnTo>
                <a:close/>
              </a:path>
              <a:path w="85725" h="3048000">
                <a:moveTo>
                  <a:pt x="57150" y="3018785"/>
                </a:moveTo>
                <a:lnTo>
                  <a:pt x="57150" y="2976372"/>
                </a:lnTo>
                <a:lnTo>
                  <a:pt x="28193" y="2976372"/>
                </a:lnTo>
                <a:lnTo>
                  <a:pt x="28193" y="3018785"/>
                </a:lnTo>
                <a:lnTo>
                  <a:pt x="42671" y="3048000"/>
                </a:lnTo>
                <a:lnTo>
                  <a:pt x="57150" y="30187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09939" y="2965195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>
                <a:moveTo>
                  <a:pt x="0" y="0"/>
                </a:moveTo>
                <a:lnTo>
                  <a:pt x="3200400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67267" y="2965195"/>
            <a:ext cx="85725" cy="2590800"/>
          </a:xfrm>
          <a:custGeom>
            <a:avLst/>
            <a:gdLst/>
            <a:ahLst/>
            <a:cxnLst/>
            <a:rect l="l" t="t" r="r" b="b"/>
            <a:pathLst>
              <a:path w="85725" h="2590800">
                <a:moveTo>
                  <a:pt x="85343" y="2504693"/>
                </a:moveTo>
                <a:lnTo>
                  <a:pt x="0" y="2504693"/>
                </a:lnTo>
                <a:lnTo>
                  <a:pt x="28193" y="2561585"/>
                </a:lnTo>
                <a:lnTo>
                  <a:pt x="28193" y="2519172"/>
                </a:lnTo>
                <a:lnTo>
                  <a:pt x="57150" y="2519172"/>
                </a:lnTo>
                <a:lnTo>
                  <a:pt x="57150" y="2561585"/>
                </a:lnTo>
                <a:lnTo>
                  <a:pt x="85343" y="2504693"/>
                </a:lnTo>
                <a:close/>
              </a:path>
              <a:path w="85725" h="2590800">
                <a:moveTo>
                  <a:pt x="57150" y="2504693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2504693"/>
                </a:lnTo>
                <a:lnTo>
                  <a:pt x="57150" y="2504693"/>
                </a:lnTo>
                <a:close/>
              </a:path>
              <a:path w="85725" h="2590800">
                <a:moveTo>
                  <a:pt x="57150" y="2561585"/>
                </a:moveTo>
                <a:lnTo>
                  <a:pt x="57150" y="2519172"/>
                </a:lnTo>
                <a:lnTo>
                  <a:pt x="28193" y="2519172"/>
                </a:lnTo>
                <a:lnTo>
                  <a:pt x="28193" y="2561585"/>
                </a:lnTo>
                <a:lnTo>
                  <a:pt x="42671" y="2590800"/>
                </a:lnTo>
                <a:lnTo>
                  <a:pt x="57150" y="25615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10267" y="3422396"/>
            <a:ext cx="85725" cy="2133600"/>
          </a:xfrm>
          <a:custGeom>
            <a:avLst/>
            <a:gdLst/>
            <a:ahLst/>
            <a:cxnLst/>
            <a:rect l="l" t="t" r="r" b="b"/>
            <a:pathLst>
              <a:path w="85725" h="2133600">
                <a:moveTo>
                  <a:pt x="85343" y="2047493"/>
                </a:moveTo>
                <a:lnTo>
                  <a:pt x="0" y="2047493"/>
                </a:lnTo>
                <a:lnTo>
                  <a:pt x="28194" y="2104385"/>
                </a:lnTo>
                <a:lnTo>
                  <a:pt x="28194" y="2061972"/>
                </a:lnTo>
                <a:lnTo>
                  <a:pt x="57150" y="2061972"/>
                </a:lnTo>
                <a:lnTo>
                  <a:pt x="57150" y="2104385"/>
                </a:lnTo>
                <a:lnTo>
                  <a:pt x="85343" y="2047493"/>
                </a:lnTo>
                <a:close/>
              </a:path>
              <a:path w="85725" h="2133600">
                <a:moveTo>
                  <a:pt x="57150" y="20474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047493"/>
                </a:lnTo>
                <a:lnTo>
                  <a:pt x="57150" y="2047493"/>
                </a:lnTo>
                <a:close/>
              </a:path>
              <a:path w="85725" h="2133600">
                <a:moveTo>
                  <a:pt x="57150" y="2104385"/>
                </a:moveTo>
                <a:lnTo>
                  <a:pt x="57150" y="2061972"/>
                </a:lnTo>
                <a:lnTo>
                  <a:pt x="28194" y="2061972"/>
                </a:lnTo>
                <a:lnTo>
                  <a:pt x="28194" y="2104385"/>
                </a:lnTo>
                <a:lnTo>
                  <a:pt x="42672" y="2133600"/>
                </a:lnTo>
                <a:lnTo>
                  <a:pt x="57150" y="21043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52939" y="3422396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19739" y="380339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838200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19739" y="3803396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19739" y="5174996"/>
            <a:ext cx="1905000" cy="0"/>
          </a:xfrm>
          <a:custGeom>
            <a:avLst/>
            <a:gdLst/>
            <a:ahLst/>
            <a:cxnLst/>
            <a:rect l="l" t="t" r="r" b="b"/>
            <a:pathLst>
              <a:path w="1905000">
                <a:moveTo>
                  <a:pt x="0" y="0"/>
                </a:moveTo>
                <a:lnTo>
                  <a:pt x="1904987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82067" y="5174996"/>
            <a:ext cx="85725" cy="381000"/>
          </a:xfrm>
          <a:custGeom>
            <a:avLst/>
            <a:gdLst/>
            <a:ahLst/>
            <a:cxnLst/>
            <a:rect l="l" t="t" r="r" b="b"/>
            <a:pathLst>
              <a:path w="85725" h="381000">
                <a:moveTo>
                  <a:pt x="85331" y="294893"/>
                </a:moveTo>
                <a:lnTo>
                  <a:pt x="0" y="294893"/>
                </a:lnTo>
                <a:lnTo>
                  <a:pt x="28194" y="351802"/>
                </a:lnTo>
                <a:lnTo>
                  <a:pt x="28194" y="309372"/>
                </a:lnTo>
                <a:lnTo>
                  <a:pt x="57150" y="309372"/>
                </a:lnTo>
                <a:lnTo>
                  <a:pt x="57150" y="351759"/>
                </a:lnTo>
                <a:lnTo>
                  <a:pt x="85331" y="294893"/>
                </a:lnTo>
                <a:close/>
              </a:path>
              <a:path w="85725" h="381000">
                <a:moveTo>
                  <a:pt x="57150" y="2948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94893"/>
                </a:lnTo>
                <a:lnTo>
                  <a:pt x="57150" y="294893"/>
                </a:lnTo>
                <a:close/>
              </a:path>
              <a:path w="85725" h="381000">
                <a:moveTo>
                  <a:pt x="57150" y="351759"/>
                </a:moveTo>
                <a:lnTo>
                  <a:pt x="57150" y="309372"/>
                </a:lnTo>
                <a:lnTo>
                  <a:pt x="28194" y="309372"/>
                </a:lnTo>
                <a:lnTo>
                  <a:pt x="28194" y="351802"/>
                </a:lnTo>
                <a:lnTo>
                  <a:pt x="42659" y="381000"/>
                </a:lnTo>
                <a:lnTo>
                  <a:pt x="57150" y="35175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24539" y="426059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400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24539" y="4260596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24539" y="4717796"/>
            <a:ext cx="2819400" cy="0"/>
          </a:xfrm>
          <a:custGeom>
            <a:avLst/>
            <a:gdLst/>
            <a:ahLst/>
            <a:cxnLst/>
            <a:rect l="l" t="t" r="r" b="b"/>
            <a:pathLst>
              <a:path w="2819400">
                <a:moveTo>
                  <a:pt x="0" y="0"/>
                </a:moveTo>
                <a:lnTo>
                  <a:pt x="2819387" y="0"/>
                </a:lnTo>
              </a:path>
            </a:pathLst>
          </a:custGeom>
          <a:ln w="2857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501267" y="4717796"/>
            <a:ext cx="85725" cy="914400"/>
          </a:xfrm>
          <a:custGeom>
            <a:avLst/>
            <a:gdLst/>
            <a:ahLst/>
            <a:cxnLst/>
            <a:rect l="l" t="t" r="r" b="b"/>
            <a:pathLst>
              <a:path w="85725" h="914400">
                <a:moveTo>
                  <a:pt x="85331" y="828293"/>
                </a:moveTo>
                <a:lnTo>
                  <a:pt x="0" y="828293"/>
                </a:lnTo>
                <a:lnTo>
                  <a:pt x="28194" y="885202"/>
                </a:lnTo>
                <a:lnTo>
                  <a:pt x="28194" y="842772"/>
                </a:lnTo>
                <a:lnTo>
                  <a:pt x="57150" y="842772"/>
                </a:lnTo>
                <a:lnTo>
                  <a:pt x="57150" y="885159"/>
                </a:lnTo>
                <a:lnTo>
                  <a:pt x="85331" y="828293"/>
                </a:lnTo>
                <a:close/>
              </a:path>
              <a:path w="85725" h="914400">
                <a:moveTo>
                  <a:pt x="57150" y="8282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828293"/>
                </a:lnTo>
                <a:lnTo>
                  <a:pt x="57150" y="828293"/>
                </a:lnTo>
                <a:close/>
              </a:path>
              <a:path w="85725" h="914400">
                <a:moveTo>
                  <a:pt x="57150" y="885159"/>
                </a:moveTo>
                <a:lnTo>
                  <a:pt x="57150" y="842772"/>
                </a:lnTo>
                <a:lnTo>
                  <a:pt x="28194" y="842772"/>
                </a:lnTo>
                <a:lnTo>
                  <a:pt x="28194" y="885202"/>
                </a:lnTo>
                <a:lnTo>
                  <a:pt x="42659" y="914400"/>
                </a:lnTo>
                <a:lnTo>
                  <a:pt x="57150" y="88515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22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3785" y="447801"/>
            <a:ext cx="4602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 Stack</a:t>
            </a:r>
            <a:r>
              <a:rPr spc="-15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1003300"/>
            <a:ext cx="734250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 compilers use abstract stack machine  for</a:t>
            </a:r>
            <a:r>
              <a:rPr sz="3200" spc="-10" dirty="0">
                <a:latin typeface="Times New Roman"/>
                <a:cs typeface="Times New Roman"/>
              </a:rPr>
              <a:t> IR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635" y="2074672"/>
            <a:ext cx="25673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Machine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model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139" y="3574796"/>
            <a:ext cx="1524000" cy="2661285"/>
          </a:xfrm>
          <a:prstGeom prst="rect">
            <a:avLst/>
          </a:prstGeom>
          <a:ln w="12700">
            <a:solidFill>
              <a:srgbClr val="0167F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26390" indent="-228600">
              <a:lnSpc>
                <a:spcPts val="2875"/>
              </a:lnSpc>
              <a:spcBef>
                <a:spcPts val="325"/>
              </a:spcBef>
              <a:buAutoNum type="arabicPlain"/>
              <a:tabLst>
                <a:tab pos="327025" algn="l"/>
              </a:tabLst>
            </a:pPr>
            <a:r>
              <a:rPr sz="2400" dirty="0">
                <a:latin typeface="Times New Roman"/>
                <a:cs typeface="Times New Roman"/>
              </a:rPr>
              <a:t>push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326390" indent="-228600">
              <a:lnSpc>
                <a:spcPts val="2875"/>
              </a:lnSpc>
              <a:buAutoNum type="arabicPlain"/>
              <a:tabLst>
                <a:tab pos="327025" algn="l"/>
              </a:tabLst>
            </a:pP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9779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  <a:p>
            <a:pPr marL="9779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4 </a:t>
            </a: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9779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9779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6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</a:t>
            </a:r>
            <a:endParaRPr sz="2400">
              <a:latin typeface="Times New Roman"/>
              <a:cs typeface="Times New Roman"/>
            </a:endParaRPr>
          </a:p>
          <a:p>
            <a:pPr marL="9779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7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2635" y="2758947"/>
            <a:ext cx="132842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instruction  memory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0035" y="2911347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Stack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65589" y="3568446"/>
          <a:ext cx="1543050" cy="157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167FF"/>
                      </a:solidFill>
                      <a:prstDash val="solid"/>
                    </a:lnL>
                    <a:lnR w="12700">
                      <a:solidFill>
                        <a:srgbClr val="0167FF"/>
                      </a:solidFill>
                      <a:prstDash val="solid"/>
                    </a:lnR>
                    <a:lnT w="12700">
                      <a:solidFill>
                        <a:srgbClr val="0167FF"/>
                      </a:solidFill>
                      <a:prstDash val="solid"/>
                    </a:lnT>
                    <a:lnB w="12700">
                      <a:solidFill>
                        <a:srgbClr val="0167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167FF"/>
                      </a:solidFill>
                      <a:prstDash val="solid"/>
                    </a:lnL>
                    <a:lnR w="12700">
                      <a:solidFill>
                        <a:srgbClr val="0167FF"/>
                      </a:solidFill>
                      <a:prstDash val="solid"/>
                    </a:lnR>
                    <a:lnT w="12700">
                      <a:solidFill>
                        <a:srgbClr val="0167FF"/>
                      </a:solidFill>
                      <a:prstDash val="solid"/>
                    </a:lnT>
                    <a:lnB w="12700">
                      <a:solidFill>
                        <a:srgbClr val="0167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67FF"/>
                      </a:solidFill>
                      <a:prstDash val="solid"/>
                    </a:lnL>
                    <a:lnR w="12700">
                      <a:solidFill>
                        <a:srgbClr val="0167FF"/>
                      </a:solidFill>
                      <a:prstDash val="solid"/>
                    </a:lnR>
                    <a:lnT w="12700">
                      <a:solidFill>
                        <a:srgbClr val="0167FF"/>
                      </a:solidFill>
                      <a:prstDash val="solid"/>
                    </a:lnT>
                    <a:lnB w="12700">
                      <a:solidFill>
                        <a:srgbClr val="0167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572139" y="3765296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685800" h="76200">
                <a:moveTo>
                  <a:pt x="685800" y="44195"/>
                </a:moveTo>
                <a:lnTo>
                  <a:pt x="685800" y="32003"/>
                </a:lnTo>
                <a:lnTo>
                  <a:pt x="63246" y="32003"/>
                </a:lnTo>
                <a:lnTo>
                  <a:pt x="63246" y="44195"/>
                </a:lnTo>
                <a:lnTo>
                  <a:pt x="685800" y="44195"/>
                </a:lnTo>
                <a:close/>
              </a:path>
              <a:path w="685800" h="76200">
                <a:moveTo>
                  <a:pt x="76200" y="76200"/>
                </a:moveTo>
                <a:lnTo>
                  <a:pt x="76200" y="44195"/>
                </a:lnTo>
                <a:lnTo>
                  <a:pt x="63246" y="44195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27835" y="3978147"/>
            <a:ext cx="516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Top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23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7035" y="2377947"/>
            <a:ext cx="104013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data  memory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777052" y="3331908"/>
          <a:ext cx="1518920" cy="2821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..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..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..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..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7775835" y="2530347"/>
            <a:ext cx="146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Instructions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5835" y="3260344"/>
            <a:ext cx="115062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Push c  </a:t>
            </a: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  </a:t>
            </a:r>
            <a:r>
              <a:rPr sz="2400" spc="-5" dirty="0">
                <a:latin typeface="Times New Roman"/>
                <a:cs typeface="Times New Roman"/>
              </a:rPr>
              <a:t>Lvalue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0"/>
              </a:lnSpc>
            </a:pPr>
            <a:r>
              <a:rPr sz="2400" dirty="0">
                <a:latin typeface="Times New Roman"/>
                <a:cs typeface="Times New Roman"/>
              </a:rPr>
              <a:t>+,-,*,/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4765" y="495045"/>
            <a:ext cx="3857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L-value </a:t>
            </a:r>
            <a:r>
              <a:rPr spc="-5" dirty="0"/>
              <a:t>and</a:t>
            </a:r>
            <a:r>
              <a:rPr spc="-40" dirty="0"/>
              <a:t> </a:t>
            </a:r>
            <a:r>
              <a:rPr spc="-10" dirty="0"/>
              <a:t>R-value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453951"/>
            <a:ext cx="7533640" cy="335787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:= </a:t>
            </a:r>
            <a:r>
              <a:rPr sz="2800" dirty="0">
                <a:latin typeface="Times New Roman"/>
                <a:cs typeface="Times New Roman"/>
              </a:rPr>
              <a:t>A +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622300" marR="550545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The left side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means the location where the  result 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stored</a:t>
            </a:r>
            <a:endParaRPr sz="2800">
              <a:latin typeface="Times New Roman"/>
              <a:cs typeface="Times New Roman"/>
            </a:endParaRPr>
          </a:p>
          <a:p>
            <a:pPr marL="622300" marR="20447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The right side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means the data value stored in  memory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The term </a:t>
            </a:r>
            <a:r>
              <a:rPr sz="2800" i="1" spc="-5" dirty="0">
                <a:latin typeface="Times New Roman"/>
                <a:cs typeface="Times New Roman"/>
              </a:rPr>
              <a:t>L-value </a:t>
            </a:r>
            <a:r>
              <a:rPr sz="2800" spc="-5" dirty="0">
                <a:latin typeface="Times New Roman"/>
                <a:cs typeface="Times New Roman"/>
              </a:rPr>
              <a:t>refers to locations 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R-value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refers 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6679" y="389127"/>
            <a:ext cx="5236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Translation </a:t>
            </a:r>
            <a:r>
              <a:rPr spc="-5" dirty="0"/>
              <a:t>of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5635" y="1323339"/>
            <a:ext cx="1381125" cy="243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Expression  A+B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303530">
              <a:lnSpc>
                <a:spcPct val="109800"/>
              </a:lnSpc>
            </a:pP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435" y="1247139"/>
            <a:ext cx="2216150" cy="828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dirty="0">
                <a:latin typeface="Times New Roman"/>
                <a:cs typeface="Times New Roman"/>
              </a:rPr>
              <a:t>Expression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2400" spc="-5" dirty="0">
                <a:latin typeface="Times New Roman"/>
                <a:cs typeface="Times New Roman"/>
              </a:rPr>
              <a:t>A:= (10+B)*C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+5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435" y="2451862"/>
            <a:ext cx="1064895" cy="3640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8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lvalue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push 10  </a:t>
            </a: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rvalue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push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2400" spc="-10" dirty="0">
                <a:latin typeface="Times New Roman"/>
                <a:cs typeface="Times New Roman"/>
              </a:rPr>
              <a:t>:=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9455" y="495045"/>
            <a:ext cx="5006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Syntax-directed</a:t>
            </a:r>
            <a:r>
              <a:rPr spc="-5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21" y="1438087"/>
            <a:ext cx="7241540" cy="3461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3045460" indent="-608965">
              <a:lnSpc>
                <a:spcPct val="1202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Example of definition  stmt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9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id := expr</a:t>
            </a:r>
            <a:endParaRPr sz="32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145"/>
              </a:spcBef>
            </a:pPr>
            <a:r>
              <a:rPr sz="2800" dirty="0">
                <a:latin typeface="Times New Roman"/>
                <a:cs typeface="Times New Roman"/>
              </a:rPr>
              <a:t>{ </a:t>
            </a:r>
            <a:r>
              <a:rPr sz="2800" spc="-5" dirty="0">
                <a:latin typeface="Times New Roman"/>
                <a:cs typeface="Times New Roman"/>
              </a:rPr>
              <a:t>stmt.t := ‘lvalue’ || id.lexeme || expr.t || ‘:=‘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 of translation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scheme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755"/>
              </a:spcBef>
              <a:tabLst>
                <a:tab pos="2442845" algn="l"/>
              </a:tabLst>
            </a:pPr>
            <a:r>
              <a:rPr sz="3200" spc="-5" dirty="0">
                <a:latin typeface="Times New Roman"/>
                <a:cs typeface="Times New Roman"/>
              </a:rPr>
              <a:t>stmt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7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id	{emit(‘lvalue’, id.lexeme);}</a:t>
            </a:r>
            <a:endParaRPr sz="32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750"/>
              </a:spcBef>
            </a:pPr>
            <a:r>
              <a:rPr sz="3200" spc="-5" dirty="0">
                <a:latin typeface="Times New Roman"/>
                <a:cs typeface="Times New Roman"/>
              </a:rPr>
              <a:t>:= expr {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emit(‘:=‘);}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205" y="495045"/>
            <a:ext cx="29095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Assignment</a:t>
            </a:r>
            <a:r>
              <a:rPr spc="-50" dirty="0"/>
              <a:t> </a:t>
            </a:r>
            <a:r>
              <a:rPr spc="-10" dirty="0"/>
              <a:t>#1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04695"/>
            <a:ext cx="7294245" cy="8369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22300" marR="5080" indent="-609600">
              <a:lnSpc>
                <a:spcPts val="3020"/>
              </a:lnSpc>
              <a:spcBef>
                <a:spcPts val="484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Need to extend the simple compiler to perform  “constant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folding”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35" y="2315011"/>
            <a:ext cx="2614295" cy="37852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800" spc="-5" dirty="0">
                <a:latin typeface="Times New Roman"/>
                <a:cs typeface="Times New Roman"/>
              </a:rPr>
              <a:t>Input: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340"/>
              </a:spcBef>
            </a:pPr>
            <a:r>
              <a:rPr sz="2800" spc="-5" dirty="0">
                <a:latin typeface="Times New Roman"/>
                <a:cs typeface="Times New Roman"/>
              </a:rPr>
              <a:t>100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25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A;</a:t>
            </a:r>
            <a:endParaRPr sz="2800">
              <a:latin typeface="Times New Roman"/>
              <a:cs typeface="Times New Roman"/>
            </a:endParaRPr>
          </a:p>
          <a:p>
            <a:pPr marL="622300" marR="412750" indent="-610235">
              <a:lnSpc>
                <a:spcPct val="110000"/>
              </a:lnSpc>
              <a:spcBef>
                <a:spcPts val="10"/>
              </a:spcBef>
            </a:pPr>
            <a:r>
              <a:rPr sz="2800" spc="-5" dirty="0">
                <a:latin typeface="Times New Roman"/>
                <a:cs typeface="Times New Roman"/>
              </a:rPr>
              <a:t>Current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output:  </a:t>
            </a:r>
            <a:r>
              <a:rPr sz="2800" dirty="0">
                <a:latin typeface="Times New Roman"/>
                <a:cs typeface="Times New Roman"/>
              </a:rPr>
              <a:t>100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Times New Roman"/>
                <a:cs typeface="Times New Roman"/>
              </a:rPr>
              <a:t>25</a:t>
            </a:r>
            <a:endParaRPr sz="2800">
              <a:latin typeface="Times New Roman"/>
              <a:cs typeface="Times New Roman"/>
            </a:endParaRPr>
          </a:p>
          <a:p>
            <a:pPr marL="622300" marR="1727200">
              <a:lnSpc>
                <a:spcPct val="11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+  A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345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1246" y="2911386"/>
            <a:ext cx="18713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Output: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1246" y="3765578"/>
            <a:ext cx="55943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125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609822"/>
            <a:ext cx="7350125" cy="455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24000">
              <a:lnSpc>
                <a:spcPct val="109800"/>
              </a:lnSpc>
              <a:spcBef>
                <a:spcPts val="100"/>
              </a:spcBef>
            </a:pPr>
            <a:r>
              <a:rPr sz="3200" spc="-5" dirty="0">
                <a:latin typeface="Times New Roman"/>
                <a:cs typeface="Times New Roman"/>
              </a:rPr>
              <a:t>Need to modify translation scheme:  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390"/>
              </a:spcBef>
            </a:pPr>
            <a:r>
              <a:rPr sz="3200" spc="-5" dirty="0">
                <a:latin typeface="Times New Roman"/>
                <a:cs typeface="Times New Roman"/>
              </a:rPr>
              <a:t>factor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7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 expr )</a:t>
            </a:r>
            <a:endParaRPr sz="320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355"/>
              </a:spcBef>
              <a:tabLst>
                <a:tab pos="2226310" algn="l"/>
                <a:tab pos="3669665" algn="l"/>
              </a:tabLst>
            </a:pPr>
            <a:r>
              <a:rPr sz="3200" spc="-5" dirty="0">
                <a:latin typeface="Times New Roman"/>
                <a:cs typeface="Times New Roman"/>
              </a:rPr>
              <a:t>|	id	{print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(id.lexeme);}</a:t>
            </a:r>
            <a:endParaRPr sz="320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370"/>
              </a:spcBef>
              <a:tabLst>
                <a:tab pos="2226310" algn="l"/>
                <a:tab pos="3669029" algn="l"/>
              </a:tabLst>
            </a:pPr>
            <a:r>
              <a:rPr sz="3200" spc="-5" dirty="0">
                <a:latin typeface="Times New Roman"/>
                <a:cs typeface="Times New Roman"/>
              </a:rPr>
              <a:t>|	num	{print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(num.value);}</a:t>
            </a:r>
            <a:endParaRPr sz="3200">
              <a:latin typeface="Times New Roman"/>
              <a:cs typeface="Times New Roman"/>
            </a:endParaRPr>
          </a:p>
          <a:p>
            <a:pPr marL="621665" marR="5080" indent="-609600">
              <a:lnSpc>
                <a:spcPts val="3450"/>
              </a:lnSpc>
              <a:spcBef>
                <a:spcPts val="815"/>
              </a:spcBef>
            </a:pPr>
            <a:r>
              <a:rPr sz="3200" spc="-5" dirty="0">
                <a:latin typeface="Times New Roman"/>
                <a:cs typeface="Times New Roman"/>
              </a:rPr>
              <a:t>The new compiler </a:t>
            </a:r>
            <a:r>
              <a:rPr sz="3200" spc="-10" dirty="0">
                <a:latin typeface="Times New Roman"/>
                <a:cs typeface="Times New Roman"/>
              </a:rPr>
              <a:t>should </a:t>
            </a:r>
            <a:r>
              <a:rPr sz="3200" spc="-5" dirty="0">
                <a:latin typeface="Times New Roman"/>
                <a:cs typeface="Times New Roman"/>
              </a:rPr>
              <a:t>not print the  attributes so quickly. They shall be  delayed until no opportunities for folding  are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observed.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9119" y="495045"/>
            <a:ext cx="42875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 3. </a:t>
            </a:r>
            <a:r>
              <a:rPr spc="-10" dirty="0"/>
              <a:t>Lexical</a:t>
            </a:r>
            <a:r>
              <a:rPr spc="-4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35" y="1414328"/>
            <a:ext cx="7442834" cy="30162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How to </a:t>
            </a:r>
            <a:r>
              <a:rPr sz="2800" b="1" spc="-5" dirty="0">
                <a:latin typeface="Times New Roman"/>
                <a:cs typeface="Times New Roman"/>
              </a:rPr>
              <a:t>specify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b="1" spc="-5" dirty="0">
                <a:latin typeface="Times New Roman"/>
                <a:cs typeface="Times New Roman"/>
              </a:rPr>
              <a:t>implement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lexical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analyzer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  <a:tab pos="5005705" algn="l"/>
              </a:tabLst>
            </a:pPr>
            <a:r>
              <a:rPr sz="2800" spc="-5" dirty="0">
                <a:latin typeface="Times New Roman"/>
                <a:cs typeface="Times New Roman"/>
              </a:rPr>
              <a:t>Using regular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expressions</a:t>
            </a:r>
            <a:r>
              <a:rPr sz="2800" spc="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(RE)	to define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tokens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How to construct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lexical analyzer by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hand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Pattern-directed language: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Lex</a:t>
            </a:r>
            <a:endParaRPr sz="2800">
              <a:latin typeface="Times New Roman"/>
              <a:cs typeface="Times New Roman"/>
            </a:endParaRPr>
          </a:p>
          <a:p>
            <a:pPr marL="355600" marR="141605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Theory behind scanner generator: converting RE  into transition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11" y="418845"/>
            <a:ext cx="58635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Role of a </a:t>
            </a:r>
            <a:r>
              <a:rPr spc="-10" dirty="0"/>
              <a:t>Lexical</a:t>
            </a:r>
            <a:r>
              <a:rPr spc="-30" dirty="0"/>
              <a:t> </a:t>
            </a:r>
            <a:r>
              <a:rPr spc="-10" dirty="0"/>
              <a:t>Analyzer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7739" y="2203195"/>
            <a:ext cx="2133600" cy="13716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550545" marR="542925" indent="5969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Lexical  analyzer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9127" y="2126995"/>
            <a:ext cx="1600200" cy="1371600"/>
          </a:xfrm>
          <a:custGeom>
            <a:avLst/>
            <a:gdLst/>
            <a:ahLst/>
            <a:cxnLst/>
            <a:rect l="l" t="t" r="r" b="b"/>
            <a:pathLst>
              <a:path w="1600200" h="1371600">
                <a:moveTo>
                  <a:pt x="0" y="0"/>
                </a:moveTo>
                <a:lnTo>
                  <a:pt x="0" y="1371600"/>
                </a:lnTo>
                <a:lnTo>
                  <a:pt x="1600200" y="1371600"/>
                </a:lnTo>
                <a:lnTo>
                  <a:pt x="16002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533" y="2606547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Parser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2139" y="2279395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876299" y="0"/>
                </a:moveTo>
                <a:lnTo>
                  <a:pt x="816314" y="1229"/>
                </a:lnTo>
                <a:lnTo>
                  <a:pt x="757411" y="4863"/>
                </a:lnTo>
                <a:lnTo>
                  <a:pt x="699722" y="10824"/>
                </a:lnTo>
                <a:lnTo>
                  <a:pt x="643378" y="19032"/>
                </a:lnTo>
                <a:lnTo>
                  <a:pt x="588509" y="29408"/>
                </a:lnTo>
                <a:lnTo>
                  <a:pt x="535245" y="41874"/>
                </a:lnTo>
                <a:lnTo>
                  <a:pt x="483718" y="56350"/>
                </a:lnTo>
                <a:lnTo>
                  <a:pt x="434057" y="72756"/>
                </a:lnTo>
                <a:lnTo>
                  <a:pt x="386395" y="91015"/>
                </a:lnTo>
                <a:lnTo>
                  <a:pt x="340860" y="111047"/>
                </a:lnTo>
                <a:lnTo>
                  <a:pt x="297584" y="132773"/>
                </a:lnTo>
                <a:lnTo>
                  <a:pt x="256698" y="156114"/>
                </a:lnTo>
                <a:lnTo>
                  <a:pt x="218332" y="180991"/>
                </a:lnTo>
                <a:lnTo>
                  <a:pt x="182617" y="207325"/>
                </a:lnTo>
                <a:lnTo>
                  <a:pt x="149683" y="235036"/>
                </a:lnTo>
                <a:lnTo>
                  <a:pt x="119662" y="264047"/>
                </a:lnTo>
                <a:lnTo>
                  <a:pt x="92683" y="294277"/>
                </a:lnTo>
                <a:lnTo>
                  <a:pt x="68877" y="325647"/>
                </a:lnTo>
                <a:lnTo>
                  <a:pt x="48376" y="358080"/>
                </a:lnTo>
                <a:lnTo>
                  <a:pt x="17807" y="425813"/>
                </a:lnTo>
                <a:lnTo>
                  <a:pt x="2022" y="496845"/>
                </a:lnTo>
                <a:lnTo>
                  <a:pt x="0" y="533399"/>
                </a:lnTo>
                <a:lnTo>
                  <a:pt x="2022" y="569954"/>
                </a:lnTo>
                <a:lnTo>
                  <a:pt x="17807" y="640986"/>
                </a:lnTo>
                <a:lnTo>
                  <a:pt x="48376" y="708719"/>
                </a:lnTo>
                <a:lnTo>
                  <a:pt x="68877" y="741152"/>
                </a:lnTo>
                <a:lnTo>
                  <a:pt x="92683" y="772522"/>
                </a:lnTo>
                <a:lnTo>
                  <a:pt x="119662" y="802752"/>
                </a:lnTo>
                <a:lnTo>
                  <a:pt x="149683" y="831763"/>
                </a:lnTo>
                <a:lnTo>
                  <a:pt x="182617" y="859474"/>
                </a:lnTo>
                <a:lnTo>
                  <a:pt x="218332" y="885808"/>
                </a:lnTo>
                <a:lnTo>
                  <a:pt x="256698" y="910685"/>
                </a:lnTo>
                <a:lnTo>
                  <a:pt x="297584" y="934026"/>
                </a:lnTo>
                <a:lnTo>
                  <a:pt x="340860" y="955752"/>
                </a:lnTo>
                <a:lnTo>
                  <a:pt x="386395" y="975784"/>
                </a:lnTo>
                <a:lnTo>
                  <a:pt x="434057" y="994043"/>
                </a:lnTo>
                <a:lnTo>
                  <a:pt x="483718" y="1010449"/>
                </a:lnTo>
                <a:lnTo>
                  <a:pt x="535245" y="1024925"/>
                </a:lnTo>
                <a:lnTo>
                  <a:pt x="588509" y="1037391"/>
                </a:lnTo>
                <a:lnTo>
                  <a:pt x="643378" y="1047767"/>
                </a:lnTo>
                <a:lnTo>
                  <a:pt x="699722" y="1055975"/>
                </a:lnTo>
                <a:lnTo>
                  <a:pt x="757411" y="1061936"/>
                </a:lnTo>
                <a:lnTo>
                  <a:pt x="816314" y="1065570"/>
                </a:lnTo>
                <a:lnTo>
                  <a:pt x="876300" y="1066800"/>
                </a:lnTo>
                <a:lnTo>
                  <a:pt x="936285" y="1065570"/>
                </a:lnTo>
                <a:lnTo>
                  <a:pt x="995188" y="1061936"/>
                </a:lnTo>
                <a:lnTo>
                  <a:pt x="1052877" y="1055975"/>
                </a:lnTo>
                <a:lnTo>
                  <a:pt x="1109221" y="1047767"/>
                </a:lnTo>
                <a:lnTo>
                  <a:pt x="1164090" y="1037391"/>
                </a:lnTo>
                <a:lnTo>
                  <a:pt x="1217354" y="1024925"/>
                </a:lnTo>
                <a:lnTo>
                  <a:pt x="1268881" y="1010449"/>
                </a:lnTo>
                <a:lnTo>
                  <a:pt x="1318542" y="994043"/>
                </a:lnTo>
                <a:lnTo>
                  <a:pt x="1366204" y="975784"/>
                </a:lnTo>
                <a:lnTo>
                  <a:pt x="1411739" y="955752"/>
                </a:lnTo>
                <a:lnTo>
                  <a:pt x="1455015" y="934026"/>
                </a:lnTo>
                <a:lnTo>
                  <a:pt x="1495901" y="910685"/>
                </a:lnTo>
                <a:lnTo>
                  <a:pt x="1534267" y="885808"/>
                </a:lnTo>
                <a:lnTo>
                  <a:pt x="1569982" y="859474"/>
                </a:lnTo>
                <a:lnTo>
                  <a:pt x="1602916" y="831763"/>
                </a:lnTo>
                <a:lnTo>
                  <a:pt x="1632937" y="802752"/>
                </a:lnTo>
                <a:lnTo>
                  <a:pt x="1659916" y="772522"/>
                </a:lnTo>
                <a:lnTo>
                  <a:pt x="1683722" y="741152"/>
                </a:lnTo>
                <a:lnTo>
                  <a:pt x="1704223" y="708719"/>
                </a:lnTo>
                <a:lnTo>
                  <a:pt x="1734792" y="640986"/>
                </a:lnTo>
                <a:lnTo>
                  <a:pt x="1750577" y="569954"/>
                </a:lnTo>
                <a:lnTo>
                  <a:pt x="1752600" y="533399"/>
                </a:lnTo>
                <a:lnTo>
                  <a:pt x="1750577" y="496845"/>
                </a:lnTo>
                <a:lnTo>
                  <a:pt x="1734792" y="425813"/>
                </a:lnTo>
                <a:lnTo>
                  <a:pt x="1704223" y="358080"/>
                </a:lnTo>
                <a:lnTo>
                  <a:pt x="1683722" y="325647"/>
                </a:lnTo>
                <a:lnTo>
                  <a:pt x="1659916" y="294277"/>
                </a:lnTo>
                <a:lnTo>
                  <a:pt x="1632937" y="264047"/>
                </a:lnTo>
                <a:lnTo>
                  <a:pt x="1602916" y="235036"/>
                </a:lnTo>
                <a:lnTo>
                  <a:pt x="1569982" y="207325"/>
                </a:lnTo>
                <a:lnTo>
                  <a:pt x="1534267" y="180991"/>
                </a:lnTo>
                <a:lnTo>
                  <a:pt x="1495901" y="156114"/>
                </a:lnTo>
                <a:lnTo>
                  <a:pt x="1455015" y="132773"/>
                </a:lnTo>
                <a:lnTo>
                  <a:pt x="1411739" y="111047"/>
                </a:lnTo>
                <a:lnTo>
                  <a:pt x="1366204" y="91015"/>
                </a:lnTo>
                <a:lnTo>
                  <a:pt x="1318542" y="72756"/>
                </a:lnTo>
                <a:lnTo>
                  <a:pt x="1268881" y="56350"/>
                </a:lnTo>
                <a:lnTo>
                  <a:pt x="1217354" y="41874"/>
                </a:lnTo>
                <a:lnTo>
                  <a:pt x="1164090" y="29408"/>
                </a:lnTo>
                <a:lnTo>
                  <a:pt x="1109221" y="19032"/>
                </a:lnTo>
                <a:lnTo>
                  <a:pt x="1052877" y="10824"/>
                </a:lnTo>
                <a:lnTo>
                  <a:pt x="995188" y="4863"/>
                </a:lnTo>
                <a:lnTo>
                  <a:pt x="936285" y="1229"/>
                </a:lnTo>
                <a:lnTo>
                  <a:pt x="876299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9859" y="2423667"/>
            <a:ext cx="105791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Source  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09939" y="2541523"/>
            <a:ext cx="1447800" cy="85725"/>
          </a:xfrm>
          <a:custGeom>
            <a:avLst/>
            <a:gdLst/>
            <a:ahLst/>
            <a:cxnLst/>
            <a:rect l="l" t="t" r="r" b="b"/>
            <a:pathLst>
              <a:path w="1447800" h="85725">
                <a:moveTo>
                  <a:pt x="1376172" y="57149"/>
                </a:moveTo>
                <a:lnTo>
                  <a:pt x="1376172" y="28193"/>
                </a:lnTo>
                <a:lnTo>
                  <a:pt x="0" y="28193"/>
                </a:lnTo>
                <a:lnTo>
                  <a:pt x="0" y="57150"/>
                </a:lnTo>
                <a:lnTo>
                  <a:pt x="1376172" y="57149"/>
                </a:lnTo>
                <a:close/>
              </a:path>
              <a:path w="1447800" h="85725">
                <a:moveTo>
                  <a:pt x="1447800" y="42671"/>
                </a:moveTo>
                <a:lnTo>
                  <a:pt x="1361694" y="0"/>
                </a:lnTo>
                <a:lnTo>
                  <a:pt x="1361694" y="28193"/>
                </a:lnTo>
                <a:lnTo>
                  <a:pt x="1376172" y="28193"/>
                </a:lnTo>
                <a:lnTo>
                  <a:pt x="1376172" y="78169"/>
                </a:lnTo>
                <a:lnTo>
                  <a:pt x="1447800" y="42671"/>
                </a:lnTo>
                <a:close/>
              </a:path>
              <a:path w="1447800" h="85725">
                <a:moveTo>
                  <a:pt x="1376172" y="78169"/>
                </a:moveTo>
                <a:lnTo>
                  <a:pt x="1376172" y="57149"/>
                </a:lnTo>
                <a:lnTo>
                  <a:pt x="1361694" y="57149"/>
                </a:lnTo>
                <a:lnTo>
                  <a:pt x="1361694" y="85343"/>
                </a:lnTo>
                <a:lnTo>
                  <a:pt x="13761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13235" y="1996947"/>
            <a:ext cx="1150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read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6139" y="3074923"/>
            <a:ext cx="1371600" cy="85725"/>
          </a:xfrm>
          <a:custGeom>
            <a:avLst/>
            <a:gdLst/>
            <a:ahLst/>
            <a:cxnLst/>
            <a:rect l="l" t="t" r="r" b="b"/>
            <a:pathLst>
              <a:path w="1371600" h="85725">
                <a:moveTo>
                  <a:pt x="85343" y="28193"/>
                </a:moveTo>
                <a:lnTo>
                  <a:pt x="85343" y="0"/>
                </a:lnTo>
                <a:lnTo>
                  <a:pt x="0" y="42672"/>
                </a:lnTo>
                <a:lnTo>
                  <a:pt x="71628" y="78486"/>
                </a:lnTo>
                <a:lnTo>
                  <a:pt x="71628" y="28193"/>
                </a:lnTo>
                <a:lnTo>
                  <a:pt x="85343" y="28193"/>
                </a:lnTo>
                <a:close/>
              </a:path>
              <a:path w="1371600" h="85725">
                <a:moveTo>
                  <a:pt x="1371600" y="57149"/>
                </a:moveTo>
                <a:lnTo>
                  <a:pt x="1371600" y="28193"/>
                </a:lnTo>
                <a:lnTo>
                  <a:pt x="71628" y="28193"/>
                </a:lnTo>
                <a:lnTo>
                  <a:pt x="71628" y="57149"/>
                </a:lnTo>
                <a:lnTo>
                  <a:pt x="1371600" y="57149"/>
                </a:lnTo>
                <a:close/>
              </a:path>
              <a:path w="1371600" h="85725">
                <a:moveTo>
                  <a:pt x="85343" y="85343"/>
                </a:moveTo>
                <a:lnTo>
                  <a:pt x="85343" y="57149"/>
                </a:lnTo>
                <a:lnTo>
                  <a:pt x="71628" y="57149"/>
                </a:lnTo>
                <a:lnTo>
                  <a:pt x="71628" y="78486"/>
                </a:lnTo>
                <a:lnTo>
                  <a:pt x="85343" y="8534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89435" y="3292347"/>
            <a:ext cx="10668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put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  char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1327" y="2389123"/>
            <a:ext cx="1447800" cy="85725"/>
          </a:xfrm>
          <a:custGeom>
            <a:avLst/>
            <a:gdLst/>
            <a:ahLst/>
            <a:cxnLst/>
            <a:rect l="l" t="t" r="r" b="b"/>
            <a:pathLst>
              <a:path w="1447800" h="85725">
                <a:moveTo>
                  <a:pt x="1376172" y="57149"/>
                </a:moveTo>
                <a:lnTo>
                  <a:pt x="13761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376172" y="57149"/>
                </a:lnTo>
                <a:close/>
              </a:path>
              <a:path w="1447800" h="85725">
                <a:moveTo>
                  <a:pt x="1447800" y="42671"/>
                </a:moveTo>
                <a:lnTo>
                  <a:pt x="1361694" y="0"/>
                </a:lnTo>
                <a:lnTo>
                  <a:pt x="1361694" y="28193"/>
                </a:lnTo>
                <a:lnTo>
                  <a:pt x="1376172" y="28193"/>
                </a:lnTo>
                <a:lnTo>
                  <a:pt x="1376172" y="78169"/>
                </a:lnTo>
                <a:lnTo>
                  <a:pt x="1447800" y="42671"/>
                </a:lnTo>
                <a:close/>
              </a:path>
              <a:path w="1447800" h="85725">
                <a:moveTo>
                  <a:pt x="1376172" y="78169"/>
                </a:moveTo>
                <a:lnTo>
                  <a:pt x="1376172" y="57149"/>
                </a:lnTo>
                <a:lnTo>
                  <a:pt x="1361694" y="57149"/>
                </a:lnTo>
                <a:lnTo>
                  <a:pt x="1361694" y="85343"/>
                </a:lnTo>
                <a:lnTo>
                  <a:pt x="13761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42235" y="1387347"/>
            <a:ext cx="229171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pass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token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and attribute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67527" y="3074923"/>
            <a:ext cx="1447800" cy="85725"/>
          </a:xfrm>
          <a:custGeom>
            <a:avLst/>
            <a:gdLst/>
            <a:ahLst/>
            <a:cxnLst/>
            <a:rect l="l" t="t" r="r" b="b"/>
            <a:pathLst>
              <a:path w="1447800" h="85725">
                <a:moveTo>
                  <a:pt x="85344" y="28193"/>
                </a:moveTo>
                <a:lnTo>
                  <a:pt x="85344" y="0"/>
                </a:lnTo>
                <a:lnTo>
                  <a:pt x="0" y="42672"/>
                </a:lnTo>
                <a:lnTo>
                  <a:pt x="71627" y="78485"/>
                </a:lnTo>
                <a:lnTo>
                  <a:pt x="71627" y="28193"/>
                </a:lnTo>
                <a:lnTo>
                  <a:pt x="85344" y="28193"/>
                </a:lnTo>
                <a:close/>
              </a:path>
              <a:path w="1447800" h="85725">
                <a:moveTo>
                  <a:pt x="1447800" y="57149"/>
                </a:moveTo>
                <a:lnTo>
                  <a:pt x="1447800" y="28193"/>
                </a:lnTo>
                <a:lnTo>
                  <a:pt x="71627" y="28193"/>
                </a:lnTo>
                <a:lnTo>
                  <a:pt x="71627" y="57149"/>
                </a:lnTo>
                <a:lnTo>
                  <a:pt x="1447800" y="57149"/>
                </a:lnTo>
                <a:close/>
              </a:path>
              <a:path w="1447800" h="85725">
                <a:moveTo>
                  <a:pt x="85344" y="85343"/>
                </a:moveTo>
                <a:lnTo>
                  <a:pt x="85344" y="57149"/>
                </a:lnTo>
                <a:lnTo>
                  <a:pt x="71627" y="57149"/>
                </a:lnTo>
                <a:lnTo>
                  <a:pt x="71627" y="78485"/>
                </a:lnTo>
                <a:lnTo>
                  <a:pt x="85344" y="8534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47035" y="3368547"/>
            <a:ext cx="9982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get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next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7739" y="4336796"/>
            <a:ext cx="2133600" cy="1066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Times New Roman"/>
              <a:cs typeface="Times New Roman"/>
            </a:endParaRPr>
          </a:p>
          <a:p>
            <a:pPr marL="20764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Symbol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77067" y="3574796"/>
            <a:ext cx="85725" cy="609600"/>
          </a:xfrm>
          <a:custGeom>
            <a:avLst/>
            <a:gdLst/>
            <a:ahLst/>
            <a:cxnLst/>
            <a:rect l="l" t="t" r="r" b="b"/>
            <a:pathLst>
              <a:path w="85725" h="609600">
                <a:moveTo>
                  <a:pt x="85343" y="85343"/>
                </a:moveTo>
                <a:lnTo>
                  <a:pt x="42672" y="0"/>
                </a:lnTo>
                <a:lnTo>
                  <a:pt x="0" y="85343"/>
                </a:lnTo>
                <a:lnTo>
                  <a:pt x="28194" y="85343"/>
                </a:lnTo>
                <a:lnTo>
                  <a:pt x="28194" y="71627"/>
                </a:lnTo>
                <a:lnTo>
                  <a:pt x="57150" y="71627"/>
                </a:lnTo>
                <a:lnTo>
                  <a:pt x="57150" y="85343"/>
                </a:lnTo>
                <a:lnTo>
                  <a:pt x="85343" y="85343"/>
                </a:lnTo>
                <a:close/>
              </a:path>
              <a:path w="85725" h="609600">
                <a:moveTo>
                  <a:pt x="85343" y="523493"/>
                </a:moveTo>
                <a:lnTo>
                  <a:pt x="0" y="523493"/>
                </a:lnTo>
                <a:lnTo>
                  <a:pt x="28194" y="580385"/>
                </a:lnTo>
                <a:lnTo>
                  <a:pt x="28194" y="537972"/>
                </a:lnTo>
                <a:lnTo>
                  <a:pt x="57150" y="537972"/>
                </a:lnTo>
                <a:lnTo>
                  <a:pt x="57150" y="580385"/>
                </a:lnTo>
                <a:lnTo>
                  <a:pt x="85343" y="523493"/>
                </a:lnTo>
                <a:close/>
              </a:path>
              <a:path w="85725" h="609600">
                <a:moveTo>
                  <a:pt x="57150" y="85343"/>
                </a:moveTo>
                <a:lnTo>
                  <a:pt x="57150" y="71627"/>
                </a:lnTo>
                <a:lnTo>
                  <a:pt x="28194" y="71627"/>
                </a:lnTo>
                <a:lnTo>
                  <a:pt x="28194" y="85343"/>
                </a:lnTo>
                <a:lnTo>
                  <a:pt x="57150" y="85343"/>
                </a:lnTo>
                <a:close/>
              </a:path>
              <a:path w="85725" h="609600">
                <a:moveTo>
                  <a:pt x="57150" y="523493"/>
                </a:moveTo>
                <a:lnTo>
                  <a:pt x="57150" y="85343"/>
                </a:lnTo>
                <a:lnTo>
                  <a:pt x="28194" y="85343"/>
                </a:lnTo>
                <a:lnTo>
                  <a:pt x="28194" y="523493"/>
                </a:lnTo>
                <a:lnTo>
                  <a:pt x="57150" y="523493"/>
                </a:lnTo>
                <a:close/>
              </a:path>
              <a:path w="85725" h="609600">
                <a:moveTo>
                  <a:pt x="57150" y="580385"/>
                </a:moveTo>
                <a:lnTo>
                  <a:pt x="57150" y="537972"/>
                </a:lnTo>
                <a:lnTo>
                  <a:pt x="28194" y="537972"/>
                </a:lnTo>
                <a:lnTo>
                  <a:pt x="28194" y="580385"/>
                </a:lnTo>
                <a:lnTo>
                  <a:pt x="42672" y="609600"/>
                </a:lnTo>
                <a:lnTo>
                  <a:pt x="57150" y="5803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67527" y="3574796"/>
            <a:ext cx="2209800" cy="1219200"/>
          </a:xfrm>
          <a:custGeom>
            <a:avLst/>
            <a:gdLst/>
            <a:ahLst/>
            <a:cxnLst/>
            <a:rect l="l" t="t" r="r" b="b"/>
            <a:pathLst>
              <a:path w="2209800" h="1219200">
                <a:moveTo>
                  <a:pt x="68078" y="1165094"/>
                </a:moveTo>
                <a:lnTo>
                  <a:pt x="54114" y="1139952"/>
                </a:lnTo>
                <a:lnTo>
                  <a:pt x="0" y="1219200"/>
                </a:lnTo>
                <a:lnTo>
                  <a:pt x="55638" y="1216992"/>
                </a:lnTo>
                <a:lnTo>
                  <a:pt x="55638" y="1171955"/>
                </a:lnTo>
                <a:lnTo>
                  <a:pt x="68078" y="1165094"/>
                </a:lnTo>
                <a:close/>
              </a:path>
              <a:path w="2209800" h="1219200">
                <a:moveTo>
                  <a:pt x="81985" y="1190135"/>
                </a:moveTo>
                <a:lnTo>
                  <a:pt x="68078" y="1165094"/>
                </a:lnTo>
                <a:lnTo>
                  <a:pt x="55638" y="1171955"/>
                </a:lnTo>
                <a:lnTo>
                  <a:pt x="69354" y="1197102"/>
                </a:lnTo>
                <a:lnTo>
                  <a:pt x="81985" y="1190135"/>
                </a:lnTo>
                <a:close/>
              </a:path>
              <a:path w="2209800" h="1219200">
                <a:moveTo>
                  <a:pt x="96012" y="1215389"/>
                </a:moveTo>
                <a:lnTo>
                  <a:pt x="81985" y="1190135"/>
                </a:lnTo>
                <a:lnTo>
                  <a:pt x="69354" y="1197102"/>
                </a:lnTo>
                <a:lnTo>
                  <a:pt x="55638" y="1171955"/>
                </a:lnTo>
                <a:lnTo>
                  <a:pt x="55638" y="1216992"/>
                </a:lnTo>
                <a:lnTo>
                  <a:pt x="96012" y="1215389"/>
                </a:lnTo>
                <a:close/>
              </a:path>
              <a:path w="2209800" h="1219200">
                <a:moveTo>
                  <a:pt x="2141733" y="54105"/>
                </a:moveTo>
                <a:lnTo>
                  <a:pt x="2127829" y="29069"/>
                </a:lnTo>
                <a:lnTo>
                  <a:pt x="68078" y="1165094"/>
                </a:lnTo>
                <a:lnTo>
                  <a:pt x="81985" y="1190135"/>
                </a:lnTo>
                <a:lnTo>
                  <a:pt x="2141733" y="54105"/>
                </a:lnTo>
                <a:close/>
              </a:path>
              <a:path w="2209800" h="1219200">
                <a:moveTo>
                  <a:pt x="2209800" y="0"/>
                </a:moveTo>
                <a:lnTo>
                  <a:pt x="2113800" y="3809"/>
                </a:lnTo>
                <a:lnTo>
                  <a:pt x="2127829" y="29069"/>
                </a:lnTo>
                <a:lnTo>
                  <a:pt x="2140470" y="22098"/>
                </a:lnTo>
                <a:lnTo>
                  <a:pt x="2154174" y="47243"/>
                </a:lnTo>
                <a:lnTo>
                  <a:pt x="2154174" y="76503"/>
                </a:lnTo>
                <a:lnTo>
                  <a:pt x="2155698" y="79248"/>
                </a:lnTo>
                <a:lnTo>
                  <a:pt x="2209800" y="0"/>
                </a:lnTo>
                <a:close/>
              </a:path>
              <a:path w="2209800" h="1219200">
                <a:moveTo>
                  <a:pt x="2154174" y="47243"/>
                </a:moveTo>
                <a:lnTo>
                  <a:pt x="2140470" y="22098"/>
                </a:lnTo>
                <a:lnTo>
                  <a:pt x="2127829" y="29069"/>
                </a:lnTo>
                <a:lnTo>
                  <a:pt x="2141733" y="54105"/>
                </a:lnTo>
                <a:lnTo>
                  <a:pt x="2154174" y="47243"/>
                </a:lnTo>
                <a:close/>
              </a:path>
              <a:path w="2209800" h="1219200">
                <a:moveTo>
                  <a:pt x="2154174" y="76503"/>
                </a:moveTo>
                <a:lnTo>
                  <a:pt x="2154174" y="47243"/>
                </a:lnTo>
                <a:lnTo>
                  <a:pt x="2141733" y="54105"/>
                </a:lnTo>
                <a:lnTo>
                  <a:pt x="2154174" y="765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39327" y="2693923"/>
            <a:ext cx="457200" cy="85725"/>
          </a:xfrm>
          <a:custGeom>
            <a:avLst/>
            <a:gdLst/>
            <a:ahLst/>
            <a:cxnLst/>
            <a:rect l="l" t="t" r="r" b="b"/>
            <a:pathLst>
              <a:path w="457200" h="85725">
                <a:moveTo>
                  <a:pt x="385572" y="57150"/>
                </a:moveTo>
                <a:lnTo>
                  <a:pt x="385572" y="28193"/>
                </a:lnTo>
                <a:lnTo>
                  <a:pt x="0" y="28193"/>
                </a:lnTo>
                <a:lnTo>
                  <a:pt x="0" y="57150"/>
                </a:lnTo>
                <a:lnTo>
                  <a:pt x="385572" y="57150"/>
                </a:lnTo>
                <a:close/>
              </a:path>
              <a:path w="457200" h="85725">
                <a:moveTo>
                  <a:pt x="457200" y="42671"/>
                </a:moveTo>
                <a:lnTo>
                  <a:pt x="371094" y="0"/>
                </a:lnTo>
                <a:lnTo>
                  <a:pt x="371094" y="28193"/>
                </a:lnTo>
                <a:lnTo>
                  <a:pt x="385572" y="28193"/>
                </a:lnTo>
                <a:lnTo>
                  <a:pt x="385572" y="78169"/>
                </a:lnTo>
                <a:lnTo>
                  <a:pt x="457200" y="42671"/>
                </a:lnTo>
                <a:close/>
              </a:path>
              <a:path w="457200" h="85725">
                <a:moveTo>
                  <a:pt x="385572" y="78169"/>
                </a:moveTo>
                <a:lnTo>
                  <a:pt x="385572" y="57150"/>
                </a:lnTo>
                <a:lnTo>
                  <a:pt x="371094" y="57150"/>
                </a:lnTo>
                <a:lnTo>
                  <a:pt x="371094" y="85343"/>
                </a:lnTo>
                <a:lnTo>
                  <a:pt x="385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90739" y="3730244"/>
            <a:ext cx="1828800" cy="1978660"/>
          </a:xfrm>
          <a:custGeom>
            <a:avLst/>
            <a:gdLst/>
            <a:ahLst/>
            <a:cxnLst/>
            <a:rect l="l" t="t" r="r" b="b"/>
            <a:pathLst>
              <a:path w="1828800" h="1978660">
                <a:moveTo>
                  <a:pt x="0" y="911351"/>
                </a:moveTo>
                <a:lnTo>
                  <a:pt x="0" y="1978152"/>
                </a:lnTo>
                <a:lnTo>
                  <a:pt x="1828800" y="1978152"/>
                </a:lnTo>
                <a:lnTo>
                  <a:pt x="1828800" y="911351"/>
                </a:lnTo>
                <a:lnTo>
                  <a:pt x="1524000" y="911351"/>
                </a:lnTo>
                <a:lnTo>
                  <a:pt x="1301496" y="0"/>
                </a:lnTo>
                <a:lnTo>
                  <a:pt x="1066800" y="911351"/>
                </a:lnTo>
                <a:lnTo>
                  <a:pt x="0" y="911351"/>
                </a:lnTo>
                <a:close/>
              </a:path>
            </a:pathLst>
          </a:custGeom>
          <a:ln w="952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50829" y="4673092"/>
            <a:ext cx="130746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Read entire  program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into  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8625" y="430275"/>
            <a:ext cx="3204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Lexical</a:t>
            </a:r>
            <a:r>
              <a:rPr spc="-40" dirty="0"/>
              <a:t> </a:t>
            </a:r>
            <a:r>
              <a:rPr spc="-10" dirty="0"/>
              <a:t>Analyzer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920551"/>
            <a:ext cx="6856730" cy="49815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Functions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Grouping input characters into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tokens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Stripping out comments and white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spaces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Correlating error messages with the source 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endParaRPr sz="2800">
              <a:latin typeface="Times New Roman"/>
              <a:cs typeface="Times New Roman"/>
            </a:endParaRPr>
          </a:p>
          <a:p>
            <a:pPr marL="355600" marR="207645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Issues (why separating lexical analysis from  parsing)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Simpler design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Compiler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efficiency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Compiler portability (e.g. Linux 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Win)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3493" y="380745"/>
            <a:ext cx="4401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Typical Tokens </a:t>
            </a:r>
            <a:r>
              <a:rPr spc="-5" dirty="0"/>
              <a:t>in a</a:t>
            </a:r>
            <a:r>
              <a:rPr spc="-20" dirty="0"/>
              <a:t> </a:t>
            </a:r>
            <a:r>
              <a:rPr spc="-10" dirty="0"/>
              <a:t>PL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1072951"/>
            <a:ext cx="6289675" cy="51530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Symbols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+, -, *, /, =, &lt;, &gt;, -&gt;,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6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Keywords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if, while, struct, float, int,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20000"/>
              </a:lnSpc>
              <a:spcBef>
                <a:spcPts val="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Integer and Real (floating point) literals  </a:t>
            </a:r>
            <a:r>
              <a:rPr sz="2800" dirty="0">
                <a:latin typeface="Times New Roman"/>
                <a:cs typeface="Times New Roman"/>
              </a:rPr>
              <a:t>123,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123.45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Char (string)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literals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Identifiers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Comments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White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space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476757"/>
            <a:ext cx="6512559" cy="17780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Tokens, Patterns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Lexemes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Pattern: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rule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describes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set 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strings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015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Token: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set of strings </a:t>
            </a:r>
            <a:r>
              <a:rPr sz="2400" dirty="0">
                <a:latin typeface="Times New Roman"/>
                <a:cs typeface="Times New Roman"/>
              </a:rPr>
              <a:t>in the </a:t>
            </a:r>
            <a:r>
              <a:rPr sz="2400" spc="-5" dirty="0">
                <a:latin typeface="Times New Roman"/>
                <a:cs typeface="Times New Roman"/>
              </a:rPr>
              <a:t>same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pattern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015" algn="l"/>
                <a:tab pos="756285" algn="l"/>
              </a:tabLst>
            </a:pPr>
            <a:r>
              <a:rPr sz="2400" spc="-5" dirty="0">
                <a:latin typeface="Times New Roman"/>
                <a:cs typeface="Times New Roman"/>
              </a:rPr>
              <a:t>Lexeme: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sequence of </a:t>
            </a:r>
            <a:r>
              <a:rPr sz="2400" dirty="0">
                <a:latin typeface="Times New Roman"/>
                <a:cs typeface="Times New Roman"/>
              </a:rPr>
              <a:t>characters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token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86052" y="2646108"/>
          <a:ext cx="6748780" cy="3005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Token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Lexemes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Pattern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abc,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n,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count,…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Letters+digit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419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3.14,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613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Numerical  constant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579" y="380745"/>
            <a:ext cx="30238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Token</a:t>
            </a:r>
            <a:r>
              <a:rPr spc="-50" dirty="0"/>
              <a:t> </a:t>
            </a:r>
            <a:r>
              <a:rPr spc="-1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1160272"/>
            <a:ext cx="26015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dirty="0">
                <a:latin typeface="Arial"/>
                <a:cs typeface="Arial"/>
              </a:rPr>
              <a:t>E = </a:t>
            </a:r>
            <a:r>
              <a:rPr sz="2800" spc="-5" dirty="0">
                <a:latin typeface="Arial"/>
                <a:cs typeface="Arial"/>
              </a:rPr>
              <a:t>C1 **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10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3652" y="2036508"/>
          <a:ext cx="7586980" cy="409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Token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ID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Index to symbol table entry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ID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Index to symbol table entry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**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9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NUM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533" y="437895"/>
            <a:ext cx="2235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Case</a:t>
            </a:r>
            <a:r>
              <a:rPr spc="-75" dirty="0"/>
              <a:t> </a:t>
            </a:r>
            <a:r>
              <a:rPr spc="-10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35" y="1384300"/>
            <a:ext cx="679958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5080" indent="-608965">
              <a:lnSpc>
                <a:spcPct val="1000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When blanks are not significant (as in  </a:t>
            </a:r>
            <a:r>
              <a:rPr sz="3200" spc="-10" dirty="0">
                <a:latin typeface="Times New Roman"/>
                <a:cs typeface="Times New Roman"/>
              </a:rPr>
              <a:t>Fortran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Algol68)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8633" y="2825242"/>
            <a:ext cx="20148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DO </a:t>
            </a:r>
            <a:r>
              <a:rPr sz="2800" dirty="0">
                <a:latin typeface="Times New Roman"/>
                <a:cs typeface="Times New Roman"/>
              </a:rPr>
              <a:t>5 I =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1.25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43439" y="3269996"/>
            <a:ext cx="76200" cy="990600"/>
          </a:xfrm>
          <a:custGeom>
            <a:avLst/>
            <a:gdLst/>
            <a:ahLst/>
            <a:cxnLst/>
            <a:rect l="l" t="t" r="r" b="b"/>
            <a:pathLst>
              <a:path w="76200" h="9906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5"/>
                </a:lnTo>
                <a:lnTo>
                  <a:pt x="44195" y="63245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990600">
                <a:moveTo>
                  <a:pt x="44195" y="76200"/>
                </a:moveTo>
                <a:lnTo>
                  <a:pt x="44195" y="63245"/>
                </a:lnTo>
                <a:lnTo>
                  <a:pt x="32003" y="63245"/>
                </a:lnTo>
                <a:lnTo>
                  <a:pt x="32003" y="76200"/>
                </a:lnTo>
                <a:lnTo>
                  <a:pt x="44195" y="76200"/>
                </a:lnTo>
                <a:close/>
              </a:path>
              <a:path w="76200" h="990600">
                <a:moveTo>
                  <a:pt x="44195" y="990599"/>
                </a:moveTo>
                <a:lnTo>
                  <a:pt x="44195" y="76200"/>
                </a:lnTo>
                <a:lnTo>
                  <a:pt x="32003" y="76200"/>
                </a:lnTo>
                <a:lnTo>
                  <a:pt x="32003" y="990599"/>
                </a:lnTo>
                <a:lnTo>
                  <a:pt x="44195" y="9905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37035" y="4587747"/>
            <a:ext cx="176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DO5I </a:t>
            </a:r>
            <a:r>
              <a:rPr sz="2400" dirty="0">
                <a:latin typeface="Times New Roman"/>
                <a:cs typeface="Times New Roman"/>
              </a:rPr>
              <a:t>is an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8435" y="2911348"/>
            <a:ext cx="2103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DO </a:t>
            </a:r>
            <a:r>
              <a:rPr sz="2800" dirty="0">
                <a:latin typeface="Times New Roman"/>
                <a:cs typeface="Times New Roman"/>
              </a:rPr>
              <a:t>5 I = </a:t>
            </a:r>
            <a:r>
              <a:rPr sz="2800" spc="-5" dirty="0">
                <a:latin typeface="Times New Roman"/>
                <a:cs typeface="Times New Roman"/>
              </a:rPr>
              <a:t>1,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93241" y="3355340"/>
            <a:ext cx="76200" cy="990600"/>
          </a:xfrm>
          <a:custGeom>
            <a:avLst/>
            <a:gdLst/>
            <a:ahLst/>
            <a:cxnLst/>
            <a:rect l="l" t="t" r="r" b="b"/>
            <a:pathLst>
              <a:path w="76200" h="9906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229" y="76200"/>
                </a:lnTo>
                <a:lnTo>
                  <a:pt x="31229" y="64008"/>
                </a:lnTo>
                <a:lnTo>
                  <a:pt x="44183" y="64008"/>
                </a:lnTo>
                <a:lnTo>
                  <a:pt x="44183" y="76200"/>
                </a:lnTo>
                <a:lnTo>
                  <a:pt x="76200" y="76200"/>
                </a:lnTo>
                <a:close/>
              </a:path>
              <a:path w="76200" h="990600">
                <a:moveTo>
                  <a:pt x="44183" y="76200"/>
                </a:moveTo>
                <a:lnTo>
                  <a:pt x="44183" y="64008"/>
                </a:lnTo>
                <a:lnTo>
                  <a:pt x="31229" y="64008"/>
                </a:lnTo>
                <a:lnTo>
                  <a:pt x="31229" y="76200"/>
                </a:lnTo>
                <a:lnTo>
                  <a:pt x="44183" y="76200"/>
                </a:lnTo>
                <a:close/>
              </a:path>
              <a:path w="76200" h="990600">
                <a:moveTo>
                  <a:pt x="44183" y="990600"/>
                </a:moveTo>
                <a:lnTo>
                  <a:pt x="44183" y="76200"/>
                </a:lnTo>
                <a:lnTo>
                  <a:pt x="31229" y="76200"/>
                </a:lnTo>
                <a:lnTo>
                  <a:pt x="31229" y="990600"/>
                </a:lnTo>
                <a:lnTo>
                  <a:pt x="44183" y="99060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85035" y="4587747"/>
            <a:ext cx="370459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This is a </a:t>
            </a:r>
            <a:r>
              <a:rPr sz="2400" spc="-5" dirty="0">
                <a:latin typeface="Times New Roman"/>
                <a:cs typeface="Times New Roman"/>
              </a:rPr>
              <a:t>DO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So </a:t>
            </a:r>
            <a:r>
              <a:rPr sz="2400" dirty="0">
                <a:latin typeface="Times New Roman"/>
                <a:cs typeface="Times New Roman"/>
              </a:rPr>
              <a:t>7 </a:t>
            </a:r>
            <a:r>
              <a:rPr sz="2400" spc="-5" dirty="0">
                <a:latin typeface="Times New Roman"/>
                <a:cs typeface="Times New Roman"/>
              </a:rPr>
              <a:t>tokens will get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generated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9639" y="380745"/>
            <a:ext cx="35858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Case </a:t>
            </a:r>
            <a:r>
              <a:rPr spc="-10" dirty="0"/>
              <a:t>Study</a:t>
            </a:r>
            <a:r>
              <a:rPr spc="-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35" y="1287231"/>
            <a:ext cx="7389495" cy="3706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marR="774700" indent="-608965">
              <a:lnSpc>
                <a:spcPct val="1198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Should 1. And .10 be legal constant?  If yes, then how 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tell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imes New Roman"/>
                <a:cs typeface="Times New Roman"/>
              </a:rPr>
              <a:t>Is 1..10 a range ? or two constants 1.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</a:pPr>
            <a:r>
              <a:rPr sz="3200" spc="-5" dirty="0">
                <a:latin typeface="Times New Roman"/>
                <a:cs typeface="Times New Roman"/>
              </a:rPr>
              <a:t>.10?</a:t>
            </a:r>
            <a:endParaRPr sz="3200">
              <a:latin typeface="Times New Roman"/>
              <a:cs typeface="Times New Roman"/>
            </a:endParaRPr>
          </a:p>
          <a:p>
            <a:pPr marL="622300" marR="271780">
              <a:lnSpc>
                <a:spcPct val="101499"/>
              </a:lnSpc>
              <a:spcBef>
                <a:spcPts val="1115"/>
              </a:spcBef>
            </a:pPr>
            <a:r>
              <a:rPr sz="2800" i="1" spc="-5" dirty="0">
                <a:latin typeface="Times New Roman"/>
                <a:cs typeface="Times New Roman"/>
              </a:rPr>
              <a:t>Note that 1. And .10 are both allowed in  Fortran, but not allowed in Pascal and Ada </a:t>
            </a:r>
            <a:r>
              <a:rPr sz="2800" i="1" dirty="0">
                <a:latin typeface="Times New Roman"/>
                <a:cs typeface="Times New Roman"/>
              </a:rPr>
              <a:t>–  </a:t>
            </a:r>
            <a:r>
              <a:rPr sz="2800" i="1" spc="-5" dirty="0">
                <a:latin typeface="Times New Roman"/>
                <a:cs typeface="Times New Roman"/>
              </a:rPr>
              <a:t>because Pascal and Ada support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ranges.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9639" y="380745"/>
            <a:ext cx="35858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Case </a:t>
            </a:r>
            <a:r>
              <a:rPr spc="-10" dirty="0"/>
              <a:t>Study</a:t>
            </a:r>
            <a:r>
              <a:rPr spc="-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35" y="1384300"/>
            <a:ext cx="7455534" cy="4219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276860" indent="-608965">
              <a:lnSpc>
                <a:spcPct val="1000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When key words are not reserved words  (such as in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PL/1)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spc="-5" dirty="0">
                <a:latin typeface="Times New Roman"/>
                <a:cs typeface="Times New Roman"/>
              </a:rPr>
              <a:t>example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1: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075"/>
              </a:spcBef>
            </a:pPr>
            <a:r>
              <a:rPr sz="2400" spc="-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THEN THEN THEN = ELSE ELSE ELSE =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THEN;</a:t>
            </a:r>
            <a:endParaRPr sz="2400">
              <a:latin typeface="Times New Roman"/>
              <a:cs typeface="Times New Roman"/>
            </a:endParaRPr>
          </a:p>
          <a:p>
            <a:pPr marL="622300" marR="3041015">
              <a:lnSpc>
                <a:spcPct val="119800"/>
              </a:lnSpc>
              <a:spcBef>
                <a:spcPts val="80"/>
              </a:spcBef>
            </a:pPr>
            <a:r>
              <a:rPr sz="2400" spc="-5" dirty="0">
                <a:latin typeface="Times New Roman"/>
                <a:cs typeface="Times New Roman"/>
              </a:rPr>
              <a:t>Which THEN is an identifier?  </a:t>
            </a:r>
            <a:r>
              <a:rPr sz="2400" dirty="0">
                <a:latin typeface="Times New Roman"/>
                <a:cs typeface="Times New Roman"/>
              </a:rPr>
              <a:t>Which THEN is the </a:t>
            </a:r>
            <a:r>
              <a:rPr sz="2400" spc="-5" dirty="0">
                <a:latin typeface="Times New Roman"/>
                <a:cs typeface="Times New Roman"/>
              </a:rPr>
              <a:t>key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word?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example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Declare (arg1, </a:t>
            </a:r>
            <a:r>
              <a:rPr sz="2400" dirty="0">
                <a:latin typeface="Times New Roman"/>
                <a:cs typeface="Times New Roman"/>
              </a:rPr>
              <a:t>arg2, arg3,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…)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Is Declare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subroutine name or </a:t>
            </a:r>
            <a:r>
              <a:rPr sz="2400" dirty="0">
                <a:latin typeface="Times New Roman"/>
                <a:cs typeface="Times New Roman"/>
              </a:rPr>
              <a:t>is it the </a:t>
            </a:r>
            <a:r>
              <a:rPr sz="2400" spc="-5" dirty="0">
                <a:latin typeface="Times New Roman"/>
                <a:cs typeface="Times New Roman"/>
              </a:rPr>
              <a:t>key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word?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9639" y="380745"/>
            <a:ext cx="35858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Case </a:t>
            </a:r>
            <a:r>
              <a:rPr spc="-10" dirty="0"/>
              <a:t>Study</a:t>
            </a:r>
            <a:r>
              <a:rPr spc="-5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35" y="1384300"/>
            <a:ext cx="74453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5080" indent="-608965">
              <a:lnSpc>
                <a:spcPct val="1000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Assume begin and end are not reserved in  Pascal.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8835" y="2363003"/>
            <a:ext cx="1828800" cy="36137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Times New Roman"/>
                <a:cs typeface="Times New Roman"/>
              </a:rPr>
              <a:t>example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3: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imes New Roman"/>
                <a:cs typeface="Times New Roman"/>
              </a:rPr>
              <a:t>begin</a:t>
            </a:r>
            <a:endParaRPr sz="2800">
              <a:latin typeface="Times New Roman"/>
              <a:cs typeface="Times New Roman"/>
            </a:endParaRPr>
          </a:p>
          <a:p>
            <a:pPr marL="927100" marR="5080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begin;  end;  end;  begin;</a:t>
            </a:r>
            <a:endParaRPr sz="2800">
              <a:latin typeface="Times New Roman"/>
              <a:cs typeface="Times New Roman"/>
            </a:endParaRPr>
          </a:p>
          <a:p>
            <a:pPr marR="62865" algn="ctr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end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2635" y="2758947"/>
            <a:ext cx="216916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How </a:t>
            </a:r>
            <a:r>
              <a:rPr sz="2400" dirty="0">
                <a:latin typeface="Times New Roman"/>
                <a:cs typeface="Times New Roman"/>
              </a:rPr>
              <a:t>to parse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  code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fragment?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8835" y="4054347"/>
            <a:ext cx="3349625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example 1 and </a:t>
            </a:r>
            <a:r>
              <a:rPr sz="2400" spc="-5" dirty="0">
                <a:latin typeface="Times New Roman"/>
                <a:cs typeface="Times New Roman"/>
              </a:rPr>
              <a:t>2,  ambiguity can be solved  by multiple characters look  ahead.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2295" y="487425"/>
            <a:ext cx="52819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Lexical Error and</a:t>
            </a:r>
            <a:r>
              <a:rPr spc="-45" dirty="0"/>
              <a:t> </a:t>
            </a:r>
            <a:r>
              <a:rPr spc="-10" dirty="0"/>
              <a:t>Recovery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134831"/>
            <a:ext cx="7356475" cy="460057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8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Error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detection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Error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reporting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5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Error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recovery</a:t>
            </a:r>
            <a:endParaRPr sz="3200">
              <a:latin typeface="Times New Roman"/>
              <a:cs typeface="Times New Roman"/>
            </a:endParaRPr>
          </a:p>
          <a:p>
            <a:pPr marL="1002665" marR="831850" lvl="1" indent="-532765">
              <a:lnSpc>
                <a:spcPct val="100000"/>
              </a:lnSpc>
              <a:spcBef>
                <a:spcPts val="70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Delete the current character and restart  scanning at the next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character</a:t>
            </a:r>
            <a:endParaRPr sz="2800">
              <a:latin typeface="Times New Roman"/>
              <a:cs typeface="Times New Roman"/>
            </a:endParaRPr>
          </a:p>
          <a:p>
            <a:pPr marL="1002665" marR="5080" lvl="1" indent="-532765">
              <a:lnSpc>
                <a:spcPct val="100000"/>
              </a:lnSpc>
              <a:spcBef>
                <a:spcPts val="68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Delete the first character read by the scanner  and resume scanning at the character  following it.</a:t>
            </a:r>
            <a:endParaRPr sz="2800">
              <a:latin typeface="Times New Roman"/>
              <a:cs typeface="Times New Roman"/>
            </a:endParaRPr>
          </a:p>
          <a:p>
            <a:pPr marL="1003300" lvl="1" indent="-533400">
              <a:lnSpc>
                <a:spcPct val="100000"/>
              </a:lnSpc>
              <a:spcBef>
                <a:spcPts val="675"/>
              </a:spcBef>
              <a:buChar char="–"/>
              <a:tabLst>
                <a:tab pos="1002665" algn="l"/>
                <a:tab pos="1003935" algn="l"/>
              </a:tabLst>
            </a:pPr>
            <a:r>
              <a:rPr sz="2800" spc="-5" dirty="0">
                <a:latin typeface="Times New Roman"/>
                <a:cs typeface="Times New Roman"/>
              </a:rPr>
              <a:t>How about runaway strings 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comments?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895" y="373125"/>
            <a:ext cx="40620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Regular</a:t>
            </a:r>
            <a:r>
              <a:rPr spc="-30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902068"/>
            <a:ext cx="7299325" cy="51333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Why RE?</a:t>
            </a:r>
            <a:endParaRPr sz="3200">
              <a:latin typeface="Times New Roman"/>
              <a:cs typeface="Times New Roman"/>
            </a:endParaRPr>
          </a:p>
          <a:p>
            <a:pPr marL="755650" marR="4318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Suitable for specifying the structure of tokens  in programming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languages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</a:pPr>
            <a:endParaRPr sz="41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Basic concept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RE defines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 strings (called regular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Vocabulary/Alphabet: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finite character set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Strings are built from </a:t>
            </a:r>
            <a:r>
              <a:rPr sz="2800" dirty="0">
                <a:latin typeface="Times New Roman"/>
                <a:cs typeface="Times New Roman"/>
              </a:rPr>
              <a:t>V </a:t>
            </a:r>
            <a:r>
              <a:rPr sz="2800" spc="-5" dirty="0">
                <a:latin typeface="Times New Roman"/>
                <a:cs typeface="Times New Roman"/>
              </a:rPr>
              <a:t>via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catenation</a:t>
            </a:r>
            <a:endParaRPr sz="2800">
              <a:latin typeface="Times New Roman"/>
              <a:cs typeface="Times New Roman"/>
            </a:endParaRPr>
          </a:p>
          <a:p>
            <a:pPr marL="755650" marR="1073150" lvl="1" indent="-285750">
              <a:lnSpc>
                <a:spcPct val="100400"/>
              </a:lnSpc>
              <a:spcBef>
                <a:spcPts val="66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Three basic operations: concatenation,  alternation </a:t>
            </a:r>
            <a:r>
              <a:rPr sz="2800" dirty="0">
                <a:latin typeface="Times New Roman"/>
                <a:cs typeface="Times New Roman"/>
              </a:rPr>
              <a:t>( | ) </a:t>
            </a:r>
            <a:r>
              <a:rPr sz="2800" spc="-5" dirty="0">
                <a:latin typeface="Times New Roman"/>
                <a:cs typeface="Times New Roman"/>
              </a:rPr>
              <a:t>and closure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(*).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344169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006348"/>
            <a:ext cx="6877684" cy="455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identifier in Pascal can be defined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41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letter (letter </a:t>
            </a:r>
            <a:r>
              <a:rPr sz="2800" dirty="0">
                <a:latin typeface="Times New Roman"/>
                <a:cs typeface="Times New Roman"/>
              </a:rPr>
              <a:t>| </a:t>
            </a:r>
            <a:r>
              <a:rPr sz="2800" spc="-5" dirty="0">
                <a:latin typeface="Times New Roman"/>
                <a:cs typeface="Times New Roman"/>
              </a:rPr>
              <a:t>digit)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More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examples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7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dirty="0">
                <a:latin typeface="Times New Roman"/>
                <a:cs typeface="Times New Roman"/>
              </a:rPr>
              <a:t>a | b </a:t>
            </a:r>
            <a:r>
              <a:rPr sz="2800" spc="-5" dirty="0">
                <a:latin typeface="Times New Roman"/>
                <a:cs typeface="Times New Roman"/>
              </a:rPr>
              <a:t>denotes the set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{a,b}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8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(a|b) (a|b) denotes the set {aa, ab, ba,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bb}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7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a* denotes </a:t>
            </a:r>
            <a:r>
              <a:rPr sz="2800" dirty="0">
                <a:latin typeface="Times New Roman"/>
                <a:cs typeface="Times New Roman"/>
              </a:rPr>
              <a:t>{ </a:t>
            </a:r>
            <a:r>
              <a:rPr sz="2800" spc="-5" dirty="0">
                <a:latin typeface="Times New Roman"/>
                <a:cs typeface="Times New Roman"/>
              </a:rPr>
              <a:t>e, a, aa, aaa,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…}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9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(a|b)* denotes all strings of a’s 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b’s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3167" y="344169"/>
            <a:ext cx="35179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Regular</a:t>
            </a:r>
            <a:r>
              <a:rPr spc="-3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082548"/>
            <a:ext cx="7403465" cy="379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We may give names to regular expressions and  to define regular expressions using these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789"/>
              </a:spcBef>
            </a:pPr>
            <a:r>
              <a:rPr sz="3200" b="1" spc="-5" dirty="0">
                <a:latin typeface="Times New Roman"/>
                <a:cs typeface="Times New Roman"/>
              </a:rPr>
              <a:t>letter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4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| B | C …. | a | b | c …. | z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755"/>
              </a:spcBef>
            </a:pPr>
            <a:r>
              <a:rPr sz="3200" b="1" spc="-5" dirty="0">
                <a:latin typeface="Times New Roman"/>
                <a:cs typeface="Times New Roman"/>
              </a:rPr>
              <a:t>digit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85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0 | 1 | 2 | … | 9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765"/>
              </a:spcBef>
            </a:pPr>
            <a:r>
              <a:rPr sz="3200" b="1" spc="-5" dirty="0">
                <a:latin typeface="Times New Roman"/>
                <a:cs typeface="Times New Roman"/>
              </a:rPr>
              <a:t>id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7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letter (letter | digit) *</a:t>
            </a:r>
            <a:endParaRPr sz="32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760"/>
              </a:spcBef>
            </a:pPr>
            <a:r>
              <a:rPr sz="3200" b="1" spc="-5" dirty="0">
                <a:latin typeface="Times New Roman"/>
                <a:cs typeface="Times New Roman"/>
              </a:rPr>
              <a:t>digits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7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digit digit*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96214"/>
            <a:ext cx="6990080" cy="5198110"/>
          </a:xfrm>
          <a:prstGeom prst="rect">
            <a:avLst/>
          </a:prstGeom>
        </p:spPr>
        <p:txBody>
          <a:bodyPr vert="horz" wrap="square" lIns="0" tIns="260350" rIns="0" bIns="0" rtlCol="0">
            <a:spAutoFit/>
          </a:bodyPr>
          <a:lstStyle/>
          <a:p>
            <a:pPr marL="2059305">
              <a:lnSpc>
                <a:spcPct val="100000"/>
              </a:lnSpc>
              <a:spcBef>
                <a:spcPts val="2050"/>
              </a:spcBef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Regular Definition</a:t>
            </a:r>
            <a:endParaRPr sz="3200">
              <a:latin typeface="Arial"/>
              <a:cs typeface="Arial"/>
            </a:endParaRPr>
          </a:p>
          <a:p>
            <a:pPr marL="621665" marR="581025" indent="-608965">
              <a:lnSpc>
                <a:spcPct val="100000"/>
              </a:lnSpc>
              <a:spcBef>
                <a:spcPts val="195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Question: How is regular definition  different from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CFG?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5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Answer:</a:t>
            </a:r>
            <a:endParaRPr sz="3200">
              <a:latin typeface="Times New Roman"/>
              <a:cs typeface="Times New Roman"/>
            </a:endParaRPr>
          </a:p>
          <a:p>
            <a:pPr marL="621665" marR="508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latin typeface="Times New Roman"/>
                <a:cs typeface="Times New Roman"/>
              </a:rPr>
              <a:t>CFG allows recursion – a non-terminal  can show up in the right hand side of  itself.</a:t>
            </a:r>
            <a:endParaRPr sz="3200">
              <a:latin typeface="Times New Roman"/>
              <a:cs typeface="Times New Roman"/>
            </a:endParaRPr>
          </a:p>
          <a:p>
            <a:pPr marL="621665" marR="36449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latin typeface="Times New Roman"/>
                <a:cs typeface="Times New Roman"/>
              </a:rPr>
              <a:t>Regular Definition does not allow  recursion. It is like Macro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definition.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0097" y="344169"/>
            <a:ext cx="69240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u="none" spc="-10" dirty="0">
                <a:latin typeface="Arial"/>
                <a:cs typeface="Arial"/>
              </a:rPr>
              <a:t>Common notations </a:t>
            </a:r>
            <a:r>
              <a:rPr b="0" u="none" spc="-5" dirty="0">
                <a:latin typeface="Arial"/>
                <a:cs typeface="Arial"/>
              </a:rPr>
              <a:t>and</a:t>
            </a:r>
            <a:r>
              <a:rPr b="0" u="none" spc="2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metacharacter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16" y="982428"/>
            <a:ext cx="7261859" cy="467233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8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* means repeat zero or more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621665" algn="l"/>
              </a:tabLst>
            </a:pPr>
            <a:r>
              <a:rPr sz="3200" spc="-5" dirty="0">
                <a:latin typeface="Times New Roman"/>
                <a:cs typeface="Times New Roman"/>
              </a:rPr>
              <a:t>•	+ means repeat one or more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times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5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? means repeat zero or one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[abc] means a | b |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1003300" marR="5080" lvl="1" indent="-533400">
              <a:lnSpc>
                <a:spcPct val="100000"/>
              </a:lnSpc>
              <a:spcBef>
                <a:spcPts val="700"/>
              </a:spcBef>
              <a:buChar char="–"/>
              <a:tabLst>
                <a:tab pos="1002665" algn="l"/>
                <a:tab pos="1003935" algn="l"/>
              </a:tabLst>
            </a:pPr>
            <a:r>
              <a:rPr sz="2800" spc="-5" dirty="0">
                <a:latin typeface="Times New Roman"/>
                <a:cs typeface="Times New Roman"/>
              </a:rPr>
              <a:t>[] form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character class which matches any  char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listed</a:t>
            </a:r>
            <a:endParaRPr sz="2800">
              <a:latin typeface="Times New Roman"/>
              <a:cs typeface="Times New Roman"/>
            </a:endParaRPr>
          </a:p>
          <a:p>
            <a:pPr marL="1003300" marR="56515" lvl="1" indent="-533400">
              <a:lnSpc>
                <a:spcPct val="100000"/>
              </a:lnSpc>
              <a:spcBef>
                <a:spcPts val="680"/>
              </a:spcBef>
              <a:buChar char="–"/>
              <a:tabLst>
                <a:tab pos="1002665" algn="l"/>
                <a:tab pos="100393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negate class can be specified by an upper  arrow e.g. [^ab] matches any char except </a:t>
            </a:r>
            <a:r>
              <a:rPr sz="2800" dirty="0">
                <a:latin typeface="Times New Roman"/>
                <a:cs typeface="Times New Roman"/>
              </a:rPr>
              <a:t>a  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5927" y="571245"/>
            <a:ext cx="50755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Common notations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92031"/>
            <a:ext cx="7596505" cy="39217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8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[a-z] denotes the RE a | b | c …. |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z</a:t>
            </a:r>
            <a:endParaRPr sz="3200">
              <a:latin typeface="Times New Roman"/>
              <a:cs typeface="Times New Roman"/>
            </a:endParaRPr>
          </a:p>
          <a:p>
            <a:pPr marL="621665" marR="5080" indent="-608965">
              <a:lnSpc>
                <a:spcPct val="100000"/>
              </a:lnSpc>
              <a:spcBef>
                <a:spcPts val="76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A dot matches any character, except a new  line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5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() used for grouping, e.g.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(a|b)</a:t>
            </a:r>
            <a:endParaRPr sz="3200">
              <a:latin typeface="Times New Roman"/>
              <a:cs typeface="Times New Roman"/>
            </a:endParaRPr>
          </a:p>
          <a:p>
            <a:pPr marL="621665" marR="55562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^ (upper arrow) to anchor the pattern to  the start of a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5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$ to anchor the pattern to the end of a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3157" y="571245"/>
            <a:ext cx="36798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Special</a:t>
            </a:r>
            <a:r>
              <a:rPr spc="-30" dirty="0"/>
              <a:t> </a:t>
            </a:r>
            <a:r>
              <a:rPr spc="-10" dirty="0"/>
              <a:t>Characters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235" y="1158748"/>
            <a:ext cx="73329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following characters have special meaning  when they are inside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char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class.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7435" y="2012950"/>
            <a:ext cx="705485" cy="26543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670"/>
              </a:spcBef>
              <a:buFont typeface="MS UI Gothic"/>
              <a:buChar char="➢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570"/>
              </a:spcBef>
              <a:buFont typeface="MS UI Gothic"/>
              <a:buChar char="➢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570"/>
              </a:spcBef>
              <a:buFont typeface="MS UI Gothic"/>
              <a:buChar char="➢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570"/>
              </a:spcBef>
              <a:buFont typeface="MS UI Gothic"/>
              <a:buChar char="➢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570"/>
              </a:spcBef>
              <a:buFont typeface="MS UI Gothic"/>
              <a:buChar char="➢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^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570"/>
              </a:spcBef>
              <a:buFont typeface="MS UI Gothic"/>
              <a:buChar char="➢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\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888" y="2012950"/>
            <a:ext cx="5278120" cy="265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28925">
              <a:lnSpc>
                <a:spcPct val="1198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start of macro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  end of macro name  end of </a:t>
            </a:r>
            <a:r>
              <a:rPr sz="2400" dirty="0">
                <a:latin typeface="Times New Roman"/>
                <a:cs typeface="Times New Roman"/>
              </a:rPr>
              <a:t>a char </a:t>
            </a:r>
            <a:r>
              <a:rPr sz="2400" spc="-5" dirty="0">
                <a:latin typeface="Times New Roman"/>
                <a:cs typeface="Times New Roman"/>
              </a:rPr>
              <a:t>class  range of characters  negative char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take </a:t>
            </a:r>
            <a:r>
              <a:rPr sz="2400" dirty="0">
                <a:latin typeface="Times New Roman"/>
                <a:cs typeface="Times New Roman"/>
              </a:rPr>
              <a:t>away </a:t>
            </a:r>
            <a:r>
              <a:rPr sz="2400" spc="-5" dirty="0">
                <a:latin typeface="Times New Roman"/>
                <a:cs typeface="Times New Roman"/>
              </a:rPr>
              <a:t>special </a:t>
            </a:r>
            <a:r>
              <a:rPr sz="2400" dirty="0">
                <a:latin typeface="Times New Roman"/>
                <a:cs typeface="Times New Roman"/>
              </a:rPr>
              <a:t>meaning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next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235" y="4727194"/>
            <a:ext cx="78168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Other metacharacters, such as *,+,? are not special  in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char class. For instance, [*?] matches </a:t>
            </a:r>
            <a:r>
              <a:rPr sz="2800" dirty="0">
                <a:latin typeface="Times New Roman"/>
                <a:cs typeface="Times New Roman"/>
              </a:rPr>
              <a:t>*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?.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7605" y="571245"/>
            <a:ext cx="41319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Operator</a:t>
            </a:r>
            <a:r>
              <a:rPr spc="-30" dirty="0"/>
              <a:t> </a:t>
            </a:r>
            <a:r>
              <a:rPr spc="-10" dirty="0"/>
              <a:t>Precedence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28852" y="1350708"/>
          <a:ext cx="7967980" cy="4455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9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39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Operator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Level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5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()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Grouping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[]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Char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*+?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Repeat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Catenation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Catenation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75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|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361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^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$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412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Anchor to the</a:t>
                      </a:r>
                      <a:r>
                        <a:rPr sz="2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beginning  or the end of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line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3157" y="344169"/>
            <a:ext cx="36785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Notation</a:t>
            </a:r>
            <a:r>
              <a:rPr spc="-3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9702" y="1663943"/>
            <a:ext cx="14947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this is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9611" y="4000177"/>
            <a:ext cx="35356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non-portable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warning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6435" y="982431"/>
            <a:ext cx="2334260" cy="469963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8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[a-z]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[z-a9-0]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5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[a\-z]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[a^b]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[^a-z]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[0-z]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({letter})*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76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ab*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304545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35" y="1079500"/>
            <a:ext cx="7987030" cy="374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How to match any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char?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R="1393825" algn="ctr">
              <a:lnSpc>
                <a:spcPct val="100000"/>
              </a:lnSpc>
            </a:pPr>
            <a:r>
              <a:rPr sz="3200" spc="-5" dirty="0">
                <a:latin typeface="Times New Roman"/>
                <a:cs typeface="Times New Roman"/>
              </a:rPr>
              <a:t>(. | \n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220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Specify a char class of three chars: (, ), and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-.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800">
              <a:latin typeface="Times New Roman"/>
              <a:cs typeface="Times New Roman"/>
            </a:endParaRPr>
          </a:p>
          <a:p>
            <a:pPr marL="181927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[()-] or</a:t>
            </a:r>
            <a:r>
              <a:rPr sz="2800" spc="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[-()],</a:t>
            </a:r>
            <a:endParaRPr sz="2800">
              <a:latin typeface="Times New Roman"/>
              <a:cs typeface="Times New Roman"/>
            </a:endParaRPr>
          </a:p>
          <a:p>
            <a:pPr marL="1819275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latin typeface="Times New Roman"/>
                <a:cs typeface="Times New Roman"/>
              </a:rPr>
              <a:t>but not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[(-)]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7" y="304545"/>
            <a:ext cx="6293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More </a:t>
            </a:r>
            <a:r>
              <a:rPr spc="-10" dirty="0"/>
              <a:t>Token Definition</a:t>
            </a:r>
            <a:r>
              <a:rPr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920551"/>
            <a:ext cx="7334250" cy="5494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marR="4433570" indent="-609600">
              <a:lnSpc>
                <a:spcPct val="120200"/>
              </a:lnSpc>
              <a:spcBef>
                <a:spcPts val="9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Token While  while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“while”</a:t>
            </a:r>
            <a:endParaRPr sz="2800">
              <a:latin typeface="Times New Roman"/>
              <a:cs typeface="Times New Roman"/>
            </a:endParaRPr>
          </a:p>
          <a:p>
            <a:pPr marL="622300" marR="3886200" indent="-609600">
              <a:lnSpc>
                <a:spcPct val="120200"/>
              </a:lnSpc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White space  WhiteSpace </a:t>
            </a:r>
            <a:r>
              <a:rPr sz="2800" dirty="0">
                <a:latin typeface="Times New Roman"/>
                <a:cs typeface="Times New Roman"/>
              </a:rPr>
              <a:t>= [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\t]+</a:t>
            </a:r>
            <a:endParaRPr sz="2800">
              <a:latin typeface="Times New Roman"/>
              <a:cs typeface="Times New Roman"/>
            </a:endParaRPr>
          </a:p>
          <a:p>
            <a:pPr marL="622300" marR="508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newline is often treated differently to track line  number</a:t>
            </a:r>
            <a:endParaRPr sz="2800">
              <a:latin typeface="Times New Roman"/>
              <a:cs typeface="Times New Roman"/>
            </a:endParaRPr>
          </a:p>
          <a:p>
            <a:pPr marL="622300" marR="387350" indent="-609600">
              <a:lnSpc>
                <a:spcPct val="120200"/>
              </a:lnSpc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Comments that begin with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and end with \n  comment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" dirty="0">
                <a:latin typeface="Times New Roman"/>
                <a:cs typeface="Times New Roman"/>
              </a:rPr>
              <a:t> --.*\n</a:t>
            </a:r>
            <a:endParaRPr sz="28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6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Fixed decimal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constants</a:t>
            </a:r>
            <a:endParaRPr sz="2800">
              <a:latin typeface="Times New Roman"/>
              <a:cs typeface="Times New Roman"/>
            </a:endParaRPr>
          </a:p>
          <a:p>
            <a:pPr marL="622300" marR="104013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RealConstant= digits\.digits (how about  digit*\.digit*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?)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22635" y="133553"/>
            <a:ext cx="7603490" cy="620839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R="133350" algn="ctr">
              <a:lnSpc>
                <a:spcPct val="100000"/>
              </a:lnSpc>
              <a:spcBef>
                <a:spcPts val="144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Exercise</a:t>
            </a:r>
            <a:endParaRPr sz="3200">
              <a:latin typeface="Arial"/>
              <a:cs typeface="Arial"/>
            </a:endParaRPr>
          </a:p>
          <a:p>
            <a:pPr marL="621665" marR="5080" indent="-608965">
              <a:lnSpc>
                <a:spcPts val="3450"/>
              </a:lnSpc>
              <a:spcBef>
                <a:spcPts val="178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Define an identifier, composed of letters,  digits and underscores. It must begins with  a letter, ends with a letter or digit, and no  consecutive underscores.</a:t>
            </a:r>
            <a:endParaRPr sz="3200">
              <a:latin typeface="Times New Roman"/>
              <a:cs typeface="Times New Roman"/>
            </a:endParaRPr>
          </a:p>
          <a:p>
            <a:pPr marL="621665" marR="4091940">
              <a:lnSpc>
                <a:spcPts val="4210"/>
              </a:lnSpc>
              <a:spcBef>
                <a:spcPts val="180"/>
              </a:spcBef>
              <a:tabLst>
                <a:tab pos="1569720" algn="l"/>
              </a:tabLst>
            </a:pPr>
            <a:r>
              <a:rPr sz="3200" spc="-5" dirty="0">
                <a:latin typeface="Times New Roman"/>
                <a:cs typeface="Times New Roman"/>
              </a:rPr>
              <a:t>letter 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210" dirty="0">
                <a:latin typeface="MS UI Gothic"/>
                <a:cs typeface="MS UI Gothic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[A-Za-z]  digit	</a:t>
            </a:r>
            <a:r>
              <a:rPr sz="3200" spc="1000" dirty="0">
                <a:latin typeface="MS UI Gothic"/>
                <a:cs typeface="MS UI Gothic"/>
              </a:rPr>
              <a:t>€</a:t>
            </a:r>
            <a:r>
              <a:rPr sz="3200" spc="-190" dirty="0">
                <a:latin typeface="MS UI Gothic"/>
                <a:cs typeface="MS UI Gothic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[0-9]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155"/>
              </a:spcBef>
            </a:pPr>
            <a:r>
              <a:rPr sz="3200" spc="-5" dirty="0">
                <a:latin typeface="Times New Roman"/>
                <a:cs typeface="Times New Roman"/>
              </a:rPr>
              <a:t>letter </a:t>
            </a:r>
            <a:r>
              <a:rPr sz="3200" spc="-10" dirty="0">
                <a:latin typeface="Times New Roman"/>
                <a:cs typeface="Times New Roman"/>
              </a:rPr>
              <a:t>(_?(letter|digit))*</a:t>
            </a:r>
            <a:endParaRPr sz="3200">
              <a:latin typeface="Times New Roman"/>
              <a:cs typeface="Times New Roman"/>
            </a:endParaRPr>
          </a:p>
          <a:p>
            <a:pPr marL="621665" marR="343535" indent="-608965">
              <a:lnSpc>
                <a:spcPts val="3450"/>
              </a:lnSpc>
              <a:spcBef>
                <a:spcPts val="810"/>
              </a:spcBef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Define floating point constants. It can be  any of the following forms</a:t>
            </a:r>
            <a:endParaRPr sz="3200">
              <a:latin typeface="Times New Roman"/>
              <a:cs typeface="Times New Roman"/>
            </a:endParaRPr>
          </a:p>
          <a:p>
            <a:pPr marL="621665">
              <a:lnSpc>
                <a:spcPts val="3645"/>
              </a:lnSpc>
              <a:spcBef>
                <a:spcPts val="325"/>
              </a:spcBef>
              <a:tabLst>
                <a:tab pos="2856865" algn="l"/>
                <a:tab pos="3669029" algn="l"/>
                <a:tab pos="5497195" algn="l"/>
              </a:tabLst>
            </a:pPr>
            <a:r>
              <a:rPr sz="3200" spc="-5" dirty="0">
                <a:latin typeface="Times New Roman"/>
                <a:cs typeface="Times New Roman"/>
              </a:rPr>
              <a:t>1.25e12	.25	.12e+10	12.5e-5</a:t>
            </a:r>
            <a:endParaRPr sz="3200">
              <a:latin typeface="Times New Roman"/>
              <a:cs typeface="Times New Roman"/>
            </a:endParaRPr>
          </a:p>
          <a:p>
            <a:pPr marL="926465">
              <a:lnSpc>
                <a:spcPts val="3645"/>
              </a:lnSpc>
            </a:pPr>
            <a:r>
              <a:rPr sz="3200" spc="-5" dirty="0">
                <a:latin typeface="Times New Roman"/>
                <a:cs typeface="Times New Roman"/>
              </a:rPr>
              <a:t>12e6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817" y="304545"/>
            <a:ext cx="3022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Non-regular</a:t>
            </a:r>
            <a:r>
              <a:rPr spc="-40" dirty="0"/>
              <a:t> </a:t>
            </a:r>
            <a:r>
              <a:rPr spc="-10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911" y="1283716"/>
            <a:ext cx="7588250" cy="310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306705" indent="-609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 can denote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fixed number of unspecified  number of repetitions of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given construct. Its  best use is for describing identifiers,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constants,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latin typeface="Times New Roman"/>
                <a:cs typeface="Times New Roman"/>
              </a:rPr>
              <a:t>…</a:t>
            </a:r>
            <a:r>
              <a:rPr sz="2800" spc="-5" dirty="0">
                <a:latin typeface="Times New Roman"/>
                <a:cs typeface="Times New Roman"/>
              </a:rPr>
              <a:t> etc.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 can not be used to describe balanced or  nested structures, such as nested loops, nested if-  then-else.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017" y="267969"/>
            <a:ext cx="43954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Recognition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10" dirty="0"/>
              <a:t>Tokens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846569"/>
            <a:ext cx="5750560" cy="111506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36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Transition Diagram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075"/>
              </a:spcBef>
            </a:pPr>
            <a:r>
              <a:rPr sz="2400" spc="-5" dirty="0">
                <a:latin typeface="Times New Roman"/>
                <a:cs typeface="Times New Roman"/>
              </a:rPr>
              <a:t>Example: RELOP </a:t>
            </a:r>
            <a:r>
              <a:rPr sz="2400" dirty="0">
                <a:latin typeface="Times New Roman"/>
                <a:cs typeface="Times New Roman"/>
              </a:rPr>
              <a:t>= &lt; | </a:t>
            </a:r>
            <a:r>
              <a:rPr sz="2400" spc="-5" dirty="0">
                <a:latin typeface="Times New Roman"/>
                <a:cs typeface="Times New Roman"/>
              </a:rPr>
              <a:t>&lt;= </a:t>
            </a:r>
            <a:r>
              <a:rPr sz="2400" dirty="0">
                <a:latin typeface="Times New Roman"/>
                <a:cs typeface="Times New Roman"/>
              </a:rPr>
              <a:t>| = | </a:t>
            </a:r>
            <a:r>
              <a:rPr sz="2400" spc="-5" dirty="0">
                <a:latin typeface="Times New Roman"/>
                <a:cs typeface="Times New Roman"/>
              </a:rPr>
              <a:t>&lt;&gt; </a:t>
            </a:r>
            <a:r>
              <a:rPr sz="2400" dirty="0">
                <a:latin typeface="Times New Roman"/>
                <a:cs typeface="Times New Roman"/>
              </a:rPr>
              <a:t>| &gt; |</a:t>
            </a:r>
            <a:r>
              <a:rPr sz="2400" spc="-3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&gt;=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339" y="3650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92433" y="37876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9139" y="2584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4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8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21233" y="27208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9139" y="3650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21233" y="37876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29139" y="4793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21233" y="49306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38539" y="3989323"/>
            <a:ext cx="990600" cy="85725"/>
          </a:xfrm>
          <a:custGeom>
            <a:avLst/>
            <a:gdLst/>
            <a:ahLst/>
            <a:cxnLst/>
            <a:rect l="l" t="t" r="r" b="b"/>
            <a:pathLst>
              <a:path w="990600" h="85725">
                <a:moveTo>
                  <a:pt x="918971" y="57149"/>
                </a:moveTo>
                <a:lnTo>
                  <a:pt x="9189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918971" y="57149"/>
                </a:lnTo>
                <a:close/>
              </a:path>
              <a:path w="990600" h="85725">
                <a:moveTo>
                  <a:pt x="990600" y="42672"/>
                </a:moveTo>
                <a:lnTo>
                  <a:pt x="904494" y="0"/>
                </a:lnTo>
                <a:lnTo>
                  <a:pt x="904494" y="28193"/>
                </a:lnTo>
                <a:lnTo>
                  <a:pt x="918971" y="28193"/>
                </a:lnTo>
                <a:lnTo>
                  <a:pt x="918971" y="78169"/>
                </a:lnTo>
                <a:lnTo>
                  <a:pt x="990600" y="42672"/>
                </a:lnTo>
                <a:close/>
              </a:path>
              <a:path w="990600" h="85725">
                <a:moveTo>
                  <a:pt x="918971" y="78169"/>
                </a:moveTo>
                <a:lnTo>
                  <a:pt x="918971" y="57149"/>
                </a:lnTo>
                <a:lnTo>
                  <a:pt x="904494" y="57149"/>
                </a:lnTo>
                <a:lnTo>
                  <a:pt x="904494" y="85343"/>
                </a:lnTo>
                <a:lnTo>
                  <a:pt x="9189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29395" y="3117595"/>
            <a:ext cx="1076325" cy="925194"/>
          </a:xfrm>
          <a:custGeom>
            <a:avLst/>
            <a:gdLst/>
            <a:ahLst/>
            <a:cxnLst/>
            <a:rect l="l" t="t" r="r" b="b"/>
            <a:pathLst>
              <a:path w="1076325" h="925195">
                <a:moveTo>
                  <a:pt x="1020045" y="66526"/>
                </a:moveTo>
                <a:lnTo>
                  <a:pt x="1001860" y="45102"/>
                </a:lnTo>
                <a:lnTo>
                  <a:pt x="0" y="903731"/>
                </a:lnTo>
                <a:lnTo>
                  <a:pt x="18287" y="925067"/>
                </a:lnTo>
                <a:lnTo>
                  <a:pt x="1020045" y="66526"/>
                </a:lnTo>
                <a:close/>
              </a:path>
              <a:path w="1076325" h="925195">
                <a:moveTo>
                  <a:pt x="1075944" y="0"/>
                </a:moveTo>
                <a:lnTo>
                  <a:pt x="982979" y="22859"/>
                </a:lnTo>
                <a:lnTo>
                  <a:pt x="1001860" y="45102"/>
                </a:lnTo>
                <a:lnTo>
                  <a:pt x="1012697" y="35813"/>
                </a:lnTo>
                <a:lnTo>
                  <a:pt x="1030985" y="57150"/>
                </a:lnTo>
                <a:lnTo>
                  <a:pt x="1030985" y="79415"/>
                </a:lnTo>
                <a:lnTo>
                  <a:pt x="1038606" y="88391"/>
                </a:lnTo>
                <a:lnTo>
                  <a:pt x="1075944" y="0"/>
                </a:lnTo>
                <a:close/>
              </a:path>
              <a:path w="1076325" h="925195">
                <a:moveTo>
                  <a:pt x="1030985" y="57150"/>
                </a:moveTo>
                <a:lnTo>
                  <a:pt x="1012697" y="35813"/>
                </a:lnTo>
                <a:lnTo>
                  <a:pt x="1001860" y="45102"/>
                </a:lnTo>
                <a:lnTo>
                  <a:pt x="1020045" y="66526"/>
                </a:lnTo>
                <a:lnTo>
                  <a:pt x="1030985" y="57150"/>
                </a:lnTo>
                <a:close/>
              </a:path>
              <a:path w="1076325" h="925195">
                <a:moveTo>
                  <a:pt x="1030985" y="79415"/>
                </a:moveTo>
                <a:lnTo>
                  <a:pt x="1030985" y="57150"/>
                </a:lnTo>
                <a:lnTo>
                  <a:pt x="1020045" y="66526"/>
                </a:lnTo>
                <a:lnTo>
                  <a:pt x="1030985" y="794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28633" y="4022090"/>
            <a:ext cx="1000760" cy="1000760"/>
          </a:xfrm>
          <a:custGeom>
            <a:avLst/>
            <a:gdLst/>
            <a:ahLst/>
            <a:cxnLst/>
            <a:rect l="l" t="t" r="r" b="b"/>
            <a:pathLst>
              <a:path w="1000760" h="1000760">
                <a:moveTo>
                  <a:pt x="950209" y="929644"/>
                </a:moveTo>
                <a:lnTo>
                  <a:pt x="19812" y="0"/>
                </a:lnTo>
                <a:lnTo>
                  <a:pt x="0" y="19812"/>
                </a:lnTo>
                <a:lnTo>
                  <a:pt x="929644" y="950209"/>
                </a:lnTo>
                <a:lnTo>
                  <a:pt x="950209" y="929644"/>
                </a:lnTo>
                <a:close/>
              </a:path>
              <a:path w="1000760" h="1000760">
                <a:moveTo>
                  <a:pt x="960119" y="986930"/>
                </a:moveTo>
                <a:lnTo>
                  <a:pt x="960119" y="939546"/>
                </a:lnTo>
                <a:lnTo>
                  <a:pt x="939545" y="960120"/>
                </a:lnTo>
                <a:lnTo>
                  <a:pt x="929644" y="950209"/>
                </a:lnTo>
                <a:lnTo>
                  <a:pt x="909827" y="970026"/>
                </a:lnTo>
                <a:lnTo>
                  <a:pt x="960119" y="986930"/>
                </a:lnTo>
                <a:close/>
              </a:path>
              <a:path w="1000760" h="1000760">
                <a:moveTo>
                  <a:pt x="960119" y="939546"/>
                </a:moveTo>
                <a:lnTo>
                  <a:pt x="950209" y="929644"/>
                </a:lnTo>
                <a:lnTo>
                  <a:pt x="929644" y="950209"/>
                </a:lnTo>
                <a:lnTo>
                  <a:pt x="939545" y="960120"/>
                </a:lnTo>
                <a:lnTo>
                  <a:pt x="960119" y="939546"/>
                </a:lnTo>
                <a:close/>
              </a:path>
              <a:path w="1000760" h="1000760">
                <a:moveTo>
                  <a:pt x="1000506" y="1000506"/>
                </a:moveTo>
                <a:lnTo>
                  <a:pt x="970025" y="909827"/>
                </a:lnTo>
                <a:lnTo>
                  <a:pt x="950209" y="929644"/>
                </a:lnTo>
                <a:lnTo>
                  <a:pt x="960119" y="939546"/>
                </a:lnTo>
                <a:lnTo>
                  <a:pt x="960119" y="986930"/>
                </a:lnTo>
                <a:lnTo>
                  <a:pt x="1000506" y="100050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19927" y="1898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12033" y="2035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9927" y="27365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12033" y="2873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19927" y="35747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12033" y="37114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10367" y="2188717"/>
            <a:ext cx="1910080" cy="638175"/>
          </a:xfrm>
          <a:custGeom>
            <a:avLst/>
            <a:gdLst/>
            <a:ahLst/>
            <a:cxnLst/>
            <a:rect l="l" t="t" r="r" b="b"/>
            <a:pathLst>
              <a:path w="1910079" h="638175">
                <a:moveTo>
                  <a:pt x="1832180" y="53817"/>
                </a:moveTo>
                <a:lnTo>
                  <a:pt x="1823707" y="27164"/>
                </a:lnTo>
                <a:lnTo>
                  <a:pt x="0" y="610362"/>
                </a:lnTo>
                <a:lnTo>
                  <a:pt x="9143" y="637794"/>
                </a:lnTo>
                <a:lnTo>
                  <a:pt x="1832180" y="53817"/>
                </a:lnTo>
                <a:close/>
              </a:path>
              <a:path w="1910079" h="638175">
                <a:moveTo>
                  <a:pt x="1909559" y="14477"/>
                </a:moveTo>
                <a:lnTo>
                  <a:pt x="1815071" y="0"/>
                </a:lnTo>
                <a:lnTo>
                  <a:pt x="1823707" y="27164"/>
                </a:lnTo>
                <a:lnTo>
                  <a:pt x="1837169" y="22859"/>
                </a:lnTo>
                <a:lnTo>
                  <a:pt x="1845564" y="49530"/>
                </a:lnTo>
                <a:lnTo>
                  <a:pt x="1845564" y="77062"/>
                </a:lnTo>
                <a:lnTo>
                  <a:pt x="1909559" y="14477"/>
                </a:lnTo>
                <a:close/>
              </a:path>
              <a:path w="1910079" h="638175">
                <a:moveTo>
                  <a:pt x="1845564" y="49530"/>
                </a:moveTo>
                <a:lnTo>
                  <a:pt x="1837169" y="22859"/>
                </a:lnTo>
                <a:lnTo>
                  <a:pt x="1823707" y="27164"/>
                </a:lnTo>
                <a:lnTo>
                  <a:pt x="1832180" y="53817"/>
                </a:lnTo>
                <a:lnTo>
                  <a:pt x="1845564" y="49530"/>
                </a:lnTo>
                <a:close/>
              </a:path>
              <a:path w="1910079" h="638175">
                <a:moveTo>
                  <a:pt x="1845564" y="77062"/>
                </a:moveTo>
                <a:lnTo>
                  <a:pt x="1845564" y="49530"/>
                </a:lnTo>
                <a:lnTo>
                  <a:pt x="1832180" y="53817"/>
                </a:lnTo>
                <a:lnTo>
                  <a:pt x="1840991" y="81533"/>
                </a:lnTo>
                <a:lnTo>
                  <a:pt x="1845564" y="77062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91127" y="2922523"/>
            <a:ext cx="1905000" cy="85725"/>
          </a:xfrm>
          <a:custGeom>
            <a:avLst/>
            <a:gdLst/>
            <a:ahLst/>
            <a:cxnLst/>
            <a:rect l="l" t="t" r="r" b="b"/>
            <a:pathLst>
              <a:path w="1905000" h="85725">
                <a:moveTo>
                  <a:pt x="1833372" y="57149"/>
                </a:moveTo>
                <a:lnTo>
                  <a:pt x="1833372" y="28193"/>
                </a:lnTo>
                <a:lnTo>
                  <a:pt x="0" y="28194"/>
                </a:lnTo>
                <a:lnTo>
                  <a:pt x="0" y="57150"/>
                </a:lnTo>
                <a:lnTo>
                  <a:pt x="1833372" y="57149"/>
                </a:lnTo>
                <a:close/>
              </a:path>
              <a:path w="1905000" h="85725">
                <a:moveTo>
                  <a:pt x="1905000" y="42672"/>
                </a:moveTo>
                <a:lnTo>
                  <a:pt x="1818894" y="0"/>
                </a:lnTo>
                <a:lnTo>
                  <a:pt x="1818894" y="28193"/>
                </a:lnTo>
                <a:lnTo>
                  <a:pt x="1833372" y="28193"/>
                </a:lnTo>
                <a:lnTo>
                  <a:pt x="1833372" y="78169"/>
                </a:lnTo>
                <a:lnTo>
                  <a:pt x="1905000" y="42672"/>
                </a:lnTo>
                <a:close/>
              </a:path>
              <a:path w="1905000" h="85725">
                <a:moveTo>
                  <a:pt x="1833372" y="78169"/>
                </a:moveTo>
                <a:lnTo>
                  <a:pt x="1833372" y="57149"/>
                </a:lnTo>
                <a:lnTo>
                  <a:pt x="1818894" y="57149"/>
                </a:lnTo>
                <a:lnTo>
                  <a:pt x="1818894" y="85343"/>
                </a:lnTo>
                <a:lnTo>
                  <a:pt x="18333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85805" y="3103879"/>
            <a:ext cx="1834514" cy="709930"/>
          </a:xfrm>
          <a:custGeom>
            <a:avLst/>
            <a:gdLst/>
            <a:ahLst/>
            <a:cxnLst/>
            <a:rect l="l" t="t" r="r" b="b"/>
            <a:pathLst>
              <a:path w="1834514" h="709929">
                <a:moveTo>
                  <a:pt x="1758871" y="655576"/>
                </a:moveTo>
                <a:lnTo>
                  <a:pt x="10667" y="0"/>
                </a:lnTo>
                <a:lnTo>
                  <a:pt x="0" y="27432"/>
                </a:lnTo>
                <a:lnTo>
                  <a:pt x="1748714" y="682921"/>
                </a:lnTo>
                <a:lnTo>
                  <a:pt x="1758871" y="655576"/>
                </a:lnTo>
                <a:close/>
              </a:path>
              <a:path w="1834514" h="709929">
                <a:moveTo>
                  <a:pt x="1772412" y="705933"/>
                </a:moveTo>
                <a:lnTo>
                  <a:pt x="1772412" y="660653"/>
                </a:lnTo>
                <a:lnTo>
                  <a:pt x="1762493" y="688085"/>
                </a:lnTo>
                <a:lnTo>
                  <a:pt x="1748714" y="682921"/>
                </a:lnTo>
                <a:lnTo>
                  <a:pt x="1738871" y="709421"/>
                </a:lnTo>
                <a:lnTo>
                  <a:pt x="1772412" y="705933"/>
                </a:lnTo>
                <a:close/>
              </a:path>
              <a:path w="1834514" h="709929">
                <a:moveTo>
                  <a:pt x="1772412" y="660653"/>
                </a:moveTo>
                <a:lnTo>
                  <a:pt x="1758871" y="655576"/>
                </a:lnTo>
                <a:lnTo>
                  <a:pt x="1748714" y="682921"/>
                </a:lnTo>
                <a:lnTo>
                  <a:pt x="1762493" y="688085"/>
                </a:lnTo>
                <a:lnTo>
                  <a:pt x="1772412" y="660653"/>
                </a:lnTo>
                <a:close/>
              </a:path>
              <a:path w="1834514" h="709929">
                <a:moveTo>
                  <a:pt x="1834121" y="699515"/>
                </a:moveTo>
                <a:lnTo>
                  <a:pt x="1768589" y="629411"/>
                </a:lnTo>
                <a:lnTo>
                  <a:pt x="1758871" y="655576"/>
                </a:lnTo>
                <a:lnTo>
                  <a:pt x="1772412" y="660653"/>
                </a:lnTo>
                <a:lnTo>
                  <a:pt x="1772412" y="705933"/>
                </a:lnTo>
                <a:lnTo>
                  <a:pt x="1834121" y="6995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43727" y="4793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235833" y="49306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43727" y="56321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99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0999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1999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0999" y="0"/>
                </a:lnTo>
                <a:close/>
              </a:path>
            </a:pathLst>
          </a:custGeom>
          <a:ln w="57149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235833" y="57688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91139" y="5132323"/>
            <a:ext cx="1676400" cy="85725"/>
          </a:xfrm>
          <a:custGeom>
            <a:avLst/>
            <a:gdLst/>
            <a:ahLst/>
            <a:cxnLst/>
            <a:rect l="l" t="t" r="r" b="b"/>
            <a:pathLst>
              <a:path w="1676400" h="85725">
                <a:moveTo>
                  <a:pt x="1604772" y="57149"/>
                </a:moveTo>
                <a:lnTo>
                  <a:pt x="1604772" y="28193"/>
                </a:lnTo>
                <a:lnTo>
                  <a:pt x="0" y="28194"/>
                </a:lnTo>
                <a:lnTo>
                  <a:pt x="0" y="57150"/>
                </a:lnTo>
                <a:lnTo>
                  <a:pt x="1604772" y="57149"/>
                </a:lnTo>
                <a:close/>
              </a:path>
              <a:path w="1676400" h="85725">
                <a:moveTo>
                  <a:pt x="1676387" y="42672"/>
                </a:moveTo>
                <a:lnTo>
                  <a:pt x="1590294" y="0"/>
                </a:lnTo>
                <a:lnTo>
                  <a:pt x="1590294" y="28193"/>
                </a:lnTo>
                <a:lnTo>
                  <a:pt x="1604772" y="28193"/>
                </a:lnTo>
                <a:lnTo>
                  <a:pt x="1604772" y="78168"/>
                </a:lnTo>
                <a:lnTo>
                  <a:pt x="1676387" y="42672"/>
                </a:lnTo>
                <a:close/>
              </a:path>
              <a:path w="1676400" h="85725">
                <a:moveTo>
                  <a:pt x="1604772" y="78168"/>
                </a:moveTo>
                <a:lnTo>
                  <a:pt x="1604772" y="57149"/>
                </a:lnTo>
                <a:lnTo>
                  <a:pt x="1590294" y="57149"/>
                </a:lnTo>
                <a:lnTo>
                  <a:pt x="1590294" y="85343"/>
                </a:lnTo>
                <a:lnTo>
                  <a:pt x="1604772" y="7816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86567" y="5161279"/>
            <a:ext cx="1757680" cy="635635"/>
          </a:xfrm>
          <a:custGeom>
            <a:avLst/>
            <a:gdLst/>
            <a:ahLst/>
            <a:cxnLst/>
            <a:rect l="l" t="t" r="r" b="b"/>
            <a:pathLst>
              <a:path w="1757679" h="635635">
                <a:moveTo>
                  <a:pt x="1680878" y="581176"/>
                </a:moveTo>
                <a:lnTo>
                  <a:pt x="9143" y="0"/>
                </a:lnTo>
                <a:lnTo>
                  <a:pt x="0" y="27432"/>
                </a:lnTo>
                <a:lnTo>
                  <a:pt x="1671270" y="608714"/>
                </a:lnTo>
                <a:lnTo>
                  <a:pt x="1680878" y="581176"/>
                </a:lnTo>
                <a:close/>
              </a:path>
              <a:path w="1757679" h="635635">
                <a:moveTo>
                  <a:pt x="1694688" y="631313"/>
                </a:moveTo>
                <a:lnTo>
                  <a:pt x="1694688" y="585977"/>
                </a:lnTo>
                <a:lnTo>
                  <a:pt x="1684769" y="613409"/>
                </a:lnTo>
                <a:lnTo>
                  <a:pt x="1671270" y="608714"/>
                </a:lnTo>
                <a:lnTo>
                  <a:pt x="1661922" y="635507"/>
                </a:lnTo>
                <a:lnTo>
                  <a:pt x="1694688" y="631313"/>
                </a:lnTo>
                <a:close/>
              </a:path>
              <a:path w="1757679" h="635635">
                <a:moveTo>
                  <a:pt x="1694688" y="585977"/>
                </a:moveTo>
                <a:lnTo>
                  <a:pt x="1680878" y="581176"/>
                </a:lnTo>
                <a:lnTo>
                  <a:pt x="1671270" y="608714"/>
                </a:lnTo>
                <a:lnTo>
                  <a:pt x="1684769" y="613409"/>
                </a:lnTo>
                <a:lnTo>
                  <a:pt x="1694688" y="585977"/>
                </a:lnTo>
                <a:close/>
              </a:path>
              <a:path w="1757679" h="635635">
                <a:moveTo>
                  <a:pt x="1757159" y="623315"/>
                </a:moveTo>
                <a:lnTo>
                  <a:pt x="1690103" y="554735"/>
                </a:lnTo>
                <a:lnTo>
                  <a:pt x="1680878" y="581176"/>
                </a:lnTo>
                <a:lnTo>
                  <a:pt x="1694688" y="585977"/>
                </a:lnTo>
                <a:lnTo>
                  <a:pt x="1694688" y="631313"/>
                </a:lnTo>
                <a:lnTo>
                  <a:pt x="1757159" y="6233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5939" y="3989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65435" y="34447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25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32635" y="2149347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56435" y="4740147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22835" y="3124707"/>
            <a:ext cx="349885" cy="9398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400" dirty="0">
                <a:latin typeface="Times New Roman"/>
                <a:cs typeface="Times New Roman"/>
              </a:rPr>
              <a:t>&lt;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94235" y="4511547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0235" y="2743707"/>
            <a:ext cx="652145" cy="10922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420"/>
              </a:spcBef>
            </a:pPr>
            <a:r>
              <a:rPr sz="2400" dirty="0"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dirty="0"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04035" y="5578347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13835" y="2073147"/>
            <a:ext cx="2028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return(relop,LE)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90035" y="2835147"/>
            <a:ext cx="20631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return(relop,NE)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90035" y="3673347"/>
            <a:ext cx="2028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return(relop,LT)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94435" y="4130547"/>
            <a:ext cx="20631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return(relop,EQ)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09035" y="33685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09035" y="4968747"/>
            <a:ext cx="2367915" cy="116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return(relop,GE)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200" b="1" baseline="15873" dirty="0">
                <a:latin typeface="Times New Roman"/>
                <a:cs typeface="Times New Roman"/>
              </a:rPr>
              <a:t>#</a:t>
            </a:r>
            <a:r>
              <a:rPr sz="4200" b="1" spc="284" baseline="15873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return(relop,GT)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5435" y="5654547"/>
            <a:ext cx="335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# indicates input</a:t>
            </a:r>
            <a:r>
              <a:rPr sz="2400" i="1" spc="-1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retraction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339" y="3650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92433" y="37876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139" y="3650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45033" y="3787647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19927" y="35747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939" y="3989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5435" y="34447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1835" y="3368547"/>
            <a:ext cx="650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letter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635" y="5349747"/>
            <a:ext cx="335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# indicates input</a:t>
            </a:r>
            <a:r>
              <a:rPr sz="2400" i="1" spc="-1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retraction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14739" y="39131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1" y="57149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1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67339" y="3913123"/>
            <a:ext cx="1600200" cy="85725"/>
          </a:xfrm>
          <a:custGeom>
            <a:avLst/>
            <a:gdLst/>
            <a:ahLst/>
            <a:cxnLst/>
            <a:rect l="l" t="t" r="r" b="b"/>
            <a:pathLst>
              <a:path w="1600200" h="85725">
                <a:moveTo>
                  <a:pt x="1528572" y="57149"/>
                </a:moveTo>
                <a:lnTo>
                  <a:pt x="1528572" y="28193"/>
                </a:lnTo>
                <a:lnTo>
                  <a:pt x="0" y="28194"/>
                </a:lnTo>
                <a:lnTo>
                  <a:pt x="0" y="57150"/>
                </a:lnTo>
                <a:lnTo>
                  <a:pt x="1528572" y="57149"/>
                </a:lnTo>
                <a:close/>
              </a:path>
              <a:path w="1600200" h="85725">
                <a:moveTo>
                  <a:pt x="1600187" y="42672"/>
                </a:moveTo>
                <a:lnTo>
                  <a:pt x="1514094" y="0"/>
                </a:lnTo>
                <a:lnTo>
                  <a:pt x="1514094" y="28193"/>
                </a:lnTo>
                <a:lnTo>
                  <a:pt x="1528572" y="28193"/>
                </a:lnTo>
                <a:lnTo>
                  <a:pt x="1528572" y="78168"/>
                </a:lnTo>
                <a:lnTo>
                  <a:pt x="1600187" y="42672"/>
                </a:lnTo>
                <a:close/>
              </a:path>
              <a:path w="1600200" h="85725">
                <a:moveTo>
                  <a:pt x="1528572" y="78168"/>
                </a:moveTo>
                <a:lnTo>
                  <a:pt x="1528572" y="57149"/>
                </a:lnTo>
                <a:lnTo>
                  <a:pt x="1514094" y="57149"/>
                </a:lnTo>
                <a:lnTo>
                  <a:pt x="1514094" y="85343"/>
                </a:lnTo>
                <a:lnTo>
                  <a:pt x="1528572" y="7816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0235" y="3368547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82251" y="2745739"/>
            <a:ext cx="1176020" cy="992505"/>
          </a:xfrm>
          <a:custGeom>
            <a:avLst/>
            <a:gdLst/>
            <a:ahLst/>
            <a:cxnLst/>
            <a:rect l="l" t="t" r="r" b="b"/>
            <a:pathLst>
              <a:path w="1176020" h="992504">
                <a:moveTo>
                  <a:pt x="1176020" y="435102"/>
                </a:moveTo>
                <a:lnTo>
                  <a:pt x="1176020" y="406908"/>
                </a:lnTo>
                <a:lnTo>
                  <a:pt x="1173479" y="377952"/>
                </a:lnTo>
                <a:lnTo>
                  <a:pt x="1168400" y="349758"/>
                </a:lnTo>
                <a:lnTo>
                  <a:pt x="1164589" y="335280"/>
                </a:lnTo>
                <a:lnTo>
                  <a:pt x="1162050" y="320040"/>
                </a:lnTo>
                <a:lnTo>
                  <a:pt x="1156970" y="306324"/>
                </a:lnTo>
                <a:lnTo>
                  <a:pt x="1141729" y="262890"/>
                </a:lnTo>
                <a:lnTo>
                  <a:pt x="1127760" y="235458"/>
                </a:lnTo>
                <a:lnTo>
                  <a:pt x="1112520" y="208026"/>
                </a:lnTo>
                <a:lnTo>
                  <a:pt x="1104900" y="195072"/>
                </a:lnTo>
                <a:lnTo>
                  <a:pt x="1094739" y="182118"/>
                </a:lnTo>
                <a:lnTo>
                  <a:pt x="1085850" y="169926"/>
                </a:lnTo>
                <a:lnTo>
                  <a:pt x="1054100" y="134112"/>
                </a:lnTo>
                <a:lnTo>
                  <a:pt x="1019810" y="102108"/>
                </a:lnTo>
                <a:lnTo>
                  <a:pt x="980439" y="75438"/>
                </a:lnTo>
                <a:lnTo>
                  <a:pt x="937260" y="53340"/>
                </a:lnTo>
                <a:lnTo>
                  <a:pt x="920421" y="47125"/>
                </a:lnTo>
                <a:lnTo>
                  <a:pt x="914400" y="44958"/>
                </a:lnTo>
                <a:lnTo>
                  <a:pt x="896620" y="38862"/>
                </a:lnTo>
                <a:lnTo>
                  <a:pt x="886460" y="36576"/>
                </a:lnTo>
                <a:lnTo>
                  <a:pt x="867410" y="32004"/>
                </a:lnTo>
                <a:lnTo>
                  <a:pt x="828039" y="22860"/>
                </a:lnTo>
                <a:lnTo>
                  <a:pt x="783589" y="15240"/>
                </a:lnTo>
                <a:lnTo>
                  <a:pt x="737870" y="9144"/>
                </a:lnTo>
                <a:lnTo>
                  <a:pt x="688339" y="4572"/>
                </a:lnTo>
                <a:lnTo>
                  <a:pt x="638810" y="1524"/>
                </a:lnTo>
                <a:lnTo>
                  <a:pt x="589279" y="0"/>
                </a:lnTo>
                <a:lnTo>
                  <a:pt x="563879" y="0"/>
                </a:lnTo>
                <a:lnTo>
                  <a:pt x="488950" y="2286"/>
                </a:lnTo>
                <a:lnTo>
                  <a:pt x="440689" y="6096"/>
                </a:lnTo>
                <a:lnTo>
                  <a:pt x="393700" y="12192"/>
                </a:lnTo>
                <a:lnTo>
                  <a:pt x="349250" y="19050"/>
                </a:lnTo>
                <a:lnTo>
                  <a:pt x="290829" y="34290"/>
                </a:lnTo>
                <a:lnTo>
                  <a:pt x="255270" y="47244"/>
                </a:lnTo>
                <a:lnTo>
                  <a:pt x="247650" y="50292"/>
                </a:lnTo>
                <a:lnTo>
                  <a:pt x="210820" y="70866"/>
                </a:lnTo>
                <a:lnTo>
                  <a:pt x="156210" y="114300"/>
                </a:lnTo>
                <a:lnTo>
                  <a:pt x="109220" y="167640"/>
                </a:lnTo>
                <a:lnTo>
                  <a:pt x="78739" y="212598"/>
                </a:lnTo>
                <a:lnTo>
                  <a:pt x="59689" y="244602"/>
                </a:lnTo>
                <a:lnTo>
                  <a:pt x="52070" y="261366"/>
                </a:lnTo>
                <a:lnTo>
                  <a:pt x="44450" y="277368"/>
                </a:lnTo>
                <a:lnTo>
                  <a:pt x="38100" y="294132"/>
                </a:lnTo>
                <a:lnTo>
                  <a:pt x="30479" y="311658"/>
                </a:lnTo>
                <a:lnTo>
                  <a:pt x="20320" y="345186"/>
                </a:lnTo>
                <a:lnTo>
                  <a:pt x="13970" y="362712"/>
                </a:lnTo>
                <a:lnTo>
                  <a:pt x="6350" y="397002"/>
                </a:lnTo>
                <a:lnTo>
                  <a:pt x="1270" y="430530"/>
                </a:lnTo>
                <a:lnTo>
                  <a:pt x="0" y="447294"/>
                </a:lnTo>
                <a:lnTo>
                  <a:pt x="0" y="496062"/>
                </a:lnTo>
                <a:lnTo>
                  <a:pt x="6350" y="541782"/>
                </a:lnTo>
                <a:lnTo>
                  <a:pt x="20320" y="586740"/>
                </a:lnTo>
                <a:lnTo>
                  <a:pt x="27939" y="601980"/>
                </a:lnTo>
                <a:lnTo>
                  <a:pt x="27939" y="464058"/>
                </a:lnTo>
                <a:lnTo>
                  <a:pt x="30479" y="433578"/>
                </a:lnTo>
                <a:lnTo>
                  <a:pt x="35560" y="401574"/>
                </a:lnTo>
                <a:lnTo>
                  <a:pt x="43179" y="369570"/>
                </a:lnTo>
                <a:lnTo>
                  <a:pt x="46989" y="352806"/>
                </a:lnTo>
                <a:lnTo>
                  <a:pt x="63500" y="304800"/>
                </a:lnTo>
                <a:lnTo>
                  <a:pt x="102870" y="227076"/>
                </a:lnTo>
                <a:lnTo>
                  <a:pt x="132079" y="184404"/>
                </a:lnTo>
                <a:lnTo>
                  <a:pt x="165100" y="146304"/>
                </a:lnTo>
                <a:lnTo>
                  <a:pt x="213360" y="103632"/>
                </a:lnTo>
                <a:lnTo>
                  <a:pt x="252729" y="79248"/>
                </a:lnTo>
                <a:lnTo>
                  <a:pt x="290829" y="64008"/>
                </a:lnTo>
                <a:lnTo>
                  <a:pt x="355600" y="47244"/>
                </a:lnTo>
                <a:lnTo>
                  <a:pt x="420370" y="37338"/>
                </a:lnTo>
                <a:lnTo>
                  <a:pt x="490220" y="31242"/>
                </a:lnTo>
                <a:lnTo>
                  <a:pt x="539750" y="28956"/>
                </a:lnTo>
                <a:lnTo>
                  <a:pt x="589279" y="28956"/>
                </a:lnTo>
                <a:lnTo>
                  <a:pt x="662939" y="31242"/>
                </a:lnTo>
                <a:lnTo>
                  <a:pt x="687070" y="33528"/>
                </a:lnTo>
                <a:lnTo>
                  <a:pt x="711200" y="35052"/>
                </a:lnTo>
                <a:lnTo>
                  <a:pt x="779779" y="43434"/>
                </a:lnTo>
                <a:lnTo>
                  <a:pt x="843279" y="54864"/>
                </a:lnTo>
                <a:lnTo>
                  <a:pt x="889000" y="67056"/>
                </a:lnTo>
                <a:lnTo>
                  <a:pt x="904239" y="71628"/>
                </a:lnTo>
                <a:lnTo>
                  <a:pt x="911860" y="74676"/>
                </a:lnTo>
                <a:lnTo>
                  <a:pt x="919479" y="76962"/>
                </a:lnTo>
                <a:lnTo>
                  <a:pt x="939800" y="86106"/>
                </a:lnTo>
                <a:lnTo>
                  <a:pt x="953770" y="92964"/>
                </a:lnTo>
                <a:lnTo>
                  <a:pt x="966470" y="100584"/>
                </a:lnTo>
                <a:lnTo>
                  <a:pt x="977900" y="108204"/>
                </a:lnTo>
                <a:lnTo>
                  <a:pt x="990600" y="116586"/>
                </a:lnTo>
                <a:lnTo>
                  <a:pt x="1023620" y="144018"/>
                </a:lnTo>
                <a:lnTo>
                  <a:pt x="1064260" y="187452"/>
                </a:lnTo>
                <a:lnTo>
                  <a:pt x="1071879" y="199644"/>
                </a:lnTo>
                <a:lnTo>
                  <a:pt x="1080770" y="211074"/>
                </a:lnTo>
                <a:lnTo>
                  <a:pt x="1088389" y="224028"/>
                </a:lnTo>
                <a:lnTo>
                  <a:pt x="1096010" y="236220"/>
                </a:lnTo>
                <a:lnTo>
                  <a:pt x="1109979" y="262128"/>
                </a:lnTo>
                <a:lnTo>
                  <a:pt x="1115060" y="275082"/>
                </a:lnTo>
                <a:lnTo>
                  <a:pt x="1121410" y="288036"/>
                </a:lnTo>
                <a:lnTo>
                  <a:pt x="1130300" y="315468"/>
                </a:lnTo>
                <a:lnTo>
                  <a:pt x="1140460" y="355854"/>
                </a:lnTo>
                <a:lnTo>
                  <a:pt x="1148079" y="421386"/>
                </a:lnTo>
                <a:lnTo>
                  <a:pt x="1148079" y="536448"/>
                </a:lnTo>
                <a:lnTo>
                  <a:pt x="1153160" y="525780"/>
                </a:lnTo>
                <a:lnTo>
                  <a:pt x="1164589" y="493776"/>
                </a:lnTo>
                <a:lnTo>
                  <a:pt x="1169670" y="478536"/>
                </a:lnTo>
                <a:lnTo>
                  <a:pt x="1170939" y="470916"/>
                </a:lnTo>
                <a:lnTo>
                  <a:pt x="1172210" y="464058"/>
                </a:lnTo>
                <a:lnTo>
                  <a:pt x="1174750" y="456438"/>
                </a:lnTo>
                <a:lnTo>
                  <a:pt x="1174750" y="448818"/>
                </a:lnTo>
                <a:lnTo>
                  <a:pt x="1176020" y="435102"/>
                </a:lnTo>
                <a:close/>
              </a:path>
              <a:path w="1176020" h="992504">
                <a:moveTo>
                  <a:pt x="407670" y="970788"/>
                </a:moveTo>
                <a:lnTo>
                  <a:pt x="374650" y="941832"/>
                </a:lnTo>
                <a:lnTo>
                  <a:pt x="341629" y="913638"/>
                </a:lnTo>
                <a:lnTo>
                  <a:pt x="308610" y="884682"/>
                </a:lnTo>
                <a:lnTo>
                  <a:pt x="246379" y="828294"/>
                </a:lnTo>
                <a:lnTo>
                  <a:pt x="215900" y="799338"/>
                </a:lnTo>
                <a:lnTo>
                  <a:pt x="201929" y="785622"/>
                </a:lnTo>
                <a:lnTo>
                  <a:pt x="187960" y="771144"/>
                </a:lnTo>
                <a:lnTo>
                  <a:pt x="173989" y="757428"/>
                </a:lnTo>
                <a:lnTo>
                  <a:pt x="161289" y="742950"/>
                </a:lnTo>
                <a:lnTo>
                  <a:pt x="148589" y="729234"/>
                </a:lnTo>
                <a:lnTo>
                  <a:pt x="135889" y="714756"/>
                </a:lnTo>
                <a:lnTo>
                  <a:pt x="124460" y="701040"/>
                </a:lnTo>
                <a:lnTo>
                  <a:pt x="114300" y="686562"/>
                </a:lnTo>
                <a:lnTo>
                  <a:pt x="102870" y="672846"/>
                </a:lnTo>
                <a:lnTo>
                  <a:pt x="92710" y="659130"/>
                </a:lnTo>
                <a:lnTo>
                  <a:pt x="83820" y="644652"/>
                </a:lnTo>
                <a:lnTo>
                  <a:pt x="74929" y="630936"/>
                </a:lnTo>
                <a:lnTo>
                  <a:pt x="52070" y="589788"/>
                </a:lnTo>
                <a:lnTo>
                  <a:pt x="38100" y="548640"/>
                </a:lnTo>
                <a:lnTo>
                  <a:pt x="27939" y="493776"/>
                </a:lnTo>
                <a:lnTo>
                  <a:pt x="27939" y="601980"/>
                </a:lnTo>
                <a:lnTo>
                  <a:pt x="34289" y="616458"/>
                </a:lnTo>
                <a:lnTo>
                  <a:pt x="41910" y="631698"/>
                </a:lnTo>
                <a:lnTo>
                  <a:pt x="59689" y="660654"/>
                </a:lnTo>
                <a:lnTo>
                  <a:pt x="69850" y="675132"/>
                </a:lnTo>
                <a:lnTo>
                  <a:pt x="80010" y="690372"/>
                </a:lnTo>
                <a:lnTo>
                  <a:pt x="127000" y="748284"/>
                </a:lnTo>
                <a:lnTo>
                  <a:pt x="181610" y="806196"/>
                </a:lnTo>
                <a:lnTo>
                  <a:pt x="196850" y="819912"/>
                </a:lnTo>
                <a:lnTo>
                  <a:pt x="257810" y="877824"/>
                </a:lnTo>
                <a:lnTo>
                  <a:pt x="290829" y="906780"/>
                </a:lnTo>
                <a:lnTo>
                  <a:pt x="323850" y="934974"/>
                </a:lnTo>
                <a:lnTo>
                  <a:pt x="355600" y="963930"/>
                </a:lnTo>
                <a:lnTo>
                  <a:pt x="389889" y="992124"/>
                </a:lnTo>
                <a:lnTo>
                  <a:pt x="407670" y="970788"/>
                </a:lnTo>
                <a:close/>
              </a:path>
              <a:path w="1176020" h="992504">
                <a:moveTo>
                  <a:pt x="898313" y="829310"/>
                </a:moveTo>
                <a:lnTo>
                  <a:pt x="876300" y="811530"/>
                </a:lnTo>
                <a:lnTo>
                  <a:pt x="855979" y="905256"/>
                </a:lnTo>
                <a:lnTo>
                  <a:pt x="889000" y="889814"/>
                </a:lnTo>
                <a:lnTo>
                  <a:pt x="889000" y="840486"/>
                </a:lnTo>
                <a:lnTo>
                  <a:pt x="898313" y="829310"/>
                </a:lnTo>
                <a:close/>
              </a:path>
              <a:path w="1176020" h="992504">
                <a:moveTo>
                  <a:pt x="920421" y="847166"/>
                </a:moveTo>
                <a:lnTo>
                  <a:pt x="898313" y="829310"/>
                </a:lnTo>
                <a:lnTo>
                  <a:pt x="889000" y="840486"/>
                </a:lnTo>
                <a:lnTo>
                  <a:pt x="911860" y="858012"/>
                </a:lnTo>
                <a:lnTo>
                  <a:pt x="920421" y="847166"/>
                </a:lnTo>
                <a:close/>
              </a:path>
              <a:path w="1176020" h="992504">
                <a:moveTo>
                  <a:pt x="942339" y="864870"/>
                </a:moveTo>
                <a:lnTo>
                  <a:pt x="920421" y="847166"/>
                </a:lnTo>
                <a:lnTo>
                  <a:pt x="911860" y="858012"/>
                </a:lnTo>
                <a:lnTo>
                  <a:pt x="889000" y="840486"/>
                </a:lnTo>
                <a:lnTo>
                  <a:pt x="889000" y="889814"/>
                </a:lnTo>
                <a:lnTo>
                  <a:pt x="942339" y="864870"/>
                </a:lnTo>
                <a:close/>
              </a:path>
              <a:path w="1176020" h="992504">
                <a:moveTo>
                  <a:pt x="1148079" y="536448"/>
                </a:moveTo>
                <a:lnTo>
                  <a:pt x="1148079" y="421386"/>
                </a:lnTo>
                <a:lnTo>
                  <a:pt x="1144270" y="459486"/>
                </a:lnTo>
                <a:lnTo>
                  <a:pt x="1141729" y="471678"/>
                </a:lnTo>
                <a:lnTo>
                  <a:pt x="1140460" y="478536"/>
                </a:lnTo>
                <a:lnTo>
                  <a:pt x="1137920" y="485394"/>
                </a:lnTo>
                <a:lnTo>
                  <a:pt x="1132839" y="499872"/>
                </a:lnTo>
                <a:lnTo>
                  <a:pt x="1126489" y="514350"/>
                </a:lnTo>
                <a:lnTo>
                  <a:pt x="1111250" y="544830"/>
                </a:lnTo>
                <a:lnTo>
                  <a:pt x="1092200" y="576834"/>
                </a:lnTo>
                <a:lnTo>
                  <a:pt x="1082039" y="592836"/>
                </a:lnTo>
                <a:lnTo>
                  <a:pt x="1071879" y="609600"/>
                </a:lnTo>
                <a:lnTo>
                  <a:pt x="1060450" y="625602"/>
                </a:lnTo>
                <a:lnTo>
                  <a:pt x="1049020" y="642366"/>
                </a:lnTo>
                <a:lnTo>
                  <a:pt x="1036320" y="659130"/>
                </a:lnTo>
                <a:lnTo>
                  <a:pt x="1010920" y="691896"/>
                </a:lnTo>
                <a:lnTo>
                  <a:pt x="985520" y="723900"/>
                </a:lnTo>
                <a:lnTo>
                  <a:pt x="972820" y="739140"/>
                </a:lnTo>
                <a:lnTo>
                  <a:pt x="960120" y="755142"/>
                </a:lnTo>
                <a:lnTo>
                  <a:pt x="923289" y="798576"/>
                </a:lnTo>
                <a:lnTo>
                  <a:pt x="911860" y="812292"/>
                </a:lnTo>
                <a:lnTo>
                  <a:pt x="901700" y="825246"/>
                </a:lnTo>
                <a:lnTo>
                  <a:pt x="898313" y="829310"/>
                </a:lnTo>
                <a:lnTo>
                  <a:pt x="920421" y="847166"/>
                </a:lnTo>
                <a:lnTo>
                  <a:pt x="923289" y="843534"/>
                </a:lnTo>
                <a:lnTo>
                  <a:pt x="934720" y="830580"/>
                </a:lnTo>
                <a:lnTo>
                  <a:pt x="946150" y="816864"/>
                </a:lnTo>
                <a:lnTo>
                  <a:pt x="969010" y="787908"/>
                </a:lnTo>
                <a:lnTo>
                  <a:pt x="995679" y="757428"/>
                </a:lnTo>
                <a:lnTo>
                  <a:pt x="1033779" y="709422"/>
                </a:lnTo>
                <a:lnTo>
                  <a:pt x="1059179" y="675894"/>
                </a:lnTo>
                <a:lnTo>
                  <a:pt x="1083310" y="642366"/>
                </a:lnTo>
                <a:lnTo>
                  <a:pt x="1094739" y="624840"/>
                </a:lnTo>
                <a:lnTo>
                  <a:pt x="1117600" y="591312"/>
                </a:lnTo>
                <a:lnTo>
                  <a:pt x="1126489" y="574548"/>
                </a:lnTo>
                <a:lnTo>
                  <a:pt x="1136650" y="557784"/>
                </a:lnTo>
                <a:lnTo>
                  <a:pt x="1145539" y="541782"/>
                </a:lnTo>
                <a:lnTo>
                  <a:pt x="1148079" y="53644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35833" y="2971273"/>
            <a:ext cx="1818005" cy="155067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1430"/>
              </a:spcBef>
            </a:pPr>
            <a:r>
              <a:rPr sz="2800" b="1" dirty="0"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400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  <a:p>
            <a:pPr marL="638175">
              <a:lnSpc>
                <a:spcPct val="100000"/>
              </a:lnSpc>
              <a:spcBef>
                <a:spcPts val="420"/>
              </a:spcBef>
            </a:pPr>
            <a:r>
              <a:rPr sz="2400" spc="-5" dirty="0">
                <a:latin typeface="Times New Roman"/>
                <a:cs typeface="Times New Roman"/>
              </a:rPr>
              <a:t>return(id)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2635" y="920551"/>
            <a:ext cx="6389370" cy="18491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Transition Diagram</a:t>
            </a:r>
            <a:endParaRPr sz="28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680"/>
              </a:spcBef>
              <a:tabLst>
                <a:tab pos="275717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Example:	ID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5" dirty="0">
                <a:latin typeface="Times New Roman"/>
                <a:cs typeface="Times New Roman"/>
              </a:rPr>
              <a:t>letter(letter </a:t>
            </a:r>
            <a:r>
              <a:rPr sz="2800" dirty="0">
                <a:latin typeface="Times New Roman"/>
                <a:cs typeface="Times New Roman"/>
              </a:rPr>
              <a:t>| </a:t>
            </a:r>
            <a:r>
              <a:rPr sz="2800" spc="-5" dirty="0">
                <a:latin typeface="Times New Roman"/>
                <a:cs typeface="Times New Roman"/>
              </a:rPr>
              <a:t>digit)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Times New Roman"/>
              <a:cs typeface="Times New Roman"/>
            </a:endParaRPr>
          </a:p>
          <a:p>
            <a:pPr marL="407670" algn="ctr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letter 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1869" y="304545"/>
            <a:ext cx="6003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Arial"/>
                <a:cs typeface="Arial"/>
              </a:rPr>
              <a:t>Implementing Transition</a:t>
            </a:r>
            <a:r>
              <a:rPr b="0" spc="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235085" y="2584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99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4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8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1999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0999" y="0"/>
                </a:lnTo>
                <a:close/>
              </a:path>
            </a:pathLst>
          </a:custGeom>
          <a:ln w="12699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63885" y="2584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4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8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27179" y="2720847"/>
            <a:ext cx="2082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2400" dirty="0">
                <a:latin typeface="Times New Roman"/>
                <a:cs typeface="Times New Roman"/>
              </a:rPr>
              <a:t>9	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54672" y="25079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9" y="682676"/>
                </a:lnTo>
                <a:lnTo>
                  <a:pt x="482251" y="673576"/>
                </a:lnTo>
                <a:lnTo>
                  <a:pt x="529261" y="658903"/>
                </a:lnTo>
                <a:lnTo>
                  <a:pt x="573255" y="639063"/>
                </a:lnTo>
                <a:lnTo>
                  <a:pt x="613776" y="614461"/>
                </a:lnTo>
                <a:lnTo>
                  <a:pt x="650371" y="585501"/>
                </a:lnTo>
                <a:lnTo>
                  <a:pt x="682584" y="552588"/>
                </a:lnTo>
                <a:lnTo>
                  <a:pt x="709961" y="516127"/>
                </a:lnTo>
                <a:lnTo>
                  <a:pt x="732045" y="476523"/>
                </a:lnTo>
                <a:lnTo>
                  <a:pt x="748383" y="434181"/>
                </a:lnTo>
                <a:lnTo>
                  <a:pt x="758520" y="389505"/>
                </a:lnTo>
                <a:lnTo>
                  <a:pt x="762000" y="342900"/>
                </a:lnTo>
                <a:lnTo>
                  <a:pt x="758520" y="296294"/>
                </a:lnTo>
                <a:lnTo>
                  <a:pt x="748383" y="251618"/>
                </a:lnTo>
                <a:lnTo>
                  <a:pt x="732045" y="209276"/>
                </a:lnTo>
                <a:lnTo>
                  <a:pt x="709961" y="169672"/>
                </a:lnTo>
                <a:lnTo>
                  <a:pt x="682584" y="133211"/>
                </a:lnTo>
                <a:lnTo>
                  <a:pt x="650371" y="100298"/>
                </a:lnTo>
                <a:lnTo>
                  <a:pt x="613776" y="71338"/>
                </a:lnTo>
                <a:lnTo>
                  <a:pt x="573255" y="46736"/>
                </a:lnTo>
                <a:lnTo>
                  <a:pt x="529261" y="26896"/>
                </a:lnTo>
                <a:lnTo>
                  <a:pt x="482251" y="12223"/>
                </a:lnTo>
                <a:lnTo>
                  <a:pt x="432679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70579" y="2644647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20685" y="2922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7334" y="57149"/>
                </a:moveTo>
                <a:lnTo>
                  <a:pt x="767334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7334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856" y="0"/>
                </a:lnTo>
                <a:lnTo>
                  <a:pt x="752856" y="28193"/>
                </a:lnTo>
                <a:lnTo>
                  <a:pt x="767334" y="28193"/>
                </a:lnTo>
                <a:lnTo>
                  <a:pt x="767334" y="78104"/>
                </a:lnTo>
                <a:lnTo>
                  <a:pt x="838200" y="42672"/>
                </a:lnTo>
                <a:close/>
              </a:path>
              <a:path w="838200" h="85725">
                <a:moveTo>
                  <a:pt x="767334" y="78104"/>
                </a:moveTo>
                <a:lnTo>
                  <a:pt x="767334" y="57149"/>
                </a:lnTo>
                <a:lnTo>
                  <a:pt x="752856" y="57149"/>
                </a:lnTo>
                <a:lnTo>
                  <a:pt x="752856" y="85343"/>
                </a:lnTo>
                <a:lnTo>
                  <a:pt x="767334" y="7810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00181" y="23779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6581" y="2301747"/>
            <a:ext cx="650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letter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6181" y="2606547"/>
            <a:ext cx="1192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return(id)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49485" y="2846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7334" y="57150"/>
                </a:moveTo>
                <a:lnTo>
                  <a:pt x="767334" y="28193"/>
                </a:lnTo>
                <a:lnTo>
                  <a:pt x="0" y="28193"/>
                </a:lnTo>
                <a:lnTo>
                  <a:pt x="0" y="57150"/>
                </a:lnTo>
                <a:lnTo>
                  <a:pt x="767334" y="57150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856" y="0"/>
                </a:lnTo>
                <a:lnTo>
                  <a:pt x="752856" y="28193"/>
                </a:lnTo>
                <a:lnTo>
                  <a:pt x="767334" y="28193"/>
                </a:lnTo>
                <a:lnTo>
                  <a:pt x="767334" y="78104"/>
                </a:lnTo>
                <a:lnTo>
                  <a:pt x="838200" y="42671"/>
                </a:lnTo>
                <a:close/>
              </a:path>
              <a:path w="838200" h="85725">
                <a:moveTo>
                  <a:pt x="767334" y="78104"/>
                </a:moveTo>
                <a:lnTo>
                  <a:pt x="767334" y="57150"/>
                </a:lnTo>
                <a:lnTo>
                  <a:pt x="752856" y="57150"/>
                </a:lnTo>
                <a:lnTo>
                  <a:pt x="752856" y="85343"/>
                </a:lnTo>
                <a:lnTo>
                  <a:pt x="767334" y="7810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02085" y="2846323"/>
            <a:ext cx="1600200" cy="85725"/>
          </a:xfrm>
          <a:custGeom>
            <a:avLst/>
            <a:gdLst/>
            <a:ahLst/>
            <a:cxnLst/>
            <a:rect l="l" t="t" r="r" b="b"/>
            <a:pathLst>
              <a:path w="1600200" h="85725">
                <a:moveTo>
                  <a:pt x="1529334" y="57149"/>
                </a:moveTo>
                <a:lnTo>
                  <a:pt x="1529334" y="28193"/>
                </a:lnTo>
                <a:lnTo>
                  <a:pt x="0" y="28193"/>
                </a:lnTo>
                <a:lnTo>
                  <a:pt x="0" y="57150"/>
                </a:lnTo>
                <a:lnTo>
                  <a:pt x="1529334" y="57149"/>
                </a:lnTo>
                <a:close/>
              </a:path>
              <a:path w="1600200" h="85725">
                <a:moveTo>
                  <a:pt x="1600187" y="42671"/>
                </a:moveTo>
                <a:lnTo>
                  <a:pt x="1514856" y="0"/>
                </a:lnTo>
                <a:lnTo>
                  <a:pt x="1514856" y="28193"/>
                </a:lnTo>
                <a:lnTo>
                  <a:pt x="1529334" y="28193"/>
                </a:lnTo>
                <a:lnTo>
                  <a:pt x="1529334" y="78103"/>
                </a:lnTo>
                <a:lnTo>
                  <a:pt x="1600187" y="42671"/>
                </a:lnTo>
                <a:close/>
              </a:path>
              <a:path w="1600200" h="85725">
                <a:moveTo>
                  <a:pt x="1529334" y="78103"/>
                </a:moveTo>
                <a:lnTo>
                  <a:pt x="1529334" y="57149"/>
                </a:lnTo>
                <a:lnTo>
                  <a:pt x="1514856" y="57149"/>
                </a:lnTo>
                <a:lnTo>
                  <a:pt x="1514856" y="85343"/>
                </a:lnTo>
                <a:lnTo>
                  <a:pt x="1529334" y="781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14981" y="2301747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17759" y="1678939"/>
            <a:ext cx="1176020" cy="992505"/>
          </a:xfrm>
          <a:custGeom>
            <a:avLst/>
            <a:gdLst/>
            <a:ahLst/>
            <a:cxnLst/>
            <a:rect l="l" t="t" r="r" b="b"/>
            <a:pathLst>
              <a:path w="1176020" h="992505">
                <a:moveTo>
                  <a:pt x="1176020" y="421386"/>
                </a:moveTo>
                <a:lnTo>
                  <a:pt x="1173479" y="377952"/>
                </a:lnTo>
                <a:lnTo>
                  <a:pt x="1165860" y="335280"/>
                </a:lnTo>
                <a:lnTo>
                  <a:pt x="1146810" y="277368"/>
                </a:lnTo>
                <a:lnTo>
                  <a:pt x="1140460" y="262890"/>
                </a:lnTo>
                <a:lnTo>
                  <a:pt x="1135379" y="249174"/>
                </a:lnTo>
                <a:lnTo>
                  <a:pt x="1112520" y="208026"/>
                </a:lnTo>
                <a:lnTo>
                  <a:pt x="1085850" y="169926"/>
                </a:lnTo>
                <a:lnTo>
                  <a:pt x="1054100" y="134112"/>
                </a:lnTo>
                <a:lnTo>
                  <a:pt x="1018539" y="102108"/>
                </a:lnTo>
                <a:lnTo>
                  <a:pt x="980439" y="75438"/>
                </a:lnTo>
                <a:lnTo>
                  <a:pt x="965200" y="67818"/>
                </a:lnTo>
                <a:lnTo>
                  <a:pt x="952500" y="60198"/>
                </a:lnTo>
                <a:lnTo>
                  <a:pt x="937260" y="53340"/>
                </a:lnTo>
                <a:lnTo>
                  <a:pt x="922020" y="47244"/>
                </a:lnTo>
                <a:lnTo>
                  <a:pt x="913129" y="44958"/>
                </a:lnTo>
                <a:lnTo>
                  <a:pt x="895350" y="38862"/>
                </a:lnTo>
                <a:lnTo>
                  <a:pt x="868679" y="32004"/>
                </a:lnTo>
                <a:lnTo>
                  <a:pt x="848360" y="26670"/>
                </a:lnTo>
                <a:lnTo>
                  <a:pt x="828039" y="22860"/>
                </a:lnTo>
                <a:lnTo>
                  <a:pt x="783589" y="15240"/>
                </a:lnTo>
                <a:lnTo>
                  <a:pt x="736600" y="9144"/>
                </a:lnTo>
                <a:lnTo>
                  <a:pt x="689610" y="4572"/>
                </a:lnTo>
                <a:lnTo>
                  <a:pt x="664210" y="3048"/>
                </a:lnTo>
                <a:lnTo>
                  <a:pt x="640079" y="1524"/>
                </a:lnTo>
                <a:lnTo>
                  <a:pt x="588010" y="0"/>
                </a:lnTo>
                <a:lnTo>
                  <a:pt x="563879" y="0"/>
                </a:lnTo>
                <a:lnTo>
                  <a:pt x="513079" y="1524"/>
                </a:lnTo>
                <a:lnTo>
                  <a:pt x="464820" y="3810"/>
                </a:lnTo>
                <a:lnTo>
                  <a:pt x="370839" y="15240"/>
                </a:lnTo>
                <a:lnTo>
                  <a:pt x="328929" y="23622"/>
                </a:lnTo>
                <a:lnTo>
                  <a:pt x="289560" y="34290"/>
                </a:lnTo>
                <a:lnTo>
                  <a:pt x="255270" y="47244"/>
                </a:lnTo>
                <a:lnTo>
                  <a:pt x="247650" y="50292"/>
                </a:lnTo>
                <a:lnTo>
                  <a:pt x="238760" y="54102"/>
                </a:lnTo>
                <a:lnTo>
                  <a:pt x="209550" y="70866"/>
                </a:lnTo>
                <a:lnTo>
                  <a:pt x="195579" y="80772"/>
                </a:lnTo>
                <a:lnTo>
                  <a:pt x="182879" y="91440"/>
                </a:lnTo>
                <a:lnTo>
                  <a:pt x="168910" y="102870"/>
                </a:lnTo>
                <a:lnTo>
                  <a:pt x="130810" y="140208"/>
                </a:lnTo>
                <a:lnTo>
                  <a:pt x="97789" y="182118"/>
                </a:lnTo>
                <a:lnTo>
                  <a:pt x="68579" y="228600"/>
                </a:lnTo>
                <a:lnTo>
                  <a:pt x="60960" y="244602"/>
                </a:lnTo>
                <a:lnTo>
                  <a:pt x="52070" y="261366"/>
                </a:lnTo>
                <a:lnTo>
                  <a:pt x="44450" y="277368"/>
                </a:lnTo>
                <a:lnTo>
                  <a:pt x="36829" y="294132"/>
                </a:lnTo>
                <a:lnTo>
                  <a:pt x="30479" y="311658"/>
                </a:lnTo>
                <a:lnTo>
                  <a:pt x="24129" y="328422"/>
                </a:lnTo>
                <a:lnTo>
                  <a:pt x="19050" y="345186"/>
                </a:lnTo>
                <a:lnTo>
                  <a:pt x="13970" y="362712"/>
                </a:lnTo>
                <a:lnTo>
                  <a:pt x="10160" y="379476"/>
                </a:lnTo>
                <a:lnTo>
                  <a:pt x="7620" y="397002"/>
                </a:lnTo>
                <a:lnTo>
                  <a:pt x="3810" y="413766"/>
                </a:lnTo>
                <a:lnTo>
                  <a:pt x="1270" y="430530"/>
                </a:lnTo>
                <a:lnTo>
                  <a:pt x="0" y="447294"/>
                </a:lnTo>
                <a:lnTo>
                  <a:pt x="0" y="496062"/>
                </a:lnTo>
                <a:lnTo>
                  <a:pt x="6350" y="541782"/>
                </a:lnTo>
                <a:lnTo>
                  <a:pt x="20320" y="586740"/>
                </a:lnTo>
                <a:lnTo>
                  <a:pt x="26670" y="601980"/>
                </a:lnTo>
                <a:lnTo>
                  <a:pt x="27939" y="604875"/>
                </a:lnTo>
                <a:lnTo>
                  <a:pt x="27939" y="448818"/>
                </a:lnTo>
                <a:lnTo>
                  <a:pt x="30479" y="433578"/>
                </a:lnTo>
                <a:lnTo>
                  <a:pt x="31750" y="417576"/>
                </a:lnTo>
                <a:lnTo>
                  <a:pt x="38100" y="385572"/>
                </a:lnTo>
                <a:lnTo>
                  <a:pt x="41910" y="369570"/>
                </a:lnTo>
                <a:lnTo>
                  <a:pt x="46989" y="353568"/>
                </a:lnTo>
                <a:lnTo>
                  <a:pt x="52070" y="336804"/>
                </a:lnTo>
                <a:lnTo>
                  <a:pt x="69850" y="288798"/>
                </a:lnTo>
                <a:lnTo>
                  <a:pt x="102870" y="227076"/>
                </a:lnTo>
                <a:lnTo>
                  <a:pt x="132079" y="184404"/>
                </a:lnTo>
                <a:lnTo>
                  <a:pt x="165100" y="146304"/>
                </a:lnTo>
                <a:lnTo>
                  <a:pt x="213360" y="103632"/>
                </a:lnTo>
                <a:lnTo>
                  <a:pt x="240029" y="86868"/>
                </a:lnTo>
                <a:lnTo>
                  <a:pt x="252729" y="79248"/>
                </a:lnTo>
                <a:lnTo>
                  <a:pt x="290829" y="64008"/>
                </a:lnTo>
                <a:lnTo>
                  <a:pt x="335279" y="51816"/>
                </a:lnTo>
                <a:lnTo>
                  <a:pt x="375920" y="43434"/>
                </a:lnTo>
                <a:lnTo>
                  <a:pt x="443229" y="34290"/>
                </a:lnTo>
                <a:lnTo>
                  <a:pt x="514350" y="29718"/>
                </a:lnTo>
                <a:lnTo>
                  <a:pt x="538479" y="28956"/>
                </a:lnTo>
                <a:lnTo>
                  <a:pt x="588010" y="28956"/>
                </a:lnTo>
                <a:lnTo>
                  <a:pt x="613410" y="29718"/>
                </a:lnTo>
                <a:lnTo>
                  <a:pt x="661670" y="31242"/>
                </a:lnTo>
                <a:lnTo>
                  <a:pt x="687070" y="33528"/>
                </a:lnTo>
                <a:lnTo>
                  <a:pt x="709929" y="35052"/>
                </a:lnTo>
                <a:lnTo>
                  <a:pt x="779779" y="43434"/>
                </a:lnTo>
                <a:lnTo>
                  <a:pt x="822960" y="51054"/>
                </a:lnTo>
                <a:lnTo>
                  <a:pt x="880110" y="64008"/>
                </a:lnTo>
                <a:lnTo>
                  <a:pt x="887729" y="67056"/>
                </a:lnTo>
                <a:lnTo>
                  <a:pt x="896620" y="69342"/>
                </a:lnTo>
                <a:lnTo>
                  <a:pt x="904239" y="71628"/>
                </a:lnTo>
                <a:lnTo>
                  <a:pt x="911860" y="74676"/>
                </a:lnTo>
                <a:lnTo>
                  <a:pt x="919479" y="76962"/>
                </a:lnTo>
                <a:lnTo>
                  <a:pt x="977900" y="108204"/>
                </a:lnTo>
                <a:lnTo>
                  <a:pt x="1013460" y="134874"/>
                </a:lnTo>
                <a:lnTo>
                  <a:pt x="1054100" y="176022"/>
                </a:lnTo>
                <a:lnTo>
                  <a:pt x="1079500" y="211074"/>
                </a:lnTo>
                <a:lnTo>
                  <a:pt x="1088389" y="224028"/>
                </a:lnTo>
                <a:lnTo>
                  <a:pt x="1094739" y="236220"/>
                </a:lnTo>
                <a:lnTo>
                  <a:pt x="1102360" y="249174"/>
                </a:lnTo>
                <a:lnTo>
                  <a:pt x="1115060" y="275082"/>
                </a:lnTo>
                <a:lnTo>
                  <a:pt x="1130300" y="315468"/>
                </a:lnTo>
                <a:lnTo>
                  <a:pt x="1140460" y="355854"/>
                </a:lnTo>
                <a:lnTo>
                  <a:pt x="1144270" y="382524"/>
                </a:lnTo>
                <a:lnTo>
                  <a:pt x="1146810" y="395478"/>
                </a:lnTo>
                <a:lnTo>
                  <a:pt x="1146810" y="536448"/>
                </a:lnTo>
                <a:lnTo>
                  <a:pt x="1159510" y="509778"/>
                </a:lnTo>
                <a:lnTo>
                  <a:pt x="1164589" y="493776"/>
                </a:lnTo>
                <a:lnTo>
                  <a:pt x="1169670" y="478536"/>
                </a:lnTo>
                <a:lnTo>
                  <a:pt x="1170939" y="470916"/>
                </a:lnTo>
                <a:lnTo>
                  <a:pt x="1172210" y="464058"/>
                </a:lnTo>
                <a:lnTo>
                  <a:pt x="1174750" y="448818"/>
                </a:lnTo>
                <a:lnTo>
                  <a:pt x="1176020" y="421386"/>
                </a:lnTo>
                <a:close/>
              </a:path>
              <a:path w="1176020" h="992505">
                <a:moveTo>
                  <a:pt x="407670" y="970788"/>
                </a:moveTo>
                <a:lnTo>
                  <a:pt x="374650" y="941832"/>
                </a:lnTo>
                <a:lnTo>
                  <a:pt x="340360" y="913638"/>
                </a:lnTo>
                <a:lnTo>
                  <a:pt x="308610" y="884682"/>
                </a:lnTo>
                <a:lnTo>
                  <a:pt x="245110" y="828294"/>
                </a:lnTo>
                <a:lnTo>
                  <a:pt x="231139" y="813816"/>
                </a:lnTo>
                <a:lnTo>
                  <a:pt x="215900" y="799338"/>
                </a:lnTo>
                <a:lnTo>
                  <a:pt x="173989" y="757428"/>
                </a:lnTo>
                <a:lnTo>
                  <a:pt x="161289" y="742950"/>
                </a:lnTo>
                <a:lnTo>
                  <a:pt x="147320" y="729234"/>
                </a:lnTo>
                <a:lnTo>
                  <a:pt x="135889" y="714756"/>
                </a:lnTo>
                <a:lnTo>
                  <a:pt x="124460" y="701040"/>
                </a:lnTo>
                <a:lnTo>
                  <a:pt x="113029" y="686562"/>
                </a:lnTo>
                <a:lnTo>
                  <a:pt x="92710" y="659130"/>
                </a:lnTo>
                <a:lnTo>
                  <a:pt x="83820" y="644652"/>
                </a:lnTo>
                <a:lnTo>
                  <a:pt x="66039" y="617220"/>
                </a:lnTo>
                <a:lnTo>
                  <a:pt x="46989" y="576072"/>
                </a:lnTo>
                <a:lnTo>
                  <a:pt x="33020" y="534924"/>
                </a:lnTo>
                <a:lnTo>
                  <a:pt x="27939" y="493776"/>
                </a:lnTo>
                <a:lnTo>
                  <a:pt x="27939" y="604875"/>
                </a:lnTo>
                <a:lnTo>
                  <a:pt x="33020" y="616458"/>
                </a:lnTo>
                <a:lnTo>
                  <a:pt x="41910" y="631698"/>
                </a:lnTo>
                <a:lnTo>
                  <a:pt x="59689" y="660654"/>
                </a:lnTo>
                <a:lnTo>
                  <a:pt x="69850" y="675132"/>
                </a:lnTo>
                <a:lnTo>
                  <a:pt x="80010" y="690372"/>
                </a:lnTo>
                <a:lnTo>
                  <a:pt x="90170" y="704850"/>
                </a:lnTo>
                <a:lnTo>
                  <a:pt x="102870" y="719328"/>
                </a:lnTo>
                <a:lnTo>
                  <a:pt x="127000" y="748284"/>
                </a:lnTo>
                <a:lnTo>
                  <a:pt x="140970" y="762762"/>
                </a:lnTo>
                <a:lnTo>
                  <a:pt x="166370" y="791718"/>
                </a:lnTo>
                <a:lnTo>
                  <a:pt x="181610" y="806196"/>
                </a:lnTo>
                <a:lnTo>
                  <a:pt x="195579" y="819912"/>
                </a:lnTo>
                <a:lnTo>
                  <a:pt x="226060" y="848868"/>
                </a:lnTo>
                <a:lnTo>
                  <a:pt x="289560" y="906780"/>
                </a:lnTo>
                <a:lnTo>
                  <a:pt x="322579" y="934974"/>
                </a:lnTo>
                <a:lnTo>
                  <a:pt x="355600" y="963930"/>
                </a:lnTo>
                <a:lnTo>
                  <a:pt x="388620" y="992124"/>
                </a:lnTo>
                <a:lnTo>
                  <a:pt x="407670" y="970788"/>
                </a:lnTo>
                <a:close/>
              </a:path>
              <a:path w="1176020" h="992505">
                <a:moveTo>
                  <a:pt x="897413" y="829267"/>
                </a:moveTo>
                <a:lnTo>
                  <a:pt x="875029" y="811530"/>
                </a:lnTo>
                <a:lnTo>
                  <a:pt x="854710" y="905256"/>
                </a:lnTo>
                <a:lnTo>
                  <a:pt x="889000" y="889452"/>
                </a:lnTo>
                <a:lnTo>
                  <a:pt x="889000" y="840486"/>
                </a:lnTo>
                <a:lnTo>
                  <a:pt x="897413" y="829267"/>
                </a:lnTo>
                <a:close/>
              </a:path>
              <a:path w="1176020" h="992505">
                <a:moveTo>
                  <a:pt x="919478" y="846753"/>
                </a:moveTo>
                <a:lnTo>
                  <a:pt x="897413" y="829267"/>
                </a:lnTo>
                <a:lnTo>
                  <a:pt x="889000" y="840486"/>
                </a:lnTo>
                <a:lnTo>
                  <a:pt x="910589" y="858012"/>
                </a:lnTo>
                <a:lnTo>
                  <a:pt x="919478" y="846753"/>
                </a:lnTo>
                <a:close/>
              </a:path>
              <a:path w="1176020" h="992505">
                <a:moveTo>
                  <a:pt x="942339" y="864870"/>
                </a:moveTo>
                <a:lnTo>
                  <a:pt x="919478" y="846753"/>
                </a:lnTo>
                <a:lnTo>
                  <a:pt x="910589" y="858012"/>
                </a:lnTo>
                <a:lnTo>
                  <a:pt x="889000" y="840486"/>
                </a:lnTo>
                <a:lnTo>
                  <a:pt x="889000" y="889452"/>
                </a:lnTo>
                <a:lnTo>
                  <a:pt x="942339" y="864870"/>
                </a:lnTo>
                <a:close/>
              </a:path>
              <a:path w="1176020" h="992505">
                <a:moveTo>
                  <a:pt x="1146810" y="536448"/>
                </a:moveTo>
                <a:lnTo>
                  <a:pt x="1146810" y="447294"/>
                </a:lnTo>
                <a:lnTo>
                  <a:pt x="1141729" y="471678"/>
                </a:lnTo>
                <a:lnTo>
                  <a:pt x="1136650" y="485394"/>
                </a:lnTo>
                <a:lnTo>
                  <a:pt x="1131570" y="499872"/>
                </a:lnTo>
                <a:lnTo>
                  <a:pt x="1125220" y="514350"/>
                </a:lnTo>
                <a:lnTo>
                  <a:pt x="1118870" y="529590"/>
                </a:lnTo>
                <a:lnTo>
                  <a:pt x="1109979" y="544830"/>
                </a:lnTo>
                <a:lnTo>
                  <a:pt x="1102360" y="560832"/>
                </a:lnTo>
                <a:lnTo>
                  <a:pt x="1082039" y="592836"/>
                </a:lnTo>
                <a:lnTo>
                  <a:pt x="1036320" y="659130"/>
                </a:lnTo>
                <a:lnTo>
                  <a:pt x="1010920" y="691896"/>
                </a:lnTo>
                <a:lnTo>
                  <a:pt x="985520" y="723900"/>
                </a:lnTo>
                <a:lnTo>
                  <a:pt x="972820" y="739140"/>
                </a:lnTo>
                <a:lnTo>
                  <a:pt x="960120" y="755142"/>
                </a:lnTo>
                <a:lnTo>
                  <a:pt x="923289" y="798576"/>
                </a:lnTo>
                <a:lnTo>
                  <a:pt x="911860" y="812292"/>
                </a:lnTo>
                <a:lnTo>
                  <a:pt x="900429" y="825246"/>
                </a:lnTo>
                <a:lnTo>
                  <a:pt x="897413" y="829267"/>
                </a:lnTo>
                <a:lnTo>
                  <a:pt x="919478" y="846753"/>
                </a:lnTo>
                <a:lnTo>
                  <a:pt x="922020" y="843534"/>
                </a:lnTo>
                <a:lnTo>
                  <a:pt x="933450" y="830580"/>
                </a:lnTo>
                <a:lnTo>
                  <a:pt x="994410" y="757428"/>
                </a:lnTo>
                <a:lnTo>
                  <a:pt x="1033779" y="709422"/>
                </a:lnTo>
                <a:lnTo>
                  <a:pt x="1071879" y="659130"/>
                </a:lnTo>
                <a:lnTo>
                  <a:pt x="1127760" y="574548"/>
                </a:lnTo>
                <a:lnTo>
                  <a:pt x="1136650" y="557784"/>
                </a:lnTo>
                <a:lnTo>
                  <a:pt x="1146810" y="53644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22635" y="818718"/>
            <a:ext cx="6467475" cy="88391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3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Mapping transition diagrams into 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  <a:p>
            <a:pPr marL="3237865">
              <a:lnSpc>
                <a:spcPct val="100000"/>
              </a:lnSpc>
              <a:spcBef>
                <a:spcPts val="235"/>
              </a:spcBef>
            </a:pPr>
            <a:r>
              <a:rPr sz="2400" spc="-5" dirty="0">
                <a:latin typeface="Times New Roman"/>
                <a:cs typeface="Times New Roman"/>
              </a:rPr>
              <a:t>letter 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339" y="3269996"/>
            <a:ext cx="7848600" cy="32004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777875">
              <a:lnSpc>
                <a:spcPts val="2875"/>
              </a:lnSpc>
              <a:spcBef>
                <a:spcPts val="275"/>
              </a:spcBef>
            </a:pPr>
            <a:r>
              <a:rPr sz="2400" spc="-5" dirty="0">
                <a:latin typeface="Times New Roman"/>
                <a:cs typeface="Times New Roman"/>
              </a:rPr>
              <a:t>switch (state)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777875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777875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case </a:t>
            </a:r>
            <a:r>
              <a:rPr sz="2400" spc="-5" dirty="0">
                <a:latin typeface="Times New Roman"/>
                <a:cs typeface="Times New Roman"/>
              </a:rPr>
              <a:t>9: </a:t>
            </a:r>
            <a:r>
              <a:rPr sz="2400" dirty="0">
                <a:latin typeface="Times New Roman"/>
                <a:cs typeface="Times New Roman"/>
              </a:rPr>
              <a:t>c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nextchar();</a:t>
            </a:r>
            <a:endParaRPr sz="2400">
              <a:latin typeface="Times New Roman"/>
              <a:cs typeface="Times New Roman"/>
            </a:endParaRPr>
          </a:p>
          <a:p>
            <a:pPr marL="777875" marR="1586865" indent="91440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if (isletter( c) 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spc="-10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= 10; else </a:t>
            </a: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=  </a:t>
            </a:r>
            <a:r>
              <a:rPr sz="2400" spc="-5" dirty="0">
                <a:latin typeface="Times New Roman"/>
                <a:cs typeface="Times New Roman"/>
              </a:rPr>
              <a:t>failure();</a:t>
            </a:r>
            <a:endParaRPr sz="2400">
              <a:latin typeface="Times New Roman"/>
              <a:cs typeface="Times New Roman"/>
            </a:endParaRPr>
          </a:p>
          <a:p>
            <a:pPr marL="777875" marR="5386705" indent="914400">
              <a:lnSpc>
                <a:spcPts val="2880"/>
              </a:lnSpc>
            </a:pPr>
            <a:r>
              <a:rPr sz="2400" spc="-5" dirty="0">
                <a:latin typeface="Times New Roman"/>
                <a:cs typeface="Times New Roman"/>
              </a:rPr>
              <a:t>break;  </a:t>
            </a:r>
            <a:r>
              <a:rPr sz="2400" dirty="0">
                <a:latin typeface="Times New Roman"/>
                <a:cs typeface="Times New Roman"/>
              </a:rPr>
              <a:t>case </a:t>
            </a:r>
            <a:r>
              <a:rPr sz="2400" spc="-5" dirty="0">
                <a:latin typeface="Times New Roman"/>
                <a:cs typeface="Times New Roman"/>
              </a:rPr>
              <a:t>10: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….</a:t>
            </a:r>
            <a:endParaRPr sz="2400">
              <a:latin typeface="Times New Roman"/>
              <a:cs typeface="Times New Roman"/>
            </a:endParaRPr>
          </a:p>
          <a:p>
            <a:pPr marL="777875">
              <a:lnSpc>
                <a:spcPts val="2780"/>
              </a:lnSpc>
            </a:pPr>
            <a:r>
              <a:rPr sz="2400" spc="-5" dirty="0">
                <a:latin typeface="Times New Roman"/>
                <a:cs typeface="Times New Roman"/>
              </a:rPr>
              <a:t>case 11: retract(1); insert(id);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797" y="304545"/>
            <a:ext cx="41071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Lexical analyzer</a:t>
            </a:r>
            <a:r>
              <a:rPr spc="-15" dirty="0"/>
              <a:t> </a:t>
            </a:r>
            <a:r>
              <a:rPr spc="-10"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838339" y="983996"/>
            <a:ext cx="8382000" cy="5246370"/>
          </a:xfrm>
          <a:custGeom>
            <a:avLst/>
            <a:gdLst/>
            <a:ahLst/>
            <a:cxnLst/>
            <a:rect l="l" t="t" r="r" b="b"/>
            <a:pathLst>
              <a:path w="8382000" h="5246370">
                <a:moveTo>
                  <a:pt x="0" y="0"/>
                </a:moveTo>
                <a:lnTo>
                  <a:pt x="0" y="5246370"/>
                </a:lnTo>
                <a:lnTo>
                  <a:pt x="8382000" y="5246370"/>
                </a:lnTo>
                <a:lnTo>
                  <a:pt x="8382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8835" y="1006347"/>
            <a:ext cx="250571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Token nexttoken()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 </a:t>
            </a:r>
            <a:r>
              <a:rPr sz="2400" spc="-5" dirty="0">
                <a:latin typeface="Times New Roman"/>
                <a:cs typeface="Times New Roman"/>
              </a:rPr>
              <a:t>while (1)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ts val="2870"/>
              </a:lnSpc>
            </a:pPr>
            <a:r>
              <a:rPr sz="2400" spc="-5" dirty="0">
                <a:latin typeface="Times New Roman"/>
                <a:cs typeface="Times New Roman"/>
              </a:rPr>
              <a:t>switch (state)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3635" y="2101341"/>
            <a:ext cx="86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3635" y="3927094"/>
            <a:ext cx="86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9: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3635" y="5022088"/>
            <a:ext cx="1016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10: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case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11: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7468" y="2101341"/>
            <a:ext cx="5278755" cy="404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nextchar();</a:t>
            </a:r>
            <a:endParaRPr sz="2400">
              <a:latin typeface="Times New Roman"/>
              <a:cs typeface="Times New Roman"/>
            </a:endParaRPr>
          </a:p>
          <a:p>
            <a:pPr marL="12700" marR="1678939">
              <a:lnSpc>
                <a:spcPct val="99900"/>
              </a:lnSpc>
            </a:pPr>
            <a:r>
              <a:rPr sz="2400" spc="-5" dirty="0">
                <a:latin typeface="Times New Roman"/>
                <a:cs typeface="Times New Roman"/>
              </a:rPr>
              <a:t>if (c is white space) state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0;  else if (c == ‘&lt;‘) state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1;  else if (c == ‘=‘) state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5;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c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nextchar();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if (isletter( c) 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10; else state =fail();  break;</a:t>
            </a:r>
            <a:endParaRPr sz="2400">
              <a:latin typeface="Times New Roman"/>
              <a:cs typeface="Times New Roman"/>
            </a:endParaRPr>
          </a:p>
          <a:p>
            <a:pPr marL="13335">
              <a:lnSpc>
                <a:spcPts val="2785"/>
              </a:lnSpc>
            </a:pPr>
            <a:r>
              <a:rPr sz="2400" spc="-5" dirty="0">
                <a:latin typeface="Times New Roman"/>
                <a:cs typeface="Times New Roman"/>
              </a:rPr>
              <a:t>….</a:t>
            </a:r>
            <a:endParaRPr sz="2400">
              <a:latin typeface="Times New Roman"/>
              <a:cs typeface="Times New Roman"/>
            </a:endParaRPr>
          </a:p>
          <a:p>
            <a:pPr marL="12700" marR="2763520" indent="-6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retract(1); insert(id);  return;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5649" y="304545"/>
            <a:ext cx="64725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 with </a:t>
            </a:r>
            <a:r>
              <a:rPr spc="-10" dirty="0"/>
              <a:t>multiple accepting</a:t>
            </a:r>
            <a:r>
              <a:rPr spc="0" dirty="0"/>
              <a:t> </a:t>
            </a:r>
            <a:r>
              <a:rPr spc="-10" dirty="0"/>
              <a:t>states</a:t>
            </a:r>
          </a:p>
        </p:txBody>
      </p:sp>
      <p:sp>
        <p:nvSpPr>
          <p:cNvPr id="3" name="object 3"/>
          <p:cNvSpPr/>
          <p:nvPr/>
        </p:nvSpPr>
        <p:spPr>
          <a:xfrm>
            <a:off x="1289189" y="1959355"/>
            <a:ext cx="7426312" cy="2634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139" y="3227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0635" y="26827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4327" y="296519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43" y="3987"/>
                </a:lnTo>
                <a:lnTo>
                  <a:pt x="208434" y="15532"/>
                </a:lnTo>
                <a:lnTo>
                  <a:pt x="164697" y="34008"/>
                </a:lnTo>
                <a:lnTo>
                  <a:pt x="124760" y="58789"/>
                </a:lnTo>
                <a:lnTo>
                  <a:pt x="89249" y="89249"/>
                </a:lnTo>
                <a:lnTo>
                  <a:pt x="58789" y="124760"/>
                </a:lnTo>
                <a:lnTo>
                  <a:pt x="34008" y="164697"/>
                </a:lnTo>
                <a:lnTo>
                  <a:pt x="15532" y="208434"/>
                </a:lnTo>
                <a:lnTo>
                  <a:pt x="3987" y="255343"/>
                </a:lnTo>
                <a:lnTo>
                  <a:pt x="0" y="304800"/>
                </a:lnTo>
                <a:lnTo>
                  <a:pt x="3987" y="354256"/>
                </a:lnTo>
                <a:lnTo>
                  <a:pt x="15532" y="401165"/>
                </a:lnTo>
                <a:lnTo>
                  <a:pt x="34008" y="444902"/>
                </a:lnTo>
                <a:lnTo>
                  <a:pt x="58789" y="484839"/>
                </a:lnTo>
                <a:lnTo>
                  <a:pt x="89249" y="520350"/>
                </a:lnTo>
                <a:lnTo>
                  <a:pt x="124760" y="550810"/>
                </a:lnTo>
                <a:lnTo>
                  <a:pt x="164697" y="575591"/>
                </a:lnTo>
                <a:lnTo>
                  <a:pt x="208434" y="594067"/>
                </a:lnTo>
                <a:lnTo>
                  <a:pt x="255343" y="605612"/>
                </a:lnTo>
                <a:lnTo>
                  <a:pt x="304800" y="609600"/>
                </a:lnTo>
                <a:lnTo>
                  <a:pt x="354259" y="605612"/>
                </a:lnTo>
                <a:lnTo>
                  <a:pt x="401170" y="594067"/>
                </a:lnTo>
                <a:lnTo>
                  <a:pt x="444907" y="575591"/>
                </a:lnTo>
                <a:lnTo>
                  <a:pt x="484844" y="550810"/>
                </a:lnTo>
                <a:lnTo>
                  <a:pt x="520355" y="520350"/>
                </a:lnTo>
                <a:lnTo>
                  <a:pt x="550813" y="484839"/>
                </a:lnTo>
                <a:lnTo>
                  <a:pt x="575593" y="444902"/>
                </a:lnTo>
                <a:lnTo>
                  <a:pt x="594068" y="401165"/>
                </a:lnTo>
                <a:lnTo>
                  <a:pt x="605612" y="354256"/>
                </a:lnTo>
                <a:lnTo>
                  <a:pt x="609600" y="304800"/>
                </a:lnTo>
                <a:lnTo>
                  <a:pt x="605612" y="255343"/>
                </a:lnTo>
                <a:lnTo>
                  <a:pt x="594068" y="208434"/>
                </a:lnTo>
                <a:lnTo>
                  <a:pt x="575593" y="164697"/>
                </a:lnTo>
                <a:lnTo>
                  <a:pt x="550813" y="124760"/>
                </a:lnTo>
                <a:lnTo>
                  <a:pt x="520355" y="89249"/>
                </a:lnTo>
                <a:lnTo>
                  <a:pt x="484844" y="58789"/>
                </a:lnTo>
                <a:lnTo>
                  <a:pt x="444907" y="34008"/>
                </a:lnTo>
                <a:lnTo>
                  <a:pt x="401170" y="15532"/>
                </a:lnTo>
                <a:lnTo>
                  <a:pt x="354259" y="3987"/>
                </a:lnTo>
                <a:lnTo>
                  <a:pt x="3048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7127" y="3227323"/>
            <a:ext cx="457200" cy="85725"/>
          </a:xfrm>
          <a:custGeom>
            <a:avLst/>
            <a:gdLst/>
            <a:ahLst/>
            <a:cxnLst/>
            <a:rect l="l" t="t" r="r" b="b"/>
            <a:pathLst>
              <a:path w="457200" h="85725">
                <a:moveTo>
                  <a:pt x="385572" y="57149"/>
                </a:moveTo>
                <a:lnTo>
                  <a:pt x="385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385572" y="57149"/>
                </a:lnTo>
                <a:close/>
              </a:path>
              <a:path w="457200" h="85725">
                <a:moveTo>
                  <a:pt x="457200" y="42672"/>
                </a:moveTo>
                <a:lnTo>
                  <a:pt x="371094" y="0"/>
                </a:lnTo>
                <a:lnTo>
                  <a:pt x="371094" y="28193"/>
                </a:lnTo>
                <a:lnTo>
                  <a:pt x="385572" y="28193"/>
                </a:lnTo>
                <a:lnTo>
                  <a:pt x="385572" y="78169"/>
                </a:lnTo>
                <a:lnTo>
                  <a:pt x="457200" y="42672"/>
                </a:lnTo>
                <a:close/>
              </a:path>
              <a:path w="457200" h="85725">
                <a:moveTo>
                  <a:pt x="385572" y="78169"/>
                </a:moveTo>
                <a:lnTo>
                  <a:pt x="385572" y="57149"/>
                </a:lnTo>
                <a:lnTo>
                  <a:pt x="371094" y="57149"/>
                </a:lnTo>
                <a:lnTo>
                  <a:pt x="371094" y="85343"/>
                </a:lnTo>
                <a:lnTo>
                  <a:pt x="385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27435" y="4665471"/>
            <a:ext cx="1836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Accepting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integer</a:t>
            </a:r>
            <a:endParaRPr sz="200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e.g.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29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2235" y="2836673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5634" y="2074674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2032" y="3293873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9232" y="2227074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9030" y="1998474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6828" y="2227074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1029" y="3370073"/>
            <a:ext cx="490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37828" y="3522472"/>
            <a:ext cx="546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other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08831" y="3598672"/>
            <a:ext cx="546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other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2834" y="3598672"/>
            <a:ext cx="546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other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7635" y="2758948"/>
            <a:ext cx="114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8835" y="1007872"/>
            <a:ext cx="593725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NUM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5" dirty="0">
                <a:latin typeface="Times New Roman"/>
                <a:cs typeface="Times New Roman"/>
              </a:rPr>
              <a:t>digit+ (.digit+)? (E(+|-)?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digit+)?</a:t>
            </a:r>
            <a:endParaRPr sz="2800">
              <a:latin typeface="Times New Roman"/>
              <a:cs typeface="Times New Roman"/>
            </a:endParaRPr>
          </a:p>
          <a:p>
            <a:pPr marR="719455" algn="ctr">
              <a:lnSpc>
                <a:spcPct val="100000"/>
              </a:lnSpc>
              <a:spcBef>
                <a:spcPts val="2635"/>
              </a:spcBef>
            </a:pPr>
            <a:r>
              <a:rPr sz="2000" spc="-5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89833" y="2760471"/>
            <a:ext cx="1809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0524" y="2760471"/>
            <a:ext cx="3238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/-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65835" y="4741669"/>
            <a:ext cx="1596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Accepting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float</a:t>
            </a:r>
            <a:endParaRPr sz="200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e.g.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12.31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3857" y="4741669"/>
            <a:ext cx="1596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Accepting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float</a:t>
            </a:r>
            <a:endParaRPr sz="200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e.g.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12.31E4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5649" y="571245"/>
            <a:ext cx="64725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 with </a:t>
            </a:r>
            <a:r>
              <a:rPr spc="-10" dirty="0"/>
              <a:t>multiple accepting</a:t>
            </a:r>
            <a:r>
              <a:rPr spc="0" dirty="0"/>
              <a:t> </a:t>
            </a:r>
            <a:r>
              <a:rPr spc="-10" dirty="0"/>
              <a:t>states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485" y="1335904"/>
            <a:ext cx="8277859" cy="466471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Two ways to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implement: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4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Implement it as multiple regular</a:t>
            </a:r>
            <a:r>
              <a:rPr sz="2800" spc="-10" dirty="0">
                <a:latin typeface="Times New Roman"/>
                <a:cs typeface="Times New Roman"/>
              </a:rPr>
              <a:t> expressions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015" marR="5080">
              <a:lnSpc>
                <a:spcPct val="89900"/>
              </a:lnSpc>
              <a:spcBef>
                <a:spcPts val="585"/>
              </a:spcBef>
              <a:tabLst>
                <a:tab pos="3647440" algn="l"/>
                <a:tab pos="7590155" algn="l"/>
              </a:tabLst>
            </a:pPr>
            <a:r>
              <a:rPr sz="2400" dirty="0">
                <a:latin typeface="Times New Roman"/>
                <a:cs typeface="Times New Roman"/>
              </a:rPr>
              <a:t>each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5" dirty="0">
                <a:latin typeface="Times New Roman"/>
                <a:cs typeface="Times New Roman"/>
              </a:rPr>
              <a:t> own start	</a:t>
            </a:r>
            <a:r>
              <a:rPr sz="2400" dirty="0">
                <a:latin typeface="Times New Roman"/>
                <a:cs typeface="Times New Roman"/>
              </a:rPr>
              <a:t>and accepting </a:t>
            </a:r>
            <a:r>
              <a:rPr sz="2400" spc="-5" dirty="0">
                <a:latin typeface="Times New Roman"/>
                <a:cs typeface="Times New Roman"/>
              </a:rPr>
              <a:t>states. Starting with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 </a:t>
            </a:r>
            <a:r>
              <a:rPr sz="2400" dirty="0">
                <a:latin typeface="Times New Roman"/>
                <a:cs typeface="Times New Roman"/>
              </a:rPr>
              <a:t>longest </a:t>
            </a:r>
            <a:r>
              <a:rPr sz="2400" spc="-5" dirty="0">
                <a:latin typeface="Times New Roman"/>
                <a:cs typeface="Times New Roman"/>
              </a:rPr>
              <a:t>one first, </a:t>
            </a: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failed, </a:t>
            </a:r>
            <a:r>
              <a:rPr sz="2400" dirty="0">
                <a:latin typeface="Times New Roman"/>
                <a:cs typeface="Times New Roman"/>
              </a:rPr>
              <a:t>then change the </a:t>
            </a:r>
            <a:r>
              <a:rPr sz="2400" spc="-5" dirty="0">
                <a:latin typeface="Times New Roman"/>
                <a:cs typeface="Times New Roman"/>
              </a:rPr>
              <a:t>start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to	a  </a:t>
            </a:r>
            <a:r>
              <a:rPr sz="2400" spc="-5" dirty="0">
                <a:latin typeface="Times New Roman"/>
                <a:cs typeface="Times New Roman"/>
              </a:rPr>
              <a:t>shorter RE,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re-scan. See </a:t>
            </a:r>
            <a:r>
              <a:rPr sz="2400" dirty="0">
                <a:latin typeface="Times New Roman"/>
                <a:cs typeface="Times New Roman"/>
              </a:rPr>
              <a:t>example </a:t>
            </a:r>
            <a:r>
              <a:rPr sz="2400" spc="-5" dirty="0">
                <a:latin typeface="Times New Roman"/>
                <a:cs typeface="Times New Roman"/>
              </a:rPr>
              <a:t>of Fig. 3.15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3.16 </a:t>
            </a:r>
            <a:r>
              <a:rPr sz="2400" dirty="0">
                <a:latin typeface="Times New Roman"/>
                <a:cs typeface="Times New Roman"/>
              </a:rPr>
              <a:t>in 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textbook.</a:t>
            </a:r>
            <a:endParaRPr sz="2400">
              <a:latin typeface="Times New Roman"/>
              <a:cs typeface="Times New Roman"/>
            </a:endParaRPr>
          </a:p>
          <a:p>
            <a:pPr marL="755650" marR="379095" lvl="1" indent="-285750">
              <a:lnSpc>
                <a:spcPts val="3020"/>
              </a:lnSpc>
              <a:spcBef>
                <a:spcPts val="71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Implement it as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transition diagram with multiple  accepting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650" marR="48895">
              <a:lnSpc>
                <a:spcPct val="89900"/>
              </a:lnSpc>
              <a:spcBef>
                <a:spcPts val="540"/>
              </a:spcBef>
            </a:pPr>
            <a:r>
              <a:rPr sz="2400" dirty="0">
                <a:latin typeface="Times New Roman"/>
                <a:cs typeface="Times New Roman"/>
              </a:rPr>
              <a:t>When the transition arrives </a:t>
            </a:r>
            <a:r>
              <a:rPr sz="2400" spc="-5" dirty="0">
                <a:latin typeface="Times New Roman"/>
                <a:cs typeface="Times New Roman"/>
              </a:rPr>
              <a:t>at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first </a:t>
            </a:r>
            <a:r>
              <a:rPr sz="2400" dirty="0">
                <a:latin typeface="Times New Roman"/>
                <a:cs typeface="Times New Roman"/>
              </a:rPr>
              <a:t>two accepting </a:t>
            </a:r>
            <a:r>
              <a:rPr sz="2400" spc="-5" dirty="0">
                <a:latin typeface="Times New Roman"/>
                <a:cs typeface="Times New Roman"/>
              </a:rPr>
              <a:t>states,  </a:t>
            </a:r>
            <a:r>
              <a:rPr sz="2400" dirty="0">
                <a:latin typeface="Times New Roman"/>
                <a:cs typeface="Times New Roman"/>
              </a:rPr>
              <a:t>just </a:t>
            </a:r>
            <a:r>
              <a:rPr sz="2400" spc="-5" dirty="0">
                <a:latin typeface="Times New Roman"/>
                <a:cs typeface="Times New Roman"/>
              </a:rPr>
              <a:t>remember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states, but </a:t>
            </a:r>
            <a:r>
              <a:rPr sz="2400" spc="-10" dirty="0">
                <a:latin typeface="Times New Roman"/>
                <a:cs typeface="Times New Roman"/>
              </a:rPr>
              <a:t>keep </a:t>
            </a:r>
            <a:r>
              <a:rPr sz="2400" spc="-5" dirty="0">
                <a:latin typeface="Times New Roman"/>
                <a:cs typeface="Times New Roman"/>
              </a:rPr>
              <a:t>advancing until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failure is  occurred. </a:t>
            </a:r>
            <a:r>
              <a:rPr sz="2400" dirty="0">
                <a:latin typeface="Times New Roman"/>
                <a:cs typeface="Times New Roman"/>
              </a:rPr>
              <a:t>Then </a:t>
            </a:r>
            <a:r>
              <a:rPr sz="2400" spc="-5" dirty="0">
                <a:latin typeface="Times New Roman"/>
                <a:cs typeface="Times New Roman"/>
              </a:rPr>
              <a:t>backup </a:t>
            </a:r>
            <a:r>
              <a:rPr sz="2400" dirty="0">
                <a:latin typeface="Times New Roman"/>
                <a:cs typeface="Times New Roman"/>
              </a:rPr>
              <a:t>the input to the </a:t>
            </a:r>
            <a:r>
              <a:rPr sz="2400" spc="-5" dirty="0">
                <a:latin typeface="Times New Roman"/>
                <a:cs typeface="Times New Roman"/>
              </a:rPr>
              <a:t>position of </a:t>
            </a:r>
            <a:r>
              <a:rPr sz="2400" dirty="0">
                <a:latin typeface="Times New Roman"/>
                <a:cs typeface="Times New Roman"/>
              </a:rPr>
              <a:t>the last  </a:t>
            </a:r>
            <a:r>
              <a:rPr sz="2400" spc="-5" dirty="0">
                <a:latin typeface="Times New Roman"/>
                <a:cs typeface="Times New Roman"/>
              </a:rPr>
              <a:t>accepting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3819" y="509524"/>
            <a:ext cx="52800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Transition Table </a:t>
            </a:r>
            <a:r>
              <a:rPr spc="-5" dirty="0"/>
              <a:t>and </a:t>
            </a:r>
            <a:r>
              <a:rPr spc="-10" dirty="0"/>
              <a:t>Driver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428495"/>
            <a:ext cx="6369050" cy="459549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41275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transition diagram can be naturally  implemented by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transition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table.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95"/>
              </a:spcBef>
            </a:pPr>
            <a:r>
              <a:rPr sz="2800" dirty="0">
                <a:latin typeface="Times New Roman"/>
                <a:cs typeface="Times New Roman"/>
              </a:rPr>
              <a:t>Table[ </a:t>
            </a:r>
            <a:r>
              <a:rPr sz="2800" spc="-5" dirty="0">
                <a:latin typeface="Times New Roman"/>
                <a:cs typeface="Times New Roman"/>
              </a:rPr>
              <a:t>state </a:t>
            </a:r>
            <a:r>
              <a:rPr sz="2800" dirty="0">
                <a:latin typeface="Times New Roman"/>
                <a:cs typeface="Times New Roman"/>
              </a:rPr>
              <a:t>] [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c]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345"/>
              </a:spcBef>
            </a:pP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driver </a:t>
            </a:r>
            <a:r>
              <a:rPr sz="2800" dirty="0">
                <a:latin typeface="Times New Roman"/>
                <a:cs typeface="Times New Roman"/>
              </a:rPr>
              <a:t>looks 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While </a:t>
            </a:r>
            <a:r>
              <a:rPr sz="2800" spc="-5" dirty="0">
                <a:latin typeface="Times New Roman"/>
                <a:cs typeface="Times New Roman"/>
              </a:rPr>
              <a:t>(not </a:t>
            </a:r>
            <a:r>
              <a:rPr sz="2800" dirty="0">
                <a:latin typeface="Times New Roman"/>
                <a:cs typeface="Times New Roman"/>
              </a:rPr>
              <a:t>eof)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27100" marR="5080">
              <a:lnSpc>
                <a:spcPct val="110200"/>
              </a:lnSpc>
            </a:pPr>
            <a:r>
              <a:rPr sz="2800" spc="-5" dirty="0">
                <a:latin typeface="Times New Roman"/>
                <a:cs typeface="Times New Roman"/>
              </a:rPr>
              <a:t>new_state </a:t>
            </a:r>
            <a:r>
              <a:rPr sz="2800" dirty="0">
                <a:latin typeface="Times New Roman"/>
                <a:cs typeface="Times New Roman"/>
              </a:rPr>
              <a:t>= </a:t>
            </a:r>
            <a:r>
              <a:rPr sz="2800" spc="-5" dirty="0">
                <a:latin typeface="Times New Roman"/>
                <a:cs typeface="Times New Roman"/>
              </a:rPr>
              <a:t>Table [current_state </a:t>
            </a:r>
            <a:r>
              <a:rPr sz="2800" dirty="0">
                <a:latin typeface="Times New Roman"/>
                <a:cs typeface="Times New Roman"/>
              </a:rPr>
              <a:t>] </a:t>
            </a:r>
            <a:r>
              <a:rPr sz="2800" spc="-5" dirty="0">
                <a:latin typeface="Times New Roman"/>
                <a:cs typeface="Times New Roman"/>
              </a:rPr>
              <a:t>[c </a:t>
            </a:r>
            <a:r>
              <a:rPr sz="2800" dirty="0">
                <a:latin typeface="Times New Roman"/>
                <a:cs typeface="Times New Roman"/>
              </a:rPr>
              <a:t>]  c 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nextchar();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Times New Roman"/>
                <a:cs typeface="Times New Roman"/>
              </a:rPr>
              <a:t>current_state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new_state;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345"/>
              </a:spcBef>
            </a:pPr>
            <a:r>
              <a:rPr sz="280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177" y="328168"/>
            <a:ext cx="64090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1140" marR="5080" indent="-148907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LEX – A </a:t>
            </a:r>
            <a:r>
              <a:rPr spc="-10" dirty="0"/>
              <a:t>Language </a:t>
            </a:r>
            <a:r>
              <a:rPr spc="-5" dirty="0"/>
              <a:t>for </a:t>
            </a:r>
            <a:r>
              <a:rPr spc="-10" dirty="0"/>
              <a:t>Specifying </a:t>
            </a:r>
            <a:r>
              <a:rPr u="none" spc="-10" dirty="0"/>
              <a:t> </a:t>
            </a:r>
            <a:r>
              <a:rPr spc="-10" dirty="0"/>
              <a:t>Lexical Analyzers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435468"/>
            <a:ext cx="7451090" cy="43764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Lex is a lexical analyzer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generator</a:t>
            </a:r>
            <a:endParaRPr sz="32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Implemented by Lesk and Schmidt of Bell Lab  initially for Unix</a:t>
            </a:r>
            <a:endParaRPr sz="2800">
              <a:latin typeface="Times New Roman"/>
              <a:cs typeface="Times New Roman"/>
            </a:endParaRPr>
          </a:p>
          <a:p>
            <a:pPr marL="755650" marR="668655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Not only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table generator, but also allows  “actions”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associate 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RE’s.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Lex is widely used in the Unix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community</a:t>
            </a:r>
            <a:endParaRPr sz="2800">
              <a:latin typeface="Times New Roman"/>
              <a:cs typeface="Times New Roman"/>
            </a:endParaRPr>
          </a:p>
          <a:p>
            <a:pPr marL="755650" marR="724535" lvl="1" indent="-285750" algn="just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Lex is not efficient enough for production  compilers, however, Flex (Fast Lex) is an  improved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version.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5449" y="433324"/>
            <a:ext cx="20554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Lex</a:t>
            </a:r>
            <a:r>
              <a:rPr spc="-75" dirty="0"/>
              <a:t> </a:t>
            </a:r>
            <a:r>
              <a:rPr spc="-10" dirty="0"/>
              <a:t>Usage</a:t>
            </a:r>
          </a:p>
        </p:txBody>
      </p:sp>
      <p:sp>
        <p:nvSpPr>
          <p:cNvPr id="3" name="object 3"/>
          <p:cNvSpPr/>
          <p:nvPr/>
        </p:nvSpPr>
        <p:spPr>
          <a:xfrm>
            <a:off x="3581539" y="1441196"/>
            <a:ext cx="2438400" cy="1066800"/>
          </a:xfrm>
          <a:custGeom>
            <a:avLst/>
            <a:gdLst/>
            <a:ahLst/>
            <a:cxnLst/>
            <a:rect l="l" t="t" r="r" b="b"/>
            <a:pathLst>
              <a:path w="2438400" h="1066800">
                <a:moveTo>
                  <a:pt x="0" y="0"/>
                </a:moveTo>
                <a:lnTo>
                  <a:pt x="0" y="1066800"/>
                </a:lnTo>
                <a:lnTo>
                  <a:pt x="2438400" y="1066800"/>
                </a:lnTo>
                <a:lnTo>
                  <a:pt x="24384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51813" y="1768347"/>
            <a:ext cx="499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Lex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539" y="1931923"/>
            <a:ext cx="1828800" cy="85725"/>
          </a:xfrm>
          <a:custGeom>
            <a:avLst/>
            <a:gdLst/>
            <a:ahLst/>
            <a:cxnLst/>
            <a:rect l="l" t="t" r="r" b="b"/>
            <a:pathLst>
              <a:path w="1828800" h="85725">
                <a:moveTo>
                  <a:pt x="1757172" y="57149"/>
                </a:moveTo>
                <a:lnTo>
                  <a:pt x="1757172" y="28193"/>
                </a:lnTo>
                <a:lnTo>
                  <a:pt x="0" y="28193"/>
                </a:lnTo>
                <a:lnTo>
                  <a:pt x="0" y="57150"/>
                </a:lnTo>
                <a:lnTo>
                  <a:pt x="1757172" y="57149"/>
                </a:lnTo>
                <a:close/>
              </a:path>
              <a:path w="1828800" h="85725">
                <a:moveTo>
                  <a:pt x="1828800" y="42671"/>
                </a:moveTo>
                <a:lnTo>
                  <a:pt x="1742694" y="0"/>
                </a:lnTo>
                <a:lnTo>
                  <a:pt x="1742694" y="28193"/>
                </a:lnTo>
                <a:lnTo>
                  <a:pt x="1757172" y="28193"/>
                </a:lnTo>
                <a:lnTo>
                  <a:pt x="1757172" y="78169"/>
                </a:lnTo>
                <a:lnTo>
                  <a:pt x="1828800" y="42671"/>
                </a:lnTo>
                <a:close/>
              </a:path>
              <a:path w="1828800" h="85725">
                <a:moveTo>
                  <a:pt x="1757172" y="78169"/>
                </a:moveTo>
                <a:lnTo>
                  <a:pt x="1757172" y="57149"/>
                </a:lnTo>
                <a:lnTo>
                  <a:pt x="1742694" y="57149"/>
                </a:lnTo>
                <a:lnTo>
                  <a:pt x="1742694" y="85343"/>
                </a:lnTo>
                <a:lnTo>
                  <a:pt x="17571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9927" y="1931923"/>
            <a:ext cx="1828800" cy="85725"/>
          </a:xfrm>
          <a:custGeom>
            <a:avLst/>
            <a:gdLst/>
            <a:ahLst/>
            <a:cxnLst/>
            <a:rect l="l" t="t" r="r" b="b"/>
            <a:pathLst>
              <a:path w="1828800" h="85725">
                <a:moveTo>
                  <a:pt x="1757172" y="57149"/>
                </a:moveTo>
                <a:lnTo>
                  <a:pt x="17571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757172" y="57149"/>
                </a:lnTo>
                <a:close/>
              </a:path>
              <a:path w="1828800" h="85725">
                <a:moveTo>
                  <a:pt x="1828800" y="42671"/>
                </a:moveTo>
                <a:lnTo>
                  <a:pt x="1742694" y="0"/>
                </a:lnTo>
                <a:lnTo>
                  <a:pt x="1742694" y="28193"/>
                </a:lnTo>
                <a:lnTo>
                  <a:pt x="1757172" y="28193"/>
                </a:lnTo>
                <a:lnTo>
                  <a:pt x="1757172" y="78169"/>
                </a:lnTo>
                <a:lnTo>
                  <a:pt x="1828800" y="42671"/>
                </a:lnTo>
                <a:close/>
              </a:path>
              <a:path w="1828800" h="85725">
                <a:moveTo>
                  <a:pt x="1757172" y="78169"/>
                </a:moveTo>
                <a:lnTo>
                  <a:pt x="1757172" y="57149"/>
                </a:lnTo>
                <a:lnTo>
                  <a:pt x="1742694" y="57149"/>
                </a:lnTo>
                <a:lnTo>
                  <a:pt x="1742694" y="85343"/>
                </a:lnTo>
                <a:lnTo>
                  <a:pt x="17571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4035" y="1463547"/>
            <a:ext cx="19805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Lex </a:t>
            </a: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lex.l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6635" y="1387347"/>
            <a:ext cx="1091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Lex.yy.c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57739" y="3117595"/>
            <a:ext cx="2438400" cy="1066800"/>
          </a:xfrm>
          <a:custGeom>
            <a:avLst/>
            <a:gdLst/>
            <a:ahLst/>
            <a:cxnLst/>
            <a:rect l="l" t="t" r="r" b="b"/>
            <a:pathLst>
              <a:path w="2438400" h="1066800">
                <a:moveTo>
                  <a:pt x="0" y="0"/>
                </a:moveTo>
                <a:lnTo>
                  <a:pt x="0" y="1066800"/>
                </a:lnTo>
                <a:lnTo>
                  <a:pt x="2438400" y="1066800"/>
                </a:lnTo>
                <a:lnTo>
                  <a:pt x="24384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69061" y="3444747"/>
            <a:ext cx="20186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C/C++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compiler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52739" y="3608323"/>
            <a:ext cx="1828800" cy="85725"/>
          </a:xfrm>
          <a:custGeom>
            <a:avLst/>
            <a:gdLst/>
            <a:ahLst/>
            <a:cxnLst/>
            <a:rect l="l" t="t" r="r" b="b"/>
            <a:pathLst>
              <a:path w="1828800" h="85725">
                <a:moveTo>
                  <a:pt x="1757171" y="57149"/>
                </a:moveTo>
                <a:lnTo>
                  <a:pt x="17571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1757171" y="57149"/>
                </a:lnTo>
                <a:close/>
              </a:path>
              <a:path w="1828800" h="85725">
                <a:moveTo>
                  <a:pt x="1828800" y="42672"/>
                </a:moveTo>
                <a:lnTo>
                  <a:pt x="1742694" y="0"/>
                </a:lnTo>
                <a:lnTo>
                  <a:pt x="1742694" y="28193"/>
                </a:lnTo>
                <a:lnTo>
                  <a:pt x="1757171" y="28193"/>
                </a:lnTo>
                <a:lnTo>
                  <a:pt x="1757171" y="78169"/>
                </a:lnTo>
                <a:lnTo>
                  <a:pt x="1828800" y="42672"/>
                </a:lnTo>
                <a:close/>
              </a:path>
              <a:path w="1828800" h="85725">
                <a:moveTo>
                  <a:pt x="1757171" y="78169"/>
                </a:moveTo>
                <a:lnTo>
                  <a:pt x="1757171" y="57149"/>
                </a:lnTo>
                <a:lnTo>
                  <a:pt x="1742694" y="57149"/>
                </a:lnTo>
                <a:lnTo>
                  <a:pt x="1742694" y="85343"/>
                </a:lnTo>
                <a:lnTo>
                  <a:pt x="17571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127" y="3608323"/>
            <a:ext cx="1828800" cy="85725"/>
          </a:xfrm>
          <a:custGeom>
            <a:avLst/>
            <a:gdLst/>
            <a:ahLst/>
            <a:cxnLst/>
            <a:rect l="l" t="t" r="r" b="b"/>
            <a:pathLst>
              <a:path w="1828800" h="85725">
                <a:moveTo>
                  <a:pt x="1757172" y="57149"/>
                </a:moveTo>
                <a:lnTo>
                  <a:pt x="17571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757172" y="57149"/>
                </a:lnTo>
                <a:close/>
              </a:path>
              <a:path w="1828800" h="85725">
                <a:moveTo>
                  <a:pt x="1828800" y="42672"/>
                </a:moveTo>
                <a:lnTo>
                  <a:pt x="1742706" y="0"/>
                </a:lnTo>
                <a:lnTo>
                  <a:pt x="1742706" y="28193"/>
                </a:lnTo>
                <a:lnTo>
                  <a:pt x="1757172" y="28193"/>
                </a:lnTo>
                <a:lnTo>
                  <a:pt x="1757172" y="78174"/>
                </a:lnTo>
                <a:lnTo>
                  <a:pt x="1828800" y="42672"/>
                </a:lnTo>
                <a:close/>
              </a:path>
              <a:path w="1828800" h="85725">
                <a:moveTo>
                  <a:pt x="1757172" y="78174"/>
                </a:moveTo>
                <a:lnTo>
                  <a:pt x="1757172" y="57149"/>
                </a:lnTo>
                <a:lnTo>
                  <a:pt x="1742706" y="57149"/>
                </a:lnTo>
                <a:lnTo>
                  <a:pt x="1742706" y="85343"/>
                </a:lnTo>
                <a:lnTo>
                  <a:pt x="1757172" y="7817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70235" y="3139947"/>
            <a:ext cx="1091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Lex.yy.c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2835" y="3063747"/>
            <a:ext cx="627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a.out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3939" y="4793996"/>
            <a:ext cx="2438400" cy="1066800"/>
          </a:xfrm>
          <a:prstGeom prst="rect">
            <a:avLst/>
          </a:prstGeom>
          <a:ln w="12700">
            <a:solidFill>
              <a:srgbClr val="010101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a.out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28939" y="5284723"/>
            <a:ext cx="1828800" cy="85725"/>
          </a:xfrm>
          <a:custGeom>
            <a:avLst/>
            <a:gdLst/>
            <a:ahLst/>
            <a:cxnLst/>
            <a:rect l="l" t="t" r="r" b="b"/>
            <a:pathLst>
              <a:path w="1828800" h="85725">
                <a:moveTo>
                  <a:pt x="1757171" y="57149"/>
                </a:moveTo>
                <a:lnTo>
                  <a:pt x="17571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1757171" y="57149"/>
                </a:lnTo>
                <a:close/>
              </a:path>
              <a:path w="1828800" h="85725">
                <a:moveTo>
                  <a:pt x="1828800" y="42672"/>
                </a:moveTo>
                <a:lnTo>
                  <a:pt x="1742694" y="0"/>
                </a:lnTo>
                <a:lnTo>
                  <a:pt x="1742694" y="28193"/>
                </a:lnTo>
                <a:lnTo>
                  <a:pt x="1757171" y="28193"/>
                </a:lnTo>
                <a:lnTo>
                  <a:pt x="1757171" y="78169"/>
                </a:lnTo>
                <a:lnTo>
                  <a:pt x="1828800" y="42672"/>
                </a:lnTo>
                <a:close/>
              </a:path>
              <a:path w="1828800" h="85725">
                <a:moveTo>
                  <a:pt x="1757171" y="78169"/>
                </a:moveTo>
                <a:lnTo>
                  <a:pt x="1757171" y="57149"/>
                </a:lnTo>
                <a:lnTo>
                  <a:pt x="1742694" y="57149"/>
                </a:lnTo>
                <a:lnTo>
                  <a:pt x="1742694" y="85343"/>
                </a:lnTo>
                <a:lnTo>
                  <a:pt x="17571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2327" y="5284723"/>
            <a:ext cx="1828800" cy="85725"/>
          </a:xfrm>
          <a:custGeom>
            <a:avLst/>
            <a:gdLst/>
            <a:ahLst/>
            <a:cxnLst/>
            <a:rect l="l" t="t" r="r" b="b"/>
            <a:pathLst>
              <a:path w="1828800" h="85725">
                <a:moveTo>
                  <a:pt x="1757172" y="57149"/>
                </a:moveTo>
                <a:lnTo>
                  <a:pt x="17571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1757172" y="57149"/>
                </a:lnTo>
                <a:close/>
              </a:path>
              <a:path w="1828800" h="85725">
                <a:moveTo>
                  <a:pt x="1828800" y="42672"/>
                </a:moveTo>
                <a:lnTo>
                  <a:pt x="1742706" y="0"/>
                </a:lnTo>
                <a:lnTo>
                  <a:pt x="1742706" y="28193"/>
                </a:lnTo>
                <a:lnTo>
                  <a:pt x="1757172" y="28193"/>
                </a:lnTo>
                <a:lnTo>
                  <a:pt x="1757172" y="78174"/>
                </a:lnTo>
                <a:lnTo>
                  <a:pt x="1828800" y="42672"/>
                </a:lnTo>
                <a:close/>
              </a:path>
              <a:path w="1828800" h="85725">
                <a:moveTo>
                  <a:pt x="1757172" y="78174"/>
                </a:moveTo>
                <a:lnTo>
                  <a:pt x="1757172" y="57149"/>
                </a:lnTo>
                <a:lnTo>
                  <a:pt x="1742706" y="57149"/>
                </a:lnTo>
                <a:lnTo>
                  <a:pt x="1742706" y="85343"/>
                </a:lnTo>
                <a:lnTo>
                  <a:pt x="1757172" y="7817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6435" y="4816347"/>
            <a:ext cx="1556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Input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stream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9035" y="4740147"/>
            <a:ext cx="820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tokens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86139" y="2113279"/>
            <a:ext cx="4956175" cy="1104265"/>
          </a:xfrm>
          <a:custGeom>
            <a:avLst/>
            <a:gdLst/>
            <a:ahLst/>
            <a:cxnLst/>
            <a:rect l="l" t="t" r="r" b="b"/>
            <a:pathLst>
              <a:path w="4956175" h="1104264">
                <a:moveTo>
                  <a:pt x="4956035" y="27431"/>
                </a:moveTo>
                <a:lnTo>
                  <a:pt x="4949951" y="0"/>
                </a:lnTo>
                <a:lnTo>
                  <a:pt x="4837938" y="23621"/>
                </a:lnTo>
                <a:lnTo>
                  <a:pt x="4844034" y="51815"/>
                </a:lnTo>
                <a:lnTo>
                  <a:pt x="4956035" y="27431"/>
                </a:lnTo>
                <a:close/>
              </a:path>
              <a:path w="4956175" h="1104264">
                <a:moveTo>
                  <a:pt x="4760214" y="70103"/>
                </a:moveTo>
                <a:lnTo>
                  <a:pt x="4754118" y="41909"/>
                </a:lnTo>
                <a:lnTo>
                  <a:pt x="4642866" y="65531"/>
                </a:lnTo>
                <a:lnTo>
                  <a:pt x="4648949" y="93725"/>
                </a:lnTo>
                <a:lnTo>
                  <a:pt x="4760214" y="70103"/>
                </a:lnTo>
                <a:close/>
              </a:path>
              <a:path w="4956175" h="1104264">
                <a:moveTo>
                  <a:pt x="4565142" y="112013"/>
                </a:moveTo>
                <a:lnTo>
                  <a:pt x="4559033" y="83819"/>
                </a:lnTo>
                <a:lnTo>
                  <a:pt x="4447032" y="108203"/>
                </a:lnTo>
                <a:lnTo>
                  <a:pt x="4453127" y="135636"/>
                </a:lnTo>
                <a:lnTo>
                  <a:pt x="4565142" y="112013"/>
                </a:lnTo>
                <a:close/>
              </a:path>
              <a:path w="4956175" h="1104264">
                <a:moveTo>
                  <a:pt x="4369308" y="153924"/>
                </a:moveTo>
                <a:lnTo>
                  <a:pt x="4363199" y="125730"/>
                </a:lnTo>
                <a:lnTo>
                  <a:pt x="4251947" y="150113"/>
                </a:lnTo>
                <a:lnTo>
                  <a:pt x="4257281" y="178307"/>
                </a:lnTo>
                <a:lnTo>
                  <a:pt x="4369308" y="153924"/>
                </a:lnTo>
                <a:close/>
              </a:path>
              <a:path w="4956175" h="1104264">
                <a:moveTo>
                  <a:pt x="4173461" y="195833"/>
                </a:moveTo>
                <a:lnTo>
                  <a:pt x="4168140" y="168401"/>
                </a:lnTo>
                <a:lnTo>
                  <a:pt x="4056125" y="192024"/>
                </a:lnTo>
                <a:lnTo>
                  <a:pt x="4062209" y="220218"/>
                </a:lnTo>
                <a:lnTo>
                  <a:pt x="4173461" y="195833"/>
                </a:lnTo>
                <a:close/>
              </a:path>
              <a:path w="4956175" h="1104264">
                <a:moveTo>
                  <a:pt x="3978401" y="238506"/>
                </a:moveTo>
                <a:lnTo>
                  <a:pt x="3972306" y="210312"/>
                </a:lnTo>
                <a:lnTo>
                  <a:pt x="3860291" y="234695"/>
                </a:lnTo>
                <a:lnTo>
                  <a:pt x="3866388" y="262127"/>
                </a:lnTo>
                <a:lnTo>
                  <a:pt x="3978401" y="238506"/>
                </a:lnTo>
                <a:close/>
              </a:path>
              <a:path w="4956175" h="1104264">
                <a:moveTo>
                  <a:pt x="3782555" y="280415"/>
                </a:moveTo>
                <a:lnTo>
                  <a:pt x="3776459" y="252221"/>
                </a:lnTo>
                <a:lnTo>
                  <a:pt x="3665219" y="276606"/>
                </a:lnTo>
                <a:lnTo>
                  <a:pt x="3671316" y="304800"/>
                </a:lnTo>
                <a:lnTo>
                  <a:pt x="3782555" y="280415"/>
                </a:lnTo>
                <a:close/>
              </a:path>
              <a:path w="4956175" h="1104264">
                <a:moveTo>
                  <a:pt x="3587495" y="322325"/>
                </a:moveTo>
                <a:lnTo>
                  <a:pt x="3581387" y="294894"/>
                </a:lnTo>
                <a:lnTo>
                  <a:pt x="3469385" y="318515"/>
                </a:lnTo>
                <a:lnTo>
                  <a:pt x="3475481" y="346709"/>
                </a:lnTo>
                <a:lnTo>
                  <a:pt x="3587495" y="322325"/>
                </a:lnTo>
                <a:close/>
              </a:path>
              <a:path w="4956175" h="1104264">
                <a:moveTo>
                  <a:pt x="3391662" y="364236"/>
                </a:moveTo>
                <a:lnTo>
                  <a:pt x="3385566" y="336803"/>
                </a:lnTo>
                <a:lnTo>
                  <a:pt x="3273552" y="360425"/>
                </a:lnTo>
                <a:lnTo>
                  <a:pt x="3279647" y="388619"/>
                </a:lnTo>
                <a:lnTo>
                  <a:pt x="3391662" y="364236"/>
                </a:lnTo>
                <a:close/>
              </a:path>
              <a:path w="4956175" h="1104264">
                <a:moveTo>
                  <a:pt x="3195828" y="406907"/>
                </a:moveTo>
                <a:lnTo>
                  <a:pt x="3189731" y="378713"/>
                </a:lnTo>
                <a:lnTo>
                  <a:pt x="3078479" y="403097"/>
                </a:lnTo>
                <a:lnTo>
                  <a:pt x="3084576" y="430530"/>
                </a:lnTo>
                <a:lnTo>
                  <a:pt x="3195828" y="406907"/>
                </a:lnTo>
                <a:close/>
              </a:path>
              <a:path w="4956175" h="1104264">
                <a:moveTo>
                  <a:pt x="3000755" y="448818"/>
                </a:moveTo>
                <a:lnTo>
                  <a:pt x="2994659" y="420624"/>
                </a:lnTo>
                <a:lnTo>
                  <a:pt x="2882645" y="445007"/>
                </a:lnTo>
                <a:lnTo>
                  <a:pt x="2888741" y="473201"/>
                </a:lnTo>
                <a:lnTo>
                  <a:pt x="3000755" y="448818"/>
                </a:lnTo>
                <a:close/>
              </a:path>
              <a:path w="4956175" h="1104264">
                <a:moveTo>
                  <a:pt x="2804921" y="490727"/>
                </a:moveTo>
                <a:lnTo>
                  <a:pt x="2798826" y="463295"/>
                </a:lnTo>
                <a:lnTo>
                  <a:pt x="2687573" y="486918"/>
                </a:lnTo>
                <a:lnTo>
                  <a:pt x="2693669" y="515112"/>
                </a:lnTo>
                <a:lnTo>
                  <a:pt x="2804921" y="490727"/>
                </a:lnTo>
                <a:close/>
              </a:path>
              <a:path w="4956175" h="1104264">
                <a:moveTo>
                  <a:pt x="2609850" y="533400"/>
                </a:moveTo>
                <a:lnTo>
                  <a:pt x="2603754" y="505206"/>
                </a:lnTo>
                <a:lnTo>
                  <a:pt x="2491740" y="528827"/>
                </a:lnTo>
                <a:lnTo>
                  <a:pt x="2497835" y="557021"/>
                </a:lnTo>
                <a:lnTo>
                  <a:pt x="2609850" y="533400"/>
                </a:lnTo>
                <a:close/>
              </a:path>
              <a:path w="4956175" h="1104264">
                <a:moveTo>
                  <a:pt x="2414016" y="575309"/>
                </a:moveTo>
                <a:lnTo>
                  <a:pt x="2407919" y="547115"/>
                </a:lnTo>
                <a:lnTo>
                  <a:pt x="2295905" y="571500"/>
                </a:lnTo>
                <a:lnTo>
                  <a:pt x="2302002" y="598932"/>
                </a:lnTo>
                <a:lnTo>
                  <a:pt x="2414016" y="575309"/>
                </a:lnTo>
                <a:close/>
              </a:path>
              <a:path w="4956175" h="1104264">
                <a:moveTo>
                  <a:pt x="2218181" y="617219"/>
                </a:moveTo>
                <a:lnTo>
                  <a:pt x="2212085" y="589026"/>
                </a:lnTo>
                <a:lnTo>
                  <a:pt x="2100833" y="613409"/>
                </a:lnTo>
                <a:lnTo>
                  <a:pt x="2106929" y="641603"/>
                </a:lnTo>
                <a:lnTo>
                  <a:pt x="2218181" y="617219"/>
                </a:lnTo>
                <a:close/>
              </a:path>
              <a:path w="4956175" h="1104264">
                <a:moveTo>
                  <a:pt x="2023109" y="659130"/>
                </a:moveTo>
                <a:lnTo>
                  <a:pt x="2017014" y="631697"/>
                </a:lnTo>
                <a:lnTo>
                  <a:pt x="1905000" y="655319"/>
                </a:lnTo>
                <a:lnTo>
                  <a:pt x="1911095" y="683513"/>
                </a:lnTo>
                <a:lnTo>
                  <a:pt x="2023109" y="659130"/>
                </a:lnTo>
                <a:close/>
              </a:path>
              <a:path w="4956175" h="1104264">
                <a:moveTo>
                  <a:pt x="1827276" y="701801"/>
                </a:moveTo>
                <a:lnTo>
                  <a:pt x="1821179" y="673607"/>
                </a:lnTo>
                <a:lnTo>
                  <a:pt x="1709927" y="697992"/>
                </a:lnTo>
                <a:lnTo>
                  <a:pt x="1715262" y="725424"/>
                </a:lnTo>
                <a:lnTo>
                  <a:pt x="1827276" y="701801"/>
                </a:lnTo>
                <a:close/>
              </a:path>
              <a:path w="4956175" h="1104264">
                <a:moveTo>
                  <a:pt x="1631441" y="743712"/>
                </a:moveTo>
                <a:lnTo>
                  <a:pt x="1626107" y="715518"/>
                </a:lnTo>
                <a:lnTo>
                  <a:pt x="1514093" y="739901"/>
                </a:lnTo>
                <a:lnTo>
                  <a:pt x="1520189" y="767333"/>
                </a:lnTo>
                <a:lnTo>
                  <a:pt x="1631441" y="743712"/>
                </a:lnTo>
                <a:close/>
              </a:path>
              <a:path w="4956175" h="1104264">
                <a:moveTo>
                  <a:pt x="1436369" y="785622"/>
                </a:moveTo>
                <a:lnTo>
                  <a:pt x="1430273" y="758189"/>
                </a:lnTo>
                <a:lnTo>
                  <a:pt x="1318259" y="781812"/>
                </a:lnTo>
                <a:lnTo>
                  <a:pt x="1324355" y="810006"/>
                </a:lnTo>
                <a:lnTo>
                  <a:pt x="1436369" y="785622"/>
                </a:lnTo>
                <a:close/>
              </a:path>
              <a:path w="4956175" h="1104264">
                <a:moveTo>
                  <a:pt x="1240535" y="827532"/>
                </a:moveTo>
                <a:lnTo>
                  <a:pt x="1234439" y="800100"/>
                </a:lnTo>
                <a:lnTo>
                  <a:pt x="1123188" y="823722"/>
                </a:lnTo>
                <a:lnTo>
                  <a:pt x="1129283" y="851916"/>
                </a:lnTo>
                <a:lnTo>
                  <a:pt x="1240535" y="827532"/>
                </a:lnTo>
                <a:close/>
              </a:path>
              <a:path w="4956175" h="1104264">
                <a:moveTo>
                  <a:pt x="1045463" y="870204"/>
                </a:moveTo>
                <a:lnTo>
                  <a:pt x="1039367" y="842010"/>
                </a:lnTo>
                <a:lnTo>
                  <a:pt x="927353" y="866394"/>
                </a:lnTo>
                <a:lnTo>
                  <a:pt x="933450" y="893826"/>
                </a:lnTo>
                <a:lnTo>
                  <a:pt x="1045463" y="870204"/>
                </a:lnTo>
                <a:close/>
              </a:path>
              <a:path w="4956175" h="1104264">
                <a:moveTo>
                  <a:pt x="849629" y="912114"/>
                </a:moveTo>
                <a:lnTo>
                  <a:pt x="843533" y="883920"/>
                </a:lnTo>
                <a:lnTo>
                  <a:pt x="731519" y="908304"/>
                </a:lnTo>
                <a:lnTo>
                  <a:pt x="737615" y="936498"/>
                </a:lnTo>
                <a:lnTo>
                  <a:pt x="849629" y="912114"/>
                </a:lnTo>
                <a:close/>
              </a:path>
              <a:path w="4956175" h="1104264">
                <a:moveTo>
                  <a:pt x="653795" y="954024"/>
                </a:moveTo>
                <a:lnTo>
                  <a:pt x="647700" y="926592"/>
                </a:lnTo>
                <a:lnTo>
                  <a:pt x="536448" y="950214"/>
                </a:lnTo>
                <a:lnTo>
                  <a:pt x="542544" y="978408"/>
                </a:lnTo>
                <a:lnTo>
                  <a:pt x="653795" y="954024"/>
                </a:lnTo>
                <a:close/>
              </a:path>
              <a:path w="4956175" h="1104264">
                <a:moveTo>
                  <a:pt x="458724" y="996696"/>
                </a:moveTo>
                <a:lnTo>
                  <a:pt x="452628" y="968502"/>
                </a:lnTo>
                <a:lnTo>
                  <a:pt x="340613" y="992124"/>
                </a:lnTo>
                <a:lnTo>
                  <a:pt x="346710" y="1020318"/>
                </a:lnTo>
                <a:lnTo>
                  <a:pt x="458724" y="996696"/>
                </a:lnTo>
                <a:close/>
              </a:path>
              <a:path w="4956175" h="1104264">
                <a:moveTo>
                  <a:pt x="262890" y="1038606"/>
                </a:moveTo>
                <a:lnTo>
                  <a:pt x="256794" y="1010412"/>
                </a:lnTo>
                <a:lnTo>
                  <a:pt x="145542" y="1034796"/>
                </a:lnTo>
                <a:lnTo>
                  <a:pt x="151637" y="1062228"/>
                </a:lnTo>
                <a:lnTo>
                  <a:pt x="262890" y="1038606"/>
                </a:lnTo>
                <a:close/>
              </a:path>
              <a:path w="4956175" h="1104264">
                <a:moveTo>
                  <a:pt x="92963" y="1104138"/>
                </a:moveTo>
                <a:lnTo>
                  <a:pt x="74675" y="1020318"/>
                </a:lnTo>
                <a:lnTo>
                  <a:pt x="0" y="1080516"/>
                </a:lnTo>
                <a:lnTo>
                  <a:pt x="92963" y="110413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76939" y="3638041"/>
            <a:ext cx="2291715" cy="1009015"/>
          </a:xfrm>
          <a:custGeom>
            <a:avLst/>
            <a:gdLst/>
            <a:ahLst/>
            <a:cxnLst/>
            <a:rect l="l" t="t" r="r" b="b"/>
            <a:pathLst>
              <a:path w="2291715" h="1009014">
                <a:moveTo>
                  <a:pt x="2291334" y="25908"/>
                </a:moveTo>
                <a:lnTo>
                  <a:pt x="2280666" y="0"/>
                </a:lnTo>
                <a:lnTo>
                  <a:pt x="2175497" y="44958"/>
                </a:lnTo>
                <a:lnTo>
                  <a:pt x="2186940" y="71628"/>
                </a:lnTo>
                <a:lnTo>
                  <a:pt x="2291334" y="25908"/>
                </a:lnTo>
                <a:close/>
              </a:path>
              <a:path w="2291715" h="1009014">
                <a:moveTo>
                  <a:pt x="2108453" y="105918"/>
                </a:moveTo>
                <a:lnTo>
                  <a:pt x="2097011" y="79248"/>
                </a:lnTo>
                <a:lnTo>
                  <a:pt x="1991867" y="124968"/>
                </a:lnTo>
                <a:lnTo>
                  <a:pt x="2003285" y="150875"/>
                </a:lnTo>
                <a:lnTo>
                  <a:pt x="2108453" y="105918"/>
                </a:lnTo>
                <a:close/>
              </a:path>
              <a:path w="2291715" h="1009014">
                <a:moveTo>
                  <a:pt x="1924799" y="185166"/>
                </a:moveTo>
                <a:lnTo>
                  <a:pt x="1913382" y="159258"/>
                </a:lnTo>
                <a:lnTo>
                  <a:pt x="1808225" y="204216"/>
                </a:lnTo>
                <a:lnTo>
                  <a:pt x="1819656" y="230886"/>
                </a:lnTo>
                <a:lnTo>
                  <a:pt x="1924799" y="185166"/>
                </a:lnTo>
                <a:close/>
              </a:path>
              <a:path w="2291715" h="1009014">
                <a:moveTo>
                  <a:pt x="1741157" y="264413"/>
                </a:moveTo>
                <a:lnTo>
                  <a:pt x="1729739" y="238506"/>
                </a:lnTo>
                <a:lnTo>
                  <a:pt x="1624571" y="284225"/>
                </a:lnTo>
                <a:lnTo>
                  <a:pt x="1636014" y="310134"/>
                </a:lnTo>
                <a:lnTo>
                  <a:pt x="1741157" y="264413"/>
                </a:lnTo>
                <a:close/>
              </a:path>
              <a:path w="2291715" h="1009014">
                <a:moveTo>
                  <a:pt x="1557527" y="344424"/>
                </a:moveTo>
                <a:lnTo>
                  <a:pt x="1546085" y="317754"/>
                </a:lnTo>
                <a:lnTo>
                  <a:pt x="1440941" y="363474"/>
                </a:lnTo>
                <a:lnTo>
                  <a:pt x="1452359" y="389382"/>
                </a:lnTo>
                <a:lnTo>
                  <a:pt x="1557527" y="344424"/>
                </a:lnTo>
                <a:close/>
              </a:path>
              <a:path w="2291715" h="1009014">
                <a:moveTo>
                  <a:pt x="1373873" y="423672"/>
                </a:moveTo>
                <a:lnTo>
                  <a:pt x="1362456" y="397763"/>
                </a:lnTo>
                <a:lnTo>
                  <a:pt x="1258049" y="442722"/>
                </a:lnTo>
                <a:lnTo>
                  <a:pt x="1268729" y="469392"/>
                </a:lnTo>
                <a:lnTo>
                  <a:pt x="1373873" y="423672"/>
                </a:lnTo>
                <a:close/>
              </a:path>
              <a:path w="2291715" h="1009014">
                <a:moveTo>
                  <a:pt x="1190231" y="502920"/>
                </a:moveTo>
                <a:lnTo>
                  <a:pt x="1178814" y="477012"/>
                </a:lnTo>
                <a:lnTo>
                  <a:pt x="1074419" y="522732"/>
                </a:lnTo>
                <a:lnTo>
                  <a:pt x="1085837" y="548640"/>
                </a:lnTo>
                <a:lnTo>
                  <a:pt x="1190231" y="502920"/>
                </a:lnTo>
                <a:close/>
              </a:path>
              <a:path w="2291715" h="1009014">
                <a:moveTo>
                  <a:pt x="1006601" y="582930"/>
                </a:moveTo>
                <a:lnTo>
                  <a:pt x="995933" y="556260"/>
                </a:lnTo>
                <a:lnTo>
                  <a:pt x="890777" y="601980"/>
                </a:lnTo>
                <a:lnTo>
                  <a:pt x="902207" y="627888"/>
                </a:lnTo>
                <a:lnTo>
                  <a:pt x="1006601" y="582930"/>
                </a:lnTo>
                <a:close/>
              </a:path>
              <a:path w="2291715" h="1009014">
                <a:moveTo>
                  <a:pt x="823721" y="662178"/>
                </a:moveTo>
                <a:lnTo>
                  <a:pt x="812291" y="636270"/>
                </a:lnTo>
                <a:lnTo>
                  <a:pt x="707135" y="681228"/>
                </a:lnTo>
                <a:lnTo>
                  <a:pt x="718565" y="707898"/>
                </a:lnTo>
                <a:lnTo>
                  <a:pt x="823721" y="662178"/>
                </a:lnTo>
                <a:close/>
              </a:path>
              <a:path w="2291715" h="1009014">
                <a:moveTo>
                  <a:pt x="640079" y="742188"/>
                </a:moveTo>
                <a:lnTo>
                  <a:pt x="628650" y="715518"/>
                </a:lnTo>
                <a:lnTo>
                  <a:pt x="523493" y="761238"/>
                </a:lnTo>
                <a:lnTo>
                  <a:pt x="534923" y="787146"/>
                </a:lnTo>
                <a:lnTo>
                  <a:pt x="640079" y="742188"/>
                </a:lnTo>
                <a:close/>
              </a:path>
              <a:path w="2291715" h="1009014">
                <a:moveTo>
                  <a:pt x="456438" y="821436"/>
                </a:moveTo>
                <a:lnTo>
                  <a:pt x="445007" y="794766"/>
                </a:lnTo>
                <a:lnTo>
                  <a:pt x="339851" y="840486"/>
                </a:lnTo>
                <a:lnTo>
                  <a:pt x="351281" y="867156"/>
                </a:lnTo>
                <a:lnTo>
                  <a:pt x="456438" y="821436"/>
                </a:lnTo>
                <a:close/>
              </a:path>
              <a:path w="2291715" h="1009014">
                <a:moveTo>
                  <a:pt x="272795" y="900684"/>
                </a:moveTo>
                <a:lnTo>
                  <a:pt x="261365" y="874776"/>
                </a:lnTo>
                <a:lnTo>
                  <a:pt x="156209" y="919734"/>
                </a:lnTo>
                <a:lnTo>
                  <a:pt x="167639" y="946404"/>
                </a:lnTo>
                <a:lnTo>
                  <a:pt x="272795" y="900684"/>
                </a:lnTo>
                <a:close/>
              </a:path>
              <a:path w="2291715" h="1009014">
                <a:moveTo>
                  <a:pt x="72949" y="956099"/>
                </a:moveTo>
                <a:lnTo>
                  <a:pt x="61721" y="930402"/>
                </a:lnTo>
                <a:lnTo>
                  <a:pt x="0" y="1003554"/>
                </a:lnTo>
                <a:lnTo>
                  <a:pt x="60197" y="1006898"/>
                </a:lnTo>
                <a:lnTo>
                  <a:pt x="60197" y="961644"/>
                </a:lnTo>
                <a:lnTo>
                  <a:pt x="72949" y="956099"/>
                </a:lnTo>
                <a:close/>
              </a:path>
              <a:path w="2291715" h="1009014">
                <a:moveTo>
                  <a:pt x="84535" y="982618"/>
                </a:moveTo>
                <a:lnTo>
                  <a:pt x="72949" y="956099"/>
                </a:lnTo>
                <a:lnTo>
                  <a:pt x="60197" y="961644"/>
                </a:lnTo>
                <a:lnTo>
                  <a:pt x="70865" y="988314"/>
                </a:lnTo>
                <a:lnTo>
                  <a:pt x="84535" y="982618"/>
                </a:lnTo>
                <a:close/>
              </a:path>
              <a:path w="2291715" h="1009014">
                <a:moveTo>
                  <a:pt x="96012" y="1008888"/>
                </a:moveTo>
                <a:lnTo>
                  <a:pt x="84535" y="982618"/>
                </a:lnTo>
                <a:lnTo>
                  <a:pt x="70865" y="988314"/>
                </a:lnTo>
                <a:lnTo>
                  <a:pt x="60197" y="961644"/>
                </a:lnTo>
                <a:lnTo>
                  <a:pt x="60197" y="1006898"/>
                </a:lnTo>
                <a:lnTo>
                  <a:pt x="96012" y="1008888"/>
                </a:lnTo>
                <a:close/>
              </a:path>
              <a:path w="2291715" h="1009014">
                <a:moveTo>
                  <a:pt x="89153" y="980694"/>
                </a:moveTo>
                <a:lnTo>
                  <a:pt x="77723" y="954024"/>
                </a:lnTo>
                <a:lnTo>
                  <a:pt x="72949" y="956099"/>
                </a:lnTo>
                <a:lnTo>
                  <a:pt x="84535" y="982618"/>
                </a:lnTo>
                <a:lnTo>
                  <a:pt x="89153" y="98069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33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653" y="425704"/>
            <a:ext cx="3362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Lex</a:t>
            </a:r>
            <a:r>
              <a:rPr spc="-45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06868"/>
            <a:ext cx="7614284" cy="47777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Declaration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Variables,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constants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Regular definitions to define character class and  auxiliary regular expressions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Translation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rules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Regular expression-1 {action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1}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Auxiliary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procedures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Routines needed 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Symbol table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routines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267969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789939"/>
            <a:ext cx="2056764" cy="828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spc="-5" dirty="0">
                <a:latin typeface="Times New Roman"/>
                <a:cs typeface="Times New Roman"/>
              </a:rPr>
              <a:t>%{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2400" spc="-5" dirty="0">
                <a:latin typeface="Times New Roman"/>
                <a:cs typeface="Times New Roman"/>
              </a:rPr>
              <a:t>#define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35" y="1593088"/>
            <a:ext cx="2312035" cy="8286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  <a:tabLst>
                <a:tab pos="1841500" algn="l"/>
              </a:tabLst>
            </a:pPr>
            <a:r>
              <a:rPr sz="2400" spc="-5" dirty="0">
                <a:latin typeface="Times New Roman"/>
                <a:cs typeface="Times New Roman"/>
              </a:rPr>
              <a:t>#defin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 I</a:t>
            </a:r>
            <a:r>
              <a:rPr sz="2400" dirty="0">
                <a:latin typeface="Times New Roman"/>
                <a:cs typeface="Times New Roman"/>
              </a:rPr>
              <a:t>D	</a:t>
            </a:r>
            <a:r>
              <a:rPr sz="2400" spc="-5" dirty="0">
                <a:latin typeface="Times New Roman"/>
                <a:cs typeface="Times New Roman"/>
              </a:rPr>
              <a:t>100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%}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6435" y="2396236"/>
            <a:ext cx="4265930" cy="20332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WS	[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\t]+</a:t>
            </a:r>
            <a:endParaRPr sz="2400">
              <a:latin typeface="Times New Roman"/>
              <a:cs typeface="Times New Roman"/>
            </a:endParaRPr>
          </a:p>
          <a:p>
            <a:pPr marL="12700" marR="2247900">
              <a:lnSpc>
                <a:spcPct val="109800"/>
              </a:lnSpc>
              <a:tabLst>
                <a:tab pos="927100" algn="l"/>
              </a:tabLst>
            </a:pPr>
            <a:r>
              <a:rPr sz="2400" spc="-5" dirty="0">
                <a:latin typeface="Times New Roman"/>
                <a:cs typeface="Times New Roman"/>
              </a:rPr>
              <a:t>lette</a:t>
            </a:r>
            <a:r>
              <a:rPr sz="2400" dirty="0">
                <a:latin typeface="Times New Roman"/>
                <a:cs typeface="Times New Roman"/>
              </a:rPr>
              <a:t>r	</a:t>
            </a:r>
            <a:r>
              <a:rPr sz="2400" spc="-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[A-Za-z]  digit	[0-9]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926465" algn="l"/>
              </a:tabLst>
            </a:pPr>
            <a:r>
              <a:rPr sz="2400" spc="-5" dirty="0">
                <a:latin typeface="Times New Roman"/>
                <a:cs typeface="Times New Roman"/>
              </a:rPr>
              <a:t>id	{letter}( {letter} </a:t>
            </a: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{digit})*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imes New Roman"/>
                <a:cs typeface="Times New Roman"/>
              </a:rPr>
              <a:t>%%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6435" y="5645403"/>
            <a:ext cx="1985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Insert_id()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{…}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633" y="2038096"/>
            <a:ext cx="2299335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Definition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%%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Rules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%%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Subroutine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6435" y="4403344"/>
            <a:ext cx="7924800" cy="11855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926465" algn="l"/>
              </a:tabLst>
            </a:pPr>
            <a:r>
              <a:rPr sz="2400" spc="-5" dirty="0">
                <a:latin typeface="Times New Roman"/>
                <a:cs typeface="Times New Roman"/>
              </a:rPr>
              <a:t>{WS}	{}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40"/>
              </a:lnSpc>
              <a:spcBef>
                <a:spcPts val="290"/>
              </a:spcBef>
              <a:tabLst>
                <a:tab pos="926465" algn="l"/>
              </a:tabLst>
            </a:pPr>
            <a:r>
              <a:rPr sz="2400" spc="-5" dirty="0">
                <a:latin typeface="Times New Roman"/>
                <a:cs typeface="Times New Roman"/>
              </a:rPr>
              <a:t>{id}	{yylval </a:t>
            </a:r>
            <a:r>
              <a:rPr sz="2400" dirty="0">
                <a:latin typeface="Times New Roman"/>
                <a:cs typeface="Times New Roman"/>
              </a:rPr>
              <a:t>= insert_id();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return(ID);}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40"/>
              </a:lnSpc>
              <a:tabLst>
                <a:tab pos="4965065" algn="l"/>
              </a:tabLst>
            </a:pPr>
            <a:r>
              <a:rPr sz="3600" spc="-7" baseline="-8101" dirty="0">
                <a:latin typeface="Times New Roman"/>
                <a:cs typeface="Times New Roman"/>
              </a:rPr>
              <a:t>%%	</a:t>
            </a:r>
            <a:r>
              <a:rPr sz="2400" i="1" spc="-5" dirty="0">
                <a:latin typeface="Times New Roman"/>
                <a:cs typeface="Times New Roman"/>
              </a:rPr>
              <a:t>To pass attributes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9435" y="5562346"/>
            <a:ext cx="307276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parser, a global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variable  yylval is often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used.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789" y="571245"/>
            <a:ext cx="6520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71420" algn="l"/>
              </a:tabLst>
            </a:pPr>
            <a:r>
              <a:rPr spc="-10" dirty="0"/>
              <a:t>Overlapped	Regular</a:t>
            </a:r>
            <a:r>
              <a:rPr spc="-30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765300"/>
            <a:ext cx="7578090" cy="3736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810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Lex allows RE’s to overlap. In the case of  overlapped RE’s, two rules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apply:</a:t>
            </a:r>
            <a:endParaRPr sz="3200">
              <a:latin typeface="Times New Roman"/>
              <a:cs typeface="Times New Roman"/>
            </a:endParaRPr>
          </a:p>
          <a:p>
            <a:pPr marL="755650" marR="418465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Longest possible match, for example, how to  get “&lt;=“ token rather than “&lt;“ 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“=“.</a:t>
            </a:r>
            <a:endParaRPr sz="2800">
              <a:latin typeface="Times New Roman"/>
              <a:cs typeface="Times New Roman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Order of rules. If two RE’s match the same  string, the earlier rule is preferred. So </a:t>
            </a:r>
            <a:r>
              <a:rPr sz="2800" b="1" i="1" spc="-5" dirty="0">
                <a:latin typeface="Times New Roman"/>
                <a:cs typeface="Times New Roman"/>
              </a:rPr>
              <a:t>if8 </a:t>
            </a:r>
            <a:r>
              <a:rPr sz="2800" spc="-5" dirty="0">
                <a:latin typeface="Times New Roman"/>
                <a:cs typeface="Times New Roman"/>
              </a:rPr>
              <a:t>is an  identifier while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reserved word. (assuming  if is defined as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token 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89051" y="6282490"/>
            <a:ext cx="16910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70235" y="571245"/>
            <a:ext cx="7074534" cy="4540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6560">
              <a:lnSpc>
                <a:spcPct val="100000"/>
              </a:lnSpc>
              <a:spcBef>
                <a:spcPts val="95"/>
              </a:spcBef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Summary</a:t>
            </a:r>
            <a:endParaRPr sz="3200">
              <a:latin typeface="Arial"/>
              <a:cs typeface="Arial"/>
            </a:endParaRPr>
          </a:p>
          <a:p>
            <a:pPr marL="355600" marR="454659" indent="-342900">
              <a:lnSpc>
                <a:spcPct val="100000"/>
              </a:lnSpc>
              <a:spcBef>
                <a:spcPts val="25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Learn how to specify and implement a  lexical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analyzer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Precise specification: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</a:t>
            </a:r>
            <a:endParaRPr sz="3200">
              <a:latin typeface="Times New Roman"/>
              <a:cs typeface="Times New Roman"/>
            </a:endParaRPr>
          </a:p>
          <a:p>
            <a:pPr marL="355600" marR="26162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Map RE to transition diagram, and map  transition diagrams to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code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LEX – A pattern-directed language and a  scanner generator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185" y="609345"/>
            <a:ext cx="39954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Lookahead</a:t>
            </a:r>
            <a:r>
              <a:rPr spc="-30" dirty="0"/>
              <a:t> </a:t>
            </a:r>
            <a:r>
              <a:rPr spc="-10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235" y="1387348"/>
            <a:ext cx="7490459" cy="455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Lex/Flex, “/”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special lookahead operator. It  supports some PL constructs that need to look  ahead beyond the end of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lexeme to determine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token. For example,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pattern “RE1 </a:t>
            </a:r>
            <a:r>
              <a:rPr sz="2800" dirty="0">
                <a:latin typeface="Times New Roman"/>
                <a:cs typeface="Times New Roman"/>
              </a:rPr>
              <a:t>/ </a:t>
            </a:r>
            <a:r>
              <a:rPr sz="2800" spc="-5" dirty="0">
                <a:latin typeface="Times New Roman"/>
                <a:cs typeface="Times New Roman"/>
              </a:rPr>
              <a:t>RE2”  matches RE1 only if it is followed 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RE2.</a:t>
            </a:r>
            <a:endParaRPr sz="2800">
              <a:latin typeface="Times New Roman"/>
              <a:cs typeface="Times New Roman"/>
            </a:endParaRPr>
          </a:p>
          <a:p>
            <a:pPr marL="355600" marR="358775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Example: how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distinguish IF(I) </a:t>
            </a:r>
            <a:r>
              <a:rPr sz="2800" dirty="0">
                <a:latin typeface="Times New Roman"/>
                <a:cs typeface="Times New Roman"/>
              </a:rPr>
              <a:t>= 3 </a:t>
            </a:r>
            <a:r>
              <a:rPr sz="2800" spc="-5" dirty="0">
                <a:latin typeface="Times New Roman"/>
                <a:cs typeface="Times New Roman"/>
              </a:rPr>
              <a:t>from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regular IF statement, such </a:t>
            </a:r>
            <a:r>
              <a:rPr sz="280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IF(I) A=B or IF(I) 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85"/>
              </a:spcBef>
              <a:tabLst>
                <a:tab pos="3829050" algn="l"/>
              </a:tabLst>
            </a:pPr>
            <a:r>
              <a:rPr sz="2800" spc="-5" dirty="0">
                <a:latin typeface="Times New Roman"/>
                <a:cs typeface="Times New Roman"/>
              </a:rPr>
              <a:t>IF </a:t>
            </a:r>
            <a:r>
              <a:rPr sz="2800" dirty="0">
                <a:latin typeface="Times New Roman"/>
                <a:cs typeface="Times New Roman"/>
              </a:rPr>
              <a:t>/ \(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.*\) {letter}	or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IF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{ws}”(“.*”)”{ws}{letter}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411" y="571245"/>
            <a:ext cx="57118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Special</a:t>
            </a:r>
            <a:r>
              <a:rPr spc="0" dirty="0"/>
              <a:t> </a:t>
            </a:r>
            <a:r>
              <a:rPr spc="-10" dirty="0"/>
              <a:t>Variables/Procedures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682551"/>
            <a:ext cx="1652905" cy="20770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yytext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yyleng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yylineno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yylex()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435" y="4246337"/>
            <a:ext cx="15144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yywrap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5240" y="1682551"/>
            <a:ext cx="5153660" cy="3870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609600">
              <a:lnSpc>
                <a:spcPct val="1202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where token text 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stores  length of the token text  the current line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endParaRPr sz="2800">
              <a:latin typeface="Times New Roman"/>
              <a:cs typeface="Times New Roman"/>
            </a:endParaRPr>
          </a:p>
          <a:p>
            <a:pPr marL="12700" marR="5080" indent="9144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imes New Roman"/>
                <a:cs typeface="Times New Roman"/>
              </a:rPr>
              <a:t>name of procedure for the lex  generated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scanner</a:t>
            </a:r>
            <a:endParaRPr sz="2800">
              <a:latin typeface="Times New Roman"/>
              <a:cs typeface="Times New Roman"/>
            </a:endParaRPr>
          </a:p>
          <a:p>
            <a:pPr marL="927100" marR="22225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user supplied function. It  returns </a:t>
            </a:r>
            <a:r>
              <a:rPr sz="2800" dirty="0">
                <a:latin typeface="Times New Roman"/>
                <a:cs typeface="Times New Roman"/>
              </a:rPr>
              <a:t>1 </a:t>
            </a:r>
            <a:r>
              <a:rPr sz="2800" spc="-5" dirty="0">
                <a:latin typeface="Times New Roman"/>
                <a:cs typeface="Times New Roman"/>
              </a:rPr>
              <a:t>when no more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to process, otherwise, return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6435" y="5613350"/>
            <a:ext cx="58000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  <a:tab pos="275526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yyin,</a:t>
            </a:r>
            <a:r>
              <a:rPr sz="2800" b="1" spc="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yyout	</a:t>
            </a:r>
            <a:r>
              <a:rPr sz="2800" spc="-5" dirty="0">
                <a:latin typeface="Times New Roman"/>
                <a:cs typeface="Times New Roman"/>
              </a:rPr>
              <a:t>input and output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8803" y="571245"/>
            <a:ext cx="32467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Additional</a:t>
            </a:r>
            <a:r>
              <a:rPr spc="-40" dirty="0"/>
              <a:t> </a:t>
            </a:r>
            <a:r>
              <a:rPr spc="-10" dirty="0"/>
              <a:t>Notes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768348"/>
            <a:ext cx="7585075" cy="369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907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[^a-z] negate the char class will also match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new  line “\n”. This is true in Lex and Flex, but not  necessary true in other implementation 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ECHO copies yytext 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output</a:t>
            </a:r>
            <a:endParaRPr sz="2800">
              <a:latin typeface="Times New Roman"/>
              <a:cs typeface="Times New Roman"/>
            </a:endParaRPr>
          </a:p>
          <a:p>
            <a:pPr marL="355600" marR="84455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If you use Lex, link with lex library –lf, if you use  Flex, link with library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–lfl.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EOF is not handled by RE, it is signaled by having  yylex()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return </a:t>
            </a:r>
            <a:r>
              <a:rPr sz="2800" dirty="0">
                <a:latin typeface="Times New Roman"/>
                <a:cs typeface="Times New Roman"/>
              </a:rPr>
              <a:t>integer</a:t>
            </a:r>
            <a:r>
              <a:rPr sz="2800" spc="-5" dirty="0">
                <a:latin typeface="Times New Roman"/>
                <a:cs typeface="Times New Roman"/>
              </a:rPr>
              <a:t> 0.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4487" y="868425"/>
            <a:ext cx="52590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Lexical Analyzer</a:t>
            </a:r>
            <a:r>
              <a:rPr spc="5" dirty="0"/>
              <a:t> </a:t>
            </a:r>
            <a:r>
              <a:rPr spc="-10" dirty="0"/>
              <a:t>Generator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2146300"/>
            <a:ext cx="7179945" cy="265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Lexical analyzer generator is to transform  RE into a state transition table (i.e. Finite  Automation)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Theory of such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transformation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Some practical consideration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7289" y="373125"/>
            <a:ext cx="30924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Finite</a:t>
            </a:r>
            <a:r>
              <a:rPr spc="-40" dirty="0"/>
              <a:t> </a:t>
            </a:r>
            <a:r>
              <a:rPr spc="-10" dirty="0"/>
              <a:t>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39748"/>
            <a:ext cx="7299959" cy="417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Transition diagram is finite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automation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Nondeterministic Finite Automation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(NFA)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 input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symbols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transition function, </a:t>
            </a:r>
            <a:r>
              <a:rPr sz="2800" i="1" spc="-5" dirty="0">
                <a:latin typeface="Times New Roman"/>
                <a:cs typeface="Times New Roman"/>
              </a:rPr>
              <a:t>move(), </a:t>
            </a:r>
            <a:r>
              <a:rPr sz="2800" spc="-5" dirty="0">
                <a:latin typeface="Times New Roman"/>
                <a:cs typeface="Times New Roman"/>
              </a:rPr>
              <a:t>that maps state-  symbol pairs to sets 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states.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start state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S0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of states </a:t>
            </a:r>
            <a:r>
              <a:rPr sz="2800" dirty="0">
                <a:latin typeface="Times New Roman"/>
                <a:cs typeface="Times New Roman"/>
              </a:rPr>
              <a:t>F </a:t>
            </a:r>
            <a:r>
              <a:rPr sz="2800" spc="-5" dirty="0">
                <a:latin typeface="Times New Roman"/>
                <a:cs typeface="Times New Roman"/>
              </a:rPr>
              <a:t>as accepting (Final)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571245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2438539" y="3041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30633" y="3178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67339" y="3041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59433" y="3178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20127" y="3041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12233" y="3178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4139" y="33797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1" y="57149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1" y="57149"/>
                </a:lnTo>
                <a:close/>
              </a:path>
              <a:path w="838200" h="85725">
                <a:moveTo>
                  <a:pt x="838199" y="42672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199" y="42672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49"/>
                </a:lnTo>
                <a:lnTo>
                  <a:pt x="752093" y="57149"/>
                </a:lnTo>
                <a:lnTo>
                  <a:pt x="752093" y="85343"/>
                </a:lnTo>
                <a:lnTo>
                  <a:pt x="7665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03635" y="28351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1035" y="27589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939" y="3303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17559" y="2059939"/>
            <a:ext cx="1176020" cy="992505"/>
          </a:xfrm>
          <a:custGeom>
            <a:avLst/>
            <a:gdLst/>
            <a:ahLst/>
            <a:cxnLst/>
            <a:rect l="l" t="t" r="r" b="b"/>
            <a:pathLst>
              <a:path w="1176020" h="992505">
                <a:moveTo>
                  <a:pt x="1176020" y="421386"/>
                </a:moveTo>
                <a:lnTo>
                  <a:pt x="1173479" y="377952"/>
                </a:lnTo>
                <a:lnTo>
                  <a:pt x="1165860" y="335280"/>
                </a:lnTo>
                <a:lnTo>
                  <a:pt x="1146810" y="277368"/>
                </a:lnTo>
                <a:lnTo>
                  <a:pt x="1140460" y="262890"/>
                </a:lnTo>
                <a:lnTo>
                  <a:pt x="1135379" y="249174"/>
                </a:lnTo>
                <a:lnTo>
                  <a:pt x="1112520" y="208026"/>
                </a:lnTo>
                <a:lnTo>
                  <a:pt x="1085850" y="169926"/>
                </a:lnTo>
                <a:lnTo>
                  <a:pt x="1054100" y="134112"/>
                </a:lnTo>
                <a:lnTo>
                  <a:pt x="1018539" y="102108"/>
                </a:lnTo>
                <a:lnTo>
                  <a:pt x="980439" y="75438"/>
                </a:lnTo>
                <a:lnTo>
                  <a:pt x="965200" y="67818"/>
                </a:lnTo>
                <a:lnTo>
                  <a:pt x="952500" y="60198"/>
                </a:lnTo>
                <a:lnTo>
                  <a:pt x="937260" y="53340"/>
                </a:lnTo>
                <a:lnTo>
                  <a:pt x="922020" y="47244"/>
                </a:lnTo>
                <a:lnTo>
                  <a:pt x="913129" y="44958"/>
                </a:lnTo>
                <a:lnTo>
                  <a:pt x="895350" y="38862"/>
                </a:lnTo>
                <a:lnTo>
                  <a:pt x="868679" y="32004"/>
                </a:lnTo>
                <a:lnTo>
                  <a:pt x="848360" y="26670"/>
                </a:lnTo>
                <a:lnTo>
                  <a:pt x="828039" y="22860"/>
                </a:lnTo>
                <a:lnTo>
                  <a:pt x="783589" y="15240"/>
                </a:lnTo>
                <a:lnTo>
                  <a:pt x="736600" y="9144"/>
                </a:lnTo>
                <a:lnTo>
                  <a:pt x="689610" y="4572"/>
                </a:lnTo>
                <a:lnTo>
                  <a:pt x="638810" y="1524"/>
                </a:lnTo>
                <a:lnTo>
                  <a:pt x="588010" y="0"/>
                </a:lnTo>
                <a:lnTo>
                  <a:pt x="563880" y="0"/>
                </a:lnTo>
                <a:lnTo>
                  <a:pt x="513080" y="1524"/>
                </a:lnTo>
                <a:lnTo>
                  <a:pt x="464819" y="3810"/>
                </a:lnTo>
                <a:lnTo>
                  <a:pt x="370839" y="15240"/>
                </a:lnTo>
                <a:lnTo>
                  <a:pt x="328930" y="23622"/>
                </a:lnTo>
                <a:lnTo>
                  <a:pt x="289560" y="34290"/>
                </a:lnTo>
                <a:lnTo>
                  <a:pt x="255269" y="47244"/>
                </a:lnTo>
                <a:lnTo>
                  <a:pt x="247650" y="50292"/>
                </a:lnTo>
                <a:lnTo>
                  <a:pt x="238760" y="54102"/>
                </a:lnTo>
                <a:lnTo>
                  <a:pt x="209550" y="70866"/>
                </a:lnTo>
                <a:lnTo>
                  <a:pt x="195580" y="80772"/>
                </a:lnTo>
                <a:lnTo>
                  <a:pt x="182880" y="91440"/>
                </a:lnTo>
                <a:lnTo>
                  <a:pt x="168910" y="102870"/>
                </a:lnTo>
                <a:lnTo>
                  <a:pt x="130810" y="140208"/>
                </a:lnTo>
                <a:lnTo>
                  <a:pt x="97789" y="182118"/>
                </a:lnTo>
                <a:lnTo>
                  <a:pt x="68580" y="228600"/>
                </a:lnTo>
                <a:lnTo>
                  <a:pt x="60960" y="244602"/>
                </a:lnTo>
                <a:lnTo>
                  <a:pt x="52069" y="261366"/>
                </a:lnTo>
                <a:lnTo>
                  <a:pt x="44450" y="277368"/>
                </a:lnTo>
                <a:lnTo>
                  <a:pt x="36830" y="294132"/>
                </a:lnTo>
                <a:lnTo>
                  <a:pt x="30480" y="311658"/>
                </a:lnTo>
                <a:lnTo>
                  <a:pt x="24130" y="328422"/>
                </a:lnTo>
                <a:lnTo>
                  <a:pt x="19050" y="345186"/>
                </a:lnTo>
                <a:lnTo>
                  <a:pt x="15239" y="362712"/>
                </a:lnTo>
                <a:lnTo>
                  <a:pt x="10160" y="379476"/>
                </a:lnTo>
                <a:lnTo>
                  <a:pt x="7619" y="397002"/>
                </a:lnTo>
                <a:lnTo>
                  <a:pt x="3810" y="413766"/>
                </a:lnTo>
                <a:lnTo>
                  <a:pt x="1269" y="430530"/>
                </a:lnTo>
                <a:lnTo>
                  <a:pt x="0" y="447294"/>
                </a:lnTo>
                <a:lnTo>
                  <a:pt x="0" y="496062"/>
                </a:lnTo>
                <a:lnTo>
                  <a:pt x="6350" y="541782"/>
                </a:lnTo>
                <a:lnTo>
                  <a:pt x="20320" y="586740"/>
                </a:lnTo>
                <a:lnTo>
                  <a:pt x="27940" y="604393"/>
                </a:lnTo>
                <a:lnTo>
                  <a:pt x="27939" y="448818"/>
                </a:lnTo>
                <a:lnTo>
                  <a:pt x="30480" y="433578"/>
                </a:lnTo>
                <a:lnTo>
                  <a:pt x="31750" y="417576"/>
                </a:lnTo>
                <a:lnTo>
                  <a:pt x="38100" y="385572"/>
                </a:lnTo>
                <a:lnTo>
                  <a:pt x="41910" y="369570"/>
                </a:lnTo>
                <a:lnTo>
                  <a:pt x="46989" y="353568"/>
                </a:lnTo>
                <a:lnTo>
                  <a:pt x="52069" y="336804"/>
                </a:lnTo>
                <a:lnTo>
                  <a:pt x="69850" y="288798"/>
                </a:lnTo>
                <a:lnTo>
                  <a:pt x="102869" y="227076"/>
                </a:lnTo>
                <a:lnTo>
                  <a:pt x="132080" y="184404"/>
                </a:lnTo>
                <a:lnTo>
                  <a:pt x="165100" y="146304"/>
                </a:lnTo>
                <a:lnTo>
                  <a:pt x="213360" y="103632"/>
                </a:lnTo>
                <a:lnTo>
                  <a:pt x="240030" y="86868"/>
                </a:lnTo>
                <a:lnTo>
                  <a:pt x="252730" y="79248"/>
                </a:lnTo>
                <a:lnTo>
                  <a:pt x="290830" y="64008"/>
                </a:lnTo>
                <a:lnTo>
                  <a:pt x="335280" y="51816"/>
                </a:lnTo>
                <a:lnTo>
                  <a:pt x="377189" y="43434"/>
                </a:lnTo>
                <a:lnTo>
                  <a:pt x="443230" y="34290"/>
                </a:lnTo>
                <a:lnTo>
                  <a:pt x="491489" y="31242"/>
                </a:lnTo>
                <a:lnTo>
                  <a:pt x="514350" y="29718"/>
                </a:lnTo>
                <a:lnTo>
                  <a:pt x="538480" y="28956"/>
                </a:lnTo>
                <a:lnTo>
                  <a:pt x="588010" y="28956"/>
                </a:lnTo>
                <a:lnTo>
                  <a:pt x="613410" y="29718"/>
                </a:lnTo>
                <a:lnTo>
                  <a:pt x="661670" y="31242"/>
                </a:lnTo>
                <a:lnTo>
                  <a:pt x="687070" y="33528"/>
                </a:lnTo>
                <a:lnTo>
                  <a:pt x="709929" y="35052"/>
                </a:lnTo>
                <a:lnTo>
                  <a:pt x="779779" y="43434"/>
                </a:lnTo>
                <a:lnTo>
                  <a:pt x="822960" y="51054"/>
                </a:lnTo>
                <a:lnTo>
                  <a:pt x="880110" y="64008"/>
                </a:lnTo>
                <a:lnTo>
                  <a:pt x="887729" y="67056"/>
                </a:lnTo>
                <a:lnTo>
                  <a:pt x="896620" y="69342"/>
                </a:lnTo>
                <a:lnTo>
                  <a:pt x="904239" y="71628"/>
                </a:lnTo>
                <a:lnTo>
                  <a:pt x="911860" y="74676"/>
                </a:lnTo>
                <a:lnTo>
                  <a:pt x="919479" y="76962"/>
                </a:lnTo>
                <a:lnTo>
                  <a:pt x="977900" y="108204"/>
                </a:lnTo>
                <a:lnTo>
                  <a:pt x="1013460" y="134874"/>
                </a:lnTo>
                <a:lnTo>
                  <a:pt x="1054100" y="176022"/>
                </a:lnTo>
                <a:lnTo>
                  <a:pt x="1079500" y="211074"/>
                </a:lnTo>
                <a:lnTo>
                  <a:pt x="1088389" y="224028"/>
                </a:lnTo>
                <a:lnTo>
                  <a:pt x="1094739" y="236220"/>
                </a:lnTo>
                <a:lnTo>
                  <a:pt x="1102360" y="249174"/>
                </a:lnTo>
                <a:lnTo>
                  <a:pt x="1115060" y="275082"/>
                </a:lnTo>
                <a:lnTo>
                  <a:pt x="1130300" y="315468"/>
                </a:lnTo>
                <a:lnTo>
                  <a:pt x="1140460" y="355854"/>
                </a:lnTo>
                <a:lnTo>
                  <a:pt x="1144270" y="382524"/>
                </a:lnTo>
                <a:lnTo>
                  <a:pt x="1146810" y="395478"/>
                </a:lnTo>
                <a:lnTo>
                  <a:pt x="1146810" y="536448"/>
                </a:lnTo>
                <a:lnTo>
                  <a:pt x="1159510" y="509778"/>
                </a:lnTo>
                <a:lnTo>
                  <a:pt x="1164589" y="493776"/>
                </a:lnTo>
                <a:lnTo>
                  <a:pt x="1169670" y="478536"/>
                </a:lnTo>
                <a:lnTo>
                  <a:pt x="1170939" y="470916"/>
                </a:lnTo>
                <a:lnTo>
                  <a:pt x="1172210" y="464058"/>
                </a:lnTo>
                <a:lnTo>
                  <a:pt x="1174750" y="448818"/>
                </a:lnTo>
                <a:lnTo>
                  <a:pt x="1176020" y="421386"/>
                </a:lnTo>
                <a:close/>
              </a:path>
              <a:path w="1176020" h="992505">
                <a:moveTo>
                  <a:pt x="407670" y="970788"/>
                </a:moveTo>
                <a:lnTo>
                  <a:pt x="374650" y="941832"/>
                </a:lnTo>
                <a:lnTo>
                  <a:pt x="340360" y="913638"/>
                </a:lnTo>
                <a:lnTo>
                  <a:pt x="308610" y="884682"/>
                </a:lnTo>
                <a:lnTo>
                  <a:pt x="245110" y="828294"/>
                </a:lnTo>
                <a:lnTo>
                  <a:pt x="231140" y="813816"/>
                </a:lnTo>
                <a:lnTo>
                  <a:pt x="215900" y="799338"/>
                </a:lnTo>
                <a:lnTo>
                  <a:pt x="173990" y="757428"/>
                </a:lnTo>
                <a:lnTo>
                  <a:pt x="161290" y="742950"/>
                </a:lnTo>
                <a:lnTo>
                  <a:pt x="148590" y="729234"/>
                </a:lnTo>
                <a:lnTo>
                  <a:pt x="113030" y="686562"/>
                </a:lnTo>
                <a:lnTo>
                  <a:pt x="83820" y="644652"/>
                </a:lnTo>
                <a:lnTo>
                  <a:pt x="66040" y="617220"/>
                </a:lnTo>
                <a:lnTo>
                  <a:pt x="46990" y="576072"/>
                </a:lnTo>
                <a:lnTo>
                  <a:pt x="34290" y="534924"/>
                </a:lnTo>
                <a:lnTo>
                  <a:pt x="27939" y="493776"/>
                </a:lnTo>
                <a:lnTo>
                  <a:pt x="27940" y="604393"/>
                </a:lnTo>
                <a:lnTo>
                  <a:pt x="34290" y="616458"/>
                </a:lnTo>
                <a:lnTo>
                  <a:pt x="41910" y="631698"/>
                </a:lnTo>
                <a:lnTo>
                  <a:pt x="59690" y="660654"/>
                </a:lnTo>
                <a:lnTo>
                  <a:pt x="69850" y="675132"/>
                </a:lnTo>
                <a:lnTo>
                  <a:pt x="80010" y="690372"/>
                </a:lnTo>
                <a:lnTo>
                  <a:pt x="102870" y="719328"/>
                </a:lnTo>
                <a:lnTo>
                  <a:pt x="127000" y="748284"/>
                </a:lnTo>
                <a:lnTo>
                  <a:pt x="140970" y="762762"/>
                </a:lnTo>
                <a:lnTo>
                  <a:pt x="153670" y="777240"/>
                </a:lnTo>
                <a:lnTo>
                  <a:pt x="181610" y="806196"/>
                </a:lnTo>
                <a:lnTo>
                  <a:pt x="226060" y="848868"/>
                </a:lnTo>
                <a:lnTo>
                  <a:pt x="289560" y="906780"/>
                </a:lnTo>
                <a:lnTo>
                  <a:pt x="322580" y="934974"/>
                </a:lnTo>
                <a:lnTo>
                  <a:pt x="355600" y="963930"/>
                </a:lnTo>
                <a:lnTo>
                  <a:pt x="388620" y="992124"/>
                </a:lnTo>
                <a:lnTo>
                  <a:pt x="407670" y="970788"/>
                </a:lnTo>
                <a:close/>
              </a:path>
              <a:path w="1176020" h="992505">
                <a:moveTo>
                  <a:pt x="897413" y="829267"/>
                </a:moveTo>
                <a:lnTo>
                  <a:pt x="875029" y="811530"/>
                </a:lnTo>
                <a:lnTo>
                  <a:pt x="854710" y="905256"/>
                </a:lnTo>
                <a:lnTo>
                  <a:pt x="889000" y="889452"/>
                </a:lnTo>
                <a:lnTo>
                  <a:pt x="889000" y="840486"/>
                </a:lnTo>
                <a:lnTo>
                  <a:pt x="897413" y="829267"/>
                </a:lnTo>
                <a:close/>
              </a:path>
              <a:path w="1176020" h="992505">
                <a:moveTo>
                  <a:pt x="919478" y="846753"/>
                </a:moveTo>
                <a:lnTo>
                  <a:pt x="897413" y="829267"/>
                </a:lnTo>
                <a:lnTo>
                  <a:pt x="889000" y="840486"/>
                </a:lnTo>
                <a:lnTo>
                  <a:pt x="910589" y="858012"/>
                </a:lnTo>
                <a:lnTo>
                  <a:pt x="919478" y="846753"/>
                </a:lnTo>
                <a:close/>
              </a:path>
              <a:path w="1176020" h="992505">
                <a:moveTo>
                  <a:pt x="942339" y="864870"/>
                </a:moveTo>
                <a:lnTo>
                  <a:pt x="919478" y="846753"/>
                </a:lnTo>
                <a:lnTo>
                  <a:pt x="910589" y="858012"/>
                </a:lnTo>
                <a:lnTo>
                  <a:pt x="889000" y="840486"/>
                </a:lnTo>
                <a:lnTo>
                  <a:pt x="889000" y="889452"/>
                </a:lnTo>
                <a:lnTo>
                  <a:pt x="942339" y="864870"/>
                </a:lnTo>
                <a:close/>
              </a:path>
              <a:path w="1176020" h="992505">
                <a:moveTo>
                  <a:pt x="1146810" y="536448"/>
                </a:moveTo>
                <a:lnTo>
                  <a:pt x="1146810" y="447294"/>
                </a:lnTo>
                <a:lnTo>
                  <a:pt x="1141729" y="471678"/>
                </a:lnTo>
                <a:lnTo>
                  <a:pt x="1136650" y="485394"/>
                </a:lnTo>
                <a:lnTo>
                  <a:pt x="1131570" y="499872"/>
                </a:lnTo>
                <a:lnTo>
                  <a:pt x="1125220" y="514350"/>
                </a:lnTo>
                <a:lnTo>
                  <a:pt x="1118870" y="529590"/>
                </a:lnTo>
                <a:lnTo>
                  <a:pt x="1109979" y="544830"/>
                </a:lnTo>
                <a:lnTo>
                  <a:pt x="1102360" y="560832"/>
                </a:lnTo>
                <a:lnTo>
                  <a:pt x="1082039" y="592836"/>
                </a:lnTo>
                <a:lnTo>
                  <a:pt x="1036320" y="659130"/>
                </a:lnTo>
                <a:lnTo>
                  <a:pt x="1010920" y="691896"/>
                </a:lnTo>
                <a:lnTo>
                  <a:pt x="985520" y="723900"/>
                </a:lnTo>
                <a:lnTo>
                  <a:pt x="972820" y="739140"/>
                </a:lnTo>
                <a:lnTo>
                  <a:pt x="960120" y="755142"/>
                </a:lnTo>
                <a:lnTo>
                  <a:pt x="923289" y="798576"/>
                </a:lnTo>
                <a:lnTo>
                  <a:pt x="911860" y="812292"/>
                </a:lnTo>
                <a:lnTo>
                  <a:pt x="900429" y="825246"/>
                </a:lnTo>
                <a:lnTo>
                  <a:pt x="897413" y="829267"/>
                </a:lnTo>
                <a:lnTo>
                  <a:pt x="919478" y="846753"/>
                </a:lnTo>
                <a:lnTo>
                  <a:pt x="922020" y="843534"/>
                </a:lnTo>
                <a:lnTo>
                  <a:pt x="933450" y="830580"/>
                </a:lnTo>
                <a:lnTo>
                  <a:pt x="994410" y="757428"/>
                </a:lnTo>
                <a:lnTo>
                  <a:pt x="1033779" y="709422"/>
                </a:lnTo>
                <a:lnTo>
                  <a:pt x="1071879" y="659130"/>
                </a:lnTo>
                <a:lnTo>
                  <a:pt x="1127760" y="574548"/>
                </a:lnTo>
                <a:lnTo>
                  <a:pt x="1136650" y="557784"/>
                </a:lnTo>
                <a:lnTo>
                  <a:pt x="1146810" y="53644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43727" y="3041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35833" y="3178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29339" y="3303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4"/>
                </a:lnTo>
                <a:lnTo>
                  <a:pt x="0" y="57150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187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8"/>
                </a:lnTo>
                <a:lnTo>
                  <a:pt x="838187" y="42672"/>
                </a:lnTo>
                <a:close/>
              </a:path>
              <a:path w="838200" h="85725">
                <a:moveTo>
                  <a:pt x="766572" y="78168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81927" y="3303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37435" y="28351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90051" y="28351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05367" y="3722623"/>
            <a:ext cx="1177290" cy="986790"/>
          </a:xfrm>
          <a:custGeom>
            <a:avLst/>
            <a:gdLst/>
            <a:ahLst/>
            <a:cxnLst/>
            <a:rect l="l" t="t" r="r" b="b"/>
            <a:pathLst>
              <a:path w="1177289" h="986789">
                <a:moveTo>
                  <a:pt x="290583" y="146600"/>
                </a:moveTo>
                <a:lnTo>
                  <a:pt x="269399" y="128406"/>
                </a:lnTo>
                <a:lnTo>
                  <a:pt x="266700" y="131825"/>
                </a:lnTo>
                <a:lnTo>
                  <a:pt x="254000" y="144017"/>
                </a:lnTo>
                <a:lnTo>
                  <a:pt x="204469" y="200405"/>
                </a:lnTo>
                <a:lnTo>
                  <a:pt x="191769" y="215646"/>
                </a:lnTo>
                <a:lnTo>
                  <a:pt x="177800" y="230886"/>
                </a:lnTo>
                <a:lnTo>
                  <a:pt x="124460" y="294893"/>
                </a:lnTo>
                <a:lnTo>
                  <a:pt x="111760" y="311658"/>
                </a:lnTo>
                <a:lnTo>
                  <a:pt x="97789" y="327660"/>
                </a:lnTo>
                <a:lnTo>
                  <a:pt x="74930" y="361188"/>
                </a:lnTo>
                <a:lnTo>
                  <a:pt x="63500" y="377189"/>
                </a:lnTo>
                <a:lnTo>
                  <a:pt x="53339" y="393953"/>
                </a:lnTo>
                <a:lnTo>
                  <a:pt x="43180" y="409955"/>
                </a:lnTo>
                <a:lnTo>
                  <a:pt x="34289" y="426720"/>
                </a:lnTo>
                <a:lnTo>
                  <a:pt x="25400" y="441960"/>
                </a:lnTo>
                <a:lnTo>
                  <a:pt x="10160" y="480822"/>
                </a:lnTo>
                <a:lnTo>
                  <a:pt x="5080" y="496062"/>
                </a:lnTo>
                <a:lnTo>
                  <a:pt x="3810" y="503681"/>
                </a:lnTo>
                <a:lnTo>
                  <a:pt x="2539" y="510539"/>
                </a:lnTo>
                <a:lnTo>
                  <a:pt x="1269" y="518160"/>
                </a:lnTo>
                <a:lnTo>
                  <a:pt x="0" y="531876"/>
                </a:lnTo>
                <a:lnTo>
                  <a:pt x="0" y="574548"/>
                </a:lnTo>
                <a:lnTo>
                  <a:pt x="2539" y="603503"/>
                </a:lnTo>
                <a:lnTo>
                  <a:pt x="6350" y="632460"/>
                </a:lnTo>
                <a:lnTo>
                  <a:pt x="19050" y="675893"/>
                </a:lnTo>
                <a:lnTo>
                  <a:pt x="27939" y="701230"/>
                </a:lnTo>
                <a:lnTo>
                  <a:pt x="27939" y="533400"/>
                </a:lnTo>
                <a:lnTo>
                  <a:pt x="30480" y="515112"/>
                </a:lnTo>
                <a:lnTo>
                  <a:pt x="33019" y="502920"/>
                </a:lnTo>
                <a:lnTo>
                  <a:pt x="38100" y="489203"/>
                </a:lnTo>
                <a:lnTo>
                  <a:pt x="39369" y="483108"/>
                </a:lnTo>
                <a:lnTo>
                  <a:pt x="44450" y="468629"/>
                </a:lnTo>
                <a:lnTo>
                  <a:pt x="59689" y="439674"/>
                </a:lnTo>
                <a:lnTo>
                  <a:pt x="67310" y="424434"/>
                </a:lnTo>
                <a:lnTo>
                  <a:pt x="77469" y="408431"/>
                </a:lnTo>
                <a:lnTo>
                  <a:pt x="87630" y="393191"/>
                </a:lnTo>
                <a:lnTo>
                  <a:pt x="97789" y="377189"/>
                </a:lnTo>
                <a:lnTo>
                  <a:pt x="109219" y="361188"/>
                </a:lnTo>
                <a:lnTo>
                  <a:pt x="121919" y="345186"/>
                </a:lnTo>
                <a:lnTo>
                  <a:pt x="134619" y="328422"/>
                </a:lnTo>
                <a:lnTo>
                  <a:pt x="146050" y="312420"/>
                </a:lnTo>
                <a:lnTo>
                  <a:pt x="172719" y="280415"/>
                </a:lnTo>
                <a:lnTo>
                  <a:pt x="199389" y="249174"/>
                </a:lnTo>
                <a:lnTo>
                  <a:pt x="212089" y="233934"/>
                </a:lnTo>
                <a:lnTo>
                  <a:pt x="251460" y="190500"/>
                </a:lnTo>
                <a:lnTo>
                  <a:pt x="264160" y="176784"/>
                </a:lnTo>
                <a:lnTo>
                  <a:pt x="287019" y="150875"/>
                </a:lnTo>
                <a:lnTo>
                  <a:pt x="290583" y="146600"/>
                </a:lnTo>
                <a:close/>
              </a:path>
              <a:path w="1177289" h="986789">
                <a:moveTo>
                  <a:pt x="1148080" y="671779"/>
                </a:moveTo>
                <a:lnTo>
                  <a:pt x="1148080" y="539496"/>
                </a:lnTo>
                <a:lnTo>
                  <a:pt x="1146809" y="554736"/>
                </a:lnTo>
                <a:lnTo>
                  <a:pt x="1144269" y="570738"/>
                </a:lnTo>
                <a:lnTo>
                  <a:pt x="1135380" y="617981"/>
                </a:lnTo>
                <a:lnTo>
                  <a:pt x="1120139" y="665988"/>
                </a:lnTo>
                <a:lnTo>
                  <a:pt x="1099819" y="713231"/>
                </a:lnTo>
                <a:lnTo>
                  <a:pt x="1092199" y="729234"/>
                </a:lnTo>
                <a:lnTo>
                  <a:pt x="1083309" y="744474"/>
                </a:lnTo>
                <a:lnTo>
                  <a:pt x="1074419" y="758951"/>
                </a:lnTo>
                <a:lnTo>
                  <a:pt x="1065530" y="774191"/>
                </a:lnTo>
                <a:lnTo>
                  <a:pt x="1056639" y="788670"/>
                </a:lnTo>
                <a:lnTo>
                  <a:pt x="1035049" y="816101"/>
                </a:lnTo>
                <a:lnTo>
                  <a:pt x="1023619" y="829055"/>
                </a:lnTo>
                <a:lnTo>
                  <a:pt x="1013459" y="841248"/>
                </a:lnTo>
                <a:lnTo>
                  <a:pt x="1000759" y="852677"/>
                </a:lnTo>
                <a:lnTo>
                  <a:pt x="989330" y="864108"/>
                </a:lnTo>
                <a:lnTo>
                  <a:pt x="976630" y="874776"/>
                </a:lnTo>
                <a:lnTo>
                  <a:pt x="938530" y="902208"/>
                </a:lnTo>
                <a:lnTo>
                  <a:pt x="888999" y="925829"/>
                </a:lnTo>
                <a:lnTo>
                  <a:pt x="881380" y="928115"/>
                </a:lnTo>
                <a:lnTo>
                  <a:pt x="872489" y="931163"/>
                </a:lnTo>
                <a:lnTo>
                  <a:pt x="826769" y="941831"/>
                </a:lnTo>
                <a:lnTo>
                  <a:pt x="764539" y="951738"/>
                </a:lnTo>
                <a:lnTo>
                  <a:pt x="718819" y="955548"/>
                </a:lnTo>
                <a:lnTo>
                  <a:pt x="695959" y="957072"/>
                </a:lnTo>
                <a:lnTo>
                  <a:pt x="671829" y="957834"/>
                </a:lnTo>
                <a:lnTo>
                  <a:pt x="598169" y="957834"/>
                </a:lnTo>
                <a:lnTo>
                  <a:pt x="572769" y="956310"/>
                </a:lnTo>
                <a:lnTo>
                  <a:pt x="548639" y="955548"/>
                </a:lnTo>
                <a:lnTo>
                  <a:pt x="524510" y="953262"/>
                </a:lnTo>
                <a:lnTo>
                  <a:pt x="500380" y="951738"/>
                </a:lnTo>
                <a:lnTo>
                  <a:pt x="476250" y="949451"/>
                </a:lnTo>
                <a:lnTo>
                  <a:pt x="427989" y="943355"/>
                </a:lnTo>
                <a:lnTo>
                  <a:pt x="405130" y="939546"/>
                </a:lnTo>
                <a:lnTo>
                  <a:pt x="383539" y="935736"/>
                </a:lnTo>
                <a:lnTo>
                  <a:pt x="361950" y="931163"/>
                </a:lnTo>
                <a:lnTo>
                  <a:pt x="340360" y="927353"/>
                </a:lnTo>
                <a:lnTo>
                  <a:pt x="321310" y="922020"/>
                </a:lnTo>
                <a:lnTo>
                  <a:pt x="302260" y="917448"/>
                </a:lnTo>
                <a:lnTo>
                  <a:pt x="284480" y="912113"/>
                </a:lnTo>
                <a:lnTo>
                  <a:pt x="259080" y="902970"/>
                </a:lnTo>
                <a:lnTo>
                  <a:pt x="251460" y="900684"/>
                </a:lnTo>
                <a:lnTo>
                  <a:pt x="237489" y="894588"/>
                </a:lnTo>
                <a:lnTo>
                  <a:pt x="223519" y="887729"/>
                </a:lnTo>
                <a:lnTo>
                  <a:pt x="210819" y="880872"/>
                </a:lnTo>
                <a:lnTo>
                  <a:pt x="199389" y="873251"/>
                </a:lnTo>
                <a:lnTo>
                  <a:pt x="186689" y="864870"/>
                </a:lnTo>
                <a:lnTo>
                  <a:pt x="152400" y="837438"/>
                </a:lnTo>
                <a:lnTo>
                  <a:pt x="123189" y="806196"/>
                </a:lnTo>
                <a:lnTo>
                  <a:pt x="113030" y="794765"/>
                </a:lnTo>
                <a:lnTo>
                  <a:pt x="104139" y="782574"/>
                </a:lnTo>
                <a:lnTo>
                  <a:pt x="96519" y="771143"/>
                </a:lnTo>
                <a:lnTo>
                  <a:pt x="87630" y="758189"/>
                </a:lnTo>
                <a:lnTo>
                  <a:pt x="81280" y="745998"/>
                </a:lnTo>
                <a:lnTo>
                  <a:pt x="73660" y="733043"/>
                </a:lnTo>
                <a:lnTo>
                  <a:pt x="60960" y="707136"/>
                </a:lnTo>
                <a:lnTo>
                  <a:pt x="55880" y="693420"/>
                </a:lnTo>
                <a:lnTo>
                  <a:pt x="50800" y="680465"/>
                </a:lnTo>
                <a:lnTo>
                  <a:pt x="45719" y="666750"/>
                </a:lnTo>
                <a:lnTo>
                  <a:pt x="35560" y="626363"/>
                </a:lnTo>
                <a:lnTo>
                  <a:pt x="29210" y="585215"/>
                </a:lnTo>
                <a:lnTo>
                  <a:pt x="27939" y="559308"/>
                </a:lnTo>
                <a:lnTo>
                  <a:pt x="27939" y="701230"/>
                </a:lnTo>
                <a:lnTo>
                  <a:pt x="29210" y="704850"/>
                </a:lnTo>
                <a:lnTo>
                  <a:pt x="35560" y="719327"/>
                </a:lnTo>
                <a:lnTo>
                  <a:pt x="40639" y="733043"/>
                </a:lnTo>
                <a:lnTo>
                  <a:pt x="63500" y="774191"/>
                </a:lnTo>
                <a:lnTo>
                  <a:pt x="81280" y="800100"/>
                </a:lnTo>
                <a:lnTo>
                  <a:pt x="90169" y="812291"/>
                </a:lnTo>
                <a:lnTo>
                  <a:pt x="101600" y="824484"/>
                </a:lnTo>
                <a:lnTo>
                  <a:pt x="111760" y="836676"/>
                </a:lnTo>
                <a:lnTo>
                  <a:pt x="146050" y="869441"/>
                </a:lnTo>
                <a:lnTo>
                  <a:pt x="184150" y="897636"/>
                </a:lnTo>
                <a:lnTo>
                  <a:pt x="226060" y="920496"/>
                </a:lnTo>
                <a:lnTo>
                  <a:pt x="233680" y="923543"/>
                </a:lnTo>
                <a:lnTo>
                  <a:pt x="241300" y="927353"/>
                </a:lnTo>
                <a:lnTo>
                  <a:pt x="248919" y="930401"/>
                </a:lnTo>
                <a:lnTo>
                  <a:pt x="266700" y="936498"/>
                </a:lnTo>
                <a:lnTo>
                  <a:pt x="275589" y="938784"/>
                </a:lnTo>
                <a:lnTo>
                  <a:pt x="294639" y="944879"/>
                </a:lnTo>
                <a:lnTo>
                  <a:pt x="334010" y="954786"/>
                </a:lnTo>
                <a:lnTo>
                  <a:pt x="378460" y="963929"/>
                </a:lnTo>
                <a:lnTo>
                  <a:pt x="424180" y="971550"/>
                </a:lnTo>
                <a:lnTo>
                  <a:pt x="472439" y="977646"/>
                </a:lnTo>
                <a:lnTo>
                  <a:pt x="497839" y="979931"/>
                </a:lnTo>
                <a:lnTo>
                  <a:pt x="521969" y="982217"/>
                </a:lnTo>
                <a:lnTo>
                  <a:pt x="572769" y="985265"/>
                </a:lnTo>
                <a:lnTo>
                  <a:pt x="622300" y="986789"/>
                </a:lnTo>
                <a:lnTo>
                  <a:pt x="647700" y="986789"/>
                </a:lnTo>
                <a:lnTo>
                  <a:pt x="697229" y="985265"/>
                </a:lnTo>
                <a:lnTo>
                  <a:pt x="744219" y="982217"/>
                </a:lnTo>
                <a:lnTo>
                  <a:pt x="812799" y="973836"/>
                </a:lnTo>
                <a:lnTo>
                  <a:pt x="853439" y="965453"/>
                </a:lnTo>
                <a:lnTo>
                  <a:pt x="881380" y="957834"/>
                </a:lnTo>
                <a:lnTo>
                  <a:pt x="890269" y="955548"/>
                </a:lnTo>
                <a:lnTo>
                  <a:pt x="908049" y="949451"/>
                </a:lnTo>
                <a:lnTo>
                  <a:pt x="915669" y="945641"/>
                </a:lnTo>
                <a:lnTo>
                  <a:pt x="923289" y="942593"/>
                </a:lnTo>
                <a:lnTo>
                  <a:pt x="967739" y="917448"/>
                </a:lnTo>
                <a:lnTo>
                  <a:pt x="1009649" y="885443"/>
                </a:lnTo>
                <a:lnTo>
                  <a:pt x="1046480" y="847343"/>
                </a:lnTo>
                <a:lnTo>
                  <a:pt x="1079499" y="804672"/>
                </a:lnTo>
                <a:lnTo>
                  <a:pt x="1108709" y="758189"/>
                </a:lnTo>
                <a:lnTo>
                  <a:pt x="1132839" y="708660"/>
                </a:lnTo>
                <a:lnTo>
                  <a:pt x="1146809" y="675131"/>
                </a:lnTo>
                <a:lnTo>
                  <a:pt x="1148080" y="671779"/>
                </a:lnTo>
                <a:close/>
              </a:path>
              <a:path w="1177289" h="986789">
                <a:moveTo>
                  <a:pt x="334010" y="72389"/>
                </a:moveTo>
                <a:lnTo>
                  <a:pt x="247650" y="109727"/>
                </a:lnTo>
                <a:lnTo>
                  <a:pt x="269399" y="128406"/>
                </a:lnTo>
                <a:lnTo>
                  <a:pt x="278130" y="117348"/>
                </a:lnTo>
                <a:lnTo>
                  <a:pt x="299719" y="135636"/>
                </a:lnTo>
                <a:lnTo>
                  <a:pt x="299719" y="154446"/>
                </a:lnTo>
                <a:lnTo>
                  <a:pt x="312419" y="165353"/>
                </a:lnTo>
                <a:lnTo>
                  <a:pt x="334010" y="72389"/>
                </a:lnTo>
                <a:close/>
              </a:path>
              <a:path w="1177289" h="986789">
                <a:moveTo>
                  <a:pt x="299719" y="135636"/>
                </a:moveTo>
                <a:lnTo>
                  <a:pt x="278130" y="117348"/>
                </a:lnTo>
                <a:lnTo>
                  <a:pt x="269399" y="128406"/>
                </a:lnTo>
                <a:lnTo>
                  <a:pt x="290583" y="146600"/>
                </a:lnTo>
                <a:lnTo>
                  <a:pt x="299719" y="135636"/>
                </a:lnTo>
                <a:close/>
              </a:path>
              <a:path w="1177289" h="986789">
                <a:moveTo>
                  <a:pt x="299719" y="154446"/>
                </a:moveTo>
                <a:lnTo>
                  <a:pt x="299719" y="135636"/>
                </a:lnTo>
                <a:lnTo>
                  <a:pt x="290583" y="146600"/>
                </a:lnTo>
                <a:lnTo>
                  <a:pt x="299719" y="154446"/>
                </a:lnTo>
                <a:close/>
              </a:path>
              <a:path w="1177289" h="986789">
                <a:moveTo>
                  <a:pt x="1177289" y="524255"/>
                </a:moveTo>
                <a:lnTo>
                  <a:pt x="1177289" y="508253"/>
                </a:lnTo>
                <a:lnTo>
                  <a:pt x="1176019" y="493013"/>
                </a:lnTo>
                <a:lnTo>
                  <a:pt x="1164589" y="432053"/>
                </a:lnTo>
                <a:lnTo>
                  <a:pt x="1146809" y="387096"/>
                </a:lnTo>
                <a:lnTo>
                  <a:pt x="1122680" y="342138"/>
                </a:lnTo>
                <a:lnTo>
                  <a:pt x="1113789" y="326898"/>
                </a:lnTo>
                <a:lnTo>
                  <a:pt x="1103630" y="312420"/>
                </a:lnTo>
                <a:lnTo>
                  <a:pt x="1092199" y="297179"/>
                </a:lnTo>
                <a:lnTo>
                  <a:pt x="1080769" y="282701"/>
                </a:lnTo>
                <a:lnTo>
                  <a:pt x="1070609" y="267462"/>
                </a:lnTo>
                <a:lnTo>
                  <a:pt x="1057909" y="252984"/>
                </a:lnTo>
                <a:lnTo>
                  <a:pt x="1032509" y="222503"/>
                </a:lnTo>
                <a:lnTo>
                  <a:pt x="1018539" y="208025"/>
                </a:lnTo>
                <a:lnTo>
                  <a:pt x="1004569" y="192786"/>
                </a:lnTo>
                <a:lnTo>
                  <a:pt x="990599" y="178308"/>
                </a:lnTo>
                <a:lnTo>
                  <a:pt x="976630" y="163067"/>
                </a:lnTo>
                <a:lnTo>
                  <a:pt x="961389" y="148589"/>
                </a:lnTo>
                <a:lnTo>
                  <a:pt x="930909" y="118872"/>
                </a:lnTo>
                <a:lnTo>
                  <a:pt x="868680" y="59436"/>
                </a:lnTo>
                <a:lnTo>
                  <a:pt x="835659" y="29717"/>
                </a:lnTo>
                <a:lnTo>
                  <a:pt x="803909" y="0"/>
                </a:lnTo>
                <a:lnTo>
                  <a:pt x="784859" y="21336"/>
                </a:lnTo>
                <a:lnTo>
                  <a:pt x="848359" y="80772"/>
                </a:lnTo>
                <a:lnTo>
                  <a:pt x="881380" y="109727"/>
                </a:lnTo>
                <a:lnTo>
                  <a:pt x="942339" y="169163"/>
                </a:lnTo>
                <a:lnTo>
                  <a:pt x="971549" y="198120"/>
                </a:lnTo>
                <a:lnTo>
                  <a:pt x="998219" y="227075"/>
                </a:lnTo>
                <a:lnTo>
                  <a:pt x="1010919" y="242315"/>
                </a:lnTo>
                <a:lnTo>
                  <a:pt x="1047749" y="285750"/>
                </a:lnTo>
                <a:lnTo>
                  <a:pt x="1059180" y="300227"/>
                </a:lnTo>
                <a:lnTo>
                  <a:pt x="1070609" y="313943"/>
                </a:lnTo>
                <a:lnTo>
                  <a:pt x="1089659" y="342900"/>
                </a:lnTo>
                <a:lnTo>
                  <a:pt x="1098549" y="357377"/>
                </a:lnTo>
                <a:lnTo>
                  <a:pt x="1106169" y="371093"/>
                </a:lnTo>
                <a:lnTo>
                  <a:pt x="1113789" y="385572"/>
                </a:lnTo>
                <a:lnTo>
                  <a:pt x="1121409" y="399288"/>
                </a:lnTo>
                <a:lnTo>
                  <a:pt x="1144269" y="468629"/>
                </a:lnTo>
                <a:lnTo>
                  <a:pt x="1148080" y="496062"/>
                </a:lnTo>
                <a:lnTo>
                  <a:pt x="1148080" y="671779"/>
                </a:lnTo>
                <a:lnTo>
                  <a:pt x="1153159" y="658367"/>
                </a:lnTo>
                <a:lnTo>
                  <a:pt x="1163319" y="624839"/>
                </a:lnTo>
                <a:lnTo>
                  <a:pt x="1170939" y="590550"/>
                </a:lnTo>
                <a:lnTo>
                  <a:pt x="1174749" y="557022"/>
                </a:lnTo>
                <a:lnTo>
                  <a:pt x="1177289" y="52425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670435" y="15397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6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70435" y="4206731"/>
            <a:ext cx="5760085" cy="180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31900" marR="1096010">
              <a:lnSpc>
                <a:spcPct val="100000"/>
              </a:lnSpc>
              <a:spcBef>
                <a:spcPts val="2039"/>
              </a:spcBef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set of states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{0,1,2,3}  Input symbol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{a,b}</a:t>
            </a:r>
            <a:endParaRPr sz="2400">
              <a:latin typeface="Times New Roman"/>
              <a:cs typeface="Times New Roman"/>
            </a:endParaRPr>
          </a:p>
          <a:p>
            <a:pPr marL="1231900">
              <a:lnSpc>
                <a:spcPts val="2870"/>
              </a:lnSpc>
            </a:pPr>
            <a:r>
              <a:rPr sz="2400" spc="-5" dirty="0">
                <a:latin typeface="Times New Roman"/>
                <a:cs typeface="Times New Roman"/>
              </a:rPr>
              <a:t>Start state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S0, </a:t>
            </a:r>
            <a:r>
              <a:rPr sz="2400" dirty="0">
                <a:latin typeface="Times New Roman"/>
                <a:cs typeface="Times New Roman"/>
              </a:rPr>
              <a:t>accepting </a:t>
            </a: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7625" y="380745"/>
            <a:ext cx="381190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Transition</a:t>
            </a:r>
            <a:r>
              <a:rPr spc="-3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835" y="1387348"/>
            <a:ext cx="69481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Transition function can be implemented as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transition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table.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14652" y="2722308"/>
          <a:ext cx="6139180" cy="2873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 rowSpan="2"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State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08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Symbol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19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{0,1}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{0}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{2}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{3}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766627"/>
            <a:ext cx="7586980" cy="28448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Non-deterministic Finite Automata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(NFA)</a:t>
            </a:r>
            <a:endParaRPr sz="2800">
              <a:latin typeface="Times New Roman"/>
              <a:cs typeface="Times New Roman"/>
            </a:endParaRPr>
          </a:p>
          <a:p>
            <a:pPr marL="1002665" marR="5080" lvl="1" indent="-532765" algn="just">
              <a:lnSpc>
                <a:spcPct val="100000"/>
              </a:lnSpc>
              <a:spcBef>
                <a:spcPts val="680"/>
              </a:spcBef>
              <a:buChar char="–"/>
              <a:tabLst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An NFA accepts an input string </a:t>
            </a:r>
            <a:r>
              <a:rPr sz="2800" i="1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iff there is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path in the transition graph from the start state  to some accepting (final)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states.</a:t>
            </a:r>
            <a:endParaRPr sz="2800">
              <a:latin typeface="Times New Roman"/>
              <a:cs typeface="Times New Roman"/>
            </a:endParaRPr>
          </a:p>
          <a:p>
            <a:pPr marL="1002665" marR="113030" lvl="1" indent="-532765">
              <a:lnSpc>
                <a:spcPct val="100000"/>
              </a:lnSpc>
              <a:spcBef>
                <a:spcPts val="67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language defined by an NFA is the set of  strings 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accepts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6435" y="3586023"/>
            <a:ext cx="150495" cy="10515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•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13" y="3586023"/>
            <a:ext cx="6241415" cy="10515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Times New Roman"/>
                <a:cs typeface="Times New Roman"/>
              </a:rPr>
              <a:t>Deterministic Finite Automata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(DFA)</a:t>
            </a:r>
            <a:endParaRPr sz="28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DFA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special case of NFA 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which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3636" y="4611665"/>
            <a:ext cx="5873750" cy="10515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775"/>
              </a:spcBef>
              <a:buChar char="–"/>
              <a:tabLst>
                <a:tab pos="545465" algn="l"/>
                <a:tab pos="5467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 is no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e-transition</a:t>
            </a:r>
            <a:endParaRPr sz="28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680"/>
              </a:spcBef>
              <a:buChar char="–"/>
              <a:tabLst>
                <a:tab pos="545465" algn="l"/>
                <a:tab pos="546100" algn="l"/>
              </a:tabLst>
            </a:pPr>
            <a:r>
              <a:rPr sz="2800" spc="-5" dirty="0">
                <a:latin typeface="Times New Roman"/>
                <a:cs typeface="Times New Roman"/>
              </a:rPr>
              <a:t>Always have unique successor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03635" y="1149151"/>
            <a:ext cx="4122420" cy="3616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422275" indent="-285750">
              <a:lnSpc>
                <a:spcPct val="1202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How to simulate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DFA  </a:t>
            </a:r>
            <a:r>
              <a:rPr sz="2800" dirty="0">
                <a:latin typeface="Times New Roman"/>
                <a:cs typeface="Times New Roman"/>
              </a:rPr>
              <a:t>s = </a:t>
            </a:r>
            <a:r>
              <a:rPr sz="2800" spc="-5" dirty="0">
                <a:latin typeface="Times New Roman"/>
                <a:cs typeface="Times New Roman"/>
              </a:rPr>
              <a:t>s0; </a:t>
            </a:r>
            <a:r>
              <a:rPr sz="2800" dirty="0">
                <a:latin typeface="Times New Roman"/>
                <a:cs typeface="Times New Roman"/>
              </a:rPr>
              <a:t>c </a:t>
            </a:r>
            <a:r>
              <a:rPr sz="2800" spc="-5" dirty="0">
                <a:latin typeface="Times New Roman"/>
                <a:cs typeface="Times New Roman"/>
              </a:rPr>
              <a:t>:= nextchar;  while </a:t>
            </a:r>
            <a:r>
              <a:rPr sz="2800" dirty="0">
                <a:latin typeface="Times New Roman"/>
                <a:cs typeface="Times New Roman"/>
              </a:rPr>
              <a:t>( c </a:t>
            </a:r>
            <a:r>
              <a:rPr sz="2800" spc="-5" dirty="0">
                <a:latin typeface="Times New Roman"/>
                <a:cs typeface="Times New Roman"/>
              </a:rPr>
              <a:t>&lt;&gt; </a:t>
            </a:r>
            <a:r>
              <a:rPr sz="2800" dirty="0">
                <a:latin typeface="Times New Roman"/>
                <a:cs typeface="Times New Roman"/>
              </a:rPr>
              <a:t>eof)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</a:t>
            </a:r>
            <a:endParaRPr sz="2800">
              <a:latin typeface="Times New Roman"/>
              <a:cs typeface="Times New Roman"/>
            </a:endParaRPr>
          </a:p>
          <a:p>
            <a:pPr marL="1384300" marR="516255">
              <a:lnSpc>
                <a:spcPct val="120200"/>
              </a:lnSpc>
            </a:pPr>
            <a:r>
              <a:rPr sz="2800" dirty="0">
                <a:latin typeface="Times New Roman"/>
                <a:cs typeface="Times New Roman"/>
              </a:rPr>
              <a:t>s </a:t>
            </a:r>
            <a:r>
              <a:rPr sz="2800" spc="-5" dirty="0">
                <a:latin typeface="Times New Roman"/>
                <a:cs typeface="Times New Roman"/>
              </a:rPr>
              <a:t>:= move(s,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c);  </a:t>
            </a:r>
            <a:r>
              <a:rPr sz="2800" dirty="0">
                <a:latin typeface="Times New Roman"/>
                <a:cs typeface="Times New Roman"/>
              </a:rPr>
              <a:t>c </a:t>
            </a:r>
            <a:r>
              <a:rPr sz="2800" spc="-5" dirty="0">
                <a:latin typeface="Times New Roman"/>
                <a:cs typeface="Times New Roman"/>
              </a:rPr>
              <a:t>:=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nextchar;</a:t>
            </a:r>
            <a:endParaRPr sz="28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end</a:t>
            </a:r>
            <a:endParaRPr sz="28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Times New Roman"/>
                <a:cs typeface="Times New Roman"/>
              </a:rPr>
              <a:t>if (s in F) then return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“yes</a:t>
            </a:r>
            <a:r>
              <a:rPr sz="2800" spc="-10" dirty="0"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1637" y="344169"/>
            <a:ext cx="51422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Conversion </a:t>
            </a:r>
            <a:r>
              <a:rPr spc="-5" dirty="0"/>
              <a:t>of NFA to</a:t>
            </a:r>
            <a:r>
              <a:rPr spc="-35" dirty="0"/>
              <a:t> </a:t>
            </a:r>
            <a:r>
              <a:rPr spc="-10" dirty="0"/>
              <a:t>DFA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35" y="1225351"/>
            <a:ext cx="8074025" cy="48101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775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Why?</a:t>
            </a:r>
            <a:endParaRPr sz="2800">
              <a:latin typeface="Times New Roman"/>
              <a:cs typeface="Times New Roman"/>
            </a:endParaRPr>
          </a:p>
          <a:p>
            <a:pPr marL="1002665" lvl="1" indent="-532765">
              <a:lnSpc>
                <a:spcPct val="100000"/>
              </a:lnSpc>
              <a:spcBef>
                <a:spcPts val="68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DFA is difficult to construct directly from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RE’s</a:t>
            </a:r>
            <a:endParaRPr sz="2800">
              <a:latin typeface="Times New Roman"/>
              <a:cs typeface="Times New Roman"/>
            </a:endParaRPr>
          </a:p>
          <a:p>
            <a:pPr marL="1002665" marR="993140" lvl="1" indent="-532765">
              <a:lnSpc>
                <a:spcPct val="100000"/>
              </a:lnSpc>
              <a:spcBef>
                <a:spcPts val="67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NFA is difficult to represent in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computer  program and inefficient 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</a:t>
            </a:r>
            <a:endParaRPr sz="28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spcBef>
                <a:spcPts val="680"/>
              </a:spcBef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Conversion algorithm: subset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construction</a:t>
            </a:r>
            <a:endParaRPr sz="2800">
              <a:latin typeface="Times New Roman"/>
              <a:cs typeface="Times New Roman"/>
            </a:endParaRPr>
          </a:p>
          <a:p>
            <a:pPr marL="1002665" marR="185420" lvl="1" indent="-532765">
              <a:lnSpc>
                <a:spcPct val="100000"/>
              </a:lnSpc>
              <a:spcBef>
                <a:spcPts val="680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idea is that each DFA state corresponds to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set of NFA states.</a:t>
            </a:r>
            <a:endParaRPr sz="2800">
              <a:latin typeface="Times New Roman"/>
              <a:cs typeface="Times New Roman"/>
            </a:endParaRPr>
          </a:p>
          <a:p>
            <a:pPr marL="1002665" marR="5080" lvl="1" indent="-532765">
              <a:lnSpc>
                <a:spcPct val="100000"/>
              </a:lnSpc>
              <a:spcBef>
                <a:spcPts val="675"/>
              </a:spcBef>
              <a:buChar char="–"/>
              <a:tabLst>
                <a:tab pos="1002665" algn="l"/>
                <a:tab pos="1003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After reading input a1, a2, …, an, the DFA is in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state that represents the subset </a:t>
            </a:r>
            <a:r>
              <a:rPr sz="2800" dirty="0">
                <a:latin typeface="Times New Roman"/>
                <a:cs typeface="Times New Roman"/>
              </a:rPr>
              <a:t>T </a:t>
            </a:r>
            <a:r>
              <a:rPr sz="2800" spc="-5" dirty="0">
                <a:latin typeface="Times New Roman"/>
                <a:cs typeface="Times New Roman"/>
              </a:rPr>
              <a:t>of the states of  the NFA that are reachable from the start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2815" y="380745"/>
            <a:ext cx="45783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NFA to DFA</a:t>
            </a:r>
            <a:r>
              <a:rPr spc="-6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/>
          <p:nvPr/>
        </p:nvSpPr>
        <p:spPr>
          <a:xfrm>
            <a:off x="2209939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02033" y="23398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8739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30833" y="23398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1527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83633" y="23398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539" y="2541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50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50"/>
                </a:lnTo>
                <a:lnTo>
                  <a:pt x="766572" y="57150"/>
                </a:lnTo>
                <a:close/>
              </a:path>
              <a:path w="838200" h="85725">
                <a:moveTo>
                  <a:pt x="838199" y="42671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1" y="28193"/>
                </a:lnTo>
                <a:lnTo>
                  <a:pt x="766572" y="78169"/>
                </a:lnTo>
                <a:lnTo>
                  <a:pt x="838199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50"/>
                </a:lnTo>
                <a:lnTo>
                  <a:pt x="752094" y="57150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75035" y="19969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2435" y="19207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24339" y="2465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15139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6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7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3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2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6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07233" y="23398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00739" y="2465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53327" y="2465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08835" y="19969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61451" y="19969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3091" y="2879851"/>
            <a:ext cx="653415" cy="506095"/>
          </a:xfrm>
          <a:custGeom>
            <a:avLst/>
            <a:gdLst/>
            <a:ahLst/>
            <a:cxnLst/>
            <a:rect l="l" t="t" r="r" b="b"/>
            <a:pathLst>
              <a:path w="653414" h="506095">
                <a:moveTo>
                  <a:pt x="81549" y="80621"/>
                </a:moveTo>
                <a:lnTo>
                  <a:pt x="57621" y="65509"/>
                </a:lnTo>
                <a:lnTo>
                  <a:pt x="55626" y="68580"/>
                </a:lnTo>
                <a:lnTo>
                  <a:pt x="49530" y="80010"/>
                </a:lnTo>
                <a:lnTo>
                  <a:pt x="42672" y="90677"/>
                </a:lnTo>
                <a:lnTo>
                  <a:pt x="37338" y="102108"/>
                </a:lnTo>
                <a:lnTo>
                  <a:pt x="31242" y="113537"/>
                </a:lnTo>
                <a:lnTo>
                  <a:pt x="22098" y="134874"/>
                </a:lnTo>
                <a:lnTo>
                  <a:pt x="8382" y="183642"/>
                </a:lnTo>
                <a:lnTo>
                  <a:pt x="762" y="224027"/>
                </a:lnTo>
                <a:lnTo>
                  <a:pt x="0" y="233934"/>
                </a:lnTo>
                <a:lnTo>
                  <a:pt x="0" y="254508"/>
                </a:lnTo>
                <a:lnTo>
                  <a:pt x="9144" y="297180"/>
                </a:lnTo>
                <a:lnTo>
                  <a:pt x="28194" y="337185"/>
                </a:lnTo>
                <a:lnTo>
                  <a:pt x="28194" y="243839"/>
                </a:lnTo>
                <a:lnTo>
                  <a:pt x="30480" y="217170"/>
                </a:lnTo>
                <a:lnTo>
                  <a:pt x="32004" y="208025"/>
                </a:lnTo>
                <a:lnTo>
                  <a:pt x="34290" y="199644"/>
                </a:lnTo>
                <a:lnTo>
                  <a:pt x="35814" y="190500"/>
                </a:lnTo>
                <a:lnTo>
                  <a:pt x="41148" y="172212"/>
                </a:lnTo>
                <a:lnTo>
                  <a:pt x="46482" y="153162"/>
                </a:lnTo>
                <a:lnTo>
                  <a:pt x="49530" y="144018"/>
                </a:lnTo>
                <a:lnTo>
                  <a:pt x="53340" y="134874"/>
                </a:lnTo>
                <a:lnTo>
                  <a:pt x="62484" y="115062"/>
                </a:lnTo>
                <a:lnTo>
                  <a:pt x="68580" y="104394"/>
                </a:lnTo>
                <a:lnTo>
                  <a:pt x="73914" y="93725"/>
                </a:lnTo>
                <a:lnTo>
                  <a:pt x="80010" y="83058"/>
                </a:lnTo>
                <a:lnTo>
                  <a:pt x="81549" y="80621"/>
                </a:lnTo>
                <a:close/>
              </a:path>
              <a:path w="653414" h="506095">
                <a:moveTo>
                  <a:pt x="624077" y="342900"/>
                </a:moveTo>
                <a:lnTo>
                  <a:pt x="624077" y="257556"/>
                </a:lnTo>
                <a:lnTo>
                  <a:pt x="622553" y="263651"/>
                </a:lnTo>
                <a:lnTo>
                  <a:pt x="621791" y="270510"/>
                </a:lnTo>
                <a:lnTo>
                  <a:pt x="620267" y="278130"/>
                </a:lnTo>
                <a:lnTo>
                  <a:pt x="617981" y="284988"/>
                </a:lnTo>
                <a:lnTo>
                  <a:pt x="615695" y="292608"/>
                </a:lnTo>
                <a:lnTo>
                  <a:pt x="606551" y="315468"/>
                </a:lnTo>
                <a:lnTo>
                  <a:pt x="602741" y="323088"/>
                </a:lnTo>
                <a:lnTo>
                  <a:pt x="593585" y="338327"/>
                </a:lnTo>
                <a:lnTo>
                  <a:pt x="584453" y="354330"/>
                </a:lnTo>
                <a:lnTo>
                  <a:pt x="550164" y="398525"/>
                </a:lnTo>
                <a:lnTo>
                  <a:pt x="524256" y="423672"/>
                </a:lnTo>
                <a:lnTo>
                  <a:pt x="518160" y="429768"/>
                </a:lnTo>
                <a:lnTo>
                  <a:pt x="504444" y="440436"/>
                </a:lnTo>
                <a:lnTo>
                  <a:pt x="490728" y="449580"/>
                </a:lnTo>
                <a:lnTo>
                  <a:pt x="477012" y="457200"/>
                </a:lnTo>
                <a:lnTo>
                  <a:pt x="470154" y="460248"/>
                </a:lnTo>
                <a:lnTo>
                  <a:pt x="464058" y="463296"/>
                </a:lnTo>
                <a:lnTo>
                  <a:pt x="441198" y="470153"/>
                </a:lnTo>
                <a:lnTo>
                  <a:pt x="432054" y="471677"/>
                </a:lnTo>
                <a:lnTo>
                  <a:pt x="423672" y="473201"/>
                </a:lnTo>
                <a:lnTo>
                  <a:pt x="405384" y="475488"/>
                </a:lnTo>
                <a:lnTo>
                  <a:pt x="385572" y="477012"/>
                </a:lnTo>
                <a:lnTo>
                  <a:pt x="365760" y="477774"/>
                </a:lnTo>
                <a:lnTo>
                  <a:pt x="344424" y="476984"/>
                </a:lnTo>
                <a:lnTo>
                  <a:pt x="323850" y="476250"/>
                </a:lnTo>
                <a:lnTo>
                  <a:pt x="282702" y="471677"/>
                </a:lnTo>
                <a:lnTo>
                  <a:pt x="243078" y="465582"/>
                </a:lnTo>
                <a:lnTo>
                  <a:pt x="198882" y="454151"/>
                </a:lnTo>
                <a:lnTo>
                  <a:pt x="176784" y="446532"/>
                </a:lnTo>
                <a:lnTo>
                  <a:pt x="170688" y="444246"/>
                </a:lnTo>
                <a:lnTo>
                  <a:pt x="118872" y="410718"/>
                </a:lnTo>
                <a:lnTo>
                  <a:pt x="90678" y="380238"/>
                </a:lnTo>
                <a:lnTo>
                  <a:pt x="67056" y="347472"/>
                </a:lnTo>
                <a:lnTo>
                  <a:pt x="48768" y="315468"/>
                </a:lnTo>
                <a:lnTo>
                  <a:pt x="43434" y="305562"/>
                </a:lnTo>
                <a:lnTo>
                  <a:pt x="39624" y="295656"/>
                </a:lnTo>
                <a:lnTo>
                  <a:pt x="35814" y="286512"/>
                </a:lnTo>
                <a:lnTo>
                  <a:pt x="32766" y="278130"/>
                </a:lnTo>
                <a:lnTo>
                  <a:pt x="31242" y="268986"/>
                </a:lnTo>
                <a:lnTo>
                  <a:pt x="29718" y="260603"/>
                </a:lnTo>
                <a:lnTo>
                  <a:pt x="28194" y="243839"/>
                </a:lnTo>
                <a:lnTo>
                  <a:pt x="28194" y="337185"/>
                </a:lnTo>
                <a:lnTo>
                  <a:pt x="29718" y="339851"/>
                </a:lnTo>
                <a:lnTo>
                  <a:pt x="35814" y="352044"/>
                </a:lnTo>
                <a:lnTo>
                  <a:pt x="43434" y="363474"/>
                </a:lnTo>
                <a:lnTo>
                  <a:pt x="51054" y="375665"/>
                </a:lnTo>
                <a:lnTo>
                  <a:pt x="59436" y="387096"/>
                </a:lnTo>
                <a:lnTo>
                  <a:pt x="69342" y="399288"/>
                </a:lnTo>
                <a:lnTo>
                  <a:pt x="78486" y="410718"/>
                </a:lnTo>
                <a:lnTo>
                  <a:pt x="89154" y="421386"/>
                </a:lnTo>
                <a:lnTo>
                  <a:pt x="124968" y="451865"/>
                </a:lnTo>
                <a:lnTo>
                  <a:pt x="160020" y="470915"/>
                </a:lnTo>
                <a:lnTo>
                  <a:pt x="175260" y="476250"/>
                </a:lnTo>
                <a:lnTo>
                  <a:pt x="182880" y="479298"/>
                </a:lnTo>
                <a:lnTo>
                  <a:pt x="191262" y="481584"/>
                </a:lnTo>
                <a:lnTo>
                  <a:pt x="199644" y="484632"/>
                </a:lnTo>
                <a:lnTo>
                  <a:pt x="208788" y="486918"/>
                </a:lnTo>
                <a:lnTo>
                  <a:pt x="258318" y="496824"/>
                </a:lnTo>
                <a:lnTo>
                  <a:pt x="300990" y="502920"/>
                </a:lnTo>
                <a:lnTo>
                  <a:pt x="344424" y="505968"/>
                </a:lnTo>
                <a:lnTo>
                  <a:pt x="366522" y="505968"/>
                </a:lnTo>
                <a:lnTo>
                  <a:pt x="408432" y="503682"/>
                </a:lnTo>
                <a:lnTo>
                  <a:pt x="448056" y="497586"/>
                </a:lnTo>
                <a:lnTo>
                  <a:pt x="490728" y="482346"/>
                </a:lnTo>
                <a:lnTo>
                  <a:pt x="505968" y="473201"/>
                </a:lnTo>
                <a:lnTo>
                  <a:pt x="514350" y="468630"/>
                </a:lnTo>
                <a:lnTo>
                  <a:pt x="521970" y="463296"/>
                </a:lnTo>
                <a:lnTo>
                  <a:pt x="529590" y="457200"/>
                </a:lnTo>
                <a:lnTo>
                  <a:pt x="536448" y="451103"/>
                </a:lnTo>
                <a:lnTo>
                  <a:pt x="544068" y="445008"/>
                </a:lnTo>
                <a:lnTo>
                  <a:pt x="572262" y="416813"/>
                </a:lnTo>
                <a:lnTo>
                  <a:pt x="597407" y="385572"/>
                </a:lnTo>
                <a:lnTo>
                  <a:pt x="618743" y="352806"/>
                </a:lnTo>
                <a:lnTo>
                  <a:pt x="623315" y="344424"/>
                </a:lnTo>
                <a:lnTo>
                  <a:pt x="624077" y="342900"/>
                </a:lnTo>
                <a:close/>
              </a:path>
              <a:path w="653414" h="506095">
                <a:moveTo>
                  <a:pt x="115062" y="0"/>
                </a:moveTo>
                <a:lnTo>
                  <a:pt x="33528" y="50292"/>
                </a:lnTo>
                <a:lnTo>
                  <a:pt x="57621" y="65509"/>
                </a:lnTo>
                <a:lnTo>
                  <a:pt x="65532" y="53339"/>
                </a:lnTo>
                <a:lnTo>
                  <a:pt x="89154" y="68580"/>
                </a:lnTo>
                <a:lnTo>
                  <a:pt x="89154" y="85424"/>
                </a:lnTo>
                <a:lnTo>
                  <a:pt x="105918" y="96012"/>
                </a:lnTo>
                <a:lnTo>
                  <a:pt x="115062" y="0"/>
                </a:lnTo>
                <a:close/>
              </a:path>
              <a:path w="653414" h="506095">
                <a:moveTo>
                  <a:pt x="89154" y="68580"/>
                </a:moveTo>
                <a:lnTo>
                  <a:pt x="65532" y="53339"/>
                </a:lnTo>
                <a:lnTo>
                  <a:pt x="57621" y="65509"/>
                </a:lnTo>
                <a:lnTo>
                  <a:pt x="81549" y="80621"/>
                </a:lnTo>
                <a:lnTo>
                  <a:pt x="89154" y="68580"/>
                </a:lnTo>
                <a:close/>
              </a:path>
              <a:path w="653414" h="506095">
                <a:moveTo>
                  <a:pt x="89154" y="85424"/>
                </a:moveTo>
                <a:lnTo>
                  <a:pt x="89154" y="68580"/>
                </a:lnTo>
                <a:lnTo>
                  <a:pt x="81549" y="80621"/>
                </a:lnTo>
                <a:lnTo>
                  <a:pt x="89154" y="85424"/>
                </a:lnTo>
                <a:close/>
              </a:path>
              <a:path w="653414" h="506095">
                <a:moveTo>
                  <a:pt x="653033" y="251460"/>
                </a:moveTo>
                <a:lnTo>
                  <a:pt x="653033" y="243077"/>
                </a:lnTo>
                <a:lnTo>
                  <a:pt x="651510" y="227075"/>
                </a:lnTo>
                <a:lnTo>
                  <a:pt x="648462" y="211836"/>
                </a:lnTo>
                <a:lnTo>
                  <a:pt x="646176" y="203453"/>
                </a:lnTo>
                <a:lnTo>
                  <a:pt x="643889" y="195834"/>
                </a:lnTo>
                <a:lnTo>
                  <a:pt x="640841" y="188213"/>
                </a:lnTo>
                <a:lnTo>
                  <a:pt x="637793" y="179832"/>
                </a:lnTo>
                <a:lnTo>
                  <a:pt x="617219" y="141732"/>
                </a:lnTo>
                <a:lnTo>
                  <a:pt x="585215" y="96774"/>
                </a:lnTo>
                <a:lnTo>
                  <a:pt x="547116" y="51053"/>
                </a:lnTo>
                <a:lnTo>
                  <a:pt x="533400" y="36575"/>
                </a:lnTo>
                <a:lnTo>
                  <a:pt x="506730" y="6857"/>
                </a:lnTo>
                <a:lnTo>
                  <a:pt x="485394" y="25908"/>
                </a:lnTo>
                <a:lnTo>
                  <a:pt x="512826" y="55625"/>
                </a:lnTo>
                <a:lnTo>
                  <a:pt x="525780" y="70103"/>
                </a:lnTo>
                <a:lnTo>
                  <a:pt x="563118" y="114300"/>
                </a:lnTo>
                <a:lnTo>
                  <a:pt x="593585" y="157734"/>
                </a:lnTo>
                <a:lnTo>
                  <a:pt x="605027" y="178308"/>
                </a:lnTo>
                <a:lnTo>
                  <a:pt x="608838" y="185165"/>
                </a:lnTo>
                <a:lnTo>
                  <a:pt x="622553" y="225551"/>
                </a:lnTo>
                <a:lnTo>
                  <a:pt x="624077" y="238506"/>
                </a:lnTo>
                <a:lnTo>
                  <a:pt x="624077" y="342900"/>
                </a:lnTo>
                <a:lnTo>
                  <a:pt x="627888" y="335280"/>
                </a:lnTo>
                <a:lnTo>
                  <a:pt x="632460" y="326898"/>
                </a:lnTo>
                <a:lnTo>
                  <a:pt x="636269" y="318515"/>
                </a:lnTo>
                <a:lnTo>
                  <a:pt x="639317" y="310134"/>
                </a:lnTo>
                <a:lnTo>
                  <a:pt x="642365" y="300989"/>
                </a:lnTo>
                <a:lnTo>
                  <a:pt x="645413" y="292608"/>
                </a:lnTo>
                <a:lnTo>
                  <a:pt x="649986" y="275844"/>
                </a:lnTo>
                <a:lnTo>
                  <a:pt x="651510" y="267462"/>
                </a:lnTo>
                <a:lnTo>
                  <a:pt x="653033" y="25146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71661" y="1745995"/>
            <a:ext cx="653415" cy="505459"/>
          </a:xfrm>
          <a:custGeom>
            <a:avLst/>
            <a:gdLst/>
            <a:ahLst/>
            <a:cxnLst/>
            <a:rect l="l" t="t" r="r" b="b"/>
            <a:pathLst>
              <a:path w="653414" h="505460">
                <a:moveTo>
                  <a:pt x="653033" y="256794"/>
                </a:moveTo>
                <a:lnTo>
                  <a:pt x="653033" y="246887"/>
                </a:lnTo>
                <a:lnTo>
                  <a:pt x="652271" y="236220"/>
                </a:lnTo>
                <a:lnTo>
                  <a:pt x="641604" y="194310"/>
                </a:lnTo>
                <a:lnTo>
                  <a:pt x="619506" y="152400"/>
                </a:lnTo>
                <a:lnTo>
                  <a:pt x="595883" y="118110"/>
                </a:lnTo>
                <a:lnTo>
                  <a:pt x="566927" y="83820"/>
                </a:lnTo>
                <a:lnTo>
                  <a:pt x="531876" y="53340"/>
                </a:lnTo>
                <a:lnTo>
                  <a:pt x="490727" y="30480"/>
                </a:lnTo>
                <a:lnTo>
                  <a:pt x="451865" y="17526"/>
                </a:lnTo>
                <a:lnTo>
                  <a:pt x="424433" y="11430"/>
                </a:lnTo>
                <a:lnTo>
                  <a:pt x="404621" y="7620"/>
                </a:lnTo>
                <a:lnTo>
                  <a:pt x="384047" y="5334"/>
                </a:lnTo>
                <a:lnTo>
                  <a:pt x="362712" y="2286"/>
                </a:lnTo>
                <a:lnTo>
                  <a:pt x="341375" y="762"/>
                </a:lnTo>
                <a:lnTo>
                  <a:pt x="319277" y="0"/>
                </a:lnTo>
                <a:lnTo>
                  <a:pt x="297179" y="0"/>
                </a:lnTo>
                <a:lnTo>
                  <a:pt x="254507" y="1524"/>
                </a:lnTo>
                <a:lnTo>
                  <a:pt x="233171" y="4572"/>
                </a:lnTo>
                <a:lnTo>
                  <a:pt x="213359" y="7620"/>
                </a:lnTo>
                <a:lnTo>
                  <a:pt x="204215" y="9906"/>
                </a:lnTo>
                <a:lnTo>
                  <a:pt x="194309" y="12192"/>
                </a:lnTo>
                <a:lnTo>
                  <a:pt x="137159" y="38862"/>
                </a:lnTo>
                <a:lnTo>
                  <a:pt x="122681" y="50292"/>
                </a:lnTo>
                <a:lnTo>
                  <a:pt x="115062" y="56388"/>
                </a:lnTo>
                <a:lnTo>
                  <a:pt x="86868" y="83058"/>
                </a:lnTo>
                <a:lnTo>
                  <a:pt x="61721" y="114300"/>
                </a:lnTo>
                <a:lnTo>
                  <a:pt x="39624" y="147066"/>
                </a:lnTo>
                <a:lnTo>
                  <a:pt x="21335" y="182118"/>
                </a:lnTo>
                <a:lnTo>
                  <a:pt x="17525" y="190500"/>
                </a:lnTo>
                <a:lnTo>
                  <a:pt x="14477" y="199644"/>
                </a:lnTo>
                <a:lnTo>
                  <a:pt x="10668" y="208026"/>
                </a:lnTo>
                <a:lnTo>
                  <a:pt x="8381" y="216408"/>
                </a:lnTo>
                <a:lnTo>
                  <a:pt x="6095" y="225552"/>
                </a:lnTo>
                <a:lnTo>
                  <a:pt x="3809" y="233934"/>
                </a:lnTo>
                <a:lnTo>
                  <a:pt x="762" y="250698"/>
                </a:lnTo>
                <a:lnTo>
                  <a:pt x="762" y="259080"/>
                </a:lnTo>
                <a:lnTo>
                  <a:pt x="0" y="267462"/>
                </a:lnTo>
                <a:lnTo>
                  <a:pt x="2285" y="291084"/>
                </a:lnTo>
                <a:lnTo>
                  <a:pt x="3809" y="298704"/>
                </a:lnTo>
                <a:lnTo>
                  <a:pt x="6095" y="306324"/>
                </a:lnTo>
                <a:lnTo>
                  <a:pt x="8381" y="314706"/>
                </a:lnTo>
                <a:lnTo>
                  <a:pt x="14477" y="329946"/>
                </a:lnTo>
                <a:lnTo>
                  <a:pt x="25907" y="352806"/>
                </a:lnTo>
                <a:lnTo>
                  <a:pt x="28956" y="357886"/>
                </a:lnTo>
                <a:lnTo>
                  <a:pt x="28956" y="259842"/>
                </a:lnTo>
                <a:lnTo>
                  <a:pt x="30479" y="246126"/>
                </a:lnTo>
                <a:lnTo>
                  <a:pt x="32003" y="239268"/>
                </a:lnTo>
                <a:lnTo>
                  <a:pt x="33527" y="231648"/>
                </a:lnTo>
                <a:lnTo>
                  <a:pt x="38100" y="216408"/>
                </a:lnTo>
                <a:lnTo>
                  <a:pt x="47243" y="193548"/>
                </a:lnTo>
                <a:lnTo>
                  <a:pt x="51053" y="185166"/>
                </a:lnTo>
                <a:lnTo>
                  <a:pt x="55625" y="177546"/>
                </a:lnTo>
                <a:lnTo>
                  <a:pt x="64007" y="161544"/>
                </a:lnTo>
                <a:lnTo>
                  <a:pt x="96012" y="115824"/>
                </a:lnTo>
                <a:lnTo>
                  <a:pt x="127253" y="83058"/>
                </a:lnTo>
                <a:lnTo>
                  <a:pt x="134112" y="77724"/>
                </a:lnTo>
                <a:lnTo>
                  <a:pt x="140207" y="72390"/>
                </a:lnTo>
                <a:lnTo>
                  <a:pt x="147065" y="67056"/>
                </a:lnTo>
                <a:lnTo>
                  <a:pt x="153924" y="62484"/>
                </a:lnTo>
                <a:lnTo>
                  <a:pt x="160019" y="57912"/>
                </a:lnTo>
                <a:lnTo>
                  <a:pt x="166877" y="54102"/>
                </a:lnTo>
                <a:lnTo>
                  <a:pt x="173735" y="51054"/>
                </a:lnTo>
                <a:lnTo>
                  <a:pt x="180594" y="47244"/>
                </a:lnTo>
                <a:lnTo>
                  <a:pt x="187451" y="44958"/>
                </a:lnTo>
                <a:lnTo>
                  <a:pt x="195071" y="41910"/>
                </a:lnTo>
                <a:lnTo>
                  <a:pt x="202691" y="39624"/>
                </a:lnTo>
                <a:lnTo>
                  <a:pt x="257556" y="30480"/>
                </a:lnTo>
                <a:lnTo>
                  <a:pt x="297179" y="28222"/>
                </a:lnTo>
                <a:lnTo>
                  <a:pt x="319277" y="28193"/>
                </a:lnTo>
                <a:lnTo>
                  <a:pt x="360425" y="31242"/>
                </a:lnTo>
                <a:lnTo>
                  <a:pt x="381000" y="33528"/>
                </a:lnTo>
                <a:lnTo>
                  <a:pt x="400812" y="35814"/>
                </a:lnTo>
                <a:lnTo>
                  <a:pt x="419100" y="39624"/>
                </a:lnTo>
                <a:lnTo>
                  <a:pt x="428244" y="41148"/>
                </a:lnTo>
                <a:lnTo>
                  <a:pt x="436625" y="43434"/>
                </a:lnTo>
                <a:lnTo>
                  <a:pt x="445007" y="44958"/>
                </a:lnTo>
                <a:lnTo>
                  <a:pt x="460247" y="49530"/>
                </a:lnTo>
                <a:lnTo>
                  <a:pt x="504444" y="69342"/>
                </a:lnTo>
                <a:lnTo>
                  <a:pt x="526541" y="86106"/>
                </a:lnTo>
                <a:lnTo>
                  <a:pt x="537209" y="94487"/>
                </a:lnTo>
                <a:lnTo>
                  <a:pt x="565403" y="124968"/>
                </a:lnTo>
                <a:lnTo>
                  <a:pt x="595121" y="167640"/>
                </a:lnTo>
                <a:lnTo>
                  <a:pt x="611123" y="197358"/>
                </a:lnTo>
                <a:lnTo>
                  <a:pt x="615695" y="205740"/>
                </a:lnTo>
                <a:lnTo>
                  <a:pt x="618744" y="214122"/>
                </a:lnTo>
                <a:lnTo>
                  <a:pt x="621030" y="223266"/>
                </a:lnTo>
                <a:lnTo>
                  <a:pt x="624065" y="240030"/>
                </a:lnTo>
                <a:lnTo>
                  <a:pt x="624065" y="384460"/>
                </a:lnTo>
                <a:lnTo>
                  <a:pt x="630935" y="367284"/>
                </a:lnTo>
                <a:lnTo>
                  <a:pt x="634745" y="356616"/>
                </a:lnTo>
                <a:lnTo>
                  <a:pt x="637794" y="345948"/>
                </a:lnTo>
                <a:lnTo>
                  <a:pt x="649223" y="297180"/>
                </a:lnTo>
                <a:lnTo>
                  <a:pt x="650747" y="287274"/>
                </a:lnTo>
                <a:lnTo>
                  <a:pt x="653033" y="256794"/>
                </a:lnTo>
                <a:close/>
              </a:path>
              <a:path w="653414" h="505460">
                <a:moveTo>
                  <a:pt x="176783" y="485394"/>
                </a:moveTo>
                <a:lnTo>
                  <a:pt x="148589" y="456438"/>
                </a:lnTo>
                <a:lnTo>
                  <a:pt x="134874" y="442722"/>
                </a:lnTo>
                <a:lnTo>
                  <a:pt x="108203" y="414528"/>
                </a:lnTo>
                <a:lnTo>
                  <a:pt x="96012" y="400050"/>
                </a:lnTo>
                <a:lnTo>
                  <a:pt x="83819" y="386334"/>
                </a:lnTo>
                <a:lnTo>
                  <a:pt x="73151" y="371856"/>
                </a:lnTo>
                <a:lnTo>
                  <a:pt x="63245" y="358140"/>
                </a:lnTo>
                <a:lnTo>
                  <a:pt x="54863" y="344424"/>
                </a:lnTo>
                <a:lnTo>
                  <a:pt x="50291" y="338328"/>
                </a:lnTo>
                <a:lnTo>
                  <a:pt x="47243" y="331470"/>
                </a:lnTo>
                <a:lnTo>
                  <a:pt x="43433" y="324612"/>
                </a:lnTo>
                <a:lnTo>
                  <a:pt x="40385" y="317754"/>
                </a:lnTo>
                <a:lnTo>
                  <a:pt x="38100" y="310896"/>
                </a:lnTo>
                <a:lnTo>
                  <a:pt x="35051" y="304800"/>
                </a:lnTo>
                <a:lnTo>
                  <a:pt x="33527" y="297942"/>
                </a:lnTo>
                <a:lnTo>
                  <a:pt x="32003" y="291846"/>
                </a:lnTo>
                <a:lnTo>
                  <a:pt x="30479" y="284988"/>
                </a:lnTo>
                <a:lnTo>
                  <a:pt x="28956" y="272796"/>
                </a:lnTo>
                <a:lnTo>
                  <a:pt x="28956" y="357886"/>
                </a:lnTo>
                <a:lnTo>
                  <a:pt x="51053" y="390144"/>
                </a:lnTo>
                <a:lnTo>
                  <a:pt x="86868" y="433578"/>
                </a:lnTo>
                <a:lnTo>
                  <a:pt x="128015" y="477012"/>
                </a:lnTo>
                <a:lnTo>
                  <a:pt x="156971" y="505206"/>
                </a:lnTo>
                <a:lnTo>
                  <a:pt x="176783" y="485394"/>
                </a:lnTo>
                <a:close/>
              </a:path>
              <a:path w="653414" h="505460">
                <a:moveTo>
                  <a:pt x="577983" y="413443"/>
                </a:moveTo>
                <a:lnTo>
                  <a:pt x="553212" y="399288"/>
                </a:lnTo>
                <a:lnTo>
                  <a:pt x="547877" y="495300"/>
                </a:lnTo>
                <a:lnTo>
                  <a:pt x="570738" y="480059"/>
                </a:lnTo>
                <a:lnTo>
                  <a:pt x="570738" y="425958"/>
                </a:lnTo>
                <a:lnTo>
                  <a:pt x="577983" y="413443"/>
                </a:lnTo>
                <a:close/>
              </a:path>
              <a:path w="653414" h="505460">
                <a:moveTo>
                  <a:pt x="602642" y="427533"/>
                </a:moveTo>
                <a:lnTo>
                  <a:pt x="577983" y="413443"/>
                </a:lnTo>
                <a:lnTo>
                  <a:pt x="570738" y="425958"/>
                </a:lnTo>
                <a:lnTo>
                  <a:pt x="595883" y="440436"/>
                </a:lnTo>
                <a:lnTo>
                  <a:pt x="602642" y="427533"/>
                </a:lnTo>
                <a:close/>
              </a:path>
              <a:path w="653414" h="505460">
                <a:moveTo>
                  <a:pt x="627887" y="441960"/>
                </a:moveTo>
                <a:lnTo>
                  <a:pt x="602642" y="427533"/>
                </a:lnTo>
                <a:lnTo>
                  <a:pt x="595883" y="440436"/>
                </a:lnTo>
                <a:lnTo>
                  <a:pt x="570738" y="425958"/>
                </a:lnTo>
                <a:lnTo>
                  <a:pt x="570738" y="480059"/>
                </a:lnTo>
                <a:lnTo>
                  <a:pt x="627887" y="441960"/>
                </a:lnTo>
                <a:close/>
              </a:path>
              <a:path w="653414" h="505460">
                <a:moveTo>
                  <a:pt x="624065" y="384460"/>
                </a:moveTo>
                <a:lnTo>
                  <a:pt x="624065" y="265938"/>
                </a:lnTo>
                <a:lnTo>
                  <a:pt x="623316" y="275081"/>
                </a:lnTo>
                <a:lnTo>
                  <a:pt x="621792" y="284226"/>
                </a:lnTo>
                <a:lnTo>
                  <a:pt x="621030" y="293370"/>
                </a:lnTo>
                <a:lnTo>
                  <a:pt x="618744" y="301752"/>
                </a:lnTo>
                <a:lnTo>
                  <a:pt x="614933" y="320802"/>
                </a:lnTo>
                <a:lnTo>
                  <a:pt x="604266" y="358140"/>
                </a:lnTo>
                <a:lnTo>
                  <a:pt x="585215" y="400050"/>
                </a:lnTo>
                <a:lnTo>
                  <a:pt x="577983" y="413443"/>
                </a:lnTo>
                <a:lnTo>
                  <a:pt x="602642" y="427533"/>
                </a:lnTo>
                <a:lnTo>
                  <a:pt x="616457" y="401574"/>
                </a:lnTo>
                <a:lnTo>
                  <a:pt x="621792" y="390144"/>
                </a:lnTo>
                <a:lnTo>
                  <a:pt x="624065" y="38446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37035" y="14635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1433" y="2835162"/>
            <a:ext cx="2204720" cy="294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  <a:spcBef>
                <a:spcPts val="2360"/>
              </a:spcBef>
            </a:pPr>
            <a:r>
              <a:rPr sz="2400" spc="-5" dirty="0">
                <a:latin typeface="Times New Roman"/>
                <a:cs typeface="Times New Roman"/>
              </a:rPr>
              <a:t>(0,a)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{0,1}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(0,b) 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({0,1}, </a:t>
            </a:r>
            <a:r>
              <a:rPr sz="2400" dirty="0">
                <a:latin typeface="Times New Roman"/>
                <a:cs typeface="Times New Roman"/>
              </a:rPr>
              <a:t>a) =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{0,1}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({0,1}, b) =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{0,2}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({0,2}, </a:t>
            </a:r>
            <a:r>
              <a:rPr sz="2400" dirty="0">
                <a:latin typeface="Times New Roman"/>
                <a:cs typeface="Times New Roman"/>
              </a:rPr>
              <a:t>a) =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{0,1}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({0,2}, b) =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{0,3}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70635" y="3444747"/>
            <a:ext cx="1355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New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0635" y="4174744"/>
            <a:ext cx="1243965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 =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B =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{0,1}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C =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{0,2}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D =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{0,3}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158039" y="3712908"/>
          <a:ext cx="3014980" cy="2619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7683" y="380745"/>
            <a:ext cx="5929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NFA to DFA </a:t>
            </a:r>
            <a:r>
              <a:rPr spc="-10" dirty="0"/>
              <a:t>conversion</a:t>
            </a:r>
            <a:r>
              <a:rPr spc="-3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2209939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66981" y="23398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8739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05687" y="23398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1527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8581" y="23398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539" y="2541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50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50"/>
                </a:lnTo>
                <a:lnTo>
                  <a:pt x="766572" y="57150"/>
                </a:lnTo>
                <a:close/>
              </a:path>
              <a:path w="838200" h="85725">
                <a:moveTo>
                  <a:pt x="838199" y="42671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1" y="28193"/>
                </a:lnTo>
                <a:lnTo>
                  <a:pt x="766572" y="78169"/>
                </a:lnTo>
                <a:lnTo>
                  <a:pt x="838199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50"/>
                </a:lnTo>
                <a:lnTo>
                  <a:pt x="752094" y="57150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75035" y="19969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2435" y="19207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24339" y="2465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15139" y="22031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6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7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3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2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6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82087" y="23398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00739" y="2465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53327" y="2465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08835" y="19969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61451" y="19969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4650" y="2835162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83091" y="2879851"/>
            <a:ext cx="653415" cy="506095"/>
          </a:xfrm>
          <a:custGeom>
            <a:avLst/>
            <a:gdLst/>
            <a:ahLst/>
            <a:cxnLst/>
            <a:rect l="l" t="t" r="r" b="b"/>
            <a:pathLst>
              <a:path w="653414" h="506095">
                <a:moveTo>
                  <a:pt x="81549" y="80621"/>
                </a:moveTo>
                <a:lnTo>
                  <a:pt x="57621" y="65509"/>
                </a:lnTo>
                <a:lnTo>
                  <a:pt x="55626" y="68580"/>
                </a:lnTo>
                <a:lnTo>
                  <a:pt x="49530" y="80010"/>
                </a:lnTo>
                <a:lnTo>
                  <a:pt x="42672" y="90677"/>
                </a:lnTo>
                <a:lnTo>
                  <a:pt x="37338" y="102108"/>
                </a:lnTo>
                <a:lnTo>
                  <a:pt x="31242" y="113537"/>
                </a:lnTo>
                <a:lnTo>
                  <a:pt x="22098" y="134874"/>
                </a:lnTo>
                <a:lnTo>
                  <a:pt x="8382" y="183642"/>
                </a:lnTo>
                <a:lnTo>
                  <a:pt x="762" y="224027"/>
                </a:lnTo>
                <a:lnTo>
                  <a:pt x="0" y="233934"/>
                </a:lnTo>
                <a:lnTo>
                  <a:pt x="0" y="254508"/>
                </a:lnTo>
                <a:lnTo>
                  <a:pt x="9144" y="297180"/>
                </a:lnTo>
                <a:lnTo>
                  <a:pt x="28194" y="337185"/>
                </a:lnTo>
                <a:lnTo>
                  <a:pt x="28194" y="243839"/>
                </a:lnTo>
                <a:lnTo>
                  <a:pt x="30480" y="217170"/>
                </a:lnTo>
                <a:lnTo>
                  <a:pt x="32004" y="208025"/>
                </a:lnTo>
                <a:lnTo>
                  <a:pt x="34290" y="199644"/>
                </a:lnTo>
                <a:lnTo>
                  <a:pt x="35814" y="190500"/>
                </a:lnTo>
                <a:lnTo>
                  <a:pt x="41148" y="172212"/>
                </a:lnTo>
                <a:lnTo>
                  <a:pt x="46482" y="153162"/>
                </a:lnTo>
                <a:lnTo>
                  <a:pt x="49530" y="144018"/>
                </a:lnTo>
                <a:lnTo>
                  <a:pt x="53340" y="134874"/>
                </a:lnTo>
                <a:lnTo>
                  <a:pt x="62484" y="115062"/>
                </a:lnTo>
                <a:lnTo>
                  <a:pt x="68580" y="104394"/>
                </a:lnTo>
                <a:lnTo>
                  <a:pt x="73914" y="93725"/>
                </a:lnTo>
                <a:lnTo>
                  <a:pt x="80010" y="83058"/>
                </a:lnTo>
                <a:lnTo>
                  <a:pt x="81549" y="80621"/>
                </a:lnTo>
                <a:close/>
              </a:path>
              <a:path w="653414" h="506095">
                <a:moveTo>
                  <a:pt x="624077" y="342900"/>
                </a:moveTo>
                <a:lnTo>
                  <a:pt x="624077" y="257556"/>
                </a:lnTo>
                <a:lnTo>
                  <a:pt x="622553" y="263651"/>
                </a:lnTo>
                <a:lnTo>
                  <a:pt x="621791" y="270510"/>
                </a:lnTo>
                <a:lnTo>
                  <a:pt x="620267" y="278130"/>
                </a:lnTo>
                <a:lnTo>
                  <a:pt x="617981" y="284988"/>
                </a:lnTo>
                <a:lnTo>
                  <a:pt x="615695" y="292608"/>
                </a:lnTo>
                <a:lnTo>
                  <a:pt x="606551" y="315468"/>
                </a:lnTo>
                <a:lnTo>
                  <a:pt x="602741" y="323088"/>
                </a:lnTo>
                <a:lnTo>
                  <a:pt x="593585" y="338327"/>
                </a:lnTo>
                <a:lnTo>
                  <a:pt x="584453" y="354330"/>
                </a:lnTo>
                <a:lnTo>
                  <a:pt x="550164" y="398525"/>
                </a:lnTo>
                <a:lnTo>
                  <a:pt x="524256" y="423672"/>
                </a:lnTo>
                <a:lnTo>
                  <a:pt x="518160" y="429768"/>
                </a:lnTo>
                <a:lnTo>
                  <a:pt x="504444" y="440436"/>
                </a:lnTo>
                <a:lnTo>
                  <a:pt x="490728" y="449580"/>
                </a:lnTo>
                <a:lnTo>
                  <a:pt x="477012" y="457200"/>
                </a:lnTo>
                <a:lnTo>
                  <a:pt x="470154" y="460248"/>
                </a:lnTo>
                <a:lnTo>
                  <a:pt x="464058" y="463296"/>
                </a:lnTo>
                <a:lnTo>
                  <a:pt x="441198" y="470153"/>
                </a:lnTo>
                <a:lnTo>
                  <a:pt x="432054" y="471677"/>
                </a:lnTo>
                <a:lnTo>
                  <a:pt x="423672" y="473201"/>
                </a:lnTo>
                <a:lnTo>
                  <a:pt x="405384" y="475488"/>
                </a:lnTo>
                <a:lnTo>
                  <a:pt x="385572" y="477012"/>
                </a:lnTo>
                <a:lnTo>
                  <a:pt x="365760" y="477774"/>
                </a:lnTo>
                <a:lnTo>
                  <a:pt x="344424" y="476984"/>
                </a:lnTo>
                <a:lnTo>
                  <a:pt x="323850" y="476250"/>
                </a:lnTo>
                <a:lnTo>
                  <a:pt x="282702" y="471677"/>
                </a:lnTo>
                <a:lnTo>
                  <a:pt x="243078" y="465582"/>
                </a:lnTo>
                <a:lnTo>
                  <a:pt x="198882" y="454151"/>
                </a:lnTo>
                <a:lnTo>
                  <a:pt x="176784" y="446532"/>
                </a:lnTo>
                <a:lnTo>
                  <a:pt x="170688" y="444246"/>
                </a:lnTo>
                <a:lnTo>
                  <a:pt x="118872" y="410718"/>
                </a:lnTo>
                <a:lnTo>
                  <a:pt x="90678" y="380238"/>
                </a:lnTo>
                <a:lnTo>
                  <a:pt x="67056" y="347472"/>
                </a:lnTo>
                <a:lnTo>
                  <a:pt x="48768" y="315468"/>
                </a:lnTo>
                <a:lnTo>
                  <a:pt x="43434" y="305562"/>
                </a:lnTo>
                <a:lnTo>
                  <a:pt x="39624" y="295656"/>
                </a:lnTo>
                <a:lnTo>
                  <a:pt x="35814" y="286512"/>
                </a:lnTo>
                <a:lnTo>
                  <a:pt x="32766" y="278130"/>
                </a:lnTo>
                <a:lnTo>
                  <a:pt x="31242" y="268986"/>
                </a:lnTo>
                <a:lnTo>
                  <a:pt x="29718" y="260603"/>
                </a:lnTo>
                <a:lnTo>
                  <a:pt x="28194" y="243839"/>
                </a:lnTo>
                <a:lnTo>
                  <a:pt x="28194" y="337185"/>
                </a:lnTo>
                <a:lnTo>
                  <a:pt x="29718" y="339851"/>
                </a:lnTo>
                <a:lnTo>
                  <a:pt x="35814" y="352044"/>
                </a:lnTo>
                <a:lnTo>
                  <a:pt x="43434" y="363474"/>
                </a:lnTo>
                <a:lnTo>
                  <a:pt x="51054" y="375665"/>
                </a:lnTo>
                <a:lnTo>
                  <a:pt x="59436" y="387096"/>
                </a:lnTo>
                <a:lnTo>
                  <a:pt x="69342" y="399288"/>
                </a:lnTo>
                <a:lnTo>
                  <a:pt x="78486" y="410718"/>
                </a:lnTo>
                <a:lnTo>
                  <a:pt x="89154" y="421386"/>
                </a:lnTo>
                <a:lnTo>
                  <a:pt x="124968" y="451865"/>
                </a:lnTo>
                <a:lnTo>
                  <a:pt x="160020" y="470915"/>
                </a:lnTo>
                <a:lnTo>
                  <a:pt x="175260" y="476250"/>
                </a:lnTo>
                <a:lnTo>
                  <a:pt x="182880" y="479298"/>
                </a:lnTo>
                <a:lnTo>
                  <a:pt x="191262" y="481584"/>
                </a:lnTo>
                <a:lnTo>
                  <a:pt x="199644" y="484632"/>
                </a:lnTo>
                <a:lnTo>
                  <a:pt x="208788" y="486918"/>
                </a:lnTo>
                <a:lnTo>
                  <a:pt x="258318" y="496824"/>
                </a:lnTo>
                <a:lnTo>
                  <a:pt x="300990" y="502920"/>
                </a:lnTo>
                <a:lnTo>
                  <a:pt x="344424" y="505968"/>
                </a:lnTo>
                <a:lnTo>
                  <a:pt x="366522" y="505968"/>
                </a:lnTo>
                <a:lnTo>
                  <a:pt x="408432" y="503682"/>
                </a:lnTo>
                <a:lnTo>
                  <a:pt x="448056" y="497586"/>
                </a:lnTo>
                <a:lnTo>
                  <a:pt x="490728" y="482346"/>
                </a:lnTo>
                <a:lnTo>
                  <a:pt x="505968" y="473201"/>
                </a:lnTo>
                <a:lnTo>
                  <a:pt x="514350" y="468630"/>
                </a:lnTo>
                <a:lnTo>
                  <a:pt x="521970" y="463296"/>
                </a:lnTo>
                <a:lnTo>
                  <a:pt x="529590" y="457200"/>
                </a:lnTo>
                <a:lnTo>
                  <a:pt x="536448" y="451103"/>
                </a:lnTo>
                <a:lnTo>
                  <a:pt x="544068" y="445008"/>
                </a:lnTo>
                <a:lnTo>
                  <a:pt x="572262" y="416813"/>
                </a:lnTo>
                <a:lnTo>
                  <a:pt x="597407" y="385572"/>
                </a:lnTo>
                <a:lnTo>
                  <a:pt x="618743" y="352806"/>
                </a:lnTo>
                <a:lnTo>
                  <a:pt x="623315" y="344424"/>
                </a:lnTo>
                <a:lnTo>
                  <a:pt x="624077" y="342900"/>
                </a:lnTo>
                <a:close/>
              </a:path>
              <a:path w="653414" h="506095">
                <a:moveTo>
                  <a:pt x="115062" y="0"/>
                </a:moveTo>
                <a:lnTo>
                  <a:pt x="33528" y="50292"/>
                </a:lnTo>
                <a:lnTo>
                  <a:pt x="57621" y="65509"/>
                </a:lnTo>
                <a:lnTo>
                  <a:pt x="65532" y="53339"/>
                </a:lnTo>
                <a:lnTo>
                  <a:pt x="89154" y="68580"/>
                </a:lnTo>
                <a:lnTo>
                  <a:pt x="89154" y="85424"/>
                </a:lnTo>
                <a:lnTo>
                  <a:pt x="105918" y="96012"/>
                </a:lnTo>
                <a:lnTo>
                  <a:pt x="115062" y="0"/>
                </a:lnTo>
                <a:close/>
              </a:path>
              <a:path w="653414" h="506095">
                <a:moveTo>
                  <a:pt x="89154" y="68580"/>
                </a:moveTo>
                <a:lnTo>
                  <a:pt x="65532" y="53339"/>
                </a:lnTo>
                <a:lnTo>
                  <a:pt x="57621" y="65509"/>
                </a:lnTo>
                <a:lnTo>
                  <a:pt x="81549" y="80621"/>
                </a:lnTo>
                <a:lnTo>
                  <a:pt x="89154" y="68580"/>
                </a:lnTo>
                <a:close/>
              </a:path>
              <a:path w="653414" h="506095">
                <a:moveTo>
                  <a:pt x="89154" y="85424"/>
                </a:moveTo>
                <a:lnTo>
                  <a:pt x="89154" y="68580"/>
                </a:lnTo>
                <a:lnTo>
                  <a:pt x="81549" y="80621"/>
                </a:lnTo>
                <a:lnTo>
                  <a:pt x="89154" y="85424"/>
                </a:lnTo>
                <a:close/>
              </a:path>
              <a:path w="653414" h="506095">
                <a:moveTo>
                  <a:pt x="653033" y="251460"/>
                </a:moveTo>
                <a:lnTo>
                  <a:pt x="653033" y="243077"/>
                </a:lnTo>
                <a:lnTo>
                  <a:pt x="651510" y="227075"/>
                </a:lnTo>
                <a:lnTo>
                  <a:pt x="648462" y="211836"/>
                </a:lnTo>
                <a:lnTo>
                  <a:pt x="646176" y="203453"/>
                </a:lnTo>
                <a:lnTo>
                  <a:pt x="643889" y="195834"/>
                </a:lnTo>
                <a:lnTo>
                  <a:pt x="640841" y="188213"/>
                </a:lnTo>
                <a:lnTo>
                  <a:pt x="637793" y="179832"/>
                </a:lnTo>
                <a:lnTo>
                  <a:pt x="617219" y="141732"/>
                </a:lnTo>
                <a:lnTo>
                  <a:pt x="585215" y="96774"/>
                </a:lnTo>
                <a:lnTo>
                  <a:pt x="547116" y="51053"/>
                </a:lnTo>
                <a:lnTo>
                  <a:pt x="533400" y="36575"/>
                </a:lnTo>
                <a:lnTo>
                  <a:pt x="506730" y="6857"/>
                </a:lnTo>
                <a:lnTo>
                  <a:pt x="485394" y="25908"/>
                </a:lnTo>
                <a:lnTo>
                  <a:pt x="512826" y="55625"/>
                </a:lnTo>
                <a:lnTo>
                  <a:pt x="525780" y="70103"/>
                </a:lnTo>
                <a:lnTo>
                  <a:pt x="563118" y="114300"/>
                </a:lnTo>
                <a:lnTo>
                  <a:pt x="593585" y="157734"/>
                </a:lnTo>
                <a:lnTo>
                  <a:pt x="605027" y="178308"/>
                </a:lnTo>
                <a:lnTo>
                  <a:pt x="608838" y="185165"/>
                </a:lnTo>
                <a:lnTo>
                  <a:pt x="622553" y="225551"/>
                </a:lnTo>
                <a:lnTo>
                  <a:pt x="624077" y="238506"/>
                </a:lnTo>
                <a:lnTo>
                  <a:pt x="624077" y="342900"/>
                </a:lnTo>
                <a:lnTo>
                  <a:pt x="627888" y="335280"/>
                </a:lnTo>
                <a:lnTo>
                  <a:pt x="632460" y="326898"/>
                </a:lnTo>
                <a:lnTo>
                  <a:pt x="636269" y="318515"/>
                </a:lnTo>
                <a:lnTo>
                  <a:pt x="639317" y="310134"/>
                </a:lnTo>
                <a:lnTo>
                  <a:pt x="642365" y="300989"/>
                </a:lnTo>
                <a:lnTo>
                  <a:pt x="645413" y="292608"/>
                </a:lnTo>
                <a:lnTo>
                  <a:pt x="649986" y="275844"/>
                </a:lnTo>
                <a:lnTo>
                  <a:pt x="651510" y="267462"/>
                </a:lnTo>
                <a:lnTo>
                  <a:pt x="653033" y="25146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270635" y="12349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158039" y="3712908"/>
          <a:ext cx="3014980" cy="2619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100461" y="1593596"/>
            <a:ext cx="653415" cy="505459"/>
          </a:xfrm>
          <a:custGeom>
            <a:avLst/>
            <a:gdLst/>
            <a:ahLst/>
            <a:cxnLst/>
            <a:rect l="l" t="t" r="r" b="b"/>
            <a:pathLst>
              <a:path w="653414" h="505460">
                <a:moveTo>
                  <a:pt x="653034" y="266700"/>
                </a:moveTo>
                <a:lnTo>
                  <a:pt x="653034" y="246126"/>
                </a:lnTo>
                <a:lnTo>
                  <a:pt x="652272" y="236220"/>
                </a:lnTo>
                <a:lnTo>
                  <a:pt x="641604" y="193548"/>
                </a:lnTo>
                <a:lnTo>
                  <a:pt x="625601" y="163068"/>
                </a:lnTo>
                <a:lnTo>
                  <a:pt x="619506" y="151637"/>
                </a:lnTo>
                <a:lnTo>
                  <a:pt x="611886" y="140970"/>
                </a:lnTo>
                <a:lnTo>
                  <a:pt x="604266" y="129540"/>
                </a:lnTo>
                <a:lnTo>
                  <a:pt x="595884" y="117348"/>
                </a:lnTo>
                <a:lnTo>
                  <a:pt x="556260" y="73152"/>
                </a:lnTo>
                <a:lnTo>
                  <a:pt x="518922" y="44958"/>
                </a:lnTo>
                <a:lnTo>
                  <a:pt x="483108" y="26670"/>
                </a:lnTo>
                <a:lnTo>
                  <a:pt x="433578" y="12954"/>
                </a:lnTo>
                <a:lnTo>
                  <a:pt x="423672" y="11430"/>
                </a:lnTo>
                <a:lnTo>
                  <a:pt x="404622" y="7620"/>
                </a:lnTo>
                <a:lnTo>
                  <a:pt x="384048" y="4572"/>
                </a:lnTo>
                <a:lnTo>
                  <a:pt x="362712" y="2286"/>
                </a:lnTo>
                <a:lnTo>
                  <a:pt x="341375" y="762"/>
                </a:lnTo>
                <a:lnTo>
                  <a:pt x="319278" y="0"/>
                </a:lnTo>
                <a:lnTo>
                  <a:pt x="297180" y="0"/>
                </a:lnTo>
                <a:lnTo>
                  <a:pt x="254508" y="2286"/>
                </a:lnTo>
                <a:lnTo>
                  <a:pt x="213360" y="7620"/>
                </a:lnTo>
                <a:lnTo>
                  <a:pt x="160020" y="25908"/>
                </a:lnTo>
                <a:lnTo>
                  <a:pt x="121920" y="50292"/>
                </a:lnTo>
                <a:lnTo>
                  <a:pt x="115062" y="56387"/>
                </a:lnTo>
                <a:lnTo>
                  <a:pt x="107442" y="62484"/>
                </a:lnTo>
                <a:lnTo>
                  <a:pt x="73913" y="98298"/>
                </a:lnTo>
                <a:lnTo>
                  <a:pt x="50292" y="130302"/>
                </a:lnTo>
                <a:lnTo>
                  <a:pt x="29718" y="164592"/>
                </a:lnTo>
                <a:lnTo>
                  <a:pt x="14478" y="199644"/>
                </a:lnTo>
                <a:lnTo>
                  <a:pt x="10668" y="208026"/>
                </a:lnTo>
                <a:lnTo>
                  <a:pt x="8382" y="217170"/>
                </a:lnTo>
                <a:lnTo>
                  <a:pt x="3810" y="233934"/>
                </a:lnTo>
                <a:lnTo>
                  <a:pt x="762" y="250698"/>
                </a:lnTo>
                <a:lnTo>
                  <a:pt x="762" y="259080"/>
                </a:lnTo>
                <a:lnTo>
                  <a:pt x="0" y="267462"/>
                </a:lnTo>
                <a:lnTo>
                  <a:pt x="2286" y="291084"/>
                </a:lnTo>
                <a:lnTo>
                  <a:pt x="14478" y="329946"/>
                </a:lnTo>
                <a:lnTo>
                  <a:pt x="28956" y="357886"/>
                </a:lnTo>
                <a:lnTo>
                  <a:pt x="28956" y="259842"/>
                </a:lnTo>
                <a:lnTo>
                  <a:pt x="29718" y="253746"/>
                </a:lnTo>
                <a:lnTo>
                  <a:pt x="41148" y="209550"/>
                </a:lnTo>
                <a:lnTo>
                  <a:pt x="44196" y="201168"/>
                </a:lnTo>
                <a:lnTo>
                  <a:pt x="47244" y="193548"/>
                </a:lnTo>
                <a:lnTo>
                  <a:pt x="51054" y="185166"/>
                </a:lnTo>
                <a:lnTo>
                  <a:pt x="55625" y="177546"/>
                </a:lnTo>
                <a:lnTo>
                  <a:pt x="64008" y="161544"/>
                </a:lnTo>
                <a:lnTo>
                  <a:pt x="96012" y="115824"/>
                </a:lnTo>
                <a:lnTo>
                  <a:pt x="127254" y="83058"/>
                </a:lnTo>
                <a:lnTo>
                  <a:pt x="134112" y="77724"/>
                </a:lnTo>
                <a:lnTo>
                  <a:pt x="140208" y="72390"/>
                </a:lnTo>
                <a:lnTo>
                  <a:pt x="147066" y="67056"/>
                </a:lnTo>
                <a:lnTo>
                  <a:pt x="153924" y="62484"/>
                </a:lnTo>
                <a:lnTo>
                  <a:pt x="160020" y="57912"/>
                </a:lnTo>
                <a:lnTo>
                  <a:pt x="166878" y="54102"/>
                </a:lnTo>
                <a:lnTo>
                  <a:pt x="173736" y="51054"/>
                </a:lnTo>
                <a:lnTo>
                  <a:pt x="179832" y="48006"/>
                </a:lnTo>
                <a:lnTo>
                  <a:pt x="219456" y="35814"/>
                </a:lnTo>
                <a:lnTo>
                  <a:pt x="257556" y="30480"/>
                </a:lnTo>
                <a:lnTo>
                  <a:pt x="297942" y="28193"/>
                </a:lnTo>
                <a:lnTo>
                  <a:pt x="319278" y="28956"/>
                </a:lnTo>
                <a:lnTo>
                  <a:pt x="360425" y="31242"/>
                </a:lnTo>
                <a:lnTo>
                  <a:pt x="400812" y="35814"/>
                </a:lnTo>
                <a:lnTo>
                  <a:pt x="419100" y="39624"/>
                </a:lnTo>
                <a:lnTo>
                  <a:pt x="428244" y="41148"/>
                </a:lnTo>
                <a:lnTo>
                  <a:pt x="436625" y="43434"/>
                </a:lnTo>
                <a:lnTo>
                  <a:pt x="445008" y="44958"/>
                </a:lnTo>
                <a:lnTo>
                  <a:pt x="460248" y="49530"/>
                </a:lnTo>
                <a:lnTo>
                  <a:pt x="504444" y="69342"/>
                </a:lnTo>
                <a:lnTo>
                  <a:pt x="537210" y="94487"/>
                </a:lnTo>
                <a:lnTo>
                  <a:pt x="565404" y="124968"/>
                </a:lnTo>
                <a:lnTo>
                  <a:pt x="588263" y="156210"/>
                </a:lnTo>
                <a:lnTo>
                  <a:pt x="615696" y="205740"/>
                </a:lnTo>
                <a:lnTo>
                  <a:pt x="622554" y="231648"/>
                </a:lnTo>
                <a:lnTo>
                  <a:pt x="624078" y="240030"/>
                </a:lnTo>
                <a:lnTo>
                  <a:pt x="624078" y="385245"/>
                </a:lnTo>
                <a:lnTo>
                  <a:pt x="627126" y="378714"/>
                </a:lnTo>
                <a:lnTo>
                  <a:pt x="630936" y="367284"/>
                </a:lnTo>
                <a:lnTo>
                  <a:pt x="634746" y="356616"/>
                </a:lnTo>
                <a:lnTo>
                  <a:pt x="643128" y="326898"/>
                </a:lnTo>
                <a:lnTo>
                  <a:pt x="646938" y="307086"/>
                </a:lnTo>
                <a:lnTo>
                  <a:pt x="649224" y="297180"/>
                </a:lnTo>
                <a:lnTo>
                  <a:pt x="650748" y="287274"/>
                </a:lnTo>
                <a:lnTo>
                  <a:pt x="651510" y="277368"/>
                </a:lnTo>
                <a:lnTo>
                  <a:pt x="653034" y="266700"/>
                </a:lnTo>
                <a:close/>
              </a:path>
              <a:path w="653414" h="505460">
                <a:moveTo>
                  <a:pt x="177546" y="485394"/>
                </a:moveTo>
                <a:lnTo>
                  <a:pt x="134874" y="442722"/>
                </a:lnTo>
                <a:lnTo>
                  <a:pt x="108204" y="414528"/>
                </a:lnTo>
                <a:lnTo>
                  <a:pt x="73151" y="372618"/>
                </a:lnTo>
                <a:lnTo>
                  <a:pt x="43434" y="324612"/>
                </a:lnTo>
                <a:lnTo>
                  <a:pt x="35813" y="304800"/>
                </a:lnTo>
                <a:lnTo>
                  <a:pt x="33528" y="298704"/>
                </a:lnTo>
                <a:lnTo>
                  <a:pt x="32004" y="291846"/>
                </a:lnTo>
                <a:lnTo>
                  <a:pt x="30480" y="285750"/>
                </a:lnTo>
                <a:lnTo>
                  <a:pt x="29718" y="278892"/>
                </a:lnTo>
                <a:lnTo>
                  <a:pt x="28956" y="272796"/>
                </a:lnTo>
                <a:lnTo>
                  <a:pt x="28956" y="357886"/>
                </a:lnTo>
                <a:lnTo>
                  <a:pt x="51054" y="390144"/>
                </a:lnTo>
                <a:lnTo>
                  <a:pt x="100584" y="448056"/>
                </a:lnTo>
                <a:lnTo>
                  <a:pt x="156972" y="505206"/>
                </a:lnTo>
                <a:lnTo>
                  <a:pt x="177546" y="485394"/>
                </a:lnTo>
                <a:close/>
              </a:path>
              <a:path w="653414" h="505460">
                <a:moveTo>
                  <a:pt x="577707" y="413285"/>
                </a:moveTo>
                <a:lnTo>
                  <a:pt x="553212" y="399288"/>
                </a:lnTo>
                <a:lnTo>
                  <a:pt x="547878" y="495300"/>
                </a:lnTo>
                <a:lnTo>
                  <a:pt x="570738" y="480060"/>
                </a:lnTo>
                <a:lnTo>
                  <a:pt x="570738" y="425958"/>
                </a:lnTo>
                <a:lnTo>
                  <a:pt x="577707" y="413285"/>
                </a:lnTo>
                <a:close/>
              </a:path>
              <a:path w="653414" h="505460">
                <a:moveTo>
                  <a:pt x="602580" y="427498"/>
                </a:moveTo>
                <a:lnTo>
                  <a:pt x="577707" y="413285"/>
                </a:lnTo>
                <a:lnTo>
                  <a:pt x="570738" y="425958"/>
                </a:lnTo>
                <a:lnTo>
                  <a:pt x="595884" y="439674"/>
                </a:lnTo>
                <a:lnTo>
                  <a:pt x="602580" y="427498"/>
                </a:lnTo>
                <a:close/>
              </a:path>
              <a:path w="653414" h="505460">
                <a:moveTo>
                  <a:pt x="627888" y="441960"/>
                </a:moveTo>
                <a:lnTo>
                  <a:pt x="602580" y="427498"/>
                </a:lnTo>
                <a:lnTo>
                  <a:pt x="595884" y="439674"/>
                </a:lnTo>
                <a:lnTo>
                  <a:pt x="570738" y="425958"/>
                </a:lnTo>
                <a:lnTo>
                  <a:pt x="570738" y="480060"/>
                </a:lnTo>
                <a:lnTo>
                  <a:pt x="627888" y="441960"/>
                </a:lnTo>
                <a:close/>
              </a:path>
              <a:path w="653414" h="505460">
                <a:moveTo>
                  <a:pt x="624078" y="385245"/>
                </a:moveTo>
                <a:lnTo>
                  <a:pt x="624078" y="265938"/>
                </a:lnTo>
                <a:lnTo>
                  <a:pt x="622554" y="283464"/>
                </a:lnTo>
                <a:lnTo>
                  <a:pt x="621030" y="292608"/>
                </a:lnTo>
                <a:lnTo>
                  <a:pt x="618744" y="301752"/>
                </a:lnTo>
                <a:lnTo>
                  <a:pt x="614934" y="320802"/>
                </a:lnTo>
                <a:lnTo>
                  <a:pt x="610362" y="339090"/>
                </a:lnTo>
                <a:lnTo>
                  <a:pt x="607313" y="348234"/>
                </a:lnTo>
                <a:lnTo>
                  <a:pt x="604266" y="358140"/>
                </a:lnTo>
                <a:lnTo>
                  <a:pt x="600456" y="368046"/>
                </a:lnTo>
                <a:lnTo>
                  <a:pt x="595884" y="378714"/>
                </a:lnTo>
                <a:lnTo>
                  <a:pt x="585216" y="400050"/>
                </a:lnTo>
                <a:lnTo>
                  <a:pt x="579120" y="410718"/>
                </a:lnTo>
                <a:lnTo>
                  <a:pt x="577707" y="413285"/>
                </a:lnTo>
                <a:lnTo>
                  <a:pt x="602580" y="427498"/>
                </a:lnTo>
                <a:lnTo>
                  <a:pt x="604266" y="424434"/>
                </a:lnTo>
                <a:lnTo>
                  <a:pt x="616458" y="401574"/>
                </a:lnTo>
                <a:lnTo>
                  <a:pt x="624078" y="38524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95939" y="2880614"/>
            <a:ext cx="1535430" cy="501015"/>
          </a:xfrm>
          <a:custGeom>
            <a:avLst/>
            <a:gdLst/>
            <a:ahLst/>
            <a:cxnLst/>
            <a:rect l="l" t="t" r="r" b="b"/>
            <a:pathLst>
              <a:path w="1535429" h="501014">
                <a:moveTo>
                  <a:pt x="93725" y="103632"/>
                </a:moveTo>
                <a:lnTo>
                  <a:pt x="0" y="84582"/>
                </a:lnTo>
                <a:lnTo>
                  <a:pt x="41147" y="171450"/>
                </a:lnTo>
                <a:lnTo>
                  <a:pt x="47243" y="163587"/>
                </a:lnTo>
                <a:lnTo>
                  <a:pt x="47243" y="140208"/>
                </a:lnTo>
                <a:lnTo>
                  <a:pt x="64769" y="117348"/>
                </a:lnTo>
                <a:lnTo>
                  <a:pt x="76261" y="126158"/>
                </a:lnTo>
                <a:lnTo>
                  <a:pt x="93725" y="103632"/>
                </a:lnTo>
                <a:close/>
              </a:path>
              <a:path w="1535429" h="501014">
                <a:moveTo>
                  <a:pt x="76261" y="126158"/>
                </a:moveTo>
                <a:lnTo>
                  <a:pt x="64769" y="117348"/>
                </a:lnTo>
                <a:lnTo>
                  <a:pt x="47243" y="140208"/>
                </a:lnTo>
                <a:lnTo>
                  <a:pt x="58612" y="148923"/>
                </a:lnTo>
                <a:lnTo>
                  <a:pt x="76261" y="126158"/>
                </a:lnTo>
                <a:close/>
              </a:path>
              <a:path w="1535429" h="501014">
                <a:moveTo>
                  <a:pt x="58612" y="148923"/>
                </a:moveTo>
                <a:lnTo>
                  <a:pt x="47243" y="140208"/>
                </a:lnTo>
                <a:lnTo>
                  <a:pt x="47243" y="163587"/>
                </a:lnTo>
                <a:lnTo>
                  <a:pt x="58612" y="148923"/>
                </a:lnTo>
                <a:close/>
              </a:path>
              <a:path w="1535429" h="501014">
                <a:moveTo>
                  <a:pt x="1535417" y="16763"/>
                </a:moveTo>
                <a:lnTo>
                  <a:pt x="1512569" y="0"/>
                </a:lnTo>
                <a:lnTo>
                  <a:pt x="1469885" y="56387"/>
                </a:lnTo>
                <a:lnTo>
                  <a:pt x="1447787" y="84582"/>
                </a:lnTo>
                <a:lnTo>
                  <a:pt x="1404365" y="140208"/>
                </a:lnTo>
                <a:lnTo>
                  <a:pt x="1360169" y="192786"/>
                </a:lnTo>
                <a:lnTo>
                  <a:pt x="1313688" y="242315"/>
                </a:lnTo>
                <a:lnTo>
                  <a:pt x="1290065" y="265175"/>
                </a:lnTo>
                <a:lnTo>
                  <a:pt x="1278635" y="276606"/>
                </a:lnTo>
                <a:lnTo>
                  <a:pt x="1254252" y="297941"/>
                </a:lnTo>
                <a:lnTo>
                  <a:pt x="1241297" y="307848"/>
                </a:lnTo>
                <a:lnTo>
                  <a:pt x="1229105" y="317753"/>
                </a:lnTo>
                <a:lnTo>
                  <a:pt x="1177289" y="353568"/>
                </a:lnTo>
                <a:lnTo>
                  <a:pt x="1136141" y="376427"/>
                </a:lnTo>
                <a:lnTo>
                  <a:pt x="1078229" y="403860"/>
                </a:lnTo>
                <a:lnTo>
                  <a:pt x="1017269" y="427482"/>
                </a:lnTo>
                <a:lnTo>
                  <a:pt x="1001267" y="432054"/>
                </a:lnTo>
                <a:lnTo>
                  <a:pt x="986027" y="437388"/>
                </a:lnTo>
                <a:lnTo>
                  <a:pt x="954023" y="446532"/>
                </a:lnTo>
                <a:lnTo>
                  <a:pt x="937259" y="450342"/>
                </a:lnTo>
                <a:lnTo>
                  <a:pt x="921257" y="454152"/>
                </a:lnTo>
                <a:lnTo>
                  <a:pt x="870965" y="464058"/>
                </a:lnTo>
                <a:lnTo>
                  <a:pt x="803909" y="470916"/>
                </a:lnTo>
                <a:lnTo>
                  <a:pt x="752093" y="471678"/>
                </a:lnTo>
                <a:lnTo>
                  <a:pt x="734567" y="470916"/>
                </a:lnTo>
                <a:lnTo>
                  <a:pt x="717803" y="469392"/>
                </a:lnTo>
                <a:lnTo>
                  <a:pt x="700277" y="467868"/>
                </a:lnTo>
                <a:lnTo>
                  <a:pt x="665226" y="463296"/>
                </a:lnTo>
                <a:lnTo>
                  <a:pt x="647700" y="459486"/>
                </a:lnTo>
                <a:lnTo>
                  <a:pt x="630173" y="456438"/>
                </a:lnTo>
                <a:lnTo>
                  <a:pt x="613409" y="451866"/>
                </a:lnTo>
                <a:lnTo>
                  <a:pt x="595883" y="446532"/>
                </a:lnTo>
                <a:lnTo>
                  <a:pt x="577595" y="441198"/>
                </a:lnTo>
                <a:lnTo>
                  <a:pt x="560069" y="435102"/>
                </a:lnTo>
                <a:lnTo>
                  <a:pt x="542543" y="428244"/>
                </a:lnTo>
                <a:lnTo>
                  <a:pt x="505967" y="413004"/>
                </a:lnTo>
                <a:lnTo>
                  <a:pt x="488441" y="403860"/>
                </a:lnTo>
                <a:lnTo>
                  <a:pt x="469391" y="394716"/>
                </a:lnTo>
                <a:lnTo>
                  <a:pt x="451103" y="385572"/>
                </a:lnTo>
                <a:lnTo>
                  <a:pt x="432815" y="375666"/>
                </a:lnTo>
                <a:lnTo>
                  <a:pt x="413765" y="364998"/>
                </a:lnTo>
                <a:lnTo>
                  <a:pt x="395477" y="353568"/>
                </a:lnTo>
                <a:lnTo>
                  <a:pt x="376427" y="342138"/>
                </a:lnTo>
                <a:lnTo>
                  <a:pt x="358139" y="330708"/>
                </a:lnTo>
                <a:lnTo>
                  <a:pt x="320039" y="306324"/>
                </a:lnTo>
                <a:lnTo>
                  <a:pt x="300989" y="293370"/>
                </a:lnTo>
                <a:lnTo>
                  <a:pt x="281177" y="279654"/>
                </a:lnTo>
                <a:lnTo>
                  <a:pt x="262127" y="266700"/>
                </a:lnTo>
                <a:lnTo>
                  <a:pt x="243077" y="252984"/>
                </a:lnTo>
                <a:lnTo>
                  <a:pt x="165353" y="195072"/>
                </a:lnTo>
                <a:lnTo>
                  <a:pt x="126491" y="165354"/>
                </a:lnTo>
                <a:lnTo>
                  <a:pt x="87629" y="134874"/>
                </a:lnTo>
                <a:lnTo>
                  <a:pt x="76261" y="126158"/>
                </a:lnTo>
                <a:lnTo>
                  <a:pt x="58612" y="148923"/>
                </a:lnTo>
                <a:lnTo>
                  <a:pt x="70103" y="157734"/>
                </a:lnTo>
                <a:lnTo>
                  <a:pt x="108965" y="188214"/>
                </a:lnTo>
                <a:lnTo>
                  <a:pt x="148589" y="217932"/>
                </a:lnTo>
                <a:lnTo>
                  <a:pt x="187451" y="247650"/>
                </a:lnTo>
                <a:lnTo>
                  <a:pt x="226313" y="275844"/>
                </a:lnTo>
                <a:lnTo>
                  <a:pt x="246125" y="289560"/>
                </a:lnTo>
                <a:lnTo>
                  <a:pt x="265175" y="303276"/>
                </a:lnTo>
                <a:lnTo>
                  <a:pt x="284988" y="316992"/>
                </a:lnTo>
                <a:lnTo>
                  <a:pt x="323088" y="342900"/>
                </a:lnTo>
                <a:lnTo>
                  <a:pt x="342900" y="355092"/>
                </a:lnTo>
                <a:lnTo>
                  <a:pt x="361950" y="367284"/>
                </a:lnTo>
                <a:lnTo>
                  <a:pt x="381000" y="378714"/>
                </a:lnTo>
                <a:lnTo>
                  <a:pt x="400050" y="389382"/>
                </a:lnTo>
                <a:lnTo>
                  <a:pt x="419100" y="400812"/>
                </a:lnTo>
                <a:lnTo>
                  <a:pt x="457200" y="420624"/>
                </a:lnTo>
                <a:lnTo>
                  <a:pt x="476250" y="429768"/>
                </a:lnTo>
                <a:lnTo>
                  <a:pt x="494538" y="438912"/>
                </a:lnTo>
                <a:lnTo>
                  <a:pt x="513588" y="447294"/>
                </a:lnTo>
                <a:lnTo>
                  <a:pt x="531876" y="454914"/>
                </a:lnTo>
                <a:lnTo>
                  <a:pt x="550926" y="461772"/>
                </a:lnTo>
                <a:lnTo>
                  <a:pt x="569213" y="468630"/>
                </a:lnTo>
                <a:lnTo>
                  <a:pt x="624077" y="483870"/>
                </a:lnTo>
                <a:lnTo>
                  <a:pt x="678941" y="494538"/>
                </a:lnTo>
                <a:lnTo>
                  <a:pt x="752093" y="499872"/>
                </a:lnTo>
                <a:lnTo>
                  <a:pt x="769619" y="500634"/>
                </a:lnTo>
                <a:lnTo>
                  <a:pt x="822959" y="498348"/>
                </a:lnTo>
                <a:lnTo>
                  <a:pt x="875538" y="492252"/>
                </a:lnTo>
                <a:lnTo>
                  <a:pt x="944117" y="478536"/>
                </a:lnTo>
                <a:lnTo>
                  <a:pt x="977645" y="469392"/>
                </a:lnTo>
                <a:lnTo>
                  <a:pt x="994409" y="464820"/>
                </a:lnTo>
                <a:lnTo>
                  <a:pt x="1010412" y="459486"/>
                </a:lnTo>
                <a:lnTo>
                  <a:pt x="1027176" y="454151"/>
                </a:lnTo>
                <a:lnTo>
                  <a:pt x="1059179" y="441960"/>
                </a:lnTo>
                <a:lnTo>
                  <a:pt x="1120139" y="416051"/>
                </a:lnTo>
                <a:lnTo>
                  <a:pt x="1164335" y="394715"/>
                </a:lnTo>
                <a:lnTo>
                  <a:pt x="1206245" y="369570"/>
                </a:lnTo>
                <a:lnTo>
                  <a:pt x="1219962" y="359663"/>
                </a:lnTo>
                <a:lnTo>
                  <a:pt x="1233677" y="350520"/>
                </a:lnTo>
                <a:lnTo>
                  <a:pt x="1246631" y="340613"/>
                </a:lnTo>
                <a:lnTo>
                  <a:pt x="1285493" y="308610"/>
                </a:lnTo>
                <a:lnTo>
                  <a:pt x="1297685" y="297180"/>
                </a:lnTo>
                <a:lnTo>
                  <a:pt x="1310639" y="285750"/>
                </a:lnTo>
                <a:lnTo>
                  <a:pt x="1335023" y="262127"/>
                </a:lnTo>
                <a:lnTo>
                  <a:pt x="1358645" y="236982"/>
                </a:lnTo>
                <a:lnTo>
                  <a:pt x="1404365" y="185165"/>
                </a:lnTo>
                <a:lnTo>
                  <a:pt x="1426464" y="157734"/>
                </a:lnTo>
                <a:lnTo>
                  <a:pt x="1449311" y="130301"/>
                </a:lnTo>
                <a:lnTo>
                  <a:pt x="1470647" y="102108"/>
                </a:lnTo>
                <a:lnTo>
                  <a:pt x="1492757" y="73913"/>
                </a:lnTo>
                <a:lnTo>
                  <a:pt x="1535417" y="1676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67139" y="2877566"/>
            <a:ext cx="4885690" cy="1017269"/>
          </a:xfrm>
          <a:custGeom>
            <a:avLst/>
            <a:gdLst/>
            <a:ahLst/>
            <a:cxnLst/>
            <a:rect l="l" t="t" r="r" b="b"/>
            <a:pathLst>
              <a:path w="4885690" h="1017270">
                <a:moveTo>
                  <a:pt x="82296" y="136398"/>
                </a:moveTo>
                <a:lnTo>
                  <a:pt x="0" y="87630"/>
                </a:lnTo>
                <a:lnTo>
                  <a:pt x="10668" y="182880"/>
                </a:lnTo>
                <a:lnTo>
                  <a:pt x="26669" y="172495"/>
                </a:lnTo>
                <a:lnTo>
                  <a:pt x="26669" y="155448"/>
                </a:lnTo>
                <a:lnTo>
                  <a:pt x="50292" y="140208"/>
                </a:lnTo>
                <a:lnTo>
                  <a:pt x="58183" y="152045"/>
                </a:lnTo>
                <a:lnTo>
                  <a:pt x="82296" y="136398"/>
                </a:lnTo>
                <a:close/>
              </a:path>
              <a:path w="4885690" h="1017270">
                <a:moveTo>
                  <a:pt x="58183" y="152045"/>
                </a:moveTo>
                <a:lnTo>
                  <a:pt x="50292" y="140208"/>
                </a:lnTo>
                <a:lnTo>
                  <a:pt x="26669" y="155448"/>
                </a:lnTo>
                <a:lnTo>
                  <a:pt x="34438" y="167454"/>
                </a:lnTo>
                <a:lnTo>
                  <a:pt x="58183" y="152045"/>
                </a:lnTo>
                <a:close/>
              </a:path>
              <a:path w="4885690" h="1017270">
                <a:moveTo>
                  <a:pt x="34438" y="167454"/>
                </a:moveTo>
                <a:lnTo>
                  <a:pt x="26669" y="155448"/>
                </a:lnTo>
                <a:lnTo>
                  <a:pt x="26669" y="172495"/>
                </a:lnTo>
                <a:lnTo>
                  <a:pt x="34438" y="167454"/>
                </a:lnTo>
                <a:close/>
              </a:path>
              <a:path w="4885690" h="1017270">
                <a:moveTo>
                  <a:pt x="4885182" y="22859"/>
                </a:moveTo>
                <a:lnTo>
                  <a:pt x="4867656" y="0"/>
                </a:lnTo>
                <a:lnTo>
                  <a:pt x="4706861" y="124967"/>
                </a:lnTo>
                <a:lnTo>
                  <a:pt x="4651997" y="166115"/>
                </a:lnTo>
                <a:lnTo>
                  <a:pt x="4596384" y="206501"/>
                </a:lnTo>
                <a:lnTo>
                  <a:pt x="4539983" y="246887"/>
                </a:lnTo>
                <a:lnTo>
                  <a:pt x="4482084" y="286511"/>
                </a:lnTo>
                <a:lnTo>
                  <a:pt x="4423397" y="325373"/>
                </a:lnTo>
                <a:lnTo>
                  <a:pt x="4363199" y="364235"/>
                </a:lnTo>
                <a:lnTo>
                  <a:pt x="4300727" y="401573"/>
                </a:lnTo>
                <a:lnTo>
                  <a:pt x="4236707" y="438911"/>
                </a:lnTo>
                <a:lnTo>
                  <a:pt x="4170425" y="474725"/>
                </a:lnTo>
                <a:lnTo>
                  <a:pt x="4102608" y="509777"/>
                </a:lnTo>
                <a:lnTo>
                  <a:pt x="4030979" y="543305"/>
                </a:lnTo>
                <a:lnTo>
                  <a:pt x="3957066" y="576071"/>
                </a:lnTo>
                <a:lnTo>
                  <a:pt x="3919727" y="592073"/>
                </a:lnTo>
                <a:lnTo>
                  <a:pt x="3880866" y="608075"/>
                </a:lnTo>
                <a:lnTo>
                  <a:pt x="3841241" y="623315"/>
                </a:lnTo>
                <a:lnTo>
                  <a:pt x="3800856" y="639317"/>
                </a:lnTo>
                <a:lnTo>
                  <a:pt x="3758933" y="654557"/>
                </a:lnTo>
                <a:lnTo>
                  <a:pt x="3630929" y="703325"/>
                </a:lnTo>
                <a:lnTo>
                  <a:pt x="3541775" y="735329"/>
                </a:lnTo>
                <a:lnTo>
                  <a:pt x="3449561" y="766571"/>
                </a:lnTo>
                <a:lnTo>
                  <a:pt x="3355835" y="797051"/>
                </a:lnTo>
                <a:lnTo>
                  <a:pt x="3260585" y="826769"/>
                </a:lnTo>
                <a:lnTo>
                  <a:pt x="3163062" y="854963"/>
                </a:lnTo>
                <a:lnTo>
                  <a:pt x="3064764" y="881633"/>
                </a:lnTo>
                <a:lnTo>
                  <a:pt x="2964941" y="905255"/>
                </a:lnTo>
                <a:lnTo>
                  <a:pt x="2864357" y="927353"/>
                </a:lnTo>
                <a:lnTo>
                  <a:pt x="2814066" y="937260"/>
                </a:lnTo>
                <a:lnTo>
                  <a:pt x="2763773" y="946404"/>
                </a:lnTo>
                <a:lnTo>
                  <a:pt x="2713481" y="954786"/>
                </a:lnTo>
                <a:lnTo>
                  <a:pt x="2663190" y="962406"/>
                </a:lnTo>
                <a:lnTo>
                  <a:pt x="2612135" y="968501"/>
                </a:lnTo>
                <a:lnTo>
                  <a:pt x="2561843" y="974598"/>
                </a:lnTo>
                <a:lnTo>
                  <a:pt x="2511552" y="979170"/>
                </a:lnTo>
                <a:lnTo>
                  <a:pt x="2461259" y="982980"/>
                </a:lnTo>
                <a:lnTo>
                  <a:pt x="2411729" y="986028"/>
                </a:lnTo>
                <a:lnTo>
                  <a:pt x="2361438" y="987551"/>
                </a:lnTo>
                <a:lnTo>
                  <a:pt x="2311907" y="988302"/>
                </a:lnTo>
                <a:lnTo>
                  <a:pt x="2259329" y="988291"/>
                </a:lnTo>
                <a:lnTo>
                  <a:pt x="2206752" y="986757"/>
                </a:lnTo>
                <a:lnTo>
                  <a:pt x="2152650" y="984461"/>
                </a:lnTo>
                <a:lnTo>
                  <a:pt x="2099309" y="981456"/>
                </a:lnTo>
                <a:lnTo>
                  <a:pt x="2044445" y="977646"/>
                </a:lnTo>
                <a:lnTo>
                  <a:pt x="1931669" y="966978"/>
                </a:lnTo>
                <a:lnTo>
                  <a:pt x="1875281" y="960882"/>
                </a:lnTo>
                <a:lnTo>
                  <a:pt x="1818131" y="953262"/>
                </a:lnTo>
                <a:lnTo>
                  <a:pt x="1703069" y="937260"/>
                </a:lnTo>
                <a:lnTo>
                  <a:pt x="1588007" y="918210"/>
                </a:lnTo>
                <a:lnTo>
                  <a:pt x="1474469" y="897636"/>
                </a:lnTo>
                <a:lnTo>
                  <a:pt x="1361693" y="874776"/>
                </a:lnTo>
                <a:lnTo>
                  <a:pt x="1306067" y="862584"/>
                </a:lnTo>
                <a:lnTo>
                  <a:pt x="1251965" y="850392"/>
                </a:lnTo>
                <a:lnTo>
                  <a:pt x="1197864" y="837438"/>
                </a:lnTo>
                <a:lnTo>
                  <a:pt x="1145285" y="824484"/>
                </a:lnTo>
                <a:lnTo>
                  <a:pt x="1093469" y="810768"/>
                </a:lnTo>
                <a:lnTo>
                  <a:pt x="1042415" y="797051"/>
                </a:lnTo>
                <a:lnTo>
                  <a:pt x="992885" y="783336"/>
                </a:lnTo>
                <a:lnTo>
                  <a:pt x="944879" y="769620"/>
                </a:lnTo>
                <a:lnTo>
                  <a:pt x="898397" y="755142"/>
                </a:lnTo>
                <a:lnTo>
                  <a:pt x="853439" y="740663"/>
                </a:lnTo>
                <a:lnTo>
                  <a:pt x="810005" y="726948"/>
                </a:lnTo>
                <a:lnTo>
                  <a:pt x="768095" y="712470"/>
                </a:lnTo>
                <a:lnTo>
                  <a:pt x="728471" y="697992"/>
                </a:lnTo>
                <a:lnTo>
                  <a:pt x="691133" y="683513"/>
                </a:lnTo>
                <a:lnTo>
                  <a:pt x="672845" y="676656"/>
                </a:lnTo>
                <a:lnTo>
                  <a:pt x="620267" y="654558"/>
                </a:lnTo>
                <a:lnTo>
                  <a:pt x="555497" y="624078"/>
                </a:lnTo>
                <a:lnTo>
                  <a:pt x="540257" y="615696"/>
                </a:lnTo>
                <a:lnTo>
                  <a:pt x="525017" y="608076"/>
                </a:lnTo>
                <a:lnTo>
                  <a:pt x="481583" y="582930"/>
                </a:lnTo>
                <a:lnTo>
                  <a:pt x="440435" y="557784"/>
                </a:lnTo>
                <a:lnTo>
                  <a:pt x="390143" y="522732"/>
                </a:lnTo>
                <a:lnTo>
                  <a:pt x="342900" y="486156"/>
                </a:lnTo>
                <a:lnTo>
                  <a:pt x="279653" y="429768"/>
                </a:lnTo>
                <a:lnTo>
                  <a:pt x="240791" y="390906"/>
                </a:lnTo>
                <a:lnTo>
                  <a:pt x="204977" y="351282"/>
                </a:lnTo>
                <a:lnTo>
                  <a:pt x="155448" y="291084"/>
                </a:lnTo>
                <a:lnTo>
                  <a:pt x="124968" y="249174"/>
                </a:lnTo>
                <a:lnTo>
                  <a:pt x="109728" y="228600"/>
                </a:lnTo>
                <a:lnTo>
                  <a:pt x="58183" y="152045"/>
                </a:lnTo>
                <a:lnTo>
                  <a:pt x="34438" y="167454"/>
                </a:lnTo>
                <a:lnTo>
                  <a:pt x="43434" y="181356"/>
                </a:lnTo>
                <a:lnTo>
                  <a:pt x="86868" y="245363"/>
                </a:lnTo>
                <a:lnTo>
                  <a:pt x="102107" y="265938"/>
                </a:lnTo>
                <a:lnTo>
                  <a:pt x="117348" y="287274"/>
                </a:lnTo>
                <a:lnTo>
                  <a:pt x="149351" y="329184"/>
                </a:lnTo>
                <a:lnTo>
                  <a:pt x="183642" y="370332"/>
                </a:lnTo>
                <a:lnTo>
                  <a:pt x="220979" y="411480"/>
                </a:lnTo>
                <a:lnTo>
                  <a:pt x="259841" y="451104"/>
                </a:lnTo>
                <a:lnTo>
                  <a:pt x="281177" y="470154"/>
                </a:lnTo>
                <a:lnTo>
                  <a:pt x="302513" y="489966"/>
                </a:lnTo>
                <a:lnTo>
                  <a:pt x="325373" y="509016"/>
                </a:lnTo>
                <a:lnTo>
                  <a:pt x="348995" y="527304"/>
                </a:lnTo>
                <a:lnTo>
                  <a:pt x="373379" y="546354"/>
                </a:lnTo>
                <a:lnTo>
                  <a:pt x="399288" y="563880"/>
                </a:lnTo>
                <a:lnTo>
                  <a:pt x="425195" y="582168"/>
                </a:lnTo>
                <a:lnTo>
                  <a:pt x="452627" y="598932"/>
                </a:lnTo>
                <a:lnTo>
                  <a:pt x="527303" y="641604"/>
                </a:lnTo>
                <a:lnTo>
                  <a:pt x="575309" y="665226"/>
                </a:lnTo>
                <a:lnTo>
                  <a:pt x="592073" y="672846"/>
                </a:lnTo>
                <a:lnTo>
                  <a:pt x="608838" y="681228"/>
                </a:lnTo>
                <a:lnTo>
                  <a:pt x="626363" y="688848"/>
                </a:lnTo>
                <a:lnTo>
                  <a:pt x="643889" y="695706"/>
                </a:lnTo>
                <a:lnTo>
                  <a:pt x="680465" y="710946"/>
                </a:lnTo>
                <a:lnTo>
                  <a:pt x="718565" y="724662"/>
                </a:lnTo>
                <a:lnTo>
                  <a:pt x="758951" y="739139"/>
                </a:lnTo>
                <a:lnTo>
                  <a:pt x="800862" y="753618"/>
                </a:lnTo>
                <a:lnTo>
                  <a:pt x="845057" y="768096"/>
                </a:lnTo>
                <a:lnTo>
                  <a:pt x="890015" y="782574"/>
                </a:lnTo>
                <a:lnTo>
                  <a:pt x="937259" y="797051"/>
                </a:lnTo>
                <a:lnTo>
                  <a:pt x="985265" y="810768"/>
                </a:lnTo>
                <a:lnTo>
                  <a:pt x="1034795" y="824484"/>
                </a:lnTo>
                <a:lnTo>
                  <a:pt x="1085850" y="838200"/>
                </a:lnTo>
                <a:lnTo>
                  <a:pt x="1138427" y="851916"/>
                </a:lnTo>
                <a:lnTo>
                  <a:pt x="1191005" y="864870"/>
                </a:lnTo>
                <a:lnTo>
                  <a:pt x="1245107" y="877824"/>
                </a:lnTo>
                <a:lnTo>
                  <a:pt x="1299971" y="890778"/>
                </a:lnTo>
                <a:lnTo>
                  <a:pt x="1356359" y="902208"/>
                </a:lnTo>
                <a:lnTo>
                  <a:pt x="1469135" y="925830"/>
                </a:lnTo>
                <a:lnTo>
                  <a:pt x="1583435" y="946404"/>
                </a:lnTo>
                <a:lnTo>
                  <a:pt x="1699259" y="965454"/>
                </a:lnTo>
                <a:lnTo>
                  <a:pt x="1814321" y="981456"/>
                </a:lnTo>
                <a:lnTo>
                  <a:pt x="1872233" y="989076"/>
                </a:lnTo>
                <a:lnTo>
                  <a:pt x="1929383" y="995172"/>
                </a:lnTo>
                <a:lnTo>
                  <a:pt x="1985771" y="1001268"/>
                </a:lnTo>
                <a:lnTo>
                  <a:pt x="2042159" y="1005839"/>
                </a:lnTo>
                <a:lnTo>
                  <a:pt x="2099309" y="1009755"/>
                </a:lnTo>
                <a:lnTo>
                  <a:pt x="2152650" y="1013460"/>
                </a:lnTo>
                <a:lnTo>
                  <a:pt x="2207514" y="1015006"/>
                </a:lnTo>
                <a:lnTo>
                  <a:pt x="2260091" y="1016519"/>
                </a:lnTo>
                <a:lnTo>
                  <a:pt x="2311907" y="1017270"/>
                </a:lnTo>
                <a:lnTo>
                  <a:pt x="2362962" y="1016508"/>
                </a:lnTo>
                <a:lnTo>
                  <a:pt x="2463545" y="1011936"/>
                </a:lnTo>
                <a:lnTo>
                  <a:pt x="2514600" y="1008126"/>
                </a:lnTo>
                <a:lnTo>
                  <a:pt x="2564891" y="1002792"/>
                </a:lnTo>
                <a:lnTo>
                  <a:pt x="2615945" y="997458"/>
                </a:lnTo>
                <a:lnTo>
                  <a:pt x="2667000" y="990600"/>
                </a:lnTo>
                <a:lnTo>
                  <a:pt x="2718054" y="982980"/>
                </a:lnTo>
                <a:lnTo>
                  <a:pt x="2769107" y="974598"/>
                </a:lnTo>
                <a:lnTo>
                  <a:pt x="2820162" y="965454"/>
                </a:lnTo>
                <a:lnTo>
                  <a:pt x="2870454" y="955547"/>
                </a:lnTo>
                <a:lnTo>
                  <a:pt x="2971800" y="933449"/>
                </a:lnTo>
                <a:lnTo>
                  <a:pt x="3071621" y="909065"/>
                </a:lnTo>
                <a:lnTo>
                  <a:pt x="3170681" y="882395"/>
                </a:lnTo>
                <a:lnTo>
                  <a:pt x="3268967" y="854201"/>
                </a:lnTo>
                <a:lnTo>
                  <a:pt x="3364991" y="824483"/>
                </a:lnTo>
                <a:lnTo>
                  <a:pt x="3459479" y="793241"/>
                </a:lnTo>
                <a:lnTo>
                  <a:pt x="3550907" y="761999"/>
                </a:lnTo>
                <a:lnTo>
                  <a:pt x="3640823" y="729995"/>
                </a:lnTo>
                <a:lnTo>
                  <a:pt x="3726941" y="697991"/>
                </a:lnTo>
                <a:lnTo>
                  <a:pt x="3769614" y="681227"/>
                </a:lnTo>
                <a:lnTo>
                  <a:pt x="3810749" y="665987"/>
                </a:lnTo>
                <a:lnTo>
                  <a:pt x="3851897" y="649985"/>
                </a:lnTo>
                <a:lnTo>
                  <a:pt x="3891521" y="633983"/>
                </a:lnTo>
                <a:lnTo>
                  <a:pt x="3930383" y="618743"/>
                </a:lnTo>
                <a:lnTo>
                  <a:pt x="3969258" y="602741"/>
                </a:lnTo>
                <a:lnTo>
                  <a:pt x="4043159" y="569213"/>
                </a:lnTo>
                <a:lnTo>
                  <a:pt x="4115549" y="534923"/>
                </a:lnTo>
                <a:lnTo>
                  <a:pt x="4184141" y="499871"/>
                </a:lnTo>
                <a:lnTo>
                  <a:pt x="4251185" y="463295"/>
                </a:lnTo>
                <a:lnTo>
                  <a:pt x="4315968" y="426719"/>
                </a:lnTo>
                <a:lnTo>
                  <a:pt x="4378451" y="388619"/>
                </a:lnTo>
                <a:lnTo>
                  <a:pt x="4439399" y="349757"/>
                </a:lnTo>
                <a:lnTo>
                  <a:pt x="4498835" y="310133"/>
                </a:lnTo>
                <a:lnTo>
                  <a:pt x="4556747" y="269747"/>
                </a:lnTo>
                <a:lnTo>
                  <a:pt x="4613135" y="229361"/>
                </a:lnTo>
                <a:lnTo>
                  <a:pt x="4668761" y="188975"/>
                </a:lnTo>
                <a:lnTo>
                  <a:pt x="4723638" y="147065"/>
                </a:lnTo>
                <a:lnTo>
                  <a:pt x="4778501" y="105917"/>
                </a:lnTo>
                <a:lnTo>
                  <a:pt x="4885182" y="2285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65835" y="3185972"/>
            <a:ext cx="1326515" cy="10922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24539" y="1502917"/>
            <a:ext cx="3136900" cy="708025"/>
          </a:xfrm>
          <a:custGeom>
            <a:avLst/>
            <a:gdLst/>
            <a:ahLst/>
            <a:cxnLst/>
            <a:rect l="l" t="t" r="r" b="b"/>
            <a:pathLst>
              <a:path w="3136900" h="708025">
                <a:moveTo>
                  <a:pt x="51307" y="401319"/>
                </a:moveTo>
                <a:lnTo>
                  <a:pt x="31241" y="381000"/>
                </a:lnTo>
                <a:lnTo>
                  <a:pt x="0" y="471677"/>
                </a:lnTo>
                <a:lnTo>
                  <a:pt x="41147" y="458304"/>
                </a:lnTo>
                <a:lnTo>
                  <a:pt x="41147" y="411480"/>
                </a:lnTo>
                <a:lnTo>
                  <a:pt x="51307" y="401319"/>
                </a:lnTo>
                <a:close/>
              </a:path>
              <a:path w="3136900" h="708025">
                <a:moveTo>
                  <a:pt x="71207" y="421471"/>
                </a:moveTo>
                <a:lnTo>
                  <a:pt x="51307" y="401319"/>
                </a:lnTo>
                <a:lnTo>
                  <a:pt x="41147" y="411480"/>
                </a:lnTo>
                <a:lnTo>
                  <a:pt x="60959" y="431292"/>
                </a:lnTo>
                <a:lnTo>
                  <a:pt x="71207" y="421471"/>
                </a:lnTo>
                <a:close/>
              </a:path>
              <a:path w="3136900" h="708025">
                <a:moveTo>
                  <a:pt x="91439" y="441959"/>
                </a:moveTo>
                <a:lnTo>
                  <a:pt x="71207" y="421471"/>
                </a:lnTo>
                <a:lnTo>
                  <a:pt x="60959" y="431292"/>
                </a:lnTo>
                <a:lnTo>
                  <a:pt x="41147" y="411480"/>
                </a:lnTo>
                <a:lnTo>
                  <a:pt x="41147" y="458304"/>
                </a:lnTo>
                <a:lnTo>
                  <a:pt x="91439" y="441959"/>
                </a:lnTo>
                <a:close/>
              </a:path>
              <a:path w="3136900" h="708025">
                <a:moveTo>
                  <a:pt x="3136391" y="692657"/>
                </a:moveTo>
                <a:lnTo>
                  <a:pt x="3109709" y="653033"/>
                </a:lnTo>
                <a:lnTo>
                  <a:pt x="3083051" y="614171"/>
                </a:lnTo>
                <a:lnTo>
                  <a:pt x="3056382" y="574548"/>
                </a:lnTo>
                <a:lnTo>
                  <a:pt x="3013697" y="516636"/>
                </a:lnTo>
                <a:lnTo>
                  <a:pt x="2998457" y="497586"/>
                </a:lnTo>
                <a:lnTo>
                  <a:pt x="2983229" y="479298"/>
                </a:lnTo>
                <a:lnTo>
                  <a:pt x="2967990" y="460248"/>
                </a:lnTo>
                <a:lnTo>
                  <a:pt x="2918447" y="405383"/>
                </a:lnTo>
                <a:lnTo>
                  <a:pt x="2864358" y="352806"/>
                </a:lnTo>
                <a:lnTo>
                  <a:pt x="2824734" y="319277"/>
                </a:lnTo>
                <a:lnTo>
                  <a:pt x="2782811" y="287274"/>
                </a:lnTo>
                <a:lnTo>
                  <a:pt x="2737103" y="256794"/>
                </a:lnTo>
                <a:lnTo>
                  <a:pt x="2688323" y="227837"/>
                </a:lnTo>
                <a:lnTo>
                  <a:pt x="2636507" y="201168"/>
                </a:lnTo>
                <a:lnTo>
                  <a:pt x="2580132" y="176021"/>
                </a:lnTo>
                <a:lnTo>
                  <a:pt x="2519159" y="153162"/>
                </a:lnTo>
                <a:lnTo>
                  <a:pt x="2452877" y="132587"/>
                </a:lnTo>
                <a:lnTo>
                  <a:pt x="2378964" y="113537"/>
                </a:lnTo>
                <a:lnTo>
                  <a:pt x="2339340" y="104393"/>
                </a:lnTo>
                <a:lnTo>
                  <a:pt x="2298953" y="96012"/>
                </a:lnTo>
                <a:lnTo>
                  <a:pt x="2257031" y="88392"/>
                </a:lnTo>
                <a:lnTo>
                  <a:pt x="2213597" y="80771"/>
                </a:lnTo>
                <a:lnTo>
                  <a:pt x="2169414" y="73913"/>
                </a:lnTo>
                <a:lnTo>
                  <a:pt x="2077961" y="60198"/>
                </a:lnTo>
                <a:lnTo>
                  <a:pt x="2031491" y="54101"/>
                </a:lnTo>
                <a:lnTo>
                  <a:pt x="1936241" y="43433"/>
                </a:lnTo>
                <a:lnTo>
                  <a:pt x="1839467" y="33527"/>
                </a:lnTo>
                <a:lnTo>
                  <a:pt x="1743456" y="25145"/>
                </a:lnTo>
                <a:lnTo>
                  <a:pt x="1647431" y="18287"/>
                </a:lnTo>
                <a:lnTo>
                  <a:pt x="1552956" y="12192"/>
                </a:lnTo>
                <a:lnTo>
                  <a:pt x="1461515" y="7619"/>
                </a:lnTo>
                <a:lnTo>
                  <a:pt x="1415783" y="6042"/>
                </a:lnTo>
                <a:lnTo>
                  <a:pt x="1373111" y="4544"/>
                </a:lnTo>
                <a:lnTo>
                  <a:pt x="1331976" y="3048"/>
                </a:lnTo>
                <a:lnTo>
                  <a:pt x="1290065" y="2271"/>
                </a:lnTo>
                <a:lnTo>
                  <a:pt x="1251203" y="1524"/>
                </a:lnTo>
                <a:lnTo>
                  <a:pt x="1177289" y="0"/>
                </a:lnTo>
                <a:lnTo>
                  <a:pt x="1142987" y="0"/>
                </a:lnTo>
                <a:lnTo>
                  <a:pt x="1110233" y="762"/>
                </a:lnTo>
                <a:lnTo>
                  <a:pt x="1077467" y="762"/>
                </a:lnTo>
                <a:lnTo>
                  <a:pt x="1014983" y="3809"/>
                </a:lnTo>
                <a:lnTo>
                  <a:pt x="955547" y="7619"/>
                </a:lnTo>
                <a:lnTo>
                  <a:pt x="899159" y="13715"/>
                </a:lnTo>
                <a:lnTo>
                  <a:pt x="845057" y="20574"/>
                </a:lnTo>
                <a:lnTo>
                  <a:pt x="793241" y="28193"/>
                </a:lnTo>
                <a:lnTo>
                  <a:pt x="744473" y="38100"/>
                </a:lnTo>
                <a:lnTo>
                  <a:pt x="720089" y="42671"/>
                </a:lnTo>
                <a:lnTo>
                  <a:pt x="674369" y="53339"/>
                </a:lnTo>
                <a:lnTo>
                  <a:pt x="629412" y="65531"/>
                </a:lnTo>
                <a:lnTo>
                  <a:pt x="586739" y="77724"/>
                </a:lnTo>
                <a:lnTo>
                  <a:pt x="545591" y="90677"/>
                </a:lnTo>
                <a:lnTo>
                  <a:pt x="505967" y="104393"/>
                </a:lnTo>
                <a:lnTo>
                  <a:pt x="448817" y="124968"/>
                </a:lnTo>
                <a:lnTo>
                  <a:pt x="375665" y="153924"/>
                </a:lnTo>
                <a:lnTo>
                  <a:pt x="358139" y="160781"/>
                </a:lnTo>
                <a:lnTo>
                  <a:pt x="322325" y="178307"/>
                </a:lnTo>
                <a:lnTo>
                  <a:pt x="272795" y="206501"/>
                </a:lnTo>
                <a:lnTo>
                  <a:pt x="257555" y="217169"/>
                </a:lnTo>
                <a:lnTo>
                  <a:pt x="241553" y="227837"/>
                </a:lnTo>
                <a:lnTo>
                  <a:pt x="227075" y="238506"/>
                </a:lnTo>
                <a:lnTo>
                  <a:pt x="212597" y="249936"/>
                </a:lnTo>
                <a:lnTo>
                  <a:pt x="198119" y="260604"/>
                </a:lnTo>
                <a:lnTo>
                  <a:pt x="157733" y="295656"/>
                </a:lnTo>
                <a:lnTo>
                  <a:pt x="121157" y="329945"/>
                </a:lnTo>
                <a:lnTo>
                  <a:pt x="77723" y="373380"/>
                </a:lnTo>
                <a:lnTo>
                  <a:pt x="58673" y="393954"/>
                </a:lnTo>
                <a:lnTo>
                  <a:pt x="51307" y="401319"/>
                </a:lnTo>
                <a:lnTo>
                  <a:pt x="71207" y="421471"/>
                </a:lnTo>
                <a:lnTo>
                  <a:pt x="79247" y="413765"/>
                </a:lnTo>
                <a:lnTo>
                  <a:pt x="98297" y="393192"/>
                </a:lnTo>
                <a:lnTo>
                  <a:pt x="118871" y="372618"/>
                </a:lnTo>
                <a:lnTo>
                  <a:pt x="129539" y="361188"/>
                </a:lnTo>
                <a:lnTo>
                  <a:pt x="140969" y="350519"/>
                </a:lnTo>
                <a:lnTo>
                  <a:pt x="152400" y="339089"/>
                </a:lnTo>
                <a:lnTo>
                  <a:pt x="164591" y="327659"/>
                </a:lnTo>
                <a:lnTo>
                  <a:pt x="202691" y="294131"/>
                </a:lnTo>
                <a:lnTo>
                  <a:pt x="215645" y="283463"/>
                </a:lnTo>
                <a:lnTo>
                  <a:pt x="229362" y="272795"/>
                </a:lnTo>
                <a:lnTo>
                  <a:pt x="243839" y="261365"/>
                </a:lnTo>
                <a:lnTo>
                  <a:pt x="258317" y="251459"/>
                </a:lnTo>
                <a:lnTo>
                  <a:pt x="272795" y="240792"/>
                </a:lnTo>
                <a:lnTo>
                  <a:pt x="288035" y="230886"/>
                </a:lnTo>
                <a:lnTo>
                  <a:pt x="335279" y="203454"/>
                </a:lnTo>
                <a:lnTo>
                  <a:pt x="386333" y="179831"/>
                </a:lnTo>
                <a:lnTo>
                  <a:pt x="422147" y="166115"/>
                </a:lnTo>
                <a:lnTo>
                  <a:pt x="458723" y="151637"/>
                </a:lnTo>
                <a:lnTo>
                  <a:pt x="496062" y="137921"/>
                </a:lnTo>
                <a:lnTo>
                  <a:pt x="515873" y="131063"/>
                </a:lnTo>
                <a:lnTo>
                  <a:pt x="534923" y="124206"/>
                </a:lnTo>
                <a:lnTo>
                  <a:pt x="554735" y="118109"/>
                </a:lnTo>
                <a:lnTo>
                  <a:pt x="574547" y="111251"/>
                </a:lnTo>
                <a:lnTo>
                  <a:pt x="615695" y="99059"/>
                </a:lnTo>
                <a:lnTo>
                  <a:pt x="658367" y="86868"/>
                </a:lnTo>
                <a:lnTo>
                  <a:pt x="726185" y="70865"/>
                </a:lnTo>
                <a:lnTo>
                  <a:pt x="773429" y="60959"/>
                </a:lnTo>
                <a:lnTo>
                  <a:pt x="822959" y="52577"/>
                </a:lnTo>
                <a:lnTo>
                  <a:pt x="875538" y="44957"/>
                </a:lnTo>
                <a:lnTo>
                  <a:pt x="929639" y="38862"/>
                </a:lnTo>
                <a:lnTo>
                  <a:pt x="986789" y="34289"/>
                </a:lnTo>
                <a:lnTo>
                  <a:pt x="1046988" y="30480"/>
                </a:lnTo>
                <a:lnTo>
                  <a:pt x="1110233" y="28956"/>
                </a:lnTo>
                <a:lnTo>
                  <a:pt x="1213103" y="28956"/>
                </a:lnTo>
                <a:lnTo>
                  <a:pt x="1290065" y="30480"/>
                </a:lnTo>
                <a:lnTo>
                  <a:pt x="1330452" y="32004"/>
                </a:lnTo>
                <a:lnTo>
                  <a:pt x="1373111" y="32765"/>
                </a:lnTo>
                <a:lnTo>
                  <a:pt x="1415783" y="34289"/>
                </a:lnTo>
                <a:lnTo>
                  <a:pt x="1461515" y="36652"/>
                </a:lnTo>
                <a:lnTo>
                  <a:pt x="1552956" y="41234"/>
                </a:lnTo>
                <a:lnTo>
                  <a:pt x="1645145" y="46481"/>
                </a:lnTo>
                <a:lnTo>
                  <a:pt x="1740395" y="54101"/>
                </a:lnTo>
                <a:lnTo>
                  <a:pt x="1837182" y="61721"/>
                </a:lnTo>
                <a:lnTo>
                  <a:pt x="1932432" y="71627"/>
                </a:lnTo>
                <a:lnTo>
                  <a:pt x="2027682" y="82295"/>
                </a:lnTo>
                <a:lnTo>
                  <a:pt x="2074164" y="88392"/>
                </a:lnTo>
                <a:lnTo>
                  <a:pt x="2119884" y="95250"/>
                </a:lnTo>
                <a:lnTo>
                  <a:pt x="2164841" y="102107"/>
                </a:lnTo>
                <a:lnTo>
                  <a:pt x="2208275" y="108965"/>
                </a:lnTo>
                <a:lnTo>
                  <a:pt x="2251697" y="116586"/>
                </a:lnTo>
                <a:lnTo>
                  <a:pt x="2292858" y="124206"/>
                </a:lnTo>
                <a:lnTo>
                  <a:pt x="2333231" y="132587"/>
                </a:lnTo>
                <a:lnTo>
                  <a:pt x="2372106" y="140969"/>
                </a:lnTo>
                <a:lnTo>
                  <a:pt x="2409431" y="150875"/>
                </a:lnTo>
                <a:lnTo>
                  <a:pt x="2444483" y="160019"/>
                </a:lnTo>
                <a:lnTo>
                  <a:pt x="2510027" y="180594"/>
                </a:lnTo>
                <a:lnTo>
                  <a:pt x="2568701" y="202692"/>
                </a:lnTo>
                <a:lnTo>
                  <a:pt x="2623566" y="227075"/>
                </a:lnTo>
                <a:lnTo>
                  <a:pt x="2674607" y="252983"/>
                </a:lnTo>
                <a:lnTo>
                  <a:pt x="2721864" y="281177"/>
                </a:lnTo>
                <a:lnTo>
                  <a:pt x="2766047" y="310133"/>
                </a:lnTo>
                <a:lnTo>
                  <a:pt x="2786634" y="326136"/>
                </a:lnTo>
                <a:lnTo>
                  <a:pt x="2806433" y="341375"/>
                </a:lnTo>
                <a:lnTo>
                  <a:pt x="2862834" y="390906"/>
                </a:lnTo>
                <a:lnTo>
                  <a:pt x="2897873" y="425195"/>
                </a:lnTo>
                <a:lnTo>
                  <a:pt x="2930651" y="461009"/>
                </a:lnTo>
                <a:lnTo>
                  <a:pt x="2976359" y="515112"/>
                </a:lnTo>
                <a:lnTo>
                  <a:pt x="3004566" y="553212"/>
                </a:lnTo>
                <a:lnTo>
                  <a:pt x="3032747" y="591312"/>
                </a:lnTo>
                <a:lnTo>
                  <a:pt x="3086087" y="669036"/>
                </a:lnTo>
                <a:lnTo>
                  <a:pt x="3112008" y="707898"/>
                </a:lnTo>
                <a:lnTo>
                  <a:pt x="3136391" y="69265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404235" y="11587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7683" y="380745"/>
            <a:ext cx="5929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NFA to DFA </a:t>
            </a:r>
            <a:r>
              <a:rPr spc="-10" dirty="0"/>
              <a:t>conversion</a:t>
            </a:r>
            <a:r>
              <a:rPr spc="-3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2667139" y="2660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4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8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59233" y="2797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24539" y="1898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16633" y="2035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8939" y="2922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1" y="57149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1" y="57149"/>
                </a:lnTo>
                <a:close/>
              </a:path>
              <a:path w="838200" h="85725">
                <a:moveTo>
                  <a:pt x="838199" y="42672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199" y="42672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49"/>
                </a:lnTo>
                <a:lnTo>
                  <a:pt x="752093" y="57149"/>
                </a:lnTo>
                <a:lnTo>
                  <a:pt x="752093" y="85343"/>
                </a:lnTo>
                <a:lnTo>
                  <a:pt x="7665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08435" y="25303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8235" y="1622043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0927" y="1898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93033" y="2035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86527" y="2160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94635" y="16921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62648" y="1364996"/>
            <a:ext cx="653415" cy="505459"/>
          </a:xfrm>
          <a:custGeom>
            <a:avLst/>
            <a:gdLst/>
            <a:ahLst/>
            <a:cxnLst/>
            <a:rect l="l" t="t" r="r" b="b"/>
            <a:pathLst>
              <a:path w="653415" h="505460">
                <a:moveTo>
                  <a:pt x="653046" y="256794"/>
                </a:moveTo>
                <a:lnTo>
                  <a:pt x="653046" y="246887"/>
                </a:lnTo>
                <a:lnTo>
                  <a:pt x="652272" y="236220"/>
                </a:lnTo>
                <a:lnTo>
                  <a:pt x="641616" y="194310"/>
                </a:lnTo>
                <a:lnTo>
                  <a:pt x="619518" y="152400"/>
                </a:lnTo>
                <a:lnTo>
                  <a:pt x="595896" y="118110"/>
                </a:lnTo>
                <a:lnTo>
                  <a:pt x="566927" y="83820"/>
                </a:lnTo>
                <a:lnTo>
                  <a:pt x="531876" y="53340"/>
                </a:lnTo>
                <a:lnTo>
                  <a:pt x="490727" y="30480"/>
                </a:lnTo>
                <a:lnTo>
                  <a:pt x="451878" y="17526"/>
                </a:lnTo>
                <a:lnTo>
                  <a:pt x="424446" y="11430"/>
                </a:lnTo>
                <a:lnTo>
                  <a:pt x="404622" y="7620"/>
                </a:lnTo>
                <a:lnTo>
                  <a:pt x="384048" y="5334"/>
                </a:lnTo>
                <a:lnTo>
                  <a:pt x="362724" y="2286"/>
                </a:lnTo>
                <a:lnTo>
                  <a:pt x="341375" y="762"/>
                </a:lnTo>
                <a:lnTo>
                  <a:pt x="319277" y="0"/>
                </a:lnTo>
                <a:lnTo>
                  <a:pt x="297192" y="0"/>
                </a:lnTo>
                <a:lnTo>
                  <a:pt x="254520" y="1524"/>
                </a:lnTo>
                <a:lnTo>
                  <a:pt x="233172" y="4572"/>
                </a:lnTo>
                <a:lnTo>
                  <a:pt x="213372" y="7620"/>
                </a:lnTo>
                <a:lnTo>
                  <a:pt x="204228" y="9906"/>
                </a:lnTo>
                <a:lnTo>
                  <a:pt x="194322" y="12192"/>
                </a:lnTo>
                <a:lnTo>
                  <a:pt x="137172" y="38862"/>
                </a:lnTo>
                <a:lnTo>
                  <a:pt x="122694" y="50292"/>
                </a:lnTo>
                <a:lnTo>
                  <a:pt x="115061" y="56387"/>
                </a:lnTo>
                <a:lnTo>
                  <a:pt x="86880" y="83058"/>
                </a:lnTo>
                <a:lnTo>
                  <a:pt x="61722" y="114300"/>
                </a:lnTo>
                <a:lnTo>
                  <a:pt x="39624" y="147066"/>
                </a:lnTo>
                <a:lnTo>
                  <a:pt x="21348" y="182118"/>
                </a:lnTo>
                <a:lnTo>
                  <a:pt x="17525" y="190500"/>
                </a:lnTo>
                <a:lnTo>
                  <a:pt x="14477" y="199644"/>
                </a:lnTo>
                <a:lnTo>
                  <a:pt x="10680" y="208026"/>
                </a:lnTo>
                <a:lnTo>
                  <a:pt x="8394" y="216408"/>
                </a:lnTo>
                <a:lnTo>
                  <a:pt x="6108" y="225552"/>
                </a:lnTo>
                <a:lnTo>
                  <a:pt x="3822" y="233934"/>
                </a:lnTo>
                <a:lnTo>
                  <a:pt x="761" y="250698"/>
                </a:lnTo>
                <a:lnTo>
                  <a:pt x="761" y="259080"/>
                </a:lnTo>
                <a:lnTo>
                  <a:pt x="0" y="267462"/>
                </a:lnTo>
                <a:lnTo>
                  <a:pt x="2285" y="291084"/>
                </a:lnTo>
                <a:lnTo>
                  <a:pt x="3822" y="298704"/>
                </a:lnTo>
                <a:lnTo>
                  <a:pt x="6108" y="306324"/>
                </a:lnTo>
                <a:lnTo>
                  <a:pt x="8394" y="314706"/>
                </a:lnTo>
                <a:lnTo>
                  <a:pt x="14477" y="329946"/>
                </a:lnTo>
                <a:lnTo>
                  <a:pt x="25920" y="352806"/>
                </a:lnTo>
                <a:lnTo>
                  <a:pt x="28968" y="357886"/>
                </a:lnTo>
                <a:lnTo>
                  <a:pt x="28968" y="259842"/>
                </a:lnTo>
                <a:lnTo>
                  <a:pt x="30492" y="246126"/>
                </a:lnTo>
                <a:lnTo>
                  <a:pt x="32016" y="239268"/>
                </a:lnTo>
                <a:lnTo>
                  <a:pt x="33527" y="231648"/>
                </a:lnTo>
                <a:lnTo>
                  <a:pt x="38100" y="216408"/>
                </a:lnTo>
                <a:lnTo>
                  <a:pt x="47256" y="193548"/>
                </a:lnTo>
                <a:lnTo>
                  <a:pt x="51066" y="185166"/>
                </a:lnTo>
                <a:lnTo>
                  <a:pt x="55625" y="177546"/>
                </a:lnTo>
                <a:lnTo>
                  <a:pt x="64020" y="161544"/>
                </a:lnTo>
                <a:lnTo>
                  <a:pt x="96011" y="115824"/>
                </a:lnTo>
                <a:lnTo>
                  <a:pt x="127266" y="83058"/>
                </a:lnTo>
                <a:lnTo>
                  <a:pt x="134111" y="77724"/>
                </a:lnTo>
                <a:lnTo>
                  <a:pt x="140220" y="72390"/>
                </a:lnTo>
                <a:lnTo>
                  <a:pt x="147078" y="67056"/>
                </a:lnTo>
                <a:lnTo>
                  <a:pt x="153924" y="62484"/>
                </a:lnTo>
                <a:lnTo>
                  <a:pt x="160032" y="57912"/>
                </a:lnTo>
                <a:lnTo>
                  <a:pt x="166877" y="54102"/>
                </a:lnTo>
                <a:lnTo>
                  <a:pt x="173748" y="51054"/>
                </a:lnTo>
                <a:lnTo>
                  <a:pt x="180606" y="47243"/>
                </a:lnTo>
                <a:lnTo>
                  <a:pt x="187451" y="44958"/>
                </a:lnTo>
                <a:lnTo>
                  <a:pt x="195072" y="41910"/>
                </a:lnTo>
                <a:lnTo>
                  <a:pt x="202704" y="39624"/>
                </a:lnTo>
                <a:lnTo>
                  <a:pt x="257568" y="30480"/>
                </a:lnTo>
                <a:lnTo>
                  <a:pt x="297192" y="28222"/>
                </a:lnTo>
                <a:lnTo>
                  <a:pt x="319277" y="28193"/>
                </a:lnTo>
                <a:lnTo>
                  <a:pt x="360425" y="31242"/>
                </a:lnTo>
                <a:lnTo>
                  <a:pt x="381000" y="33528"/>
                </a:lnTo>
                <a:lnTo>
                  <a:pt x="400824" y="35814"/>
                </a:lnTo>
                <a:lnTo>
                  <a:pt x="419100" y="39624"/>
                </a:lnTo>
                <a:lnTo>
                  <a:pt x="428256" y="41148"/>
                </a:lnTo>
                <a:lnTo>
                  <a:pt x="436625" y="43434"/>
                </a:lnTo>
                <a:lnTo>
                  <a:pt x="445020" y="44958"/>
                </a:lnTo>
                <a:lnTo>
                  <a:pt x="460248" y="49530"/>
                </a:lnTo>
                <a:lnTo>
                  <a:pt x="504456" y="69342"/>
                </a:lnTo>
                <a:lnTo>
                  <a:pt x="526554" y="86106"/>
                </a:lnTo>
                <a:lnTo>
                  <a:pt x="537222" y="94487"/>
                </a:lnTo>
                <a:lnTo>
                  <a:pt x="565416" y="124968"/>
                </a:lnTo>
                <a:lnTo>
                  <a:pt x="595122" y="167640"/>
                </a:lnTo>
                <a:lnTo>
                  <a:pt x="611124" y="197358"/>
                </a:lnTo>
                <a:lnTo>
                  <a:pt x="615708" y="205740"/>
                </a:lnTo>
                <a:lnTo>
                  <a:pt x="618756" y="214122"/>
                </a:lnTo>
                <a:lnTo>
                  <a:pt x="621042" y="223266"/>
                </a:lnTo>
                <a:lnTo>
                  <a:pt x="624077" y="240030"/>
                </a:lnTo>
                <a:lnTo>
                  <a:pt x="624077" y="384460"/>
                </a:lnTo>
                <a:lnTo>
                  <a:pt x="630948" y="367284"/>
                </a:lnTo>
                <a:lnTo>
                  <a:pt x="634758" y="356616"/>
                </a:lnTo>
                <a:lnTo>
                  <a:pt x="637806" y="345948"/>
                </a:lnTo>
                <a:lnTo>
                  <a:pt x="649224" y="297180"/>
                </a:lnTo>
                <a:lnTo>
                  <a:pt x="650748" y="287274"/>
                </a:lnTo>
                <a:lnTo>
                  <a:pt x="653046" y="256794"/>
                </a:lnTo>
                <a:close/>
              </a:path>
              <a:path w="653415" h="505460">
                <a:moveTo>
                  <a:pt x="176796" y="485394"/>
                </a:moveTo>
                <a:lnTo>
                  <a:pt x="148590" y="456438"/>
                </a:lnTo>
                <a:lnTo>
                  <a:pt x="134874" y="442722"/>
                </a:lnTo>
                <a:lnTo>
                  <a:pt x="108216" y="414528"/>
                </a:lnTo>
                <a:lnTo>
                  <a:pt x="96011" y="400050"/>
                </a:lnTo>
                <a:lnTo>
                  <a:pt x="83832" y="386334"/>
                </a:lnTo>
                <a:lnTo>
                  <a:pt x="73151" y="371856"/>
                </a:lnTo>
                <a:lnTo>
                  <a:pt x="63258" y="358140"/>
                </a:lnTo>
                <a:lnTo>
                  <a:pt x="54864" y="344424"/>
                </a:lnTo>
                <a:lnTo>
                  <a:pt x="50304" y="338328"/>
                </a:lnTo>
                <a:lnTo>
                  <a:pt x="47256" y="331470"/>
                </a:lnTo>
                <a:lnTo>
                  <a:pt x="43446" y="324612"/>
                </a:lnTo>
                <a:lnTo>
                  <a:pt x="40398" y="317754"/>
                </a:lnTo>
                <a:lnTo>
                  <a:pt x="38100" y="310896"/>
                </a:lnTo>
                <a:lnTo>
                  <a:pt x="35051" y="304800"/>
                </a:lnTo>
                <a:lnTo>
                  <a:pt x="33527" y="297942"/>
                </a:lnTo>
                <a:lnTo>
                  <a:pt x="32016" y="291846"/>
                </a:lnTo>
                <a:lnTo>
                  <a:pt x="30492" y="284988"/>
                </a:lnTo>
                <a:lnTo>
                  <a:pt x="28968" y="272796"/>
                </a:lnTo>
                <a:lnTo>
                  <a:pt x="28968" y="357886"/>
                </a:lnTo>
                <a:lnTo>
                  <a:pt x="51066" y="390144"/>
                </a:lnTo>
                <a:lnTo>
                  <a:pt x="86880" y="433578"/>
                </a:lnTo>
                <a:lnTo>
                  <a:pt x="128028" y="477012"/>
                </a:lnTo>
                <a:lnTo>
                  <a:pt x="156972" y="505206"/>
                </a:lnTo>
                <a:lnTo>
                  <a:pt x="176796" y="485394"/>
                </a:lnTo>
                <a:close/>
              </a:path>
              <a:path w="653415" h="505460">
                <a:moveTo>
                  <a:pt x="577993" y="413444"/>
                </a:moveTo>
                <a:lnTo>
                  <a:pt x="553224" y="399288"/>
                </a:lnTo>
                <a:lnTo>
                  <a:pt x="547877" y="495300"/>
                </a:lnTo>
                <a:lnTo>
                  <a:pt x="570737" y="480060"/>
                </a:lnTo>
                <a:lnTo>
                  <a:pt x="570737" y="425958"/>
                </a:lnTo>
                <a:lnTo>
                  <a:pt x="577993" y="413444"/>
                </a:lnTo>
                <a:close/>
              </a:path>
              <a:path w="653415" h="505460">
                <a:moveTo>
                  <a:pt x="602653" y="427537"/>
                </a:moveTo>
                <a:lnTo>
                  <a:pt x="577993" y="413444"/>
                </a:lnTo>
                <a:lnTo>
                  <a:pt x="570737" y="425958"/>
                </a:lnTo>
                <a:lnTo>
                  <a:pt x="595896" y="440436"/>
                </a:lnTo>
                <a:lnTo>
                  <a:pt x="602653" y="427537"/>
                </a:lnTo>
                <a:close/>
              </a:path>
              <a:path w="653415" h="505460">
                <a:moveTo>
                  <a:pt x="627887" y="441960"/>
                </a:moveTo>
                <a:lnTo>
                  <a:pt x="602653" y="427537"/>
                </a:lnTo>
                <a:lnTo>
                  <a:pt x="595896" y="440436"/>
                </a:lnTo>
                <a:lnTo>
                  <a:pt x="570737" y="425958"/>
                </a:lnTo>
                <a:lnTo>
                  <a:pt x="570737" y="480060"/>
                </a:lnTo>
                <a:lnTo>
                  <a:pt x="627887" y="441960"/>
                </a:lnTo>
                <a:close/>
              </a:path>
              <a:path w="653415" h="505460">
                <a:moveTo>
                  <a:pt x="624077" y="384460"/>
                </a:moveTo>
                <a:lnTo>
                  <a:pt x="624077" y="265938"/>
                </a:lnTo>
                <a:lnTo>
                  <a:pt x="623328" y="275081"/>
                </a:lnTo>
                <a:lnTo>
                  <a:pt x="621804" y="284226"/>
                </a:lnTo>
                <a:lnTo>
                  <a:pt x="621042" y="293370"/>
                </a:lnTo>
                <a:lnTo>
                  <a:pt x="618756" y="301752"/>
                </a:lnTo>
                <a:lnTo>
                  <a:pt x="614946" y="320802"/>
                </a:lnTo>
                <a:lnTo>
                  <a:pt x="604278" y="358140"/>
                </a:lnTo>
                <a:lnTo>
                  <a:pt x="585228" y="400050"/>
                </a:lnTo>
                <a:lnTo>
                  <a:pt x="577993" y="413444"/>
                </a:lnTo>
                <a:lnTo>
                  <a:pt x="602653" y="427537"/>
                </a:lnTo>
                <a:lnTo>
                  <a:pt x="616470" y="401574"/>
                </a:lnTo>
                <a:lnTo>
                  <a:pt x="621804" y="390144"/>
                </a:lnTo>
                <a:lnTo>
                  <a:pt x="624077" y="38446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24539" y="33461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18235" y="3069843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0927" y="33461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86527" y="36083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4"/>
                </a:lnTo>
                <a:lnTo>
                  <a:pt x="0" y="57150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94635" y="31399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62648" y="2812795"/>
            <a:ext cx="653415" cy="505459"/>
          </a:xfrm>
          <a:custGeom>
            <a:avLst/>
            <a:gdLst/>
            <a:ahLst/>
            <a:cxnLst/>
            <a:rect l="l" t="t" r="r" b="b"/>
            <a:pathLst>
              <a:path w="653415" h="505460">
                <a:moveTo>
                  <a:pt x="653046" y="256793"/>
                </a:moveTo>
                <a:lnTo>
                  <a:pt x="653046" y="246887"/>
                </a:lnTo>
                <a:lnTo>
                  <a:pt x="652272" y="236219"/>
                </a:lnTo>
                <a:lnTo>
                  <a:pt x="641616" y="194309"/>
                </a:lnTo>
                <a:lnTo>
                  <a:pt x="619518" y="152400"/>
                </a:lnTo>
                <a:lnTo>
                  <a:pt x="595896" y="118109"/>
                </a:lnTo>
                <a:lnTo>
                  <a:pt x="566927" y="83819"/>
                </a:lnTo>
                <a:lnTo>
                  <a:pt x="531876" y="53340"/>
                </a:lnTo>
                <a:lnTo>
                  <a:pt x="490727" y="30480"/>
                </a:lnTo>
                <a:lnTo>
                  <a:pt x="451878" y="17526"/>
                </a:lnTo>
                <a:lnTo>
                  <a:pt x="424446" y="11430"/>
                </a:lnTo>
                <a:lnTo>
                  <a:pt x="404622" y="7620"/>
                </a:lnTo>
                <a:lnTo>
                  <a:pt x="384048" y="5334"/>
                </a:lnTo>
                <a:lnTo>
                  <a:pt x="362724" y="2286"/>
                </a:lnTo>
                <a:lnTo>
                  <a:pt x="341375" y="762"/>
                </a:lnTo>
                <a:lnTo>
                  <a:pt x="319277" y="0"/>
                </a:lnTo>
                <a:lnTo>
                  <a:pt x="297192" y="0"/>
                </a:lnTo>
                <a:lnTo>
                  <a:pt x="254520" y="1524"/>
                </a:lnTo>
                <a:lnTo>
                  <a:pt x="233172" y="4572"/>
                </a:lnTo>
                <a:lnTo>
                  <a:pt x="213372" y="7620"/>
                </a:lnTo>
                <a:lnTo>
                  <a:pt x="204228" y="9906"/>
                </a:lnTo>
                <a:lnTo>
                  <a:pt x="194322" y="12192"/>
                </a:lnTo>
                <a:lnTo>
                  <a:pt x="137172" y="38862"/>
                </a:lnTo>
                <a:lnTo>
                  <a:pt x="122694" y="50292"/>
                </a:lnTo>
                <a:lnTo>
                  <a:pt x="115061" y="56387"/>
                </a:lnTo>
                <a:lnTo>
                  <a:pt x="86880" y="83057"/>
                </a:lnTo>
                <a:lnTo>
                  <a:pt x="61722" y="114300"/>
                </a:lnTo>
                <a:lnTo>
                  <a:pt x="39624" y="147065"/>
                </a:lnTo>
                <a:lnTo>
                  <a:pt x="21348" y="182117"/>
                </a:lnTo>
                <a:lnTo>
                  <a:pt x="17525" y="190500"/>
                </a:lnTo>
                <a:lnTo>
                  <a:pt x="14477" y="199643"/>
                </a:lnTo>
                <a:lnTo>
                  <a:pt x="10680" y="208025"/>
                </a:lnTo>
                <a:lnTo>
                  <a:pt x="8394" y="216407"/>
                </a:lnTo>
                <a:lnTo>
                  <a:pt x="6108" y="225551"/>
                </a:lnTo>
                <a:lnTo>
                  <a:pt x="3822" y="233933"/>
                </a:lnTo>
                <a:lnTo>
                  <a:pt x="761" y="250698"/>
                </a:lnTo>
                <a:lnTo>
                  <a:pt x="761" y="259079"/>
                </a:lnTo>
                <a:lnTo>
                  <a:pt x="0" y="267462"/>
                </a:lnTo>
                <a:lnTo>
                  <a:pt x="2285" y="291083"/>
                </a:lnTo>
                <a:lnTo>
                  <a:pt x="3822" y="298703"/>
                </a:lnTo>
                <a:lnTo>
                  <a:pt x="6108" y="306324"/>
                </a:lnTo>
                <a:lnTo>
                  <a:pt x="8394" y="314705"/>
                </a:lnTo>
                <a:lnTo>
                  <a:pt x="14477" y="329945"/>
                </a:lnTo>
                <a:lnTo>
                  <a:pt x="25920" y="352805"/>
                </a:lnTo>
                <a:lnTo>
                  <a:pt x="28968" y="357886"/>
                </a:lnTo>
                <a:lnTo>
                  <a:pt x="28968" y="259841"/>
                </a:lnTo>
                <a:lnTo>
                  <a:pt x="30492" y="246125"/>
                </a:lnTo>
                <a:lnTo>
                  <a:pt x="32016" y="239267"/>
                </a:lnTo>
                <a:lnTo>
                  <a:pt x="33527" y="231648"/>
                </a:lnTo>
                <a:lnTo>
                  <a:pt x="38100" y="216407"/>
                </a:lnTo>
                <a:lnTo>
                  <a:pt x="47256" y="193548"/>
                </a:lnTo>
                <a:lnTo>
                  <a:pt x="51066" y="185165"/>
                </a:lnTo>
                <a:lnTo>
                  <a:pt x="55625" y="177545"/>
                </a:lnTo>
                <a:lnTo>
                  <a:pt x="64020" y="161543"/>
                </a:lnTo>
                <a:lnTo>
                  <a:pt x="96011" y="115824"/>
                </a:lnTo>
                <a:lnTo>
                  <a:pt x="127266" y="83057"/>
                </a:lnTo>
                <a:lnTo>
                  <a:pt x="134111" y="77724"/>
                </a:lnTo>
                <a:lnTo>
                  <a:pt x="140220" y="72390"/>
                </a:lnTo>
                <a:lnTo>
                  <a:pt x="147078" y="67056"/>
                </a:lnTo>
                <a:lnTo>
                  <a:pt x="153924" y="62484"/>
                </a:lnTo>
                <a:lnTo>
                  <a:pt x="160032" y="57912"/>
                </a:lnTo>
                <a:lnTo>
                  <a:pt x="166877" y="54102"/>
                </a:lnTo>
                <a:lnTo>
                  <a:pt x="173748" y="51054"/>
                </a:lnTo>
                <a:lnTo>
                  <a:pt x="180606" y="47243"/>
                </a:lnTo>
                <a:lnTo>
                  <a:pt x="187451" y="44958"/>
                </a:lnTo>
                <a:lnTo>
                  <a:pt x="195072" y="41910"/>
                </a:lnTo>
                <a:lnTo>
                  <a:pt x="202704" y="39624"/>
                </a:lnTo>
                <a:lnTo>
                  <a:pt x="257568" y="30480"/>
                </a:lnTo>
                <a:lnTo>
                  <a:pt x="297192" y="28222"/>
                </a:lnTo>
                <a:lnTo>
                  <a:pt x="319277" y="28193"/>
                </a:lnTo>
                <a:lnTo>
                  <a:pt x="360425" y="31242"/>
                </a:lnTo>
                <a:lnTo>
                  <a:pt x="381000" y="33528"/>
                </a:lnTo>
                <a:lnTo>
                  <a:pt x="400824" y="35814"/>
                </a:lnTo>
                <a:lnTo>
                  <a:pt x="419100" y="39624"/>
                </a:lnTo>
                <a:lnTo>
                  <a:pt x="428256" y="41148"/>
                </a:lnTo>
                <a:lnTo>
                  <a:pt x="436625" y="43434"/>
                </a:lnTo>
                <a:lnTo>
                  <a:pt x="445020" y="44958"/>
                </a:lnTo>
                <a:lnTo>
                  <a:pt x="460248" y="49530"/>
                </a:lnTo>
                <a:lnTo>
                  <a:pt x="504456" y="69342"/>
                </a:lnTo>
                <a:lnTo>
                  <a:pt x="526554" y="86105"/>
                </a:lnTo>
                <a:lnTo>
                  <a:pt x="537222" y="94487"/>
                </a:lnTo>
                <a:lnTo>
                  <a:pt x="565416" y="124967"/>
                </a:lnTo>
                <a:lnTo>
                  <a:pt x="595122" y="167639"/>
                </a:lnTo>
                <a:lnTo>
                  <a:pt x="611124" y="197357"/>
                </a:lnTo>
                <a:lnTo>
                  <a:pt x="615708" y="205739"/>
                </a:lnTo>
                <a:lnTo>
                  <a:pt x="618756" y="214121"/>
                </a:lnTo>
                <a:lnTo>
                  <a:pt x="621042" y="223265"/>
                </a:lnTo>
                <a:lnTo>
                  <a:pt x="624077" y="240029"/>
                </a:lnTo>
                <a:lnTo>
                  <a:pt x="624077" y="384460"/>
                </a:lnTo>
                <a:lnTo>
                  <a:pt x="630948" y="367283"/>
                </a:lnTo>
                <a:lnTo>
                  <a:pt x="634758" y="356615"/>
                </a:lnTo>
                <a:lnTo>
                  <a:pt x="637806" y="345948"/>
                </a:lnTo>
                <a:lnTo>
                  <a:pt x="649224" y="297179"/>
                </a:lnTo>
                <a:lnTo>
                  <a:pt x="650748" y="287274"/>
                </a:lnTo>
                <a:lnTo>
                  <a:pt x="653046" y="256793"/>
                </a:lnTo>
                <a:close/>
              </a:path>
              <a:path w="653415" h="505460">
                <a:moveTo>
                  <a:pt x="176796" y="485393"/>
                </a:moveTo>
                <a:lnTo>
                  <a:pt x="148590" y="456438"/>
                </a:lnTo>
                <a:lnTo>
                  <a:pt x="134874" y="442721"/>
                </a:lnTo>
                <a:lnTo>
                  <a:pt x="108216" y="414527"/>
                </a:lnTo>
                <a:lnTo>
                  <a:pt x="96011" y="400050"/>
                </a:lnTo>
                <a:lnTo>
                  <a:pt x="83832" y="386333"/>
                </a:lnTo>
                <a:lnTo>
                  <a:pt x="73151" y="371855"/>
                </a:lnTo>
                <a:lnTo>
                  <a:pt x="63258" y="358139"/>
                </a:lnTo>
                <a:lnTo>
                  <a:pt x="54864" y="344424"/>
                </a:lnTo>
                <a:lnTo>
                  <a:pt x="50304" y="338327"/>
                </a:lnTo>
                <a:lnTo>
                  <a:pt x="47256" y="331469"/>
                </a:lnTo>
                <a:lnTo>
                  <a:pt x="43446" y="324612"/>
                </a:lnTo>
                <a:lnTo>
                  <a:pt x="40398" y="317753"/>
                </a:lnTo>
                <a:lnTo>
                  <a:pt x="38100" y="310895"/>
                </a:lnTo>
                <a:lnTo>
                  <a:pt x="35051" y="304800"/>
                </a:lnTo>
                <a:lnTo>
                  <a:pt x="33527" y="297941"/>
                </a:lnTo>
                <a:lnTo>
                  <a:pt x="32016" y="291845"/>
                </a:lnTo>
                <a:lnTo>
                  <a:pt x="30492" y="284988"/>
                </a:lnTo>
                <a:lnTo>
                  <a:pt x="28968" y="272795"/>
                </a:lnTo>
                <a:lnTo>
                  <a:pt x="28968" y="357886"/>
                </a:lnTo>
                <a:lnTo>
                  <a:pt x="51066" y="390143"/>
                </a:lnTo>
                <a:lnTo>
                  <a:pt x="86880" y="433577"/>
                </a:lnTo>
                <a:lnTo>
                  <a:pt x="128028" y="477012"/>
                </a:lnTo>
                <a:lnTo>
                  <a:pt x="156972" y="505205"/>
                </a:lnTo>
                <a:lnTo>
                  <a:pt x="176796" y="485393"/>
                </a:lnTo>
                <a:close/>
              </a:path>
              <a:path w="653415" h="505460">
                <a:moveTo>
                  <a:pt x="577993" y="413444"/>
                </a:moveTo>
                <a:lnTo>
                  <a:pt x="553224" y="399288"/>
                </a:lnTo>
                <a:lnTo>
                  <a:pt x="547877" y="495300"/>
                </a:lnTo>
                <a:lnTo>
                  <a:pt x="570737" y="480060"/>
                </a:lnTo>
                <a:lnTo>
                  <a:pt x="570737" y="425957"/>
                </a:lnTo>
                <a:lnTo>
                  <a:pt x="577993" y="413444"/>
                </a:lnTo>
                <a:close/>
              </a:path>
              <a:path w="653415" h="505460">
                <a:moveTo>
                  <a:pt x="602653" y="427537"/>
                </a:moveTo>
                <a:lnTo>
                  <a:pt x="577993" y="413444"/>
                </a:lnTo>
                <a:lnTo>
                  <a:pt x="570737" y="425957"/>
                </a:lnTo>
                <a:lnTo>
                  <a:pt x="595896" y="440436"/>
                </a:lnTo>
                <a:lnTo>
                  <a:pt x="602653" y="427537"/>
                </a:lnTo>
                <a:close/>
              </a:path>
              <a:path w="653415" h="505460">
                <a:moveTo>
                  <a:pt x="627887" y="441959"/>
                </a:moveTo>
                <a:lnTo>
                  <a:pt x="602653" y="427537"/>
                </a:lnTo>
                <a:lnTo>
                  <a:pt x="595896" y="440436"/>
                </a:lnTo>
                <a:lnTo>
                  <a:pt x="570737" y="425957"/>
                </a:lnTo>
                <a:lnTo>
                  <a:pt x="570737" y="480060"/>
                </a:lnTo>
                <a:lnTo>
                  <a:pt x="627887" y="441959"/>
                </a:lnTo>
                <a:close/>
              </a:path>
              <a:path w="653415" h="505460">
                <a:moveTo>
                  <a:pt x="624077" y="384460"/>
                </a:moveTo>
                <a:lnTo>
                  <a:pt x="624077" y="265938"/>
                </a:lnTo>
                <a:lnTo>
                  <a:pt x="623328" y="275081"/>
                </a:lnTo>
                <a:lnTo>
                  <a:pt x="621804" y="284225"/>
                </a:lnTo>
                <a:lnTo>
                  <a:pt x="621042" y="293369"/>
                </a:lnTo>
                <a:lnTo>
                  <a:pt x="618756" y="301751"/>
                </a:lnTo>
                <a:lnTo>
                  <a:pt x="614946" y="320801"/>
                </a:lnTo>
                <a:lnTo>
                  <a:pt x="604278" y="358139"/>
                </a:lnTo>
                <a:lnTo>
                  <a:pt x="585228" y="400050"/>
                </a:lnTo>
                <a:lnTo>
                  <a:pt x="577993" y="413444"/>
                </a:lnTo>
                <a:lnTo>
                  <a:pt x="602653" y="427537"/>
                </a:lnTo>
                <a:lnTo>
                  <a:pt x="616470" y="401574"/>
                </a:lnTo>
                <a:lnTo>
                  <a:pt x="621804" y="390143"/>
                </a:lnTo>
                <a:lnTo>
                  <a:pt x="624077" y="38446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166235" y="12349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2423" y="2758963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47605" y="2348738"/>
            <a:ext cx="1301115" cy="553720"/>
          </a:xfrm>
          <a:custGeom>
            <a:avLst/>
            <a:gdLst/>
            <a:ahLst/>
            <a:cxnLst/>
            <a:rect l="l" t="t" r="r" b="b"/>
            <a:pathLst>
              <a:path w="1301114" h="553719">
                <a:moveTo>
                  <a:pt x="1226731" y="52612"/>
                </a:moveTo>
                <a:lnTo>
                  <a:pt x="1215978" y="25986"/>
                </a:lnTo>
                <a:lnTo>
                  <a:pt x="0" y="527304"/>
                </a:lnTo>
                <a:lnTo>
                  <a:pt x="10667" y="553212"/>
                </a:lnTo>
                <a:lnTo>
                  <a:pt x="1226731" y="52612"/>
                </a:lnTo>
                <a:close/>
              </a:path>
              <a:path w="1301114" h="553719">
                <a:moveTo>
                  <a:pt x="1300734" y="6858"/>
                </a:moveTo>
                <a:lnTo>
                  <a:pt x="1205484" y="0"/>
                </a:lnTo>
                <a:lnTo>
                  <a:pt x="1215978" y="25986"/>
                </a:lnTo>
                <a:lnTo>
                  <a:pt x="1229105" y="20574"/>
                </a:lnTo>
                <a:lnTo>
                  <a:pt x="1239774" y="47244"/>
                </a:lnTo>
                <a:lnTo>
                  <a:pt x="1239774" y="76631"/>
                </a:lnTo>
                <a:lnTo>
                  <a:pt x="1300734" y="6858"/>
                </a:lnTo>
                <a:close/>
              </a:path>
              <a:path w="1301114" h="553719">
                <a:moveTo>
                  <a:pt x="1239774" y="47244"/>
                </a:moveTo>
                <a:lnTo>
                  <a:pt x="1229105" y="20574"/>
                </a:lnTo>
                <a:lnTo>
                  <a:pt x="1215978" y="25986"/>
                </a:lnTo>
                <a:lnTo>
                  <a:pt x="1226731" y="52612"/>
                </a:lnTo>
                <a:lnTo>
                  <a:pt x="1239774" y="47244"/>
                </a:lnTo>
                <a:close/>
              </a:path>
              <a:path w="1301114" h="553719">
                <a:moveTo>
                  <a:pt x="1239774" y="76631"/>
                </a:moveTo>
                <a:lnTo>
                  <a:pt x="1239774" y="47244"/>
                </a:lnTo>
                <a:lnTo>
                  <a:pt x="1226731" y="52612"/>
                </a:lnTo>
                <a:lnTo>
                  <a:pt x="1237488" y="79248"/>
                </a:lnTo>
                <a:lnTo>
                  <a:pt x="1239774" y="7663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49129" y="3180079"/>
            <a:ext cx="1299210" cy="411480"/>
          </a:xfrm>
          <a:custGeom>
            <a:avLst/>
            <a:gdLst/>
            <a:ahLst/>
            <a:cxnLst/>
            <a:rect l="l" t="t" r="r" b="b"/>
            <a:pathLst>
              <a:path w="1299210" h="411479">
                <a:moveTo>
                  <a:pt x="1220812" y="357175"/>
                </a:moveTo>
                <a:lnTo>
                  <a:pt x="7619" y="0"/>
                </a:lnTo>
                <a:lnTo>
                  <a:pt x="0" y="27432"/>
                </a:lnTo>
                <a:lnTo>
                  <a:pt x="1212724" y="384470"/>
                </a:lnTo>
                <a:lnTo>
                  <a:pt x="1220812" y="357175"/>
                </a:lnTo>
                <a:close/>
              </a:path>
              <a:path w="1299210" h="411479">
                <a:moveTo>
                  <a:pt x="1234439" y="406207"/>
                </a:moveTo>
                <a:lnTo>
                  <a:pt x="1234439" y="361188"/>
                </a:lnTo>
                <a:lnTo>
                  <a:pt x="1226819" y="388620"/>
                </a:lnTo>
                <a:lnTo>
                  <a:pt x="1212724" y="384470"/>
                </a:lnTo>
                <a:lnTo>
                  <a:pt x="1204722" y="411480"/>
                </a:lnTo>
                <a:lnTo>
                  <a:pt x="1234439" y="406207"/>
                </a:lnTo>
                <a:close/>
              </a:path>
              <a:path w="1299210" h="411479">
                <a:moveTo>
                  <a:pt x="1234439" y="361188"/>
                </a:moveTo>
                <a:lnTo>
                  <a:pt x="1220812" y="357175"/>
                </a:lnTo>
                <a:lnTo>
                  <a:pt x="1212724" y="384470"/>
                </a:lnTo>
                <a:lnTo>
                  <a:pt x="1226819" y="388620"/>
                </a:lnTo>
                <a:lnTo>
                  <a:pt x="1234439" y="361188"/>
                </a:lnTo>
                <a:close/>
              </a:path>
              <a:path w="1299210" h="411479">
                <a:moveTo>
                  <a:pt x="1299210" y="394716"/>
                </a:moveTo>
                <a:lnTo>
                  <a:pt x="1229105" y="329184"/>
                </a:lnTo>
                <a:lnTo>
                  <a:pt x="1220812" y="357175"/>
                </a:lnTo>
                <a:lnTo>
                  <a:pt x="1234439" y="361188"/>
                </a:lnTo>
                <a:lnTo>
                  <a:pt x="1234439" y="406207"/>
                </a:lnTo>
                <a:lnTo>
                  <a:pt x="1299210" y="39471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75035" y="3271011"/>
            <a:ext cx="7419975" cy="2275840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3653790">
              <a:lnSpc>
                <a:spcPct val="100000"/>
              </a:lnSpc>
              <a:spcBef>
                <a:spcPts val="1764"/>
              </a:spcBef>
              <a:tabLst>
                <a:tab pos="5330190" algn="l"/>
              </a:tabLst>
            </a:pPr>
            <a:r>
              <a:rPr sz="2400" dirty="0">
                <a:latin typeface="Times New Roman"/>
                <a:cs typeface="Times New Roman"/>
              </a:rPr>
              <a:t>3	4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  <a:spcBef>
                <a:spcPts val="1670"/>
              </a:spcBef>
            </a:pPr>
            <a:r>
              <a:rPr sz="2400" spc="-5" dirty="0">
                <a:latin typeface="Times New Roman"/>
                <a:cs typeface="Times New Roman"/>
              </a:rPr>
              <a:t>How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e-transition?</a:t>
            </a:r>
            <a:endParaRPr sz="2400">
              <a:latin typeface="Times New Roman"/>
              <a:cs typeface="Times New Roman"/>
            </a:endParaRPr>
          </a:p>
          <a:p>
            <a:pPr marL="12700" marR="30734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Due </a:t>
            </a:r>
            <a:r>
              <a:rPr sz="2400" dirty="0">
                <a:latin typeface="Times New Roman"/>
                <a:cs typeface="Times New Roman"/>
              </a:rPr>
              <a:t>to e-transitions,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must compute e-closure(S)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  </a:t>
            </a: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set of NFA states </a:t>
            </a:r>
            <a:r>
              <a:rPr sz="2400" dirty="0">
                <a:latin typeface="Times New Roman"/>
                <a:cs typeface="Times New Roman"/>
              </a:rPr>
              <a:t>reachable </a:t>
            </a:r>
            <a:r>
              <a:rPr sz="2400" spc="-5" dirty="0">
                <a:latin typeface="Times New Roman"/>
                <a:cs typeface="Times New Roman"/>
              </a:rPr>
              <a:t>from NFA state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</a:pPr>
            <a:r>
              <a:rPr sz="2400" dirty="0">
                <a:latin typeface="Times New Roman"/>
                <a:cs typeface="Times New Roman"/>
              </a:rPr>
              <a:t>e-transition, and e-closure(T)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T is a </a:t>
            </a:r>
            <a:r>
              <a:rPr sz="2400" spc="-5" dirty="0">
                <a:latin typeface="Times New Roman"/>
                <a:cs typeface="Times New Roman"/>
              </a:rPr>
              <a:t>set of NFA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13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5035" y="5886196"/>
            <a:ext cx="3815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Example: e-closure </a:t>
            </a:r>
            <a:r>
              <a:rPr sz="2400" spc="-5" dirty="0">
                <a:latin typeface="Times New Roman"/>
                <a:cs typeface="Times New Roman"/>
              </a:rPr>
              <a:t>(0)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{1,3}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64133" y="6265671"/>
            <a:ext cx="17786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8604" y="6265671"/>
            <a:ext cx="2222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30533" y="304545"/>
            <a:ext cx="60413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Subset Construction</a:t>
            </a:r>
            <a:r>
              <a:rPr spc="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0735" y="779567"/>
            <a:ext cx="7025005" cy="51904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spc="-5" dirty="0">
                <a:latin typeface="Times New Roman"/>
                <a:cs typeface="Times New Roman"/>
              </a:rPr>
              <a:t>Dstates </a:t>
            </a:r>
            <a:r>
              <a:rPr sz="2800" dirty="0">
                <a:latin typeface="Times New Roman"/>
                <a:cs typeface="Times New Roman"/>
              </a:rPr>
              <a:t>:= </a:t>
            </a:r>
            <a:r>
              <a:rPr sz="2800" spc="-5" dirty="0">
                <a:latin typeface="Times New Roman"/>
                <a:cs typeface="Times New Roman"/>
              </a:rPr>
              <a:t>e-closure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(s0)</a:t>
            </a:r>
            <a:endParaRPr sz="2800">
              <a:latin typeface="Times New Roman"/>
              <a:cs typeface="Times New Roman"/>
            </a:endParaRPr>
          </a:p>
          <a:p>
            <a:pPr marL="12700" marR="89535">
              <a:lnSpc>
                <a:spcPts val="3700"/>
              </a:lnSpc>
              <a:spcBef>
                <a:spcPts val="165"/>
              </a:spcBef>
            </a:pPr>
            <a:r>
              <a:rPr sz="2800" spc="-5" dirty="0">
                <a:latin typeface="Times New Roman"/>
                <a:cs typeface="Times New Roman"/>
              </a:rPr>
              <a:t>While there is an unmarked state </a:t>
            </a:r>
            <a:r>
              <a:rPr sz="2800" dirty="0">
                <a:latin typeface="Times New Roman"/>
                <a:cs typeface="Times New Roman"/>
              </a:rPr>
              <a:t>T </a:t>
            </a:r>
            <a:r>
              <a:rPr sz="2800" spc="-5" dirty="0">
                <a:latin typeface="Times New Roman"/>
                <a:cs typeface="Times New Roman"/>
              </a:rPr>
              <a:t>in Dstates </a:t>
            </a:r>
            <a:r>
              <a:rPr sz="2800" dirty="0">
                <a:latin typeface="Times New Roman"/>
                <a:cs typeface="Times New Roman"/>
              </a:rPr>
              <a:t>do  </a:t>
            </a:r>
            <a:r>
              <a:rPr sz="2800" spc="-5" dirty="0">
                <a:latin typeface="Times New Roman"/>
                <a:cs typeface="Times New Roman"/>
              </a:rPr>
              <a:t>begin</a:t>
            </a:r>
            <a:endParaRPr sz="280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  <a:spcBef>
                <a:spcPts val="165"/>
              </a:spcBef>
            </a:pPr>
            <a:r>
              <a:rPr sz="2800" spc="-5" dirty="0">
                <a:latin typeface="Times New Roman"/>
                <a:cs typeface="Times New Roman"/>
              </a:rPr>
              <a:t>mark T;</a:t>
            </a:r>
            <a:endParaRPr sz="2800">
              <a:latin typeface="Times New Roman"/>
              <a:cs typeface="Times New Roman"/>
            </a:endParaRPr>
          </a:p>
          <a:p>
            <a:pPr marL="584200" marR="2612390">
              <a:lnSpc>
                <a:spcPts val="3700"/>
              </a:lnSpc>
              <a:spcBef>
                <a:spcPts val="175"/>
              </a:spcBef>
            </a:pPr>
            <a:r>
              <a:rPr sz="2800" spc="-5" dirty="0">
                <a:latin typeface="Times New Roman"/>
                <a:cs typeface="Times New Roman"/>
              </a:rPr>
              <a:t>for each input symbol </a:t>
            </a:r>
            <a:r>
              <a:rPr sz="2800" i="1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do  </a:t>
            </a:r>
            <a:r>
              <a:rPr sz="2800" spc="-5" dirty="0">
                <a:latin typeface="Times New Roman"/>
                <a:cs typeface="Times New Roman"/>
              </a:rPr>
              <a:t>begin</a:t>
            </a:r>
            <a:endParaRPr sz="2800">
              <a:latin typeface="Times New Roman"/>
              <a:cs typeface="Times New Roman"/>
            </a:endParaRPr>
          </a:p>
          <a:p>
            <a:pPr marL="939800" marR="1927225" indent="635">
              <a:lnSpc>
                <a:spcPts val="3700"/>
              </a:lnSpc>
              <a:spcBef>
                <a:spcPts val="5"/>
              </a:spcBef>
              <a:tabLst>
                <a:tab pos="1334135" algn="l"/>
              </a:tabLst>
            </a:pPr>
            <a:r>
              <a:rPr sz="2800" dirty="0">
                <a:latin typeface="Times New Roman"/>
                <a:cs typeface="Times New Roman"/>
              </a:rPr>
              <a:t>U </a:t>
            </a:r>
            <a:r>
              <a:rPr sz="2800" spc="-5" dirty="0">
                <a:latin typeface="Times New Roman"/>
                <a:cs typeface="Times New Roman"/>
              </a:rPr>
              <a:t>:= e-closure </a:t>
            </a:r>
            <a:r>
              <a:rPr sz="2800" dirty="0">
                <a:latin typeface="Times New Roman"/>
                <a:cs typeface="Times New Roman"/>
              </a:rPr>
              <a:t>( </a:t>
            </a:r>
            <a:r>
              <a:rPr sz="2800" spc="-10" dirty="0">
                <a:latin typeface="Times New Roman"/>
                <a:cs typeface="Times New Roman"/>
              </a:rPr>
              <a:t>move(T,</a:t>
            </a:r>
            <a:r>
              <a:rPr sz="2800" i="1" spc="-1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) </a:t>
            </a:r>
            <a:r>
              <a:rPr sz="2800" dirty="0">
                <a:latin typeface="Times New Roman"/>
                <a:cs typeface="Times New Roman"/>
              </a:rPr>
              <a:t>);  </a:t>
            </a:r>
            <a:r>
              <a:rPr sz="2800" spc="-5" dirty="0">
                <a:latin typeface="Times New Roman"/>
                <a:cs typeface="Times New Roman"/>
              </a:rPr>
              <a:t>if	</a:t>
            </a:r>
            <a:r>
              <a:rPr sz="2800" dirty="0">
                <a:latin typeface="Times New Roman"/>
                <a:cs typeface="Times New Roman"/>
              </a:rPr>
              <a:t>U </a:t>
            </a:r>
            <a:r>
              <a:rPr sz="2800" spc="-5" dirty="0">
                <a:latin typeface="Times New Roman"/>
                <a:cs typeface="Times New Roman"/>
              </a:rPr>
              <a:t>is not in Dstates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then</a:t>
            </a:r>
            <a:endParaRPr sz="2800">
              <a:latin typeface="Times New Roman"/>
              <a:cs typeface="Times New Roman"/>
            </a:endParaRPr>
          </a:p>
          <a:p>
            <a:pPr marL="1497965">
              <a:lnSpc>
                <a:spcPct val="100000"/>
              </a:lnSpc>
              <a:spcBef>
                <a:spcPts val="160"/>
              </a:spcBef>
            </a:pPr>
            <a:r>
              <a:rPr sz="2800" spc="-5" dirty="0">
                <a:latin typeface="Times New Roman"/>
                <a:cs typeface="Times New Roman"/>
              </a:rPr>
              <a:t>add </a:t>
            </a:r>
            <a:r>
              <a:rPr sz="2800" dirty="0">
                <a:latin typeface="Times New Roman"/>
                <a:cs typeface="Times New Roman"/>
              </a:rPr>
              <a:t>U </a:t>
            </a:r>
            <a:r>
              <a:rPr sz="2800" spc="-5" dirty="0">
                <a:latin typeface="Times New Roman"/>
                <a:cs typeface="Times New Roman"/>
              </a:rPr>
              <a:t>as an unmarked state to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Dstates;</a:t>
            </a:r>
            <a:endParaRPr sz="2800">
              <a:latin typeface="Times New Roman"/>
              <a:cs typeface="Times New Roman"/>
            </a:endParaRPr>
          </a:p>
          <a:p>
            <a:pPr marL="583565" marR="3535045" indent="356235">
              <a:lnSpc>
                <a:spcPct val="11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Dtran [T,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] </a:t>
            </a:r>
            <a:r>
              <a:rPr sz="2800" spc="-5" dirty="0">
                <a:latin typeface="Times New Roman"/>
                <a:cs typeface="Times New Roman"/>
              </a:rPr>
              <a:t>:=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U;  end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0699" y="5987598"/>
            <a:ext cx="538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end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267969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2057539" y="19745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5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1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899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799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899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633" y="2111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4939" y="1212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5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07033" y="1349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9339" y="22367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1" y="57150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50"/>
                </a:lnTo>
                <a:lnTo>
                  <a:pt x="766571" y="57150"/>
                </a:lnTo>
                <a:close/>
              </a:path>
              <a:path w="838200" h="85725">
                <a:moveTo>
                  <a:pt x="838199" y="42671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199" y="42671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50"/>
                </a:lnTo>
                <a:lnTo>
                  <a:pt x="752093" y="57150"/>
                </a:lnTo>
                <a:lnTo>
                  <a:pt x="752093" y="85343"/>
                </a:lnTo>
                <a:lnTo>
                  <a:pt x="7665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98835" y="18445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8635" y="936243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7440" y="1311136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14939" y="2660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4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8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07033" y="2797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8635" y="23779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5139" y="1898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6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7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3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2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6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07233" y="2035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37435" y="2606548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2850" y="1463544"/>
            <a:ext cx="4318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a|b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38005" y="1662938"/>
            <a:ext cx="1301115" cy="553720"/>
          </a:xfrm>
          <a:custGeom>
            <a:avLst/>
            <a:gdLst/>
            <a:ahLst/>
            <a:cxnLst/>
            <a:rect l="l" t="t" r="r" b="b"/>
            <a:pathLst>
              <a:path w="1301114" h="553719">
                <a:moveTo>
                  <a:pt x="1226731" y="52612"/>
                </a:moveTo>
                <a:lnTo>
                  <a:pt x="1215978" y="25986"/>
                </a:lnTo>
                <a:lnTo>
                  <a:pt x="0" y="527304"/>
                </a:lnTo>
                <a:lnTo>
                  <a:pt x="10668" y="553212"/>
                </a:lnTo>
                <a:lnTo>
                  <a:pt x="1226731" y="52612"/>
                </a:lnTo>
                <a:close/>
              </a:path>
              <a:path w="1301114" h="553719">
                <a:moveTo>
                  <a:pt x="1300734" y="6858"/>
                </a:moveTo>
                <a:lnTo>
                  <a:pt x="1205484" y="0"/>
                </a:lnTo>
                <a:lnTo>
                  <a:pt x="1215978" y="25986"/>
                </a:lnTo>
                <a:lnTo>
                  <a:pt x="1229105" y="20574"/>
                </a:lnTo>
                <a:lnTo>
                  <a:pt x="1239774" y="47244"/>
                </a:lnTo>
                <a:lnTo>
                  <a:pt x="1239774" y="76631"/>
                </a:lnTo>
                <a:lnTo>
                  <a:pt x="1300734" y="6858"/>
                </a:lnTo>
                <a:close/>
              </a:path>
              <a:path w="1301114" h="553719">
                <a:moveTo>
                  <a:pt x="1239774" y="47244"/>
                </a:moveTo>
                <a:lnTo>
                  <a:pt x="1229105" y="20574"/>
                </a:lnTo>
                <a:lnTo>
                  <a:pt x="1215978" y="25986"/>
                </a:lnTo>
                <a:lnTo>
                  <a:pt x="1226731" y="52612"/>
                </a:lnTo>
                <a:lnTo>
                  <a:pt x="1239774" y="47244"/>
                </a:lnTo>
                <a:close/>
              </a:path>
              <a:path w="1301114" h="553719">
                <a:moveTo>
                  <a:pt x="1239774" y="76631"/>
                </a:moveTo>
                <a:lnTo>
                  <a:pt x="1239774" y="47244"/>
                </a:lnTo>
                <a:lnTo>
                  <a:pt x="1226731" y="52612"/>
                </a:lnTo>
                <a:lnTo>
                  <a:pt x="1237488" y="79248"/>
                </a:lnTo>
                <a:lnTo>
                  <a:pt x="1239774" y="7663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529" y="2494279"/>
            <a:ext cx="1299210" cy="411480"/>
          </a:xfrm>
          <a:custGeom>
            <a:avLst/>
            <a:gdLst/>
            <a:ahLst/>
            <a:cxnLst/>
            <a:rect l="l" t="t" r="r" b="b"/>
            <a:pathLst>
              <a:path w="1299210" h="411480">
                <a:moveTo>
                  <a:pt x="1220812" y="357175"/>
                </a:moveTo>
                <a:lnTo>
                  <a:pt x="7619" y="0"/>
                </a:lnTo>
                <a:lnTo>
                  <a:pt x="0" y="27431"/>
                </a:lnTo>
                <a:lnTo>
                  <a:pt x="1212724" y="384470"/>
                </a:lnTo>
                <a:lnTo>
                  <a:pt x="1220812" y="357175"/>
                </a:lnTo>
                <a:close/>
              </a:path>
              <a:path w="1299210" h="411480">
                <a:moveTo>
                  <a:pt x="1234439" y="406207"/>
                </a:moveTo>
                <a:lnTo>
                  <a:pt x="1234439" y="361188"/>
                </a:lnTo>
                <a:lnTo>
                  <a:pt x="1226819" y="388619"/>
                </a:lnTo>
                <a:lnTo>
                  <a:pt x="1212724" y="384470"/>
                </a:lnTo>
                <a:lnTo>
                  <a:pt x="1204722" y="411480"/>
                </a:lnTo>
                <a:lnTo>
                  <a:pt x="1234439" y="406207"/>
                </a:lnTo>
                <a:close/>
              </a:path>
              <a:path w="1299210" h="411480">
                <a:moveTo>
                  <a:pt x="1234439" y="361188"/>
                </a:moveTo>
                <a:lnTo>
                  <a:pt x="1220812" y="357175"/>
                </a:lnTo>
                <a:lnTo>
                  <a:pt x="1212724" y="384470"/>
                </a:lnTo>
                <a:lnTo>
                  <a:pt x="1226819" y="388619"/>
                </a:lnTo>
                <a:lnTo>
                  <a:pt x="1234439" y="361188"/>
                </a:lnTo>
                <a:close/>
              </a:path>
              <a:path w="1299210" h="411480">
                <a:moveTo>
                  <a:pt x="1299210" y="394715"/>
                </a:moveTo>
                <a:lnTo>
                  <a:pt x="1229105" y="329183"/>
                </a:lnTo>
                <a:lnTo>
                  <a:pt x="1220812" y="357175"/>
                </a:lnTo>
                <a:lnTo>
                  <a:pt x="1234439" y="361188"/>
                </a:lnTo>
                <a:lnTo>
                  <a:pt x="1234439" y="406207"/>
                </a:lnTo>
                <a:lnTo>
                  <a:pt x="1299210" y="3947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15327" y="18983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607433" y="20350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70081" y="2431795"/>
            <a:ext cx="845185" cy="469900"/>
          </a:xfrm>
          <a:custGeom>
            <a:avLst/>
            <a:gdLst/>
            <a:ahLst/>
            <a:cxnLst/>
            <a:rect l="l" t="t" r="r" b="b"/>
            <a:pathLst>
              <a:path w="845185" h="469900">
                <a:moveTo>
                  <a:pt x="776563" y="53497"/>
                </a:moveTo>
                <a:lnTo>
                  <a:pt x="762853" y="28361"/>
                </a:lnTo>
                <a:lnTo>
                  <a:pt x="0" y="445008"/>
                </a:lnTo>
                <a:lnTo>
                  <a:pt x="13715" y="469392"/>
                </a:lnTo>
                <a:lnTo>
                  <a:pt x="776563" y="53497"/>
                </a:lnTo>
                <a:close/>
              </a:path>
              <a:path w="845185" h="469900">
                <a:moveTo>
                  <a:pt x="845058" y="0"/>
                </a:moveTo>
                <a:lnTo>
                  <a:pt x="749046" y="3048"/>
                </a:lnTo>
                <a:lnTo>
                  <a:pt x="762853" y="28361"/>
                </a:lnTo>
                <a:lnTo>
                  <a:pt x="775715" y="21336"/>
                </a:lnTo>
                <a:lnTo>
                  <a:pt x="789431" y="46481"/>
                </a:lnTo>
                <a:lnTo>
                  <a:pt x="789431" y="77088"/>
                </a:lnTo>
                <a:lnTo>
                  <a:pt x="790193" y="78486"/>
                </a:lnTo>
                <a:lnTo>
                  <a:pt x="845058" y="0"/>
                </a:lnTo>
                <a:close/>
              </a:path>
              <a:path w="845185" h="469900">
                <a:moveTo>
                  <a:pt x="789431" y="46481"/>
                </a:moveTo>
                <a:lnTo>
                  <a:pt x="775715" y="21336"/>
                </a:lnTo>
                <a:lnTo>
                  <a:pt x="762853" y="28361"/>
                </a:lnTo>
                <a:lnTo>
                  <a:pt x="776563" y="53497"/>
                </a:lnTo>
                <a:lnTo>
                  <a:pt x="789431" y="46481"/>
                </a:lnTo>
                <a:close/>
              </a:path>
              <a:path w="845185" h="469900">
                <a:moveTo>
                  <a:pt x="789431" y="77088"/>
                </a:moveTo>
                <a:lnTo>
                  <a:pt x="789431" y="46481"/>
                </a:lnTo>
                <a:lnTo>
                  <a:pt x="776563" y="53497"/>
                </a:lnTo>
                <a:lnTo>
                  <a:pt x="789431" y="7708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0843" y="1580641"/>
            <a:ext cx="844550" cy="398145"/>
          </a:xfrm>
          <a:custGeom>
            <a:avLst/>
            <a:gdLst/>
            <a:ahLst/>
            <a:cxnLst/>
            <a:rect l="l" t="t" r="r" b="b"/>
            <a:pathLst>
              <a:path w="844550" h="398144">
                <a:moveTo>
                  <a:pt x="772134" y="345496"/>
                </a:moveTo>
                <a:lnTo>
                  <a:pt x="12191" y="0"/>
                </a:lnTo>
                <a:lnTo>
                  <a:pt x="0" y="25907"/>
                </a:lnTo>
                <a:lnTo>
                  <a:pt x="760377" y="371261"/>
                </a:lnTo>
                <a:lnTo>
                  <a:pt x="772134" y="345496"/>
                </a:lnTo>
                <a:close/>
              </a:path>
              <a:path w="844550" h="398144">
                <a:moveTo>
                  <a:pt x="784860" y="396312"/>
                </a:moveTo>
                <a:lnTo>
                  <a:pt x="784860" y="351281"/>
                </a:lnTo>
                <a:lnTo>
                  <a:pt x="773429" y="377189"/>
                </a:lnTo>
                <a:lnTo>
                  <a:pt x="760377" y="371261"/>
                </a:lnTo>
                <a:lnTo>
                  <a:pt x="748284" y="397763"/>
                </a:lnTo>
                <a:lnTo>
                  <a:pt x="784860" y="396312"/>
                </a:lnTo>
                <a:close/>
              </a:path>
              <a:path w="844550" h="398144">
                <a:moveTo>
                  <a:pt x="784860" y="351281"/>
                </a:moveTo>
                <a:lnTo>
                  <a:pt x="772134" y="345496"/>
                </a:lnTo>
                <a:lnTo>
                  <a:pt x="760377" y="371261"/>
                </a:lnTo>
                <a:lnTo>
                  <a:pt x="773429" y="377189"/>
                </a:lnTo>
                <a:lnTo>
                  <a:pt x="784860" y="351281"/>
                </a:lnTo>
                <a:close/>
              </a:path>
              <a:path w="844550" h="398144">
                <a:moveTo>
                  <a:pt x="844296" y="393953"/>
                </a:moveTo>
                <a:lnTo>
                  <a:pt x="784098" y="319277"/>
                </a:lnTo>
                <a:lnTo>
                  <a:pt x="772134" y="345496"/>
                </a:lnTo>
                <a:lnTo>
                  <a:pt x="784860" y="351281"/>
                </a:lnTo>
                <a:lnTo>
                  <a:pt x="784860" y="396312"/>
                </a:lnTo>
                <a:lnTo>
                  <a:pt x="844296" y="39395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77127" y="2160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17681" y="875030"/>
            <a:ext cx="2988310" cy="947419"/>
          </a:xfrm>
          <a:custGeom>
            <a:avLst/>
            <a:gdLst/>
            <a:ahLst/>
            <a:cxnLst/>
            <a:rect l="l" t="t" r="r" b="b"/>
            <a:pathLst>
              <a:path w="2988309" h="947419">
                <a:moveTo>
                  <a:pt x="2961507" y="861929"/>
                </a:moveTo>
                <a:lnTo>
                  <a:pt x="2960357" y="858774"/>
                </a:lnTo>
                <a:lnTo>
                  <a:pt x="2955035" y="843533"/>
                </a:lnTo>
                <a:lnTo>
                  <a:pt x="2950464" y="827532"/>
                </a:lnTo>
                <a:lnTo>
                  <a:pt x="2945117" y="810006"/>
                </a:lnTo>
                <a:lnTo>
                  <a:pt x="2927591" y="756665"/>
                </a:lnTo>
                <a:lnTo>
                  <a:pt x="2913887" y="718565"/>
                </a:lnTo>
                <a:lnTo>
                  <a:pt x="2889491" y="659130"/>
                </a:lnTo>
                <a:lnTo>
                  <a:pt x="2869692" y="619506"/>
                </a:lnTo>
                <a:lnTo>
                  <a:pt x="2847581" y="579882"/>
                </a:lnTo>
                <a:lnTo>
                  <a:pt x="2822448" y="540257"/>
                </a:lnTo>
                <a:lnTo>
                  <a:pt x="2793492" y="502919"/>
                </a:lnTo>
                <a:lnTo>
                  <a:pt x="2742437" y="448818"/>
                </a:lnTo>
                <a:lnTo>
                  <a:pt x="2681465" y="401574"/>
                </a:lnTo>
                <a:lnTo>
                  <a:pt x="2634996" y="372617"/>
                </a:lnTo>
                <a:lnTo>
                  <a:pt x="2609087" y="358139"/>
                </a:lnTo>
                <a:lnTo>
                  <a:pt x="2582405" y="342899"/>
                </a:lnTo>
                <a:lnTo>
                  <a:pt x="2554224" y="328421"/>
                </a:lnTo>
                <a:lnTo>
                  <a:pt x="2525255" y="313181"/>
                </a:lnTo>
                <a:lnTo>
                  <a:pt x="2494787" y="298703"/>
                </a:lnTo>
                <a:lnTo>
                  <a:pt x="2430767" y="269747"/>
                </a:lnTo>
                <a:lnTo>
                  <a:pt x="2397239" y="254507"/>
                </a:lnTo>
                <a:lnTo>
                  <a:pt x="2362961" y="240791"/>
                </a:lnTo>
                <a:lnTo>
                  <a:pt x="2256269" y="198119"/>
                </a:lnTo>
                <a:lnTo>
                  <a:pt x="2183117" y="171450"/>
                </a:lnTo>
                <a:lnTo>
                  <a:pt x="2108441" y="146303"/>
                </a:lnTo>
                <a:lnTo>
                  <a:pt x="2033765" y="121919"/>
                </a:lnTo>
                <a:lnTo>
                  <a:pt x="1958340" y="99059"/>
                </a:lnTo>
                <a:lnTo>
                  <a:pt x="1884426" y="78485"/>
                </a:lnTo>
                <a:lnTo>
                  <a:pt x="1812035" y="59435"/>
                </a:lnTo>
                <a:lnTo>
                  <a:pt x="1741157" y="43433"/>
                </a:lnTo>
                <a:lnTo>
                  <a:pt x="1706867" y="36575"/>
                </a:lnTo>
                <a:lnTo>
                  <a:pt x="1673339" y="29717"/>
                </a:lnTo>
                <a:lnTo>
                  <a:pt x="1608569" y="18287"/>
                </a:lnTo>
                <a:lnTo>
                  <a:pt x="1546859" y="10667"/>
                </a:lnTo>
                <a:lnTo>
                  <a:pt x="1484376" y="4571"/>
                </a:lnTo>
                <a:lnTo>
                  <a:pt x="1423403" y="1523"/>
                </a:lnTo>
                <a:lnTo>
                  <a:pt x="1362443" y="0"/>
                </a:lnTo>
                <a:lnTo>
                  <a:pt x="1301496" y="761"/>
                </a:lnTo>
                <a:lnTo>
                  <a:pt x="1242060" y="3809"/>
                </a:lnTo>
                <a:lnTo>
                  <a:pt x="1182624" y="7619"/>
                </a:lnTo>
                <a:lnTo>
                  <a:pt x="1123950" y="13715"/>
                </a:lnTo>
                <a:lnTo>
                  <a:pt x="1066800" y="21335"/>
                </a:lnTo>
                <a:lnTo>
                  <a:pt x="1009650" y="29717"/>
                </a:lnTo>
                <a:lnTo>
                  <a:pt x="954024" y="38861"/>
                </a:lnTo>
                <a:lnTo>
                  <a:pt x="899160" y="48767"/>
                </a:lnTo>
                <a:lnTo>
                  <a:pt x="845058" y="60197"/>
                </a:lnTo>
                <a:lnTo>
                  <a:pt x="791717" y="71628"/>
                </a:lnTo>
                <a:lnTo>
                  <a:pt x="739901" y="83057"/>
                </a:lnTo>
                <a:lnTo>
                  <a:pt x="688848" y="95250"/>
                </a:lnTo>
                <a:lnTo>
                  <a:pt x="664463" y="101345"/>
                </a:lnTo>
                <a:lnTo>
                  <a:pt x="639317" y="107441"/>
                </a:lnTo>
                <a:lnTo>
                  <a:pt x="614934" y="114300"/>
                </a:lnTo>
                <a:lnTo>
                  <a:pt x="591312" y="121919"/>
                </a:lnTo>
                <a:lnTo>
                  <a:pt x="566927" y="128778"/>
                </a:lnTo>
                <a:lnTo>
                  <a:pt x="543305" y="137159"/>
                </a:lnTo>
                <a:lnTo>
                  <a:pt x="497586" y="153161"/>
                </a:lnTo>
                <a:lnTo>
                  <a:pt x="451865" y="169925"/>
                </a:lnTo>
                <a:lnTo>
                  <a:pt x="407670" y="188213"/>
                </a:lnTo>
                <a:lnTo>
                  <a:pt x="364998" y="207263"/>
                </a:lnTo>
                <a:lnTo>
                  <a:pt x="322325" y="227075"/>
                </a:lnTo>
                <a:lnTo>
                  <a:pt x="280415" y="247650"/>
                </a:lnTo>
                <a:lnTo>
                  <a:pt x="239267" y="268223"/>
                </a:lnTo>
                <a:lnTo>
                  <a:pt x="198120" y="289559"/>
                </a:lnTo>
                <a:lnTo>
                  <a:pt x="157734" y="311657"/>
                </a:lnTo>
                <a:lnTo>
                  <a:pt x="78486" y="355853"/>
                </a:lnTo>
                <a:lnTo>
                  <a:pt x="0" y="401574"/>
                </a:lnTo>
                <a:lnTo>
                  <a:pt x="13715" y="425957"/>
                </a:lnTo>
                <a:lnTo>
                  <a:pt x="131825" y="358901"/>
                </a:lnTo>
                <a:lnTo>
                  <a:pt x="172212" y="336803"/>
                </a:lnTo>
                <a:lnTo>
                  <a:pt x="211836" y="314706"/>
                </a:lnTo>
                <a:lnTo>
                  <a:pt x="252222" y="293369"/>
                </a:lnTo>
                <a:lnTo>
                  <a:pt x="293370" y="272795"/>
                </a:lnTo>
                <a:lnTo>
                  <a:pt x="334517" y="252983"/>
                </a:lnTo>
                <a:lnTo>
                  <a:pt x="376427" y="233172"/>
                </a:lnTo>
                <a:lnTo>
                  <a:pt x="419100" y="214883"/>
                </a:lnTo>
                <a:lnTo>
                  <a:pt x="463296" y="196595"/>
                </a:lnTo>
                <a:lnTo>
                  <a:pt x="507491" y="179831"/>
                </a:lnTo>
                <a:lnTo>
                  <a:pt x="553212" y="163829"/>
                </a:lnTo>
                <a:lnTo>
                  <a:pt x="599693" y="148589"/>
                </a:lnTo>
                <a:lnTo>
                  <a:pt x="646938" y="135635"/>
                </a:lnTo>
                <a:lnTo>
                  <a:pt x="671322" y="128778"/>
                </a:lnTo>
                <a:lnTo>
                  <a:pt x="695705" y="122681"/>
                </a:lnTo>
                <a:lnTo>
                  <a:pt x="746760" y="111251"/>
                </a:lnTo>
                <a:lnTo>
                  <a:pt x="797813" y="99059"/>
                </a:lnTo>
                <a:lnTo>
                  <a:pt x="850391" y="87629"/>
                </a:lnTo>
                <a:lnTo>
                  <a:pt x="904493" y="76961"/>
                </a:lnTo>
                <a:lnTo>
                  <a:pt x="959358" y="67056"/>
                </a:lnTo>
                <a:lnTo>
                  <a:pt x="1014222" y="57911"/>
                </a:lnTo>
                <a:lnTo>
                  <a:pt x="1070610" y="49529"/>
                </a:lnTo>
                <a:lnTo>
                  <a:pt x="1127760" y="41909"/>
                </a:lnTo>
                <a:lnTo>
                  <a:pt x="1185672" y="36575"/>
                </a:lnTo>
                <a:lnTo>
                  <a:pt x="1244346" y="32003"/>
                </a:lnTo>
                <a:lnTo>
                  <a:pt x="1303007" y="29717"/>
                </a:lnTo>
                <a:lnTo>
                  <a:pt x="1362443" y="28956"/>
                </a:lnTo>
                <a:lnTo>
                  <a:pt x="1422641" y="29717"/>
                </a:lnTo>
                <a:lnTo>
                  <a:pt x="1482839" y="32765"/>
                </a:lnTo>
                <a:lnTo>
                  <a:pt x="1543811" y="38861"/>
                </a:lnTo>
                <a:lnTo>
                  <a:pt x="1605533" y="47243"/>
                </a:lnTo>
                <a:lnTo>
                  <a:pt x="1701546" y="64007"/>
                </a:lnTo>
                <a:lnTo>
                  <a:pt x="1805165" y="87629"/>
                </a:lnTo>
                <a:lnTo>
                  <a:pt x="1877555" y="105917"/>
                </a:lnTo>
                <a:lnTo>
                  <a:pt x="1950707" y="126491"/>
                </a:lnTo>
                <a:lnTo>
                  <a:pt x="2025396" y="149351"/>
                </a:lnTo>
                <a:lnTo>
                  <a:pt x="2100072" y="172973"/>
                </a:lnTo>
                <a:lnTo>
                  <a:pt x="2173985" y="198881"/>
                </a:lnTo>
                <a:lnTo>
                  <a:pt x="2246376" y="225551"/>
                </a:lnTo>
                <a:lnTo>
                  <a:pt x="2317991" y="252983"/>
                </a:lnTo>
                <a:lnTo>
                  <a:pt x="2419350" y="295655"/>
                </a:lnTo>
                <a:lnTo>
                  <a:pt x="2482596" y="324611"/>
                </a:lnTo>
                <a:lnTo>
                  <a:pt x="2541257" y="353567"/>
                </a:lnTo>
                <a:lnTo>
                  <a:pt x="2595372" y="382523"/>
                </a:lnTo>
                <a:lnTo>
                  <a:pt x="2644140" y="411480"/>
                </a:lnTo>
                <a:lnTo>
                  <a:pt x="2686050" y="439674"/>
                </a:lnTo>
                <a:lnTo>
                  <a:pt x="2723387" y="470915"/>
                </a:lnTo>
                <a:lnTo>
                  <a:pt x="2756916" y="503681"/>
                </a:lnTo>
                <a:lnTo>
                  <a:pt x="2799587" y="557021"/>
                </a:lnTo>
                <a:lnTo>
                  <a:pt x="2823209" y="594359"/>
                </a:lnTo>
                <a:lnTo>
                  <a:pt x="2844546" y="632459"/>
                </a:lnTo>
                <a:lnTo>
                  <a:pt x="2863596" y="671321"/>
                </a:lnTo>
                <a:lnTo>
                  <a:pt x="2887205" y="728471"/>
                </a:lnTo>
                <a:lnTo>
                  <a:pt x="2906255" y="784097"/>
                </a:lnTo>
                <a:lnTo>
                  <a:pt x="2912364" y="801624"/>
                </a:lnTo>
                <a:lnTo>
                  <a:pt x="2917698" y="819150"/>
                </a:lnTo>
                <a:lnTo>
                  <a:pt x="2923019" y="835913"/>
                </a:lnTo>
                <a:lnTo>
                  <a:pt x="2928366" y="851915"/>
                </a:lnTo>
                <a:lnTo>
                  <a:pt x="2932937" y="867156"/>
                </a:lnTo>
                <a:lnTo>
                  <a:pt x="2934794" y="872107"/>
                </a:lnTo>
                <a:lnTo>
                  <a:pt x="2961507" y="861929"/>
                </a:lnTo>
                <a:close/>
              </a:path>
              <a:path w="2988309" h="947419">
                <a:moveTo>
                  <a:pt x="2966466" y="936032"/>
                </a:moveTo>
                <a:lnTo>
                  <a:pt x="2966466" y="875538"/>
                </a:lnTo>
                <a:lnTo>
                  <a:pt x="2939796" y="885444"/>
                </a:lnTo>
                <a:lnTo>
                  <a:pt x="2934794" y="872107"/>
                </a:lnTo>
                <a:lnTo>
                  <a:pt x="2907792" y="882395"/>
                </a:lnTo>
                <a:lnTo>
                  <a:pt x="2966466" y="936032"/>
                </a:lnTo>
                <a:close/>
              </a:path>
              <a:path w="2988309" h="947419">
                <a:moveTo>
                  <a:pt x="2966466" y="875538"/>
                </a:moveTo>
                <a:lnTo>
                  <a:pt x="2961507" y="861929"/>
                </a:lnTo>
                <a:lnTo>
                  <a:pt x="2934794" y="872107"/>
                </a:lnTo>
                <a:lnTo>
                  <a:pt x="2939796" y="885444"/>
                </a:lnTo>
                <a:lnTo>
                  <a:pt x="2966466" y="875538"/>
                </a:lnTo>
                <a:close/>
              </a:path>
              <a:path w="2988309" h="947419">
                <a:moveTo>
                  <a:pt x="2987789" y="851915"/>
                </a:moveTo>
                <a:lnTo>
                  <a:pt x="2961507" y="861929"/>
                </a:lnTo>
                <a:lnTo>
                  <a:pt x="2966466" y="875538"/>
                </a:lnTo>
                <a:lnTo>
                  <a:pt x="2966466" y="936032"/>
                </a:lnTo>
                <a:lnTo>
                  <a:pt x="2978645" y="947165"/>
                </a:lnTo>
                <a:lnTo>
                  <a:pt x="2987789" y="85191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099435" y="8539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15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5435" y="3375405"/>
            <a:ext cx="5114925" cy="294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Dstates := </a:t>
            </a: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-closure(1)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{1,2}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20"/>
              </a:lnSpc>
              <a:spcBef>
                <a:spcPts val="140"/>
              </a:spcBef>
            </a:pPr>
            <a:r>
              <a:rPr sz="2400" dirty="0">
                <a:latin typeface="Times New Roman"/>
                <a:cs typeface="Times New Roman"/>
              </a:rPr>
              <a:t>U:= </a:t>
            </a: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 (move( {1,2}, </a:t>
            </a:r>
            <a:r>
              <a:rPr sz="2400" dirty="0">
                <a:latin typeface="Times New Roman"/>
                <a:cs typeface="Times New Roman"/>
              </a:rPr>
              <a:t>a)) = </a:t>
            </a:r>
            <a:r>
              <a:rPr sz="2400" spc="-5" dirty="0">
                <a:latin typeface="Times New Roman"/>
                <a:cs typeface="Times New Roman"/>
              </a:rPr>
              <a:t>{3,4,5}  Add {3,4,5}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Dstates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40"/>
              </a:lnSpc>
            </a:pPr>
            <a:r>
              <a:rPr sz="2400" dirty="0">
                <a:latin typeface="Times New Roman"/>
                <a:cs typeface="Times New Roman"/>
              </a:rPr>
              <a:t>U:= </a:t>
            </a: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 (move( {1,2}, b))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 (move( {3,4,5}, a))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{5}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 (move( {3,4,5}, b))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{4,5}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 (move( {4,5}, a))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{5}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Symbol"/>
                <a:cs typeface="Symbol"/>
              </a:rPr>
              <a:t></a:t>
            </a:r>
            <a:r>
              <a:rPr sz="2400" spc="-5" dirty="0">
                <a:latin typeface="Times New Roman"/>
                <a:cs typeface="Times New Roman"/>
              </a:rPr>
              <a:t>-closure (move( {4,5}, b))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{5}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929439" y="3331908"/>
          <a:ext cx="3624579" cy="284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A{1,2}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B{3,4,5}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C{4,5}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D{5}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8367" y="267969"/>
            <a:ext cx="41281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DFA after</a:t>
            </a:r>
            <a:r>
              <a:rPr spc="-6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/>
          <p:nvPr/>
        </p:nvSpPr>
        <p:spPr>
          <a:xfrm>
            <a:off x="3200539" y="45653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57581" y="47020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05539" y="44891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6" y="673576"/>
                </a:lnTo>
                <a:lnTo>
                  <a:pt x="529254" y="658903"/>
                </a:lnTo>
                <a:lnTo>
                  <a:pt x="573246" y="639063"/>
                </a:lnTo>
                <a:lnTo>
                  <a:pt x="613766" y="614461"/>
                </a:lnTo>
                <a:lnTo>
                  <a:pt x="650360" y="585501"/>
                </a:lnTo>
                <a:lnTo>
                  <a:pt x="682572" y="552588"/>
                </a:lnTo>
                <a:lnTo>
                  <a:pt x="709948" y="516127"/>
                </a:lnTo>
                <a:lnTo>
                  <a:pt x="732033" y="476523"/>
                </a:lnTo>
                <a:lnTo>
                  <a:pt x="748371" y="434181"/>
                </a:lnTo>
                <a:lnTo>
                  <a:pt x="758507" y="389505"/>
                </a:lnTo>
                <a:lnTo>
                  <a:pt x="761987" y="342899"/>
                </a:lnTo>
                <a:lnTo>
                  <a:pt x="758507" y="296294"/>
                </a:lnTo>
                <a:lnTo>
                  <a:pt x="748371" y="251618"/>
                </a:lnTo>
                <a:lnTo>
                  <a:pt x="732033" y="209276"/>
                </a:lnTo>
                <a:lnTo>
                  <a:pt x="709948" y="169671"/>
                </a:lnTo>
                <a:lnTo>
                  <a:pt x="682572" y="133211"/>
                </a:lnTo>
                <a:lnTo>
                  <a:pt x="650360" y="100298"/>
                </a:lnTo>
                <a:lnTo>
                  <a:pt x="613766" y="71338"/>
                </a:lnTo>
                <a:lnTo>
                  <a:pt x="573246" y="46735"/>
                </a:lnTo>
                <a:lnTo>
                  <a:pt x="529254" y="26896"/>
                </a:lnTo>
                <a:lnTo>
                  <a:pt x="482246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343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72487" y="46258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62339" y="4827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1" y="57149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1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41835" y="44353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05539" y="55559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6" y="673576"/>
                </a:lnTo>
                <a:lnTo>
                  <a:pt x="529254" y="658903"/>
                </a:lnTo>
                <a:lnTo>
                  <a:pt x="573246" y="639063"/>
                </a:lnTo>
                <a:lnTo>
                  <a:pt x="613766" y="614461"/>
                </a:lnTo>
                <a:lnTo>
                  <a:pt x="650360" y="585501"/>
                </a:lnTo>
                <a:lnTo>
                  <a:pt x="682572" y="552588"/>
                </a:lnTo>
                <a:lnTo>
                  <a:pt x="709948" y="516127"/>
                </a:lnTo>
                <a:lnTo>
                  <a:pt x="732033" y="476523"/>
                </a:lnTo>
                <a:lnTo>
                  <a:pt x="748371" y="434181"/>
                </a:lnTo>
                <a:lnTo>
                  <a:pt x="758507" y="389505"/>
                </a:lnTo>
                <a:lnTo>
                  <a:pt x="761987" y="342899"/>
                </a:lnTo>
                <a:lnTo>
                  <a:pt x="758507" y="296294"/>
                </a:lnTo>
                <a:lnTo>
                  <a:pt x="748371" y="251618"/>
                </a:lnTo>
                <a:lnTo>
                  <a:pt x="732033" y="209276"/>
                </a:lnTo>
                <a:lnTo>
                  <a:pt x="709948" y="169671"/>
                </a:lnTo>
                <a:lnTo>
                  <a:pt x="682572" y="133211"/>
                </a:lnTo>
                <a:lnTo>
                  <a:pt x="650360" y="100298"/>
                </a:lnTo>
                <a:lnTo>
                  <a:pt x="613766" y="71338"/>
                </a:lnTo>
                <a:lnTo>
                  <a:pt x="573246" y="46735"/>
                </a:lnTo>
                <a:lnTo>
                  <a:pt x="529254" y="26896"/>
                </a:lnTo>
                <a:lnTo>
                  <a:pt x="482246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343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62581" y="56926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6835" y="4435347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10527" y="44891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343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77487" y="46258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9035" y="5578346"/>
            <a:ext cx="4318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a|b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14939" y="49037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51835" y="42829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47852" y="1274508"/>
          <a:ext cx="3624579" cy="284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A{1,2}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B{3,4,5}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C{4,5}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D{5}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--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6019927" y="48275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43867" y="5174996"/>
            <a:ext cx="85725" cy="304800"/>
          </a:xfrm>
          <a:custGeom>
            <a:avLst/>
            <a:gdLst/>
            <a:ahLst/>
            <a:cxnLst/>
            <a:rect l="l" t="t" r="r" b="b"/>
            <a:pathLst>
              <a:path w="85725" h="304800">
                <a:moveTo>
                  <a:pt x="85343" y="218693"/>
                </a:moveTo>
                <a:lnTo>
                  <a:pt x="0" y="218693"/>
                </a:lnTo>
                <a:lnTo>
                  <a:pt x="28194" y="275585"/>
                </a:lnTo>
                <a:lnTo>
                  <a:pt x="28194" y="233172"/>
                </a:lnTo>
                <a:lnTo>
                  <a:pt x="57150" y="233172"/>
                </a:lnTo>
                <a:lnTo>
                  <a:pt x="57150" y="275585"/>
                </a:lnTo>
                <a:lnTo>
                  <a:pt x="85343" y="218693"/>
                </a:lnTo>
                <a:close/>
              </a:path>
              <a:path w="85725" h="304800">
                <a:moveTo>
                  <a:pt x="57150" y="218693"/>
                </a:moveTo>
                <a:lnTo>
                  <a:pt x="57150" y="0"/>
                </a:lnTo>
                <a:lnTo>
                  <a:pt x="28194" y="0"/>
                </a:lnTo>
                <a:lnTo>
                  <a:pt x="28194" y="218693"/>
                </a:lnTo>
                <a:lnTo>
                  <a:pt x="57150" y="218693"/>
                </a:lnTo>
                <a:close/>
              </a:path>
              <a:path w="85725" h="304800">
                <a:moveTo>
                  <a:pt x="57150" y="275585"/>
                </a:moveTo>
                <a:lnTo>
                  <a:pt x="57150" y="233172"/>
                </a:lnTo>
                <a:lnTo>
                  <a:pt x="28194" y="233172"/>
                </a:lnTo>
                <a:lnTo>
                  <a:pt x="28194" y="275585"/>
                </a:lnTo>
                <a:lnTo>
                  <a:pt x="42672" y="304800"/>
                </a:lnTo>
                <a:lnTo>
                  <a:pt x="57150" y="27558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08835" y="5121147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43727" y="5086603"/>
            <a:ext cx="1226185" cy="698500"/>
          </a:xfrm>
          <a:custGeom>
            <a:avLst/>
            <a:gdLst/>
            <a:ahLst/>
            <a:cxnLst/>
            <a:rect l="l" t="t" r="r" b="b"/>
            <a:pathLst>
              <a:path w="1226184" h="698500">
                <a:moveTo>
                  <a:pt x="67561" y="643616"/>
                </a:moveTo>
                <a:lnTo>
                  <a:pt x="53352" y="618744"/>
                </a:lnTo>
                <a:lnTo>
                  <a:pt x="0" y="697992"/>
                </a:lnTo>
                <a:lnTo>
                  <a:pt x="54876" y="695378"/>
                </a:lnTo>
                <a:lnTo>
                  <a:pt x="54876" y="650748"/>
                </a:lnTo>
                <a:lnTo>
                  <a:pt x="67561" y="643616"/>
                </a:lnTo>
                <a:close/>
              </a:path>
              <a:path w="1226184" h="698500">
                <a:moveTo>
                  <a:pt x="81622" y="668230"/>
                </a:moveTo>
                <a:lnTo>
                  <a:pt x="67561" y="643616"/>
                </a:lnTo>
                <a:lnTo>
                  <a:pt x="54876" y="650748"/>
                </a:lnTo>
                <a:lnTo>
                  <a:pt x="69354" y="675132"/>
                </a:lnTo>
                <a:lnTo>
                  <a:pt x="81622" y="668230"/>
                </a:lnTo>
                <a:close/>
              </a:path>
              <a:path w="1226184" h="698500">
                <a:moveTo>
                  <a:pt x="96012" y="693420"/>
                </a:moveTo>
                <a:lnTo>
                  <a:pt x="81622" y="668230"/>
                </a:lnTo>
                <a:lnTo>
                  <a:pt x="69354" y="675132"/>
                </a:lnTo>
                <a:lnTo>
                  <a:pt x="54876" y="650748"/>
                </a:lnTo>
                <a:lnTo>
                  <a:pt x="54876" y="695378"/>
                </a:lnTo>
                <a:lnTo>
                  <a:pt x="96012" y="693420"/>
                </a:lnTo>
                <a:close/>
              </a:path>
              <a:path w="1226184" h="698500">
                <a:moveTo>
                  <a:pt x="1226070" y="24384"/>
                </a:moveTo>
                <a:lnTo>
                  <a:pt x="1212354" y="0"/>
                </a:lnTo>
                <a:lnTo>
                  <a:pt x="67561" y="643616"/>
                </a:lnTo>
                <a:lnTo>
                  <a:pt x="81622" y="668230"/>
                </a:lnTo>
                <a:lnTo>
                  <a:pt x="1226070" y="2438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16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4345" y="456945"/>
            <a:ext cx="2957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Map RE to</a:t>
            </a:r>
            <a:r>
              <a:rPr spc="-85" dirty="0"/>
              <a:t> </a:t>
            </a:r>
            <a:r>
              <a:rPr spc="-10" dirty="0"/>
              <a:t>NFA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130668"/>
            <a:ext cx="7488555" cy="25647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Three basic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operations</a:t>
            </a:r>
            <a:endParaRPr sz="3200">
              <a:latin typeface="Times New Roman"/>
              <a:cs typeface="Times New Roman"/>
            </a:endParaRPr>
          </a:p>
          <a:p>
            <a:pPr marL="755650" marR="5080" indent="-28575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All RE’s are built out of atomic regular  expressions by using concatenation, alternation  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closure.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Constructing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A|B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5339" y="4184396"/>
            <a:ext cx="2590800" cy="762000"/>
          </a:xfrm>
          <a:custGeom>
            <a:avLst/>
            <a:gdLst/>
            <a:ahLst/>
            <a:cxnLst/>
            <a:rect l="l" t="t" r="r" b="b"/>
            <a:pathLst>
              <a:path w="2590800" h="762000">
                <a:moveTo>
                  <a:pt x="0" y="0"/>
                </a:moveTo>
                <a:lnTo>
                  <a:pt x="0" y="762000"/>
                </a:lnTo>
                <a:lnTo>
                  <a:pt x="2590800" y="762000"/>
                </a:lnTo>
                <a:lnTo>
                  <a:pt x="25908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27963" y="4359147"/>
            <a:ext cx="114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FA for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2739" y="42605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0" y="439269"/>
                </a:lnTo>
                <a:lnTo>
                  <a:pt x="356513" y="418221"/>
                </a:lnTo>
                <a:lnTo>
                  <a:pt x="390328" y="390334"/>
                </a:lnTo>
                <a:lnTo>
                  <a:pt x="418213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3" y="100682"/>
                </a:lnTo>
                <a:lnTo>
                  <a:pt x="390328" y="66865"/>
                </a:lnTo>
                <a:lnTo>
                  <a:pt x="356513" y="38978"/>
                </a:lnTo>
                <a:lnTo>
                  <a:pt x="317680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68905" y="42829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7739" y="43367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5339" y="5251196"/>
            <a:ext cx="2590800" cy="762000"/>
          </a:xfrm>
          <a:custGeom>
            <a:avLst/>
            <a:gdLst/>
            <a:ahLst/>
            <a:cxnLst/>
            <a:rect l="l" t="t" r="r" b="b"/>
            <a:pathLst>
              <a:path w="2590800" h="762000">
                <a:moveTo>
                  <a:pt x="0" y="0"/>
                </a:moveTo>
                <a:lnTo>
                  <a:pt x="0" y="762000"/>
                </a:lnTo>
                <a:lnTo>
                  <a:pt x="2590800" y="762000"/>
                </a:lnTo>
                <a:lnTo>
                  <a:pt x="25908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37107" y="5425947"/>
            <a:ext cx="1127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FA for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739" y="5327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0" y="439269"/>
                </a:lnTo>
                <a:lnTo>
                  <a:pt x="356513" y="418221"/>
                </a:lnTo>
                <a:lnTo>
                  <a:pt x="390328" y="390334"/>
                </a:lnTo>
                <a:lnTo>
                  <a:pt x="418213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3" y="100682"/>
                </a:lnTo>
                <a:lnTo>
                  <a:pt x="390328" y="66865"/>
                </a:lnTo>
                <a:lnTo>
                  <a:pt x="356513" y="38978"/>
                </a:lnTo>
                <a:lnTo>
                  <a:pt x="317680" y="17930"/>
                </a:lnTo>
                <a:lnTo>
                  <a:pt x="274739" y="4634"/>
                </a:lnTo>
                <a:lnTo>
                  <a:pt x="228599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77287" y="53497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57739" y="54035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599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8939" y="4870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90739" y="5060696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98754" y="44195"/>
                </a:moveTo>
                <a:lnTo>
                  <a:pt x="6987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698754" y="44195"/>
                </a:lnTo>
                <a:close/>
              </a:path>
              <a:path w="762000" h="76200">
                <a:moveTo>
                  <a:pt x="762000" y="38100"/>
                </a:moveTo>
                <a:lnTo>
                  <a:pt x="685800" y="0"/>
                </a:lnTo>
                <a:lnTo>
                  <a:pt x="685800" y="32003"/>
                </a:lnTo>
                <a:lnTo>
                  <a:pt x="698754" y="32003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762000" h="76200">
                <a:moveTo>
                  <a:pt x="698754" y="69723"/>
                </a:moveTo>
                <a:lnTo>
                  <a:pt x="698754" y="44195"/>
                </a:lnTo>
                <a:lnTo>
                  <a:pt x="685800" y="44195"/>
                </a:lnTo>
                <a:lnTo>
                  <a:pt x="685800" y="76200"/>
                </a:lnTo>
                <a:lnTo>
                  <a:pt x="6987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84615" y="4626355"/>
            <a:ext cx="1297305" cy="402590"/>
          </a:xfrm>
          <a:custGeom>
            <a:avLst/>
            <a:gdLst/>
            <a:ahLst/>
            <a:cxnLst/>
            <a:rect l="l" t="t" r="r" b="b"/>
            <a:pathLst>
              <a:path w="1297304" h="402589">
                <a:moveTo>
                  <a:pt x="1225470" y="42400"/>
                </a:moveTo>
                <a:lnTo>
                  <a:pt x="1221954" y="30346"/>
                </a:lnTo>
                <a:lnTo>
                  <a:pt x="0" y="390144"/>
                </a:lnTo>
                <a:lnTo>
                  <a:pt x="3048" y="402336"/>
                </a:lnTo>
                <a:lnTo>
                  <a:pt x="1225470" y="42400"/>
                </a:lnTo>
                <a:close/>
              </a:path>
              <a:path w="1297304" h="402589">
                <a:moveTo>
                  <a:pt x="1296924" y="15240"/>
                </a:moveTo>
                <a:lnTo>
                  <a:pt x="1213103" y="0"/>
                </a:lnTo>
                <a:lnTo>
                  <a:pt x="1221954" y="30346"/>
                </a:lnTo>
                <a:lnTo>
                  <a:pt x="1234439" y="26670"/>
                </a:lnTo>
                <a:lnTo>
                  <a:pt x="1237488" y="38862"/>
                </a:lnTo>
                <a:lnTo>
                  <a:pt x="1237488" y="70327"/>
                </a:lnTo>
                <a:lnTo>
                  <a:pt x="1296924" y="15240"/>
                </a:lnTo>
                <a:close/>
              </a:path>
              <a:path w="1297304" h="402589">
                <a:moveTo>
                  <a:pt x="1237488" y="38862"/>
                </a:moveTo>
                <a:lnTo>
                  <a:pt x="1234439" y="26670"/>
                </a:lnTo>
                <a:lnTo>
                  <a:pt x="1221954" y="30346"/>
                </a:lnTo>
                <a:lnTo>
                  <a:pt x="1225470" y="42400"/>
                </a:lnTo>
                <a:lnTo>
                  <a:pt x="1237488" y="38862"/>
                </a:lnTo>
                <a:close/>
              </a:path>
              <a:path w="1297304" h="402589">
                <a:moveTo>
                  <a:pt x="1237488" y="70327"/>
                </a:moveTo>
                <a:lnTo>
                  <a:pt x="1237488" y="38862"/>
                </a:lnTo>
                <a:lnTo>
                  <a:pt x="1225470" y="42400"/>
                </a:lnTo>
                <a:lnTo>
                  <a:pt x="1234439" y="73152"/>
                </a:lnTo>
                <a:lnTo>
                  <a:pt x="1237488" y="7032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84615" y="5168900"/>
            <a:ext cx="1297305" cy="402590"/>
          </a:xfrm>
          <a:custGeom>
            <a:avLst/>
            <a:gdLst/>
            <a:ahLst/>
            <a:cxnLst/>
            <a:rect l="l" t="t" r="r" b="b"/>
            <a:pathLst>
              <a:path w="1297304" h="402589">
                <a:moveTo>
                  <a:pt x="1225673" y="359240"/>
                </a:moveTo>
                <a:lnTo>
                  <a:pt x="3048" y="0"/>
                </a:lnTo>
                <a:lnTo>
                  <a:pt x="0" y="12191"/>
                </a:lnTo>
                <a:lnTo>
                  <a:pt x="1222157" y="371295"/>
                </a:lnTo>
                <a:lnTo>
                  <a:pt x="1225673" y="359240"/>
                </a:lnTo>
                <a:close/>
              </a:path>
              <a:path w="1297304" h="402589">
                <a:moveTo>
                  <a:pt x="1237488" y="397902"/>
                </a:moveTo>
                <a:lnTo>
                  <a:pt x="1237488" y="362712"/>
                </a:lnTo>
                <a:lnTo>
                  <a:pt x="1234440" y="374903"/>
                </a:lnTo>
                <a:lnTo>
                  <a:pt x="1222157" y="371295"/>
                </a:lnTo>
                <a:lnTo>
                  <a:pt x="1213104" y="402336"/>
                </a:lnTo>
                <a:lnTo>
                  <a:pt x="1237488" y="397902"/>
                </a:lnTo>
                <a:close/>
              </a:path>
              <a:path w="1297304" h="402589">
                <a:moveTo>
                  <a:pt x="1237488" y="362712"/>
                </a:moveTo>
                <a:lnTo>
                  <a:pt x="1225673" y="359240"/>
                </a:lnTo>
                <a:lnTo>
                  <a:pt x="1222157" y="371295"/>
                </a:lnTo>
                <a:lnTo>
                  <a:pt x="1234440" y="374903"/>
                </a:lnTo>
                <a:lnTo>
                  <a:pt x="1237488" y="362712"/>
                </a:lnTo>
                <a:close/>
              </a:path>
              <a:path w="1297304" h="402589">
                <a:moveTo>
                  <a:pt x="1296924" y="387096"/>
                </a:moveTo>
                <a:lnTo>
                  <a:pt x="1234439" y="329184"/>
                </a:lnTo>
                <a:lnTo>
                  <a:pt x="1225673" y="359240"/>
                </a:lnTo>
                <a:lnTo>
                  <a:pt x="1237488" y="362712"/>
                </a:lnTo>
                <a:lnTo>
                  <a:pt x="1237488" y="397902"/>
                </a:lnTo>
                <a:lnTo>
                  <a:pt x="1296924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70435" y="42898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46635" y="54328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62927" y="4946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17653" y="4559300"/>
            <a:ext cx="1069340" cy="468630"/>
          </a:xfrm>
          <a:custGeom>
            <a:avLst/>
            <a:gdLst/>
            <a:ahLst/>
            <a:cxnLst/>
            <a:rect l="l" t="t" r="r" b="b"/>
            <a:pathLst>
              <a:path w="1069340" h="468629">
                <a:moveTo>
                  <a:pt x="1001804" y="427068"/>
                </a:moveTo>
                <a:lnTo>
                  <a:pt x="4559" y="0"/>
                </a:lnTo>
                <a:lnTo>
                  <a:pt x="0" y="12191"/>
                </a:lnTo>
                <a:lnTo>
                  <a:pt x="996504" y="439265"/>
                </a:lnTo>
                <a:lnTo>
                  <a:pt x="1001804" y="427068"/>
                </a:lnTo>
                <a:close/>
              </a:path>
              <a:path w="1069340" h="468629">
                <a:moveTo>
                  <a:pt x="1013447" y="466773"/>
                </a:moveTo>
                <a:lnTo>
                  <a:pt x="1013447" y="432053"/>
                </a:lnTo>
                <a:lnTo>
                  <a:pt x="1008126" y="444246"/>
                </a:lnTo>
                <a:lnTo>
                  <a:pt x="996504" y="439265"/>
                </a:lnTo>
                <a:lnTo>
                  <a:pt x="983742" y="468629"/>
                </a:lnTo>
                <a:lnTo>
                  <a:pt x="1013447" y="466773"/>
                </a:lnTo>
                <a:close/>
              </a:path>
              <a:path w="1069340" h="468629">
                <a:moveTo>
                  <a:pt x="1013447" y="432053"/>
                </a:moveTo>
                <a:lnTo>
                  <a:pt x="1001804" y="427068"/>
                </a:lnTo>
                <a:lnTo>
                  <a:pt x="996504" y="439265"/>
                </a:lnTo>
                <a:lnTo>
                  <a:pt x="1008126" y="444246"/>
                </a:lnTo>
                <a:lnTo>
                  <a:pt x="1013447" y="432053"/>
                </a:lnTo>
                <a:close/>
              </a:path>
              <a:path w="1069340" h="468629">
                <a:moveTo>
                  <a:pt x="1069073" y="463296"/>
                </a:moveTo>
                <a:lnTo>
                  <a:pt x="1014209" y="398525"/>
                </a:lnTo>
                <a:lnTo>
                  <a:pt x="1001804" y="427068"/>
                </a:lnTo>
                <a:lnTo>
                  <a:pt x="1013447" y="432053"/>
                </a:lnTo>
                <a:lnTo>
                  <a:pt x="1013447" y="466773"/>
                </a:lnTo>
                <a:lnTo>
                  <a:pt x="1069073" y="4632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17653" y="5162803"/>
            <a:ext cx="1145540" cy="399415"/>
          </a:xfrm>
          <a:custGeom>
            <a:avLst/>
            <a:gdLst/>
            <a:ahLst/>
            <a:cxnLst/>
            <a:rect l="l" t="t" r="r" b="b"/>
            <a:pathLst>
              <a:path w="1145540" h="399414">
                <a:moveTo>
                  <a:pt x="1074935" y="42249"/>
                </a:moveTo>
                <a:lnTo>
                  <a:pt x="1070781" y="29917"/>
                </a:lnTo>
                <a:lnTo>
                  <a:pt x="0" y="387096"/>
                </a:lnTo>
                <a:lnTo>
                  <a:pt x="4559" y="399288"/>
                </a:lnTo>
                <a:lnTo>
                  <a:pt x="1074935" y="42249"/>
                </a:lnTo>
                <a:close/>
              </a:path>
              <a:path w="1145540" h="399414">
                <a:moveTo>
                  <a:pt x="1145273" y="12192"/>
                </a:moveTo>
                <a:lnTo>
                  <a:pt x="1060703" y="0"/>
                </a:lnTo>
                <a:lnTo>
                  <a:pt x="1070781" y="29917"/>
                </a:lnTo>
                <a:lnTo>
                  <a:pt x="1082801" y="25908"/>
                </a:lnTo>
                <a:lnTo>
                  <a:pt x="1087373" y="38100"/>
                </a:lnTo>
                <a:lnTo>
                  <a:pt x="1087373" y="70103"/>
                </a:lnTo>
                <a:lnTo>
                  <a:pt x="1145273" y="12192"/>
                </a:lnTo>
                <a:close/>
              </a:path>
              <a:path w="1145540" h="399414">
                <a:moveTo>
                  <a:pt x="1087373" y="38100"/>
                </a:moveTo>
                <a:lnTo>
                  <a:pt x="1082801" y="25908"/>
                </a:lnTo>
                <a:lnTo>
                  <a:pt x="1070781" y="29917"/>
                </a:lnTo>
                <a:lnTo>
                  <a:pt x="1074935" y="42249"/>
                </a:lnTo>
                <a:lnTo>
                  <a:pt x="1087373" y="38100"/>
                </a:lnTo>
                <a:close/>
              </a:path>
              <a:path w="1145540" h="399414">
                <a:moveTo>
                  <a:pt x="1087373" y="70103"/>
                </a:moveTo>
                <a:lnTo>
                  <a:pt x="1087373" y="38100"/>
                </a:lnTo>
                <a:lnTo>
                  <a:pt x="1074935" y="42249"/>
                </a:lnTo>
                <a:lnTo>
                  <a:pt x="1085087" y="72390"/>
                </a:lnTo>
                <a:lnTo>
                  <a:pt x="1087373" y="701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556635" y="44422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17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56635" y="54328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4345" y="456945"/>
            <a:ext cx="2957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Map RE to</a:t>
            </a:r>
            <a:r>
              <a:rPr spc="-85" dirty="0"/>
              <a:t> </a:t>
            </a:r>
            <a:r>
              <a:rPr spc="-10" dirty="0"/>
              <a:t>NFA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87348"/>
            <a:ext cx="330072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Constructing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AB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81539" y="2355595"/>
            <a:ext cx="2590800" cy="762000"/>
          </a:xfrm>
          <a:custGeom>
            <a:avLst/>
            <a:gdLst/>
            <a:ahLst/>
            <a:cxnLst/>
            <a:rect l="l" t="t" r="r" b="b"/>
            <a:pathLst>
              <a:path w="2590800" h="762000">
                <a:moveTo>
                  <a:pt x="0" y="0"/>
                </a:moveTo>
                <a:lnTo>
                  <a:pt x="0" y="762000"/>
                </a:lnTo>
                <a:lnTo>
                  <a:pt x="2590799" y="762000"/>
                </a:lnTo>
                <a:lnTo>
                  <a:pt x="259079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16863" y="2530347"/>
            <a:ext cx="1130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FA for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8939" y="24317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87" y="0"/>
                </a:moveTo>
                <a:lnTo>
                  <a:pt x="182451" y="4634"/>
                </a:lnTo>
                <a:lnTo>
                  <a:pt x="139512" y="17930"/>
                </a:lnTo>
                <a:lnTo>
                  <a:pt x="100679" y="38978"/>
                </a:lnTo>
                <a:lnTo>
                  <a:pt x="66863" y="66865"/>
                </a:lnTo>
                <a:lnTo>
                  <a:pt x="38977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7" y="356517"/>
                </a:lnTo>
                <a:lnTo>
                  <a:pt x="66863" y="390334"/>
                </a:lnTo>
                <a:lnTo>
                  <a:pt x="100679" y="418221"/>
                </a:lnTo>
                <a:lnTo>
                  <a:pt x="139512" y="439269"/>
                </a:lnTo>
                <a:lnTo>
                  <a:pt x="182451" y="452565"/>
                </a:lnTo>
                <a:lnTo>
                  <a:pt x="228587" y="457200"/>
                </a:lnTo>
                <a:lnTo>
                  <a:pt x="274730" y="452565"/>
                </a:lnTo>
                <a:lnTo>
                  <a:pt x="317675" y="439269"/>
                </a:lnTo>
                <a:lnTo>
                  <a:pt x="356510" y="418221"/>
                </a:lnTo>
                <a:lnTo>
                  <a:pt x="390326" y="390334"/>
                </a:lnTo>
                <a:lnTo>
                  <a:pt x="418212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2" y="100682"/>
                </a:lnTo>
                <a:lnTo>
                  <a:pt x="390326" y="66865"/>
                </a:lnTo>
                <a:lnTo>
                  <a:pt x="356510" y="38978"/>
                </a:lnTo>
                <a:lnTo>
                  <a:pt x="317675" y="17930"/>
                </a:lnTo>
                <a:lnTo>
                  <a:pt x="274730" y="4634"/>
                </a:lnTo>
                <a:lnTo>
                  <a:pt x="2285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57805" y="2454147"/>
            <a:ext cx="23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3939" y="25079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81539" y="3422396"/>
            <a:ext cx="2590800" cy="762000"/>
          </a:xfrm>
          <a:custGeom>
            <a:avLst/>
            <a:gdLst/>
            <a:ahLst/>
            <a:cxnLst/>
            <a:rect l="l" t="t" r="r" b="b"/>
            <a:pathLst>
              <a:path w="2590800" h="762000">
                <a:moveTo>
                  <a:pt x="0" y="0"/>
                </a:moveTo>
                <a:lnTo>
                  <a:pt x="0" y="762000"/>
                </a:lnTo>
                <a:lnTo>
                  <a:pt x="2590799" y="762000"/>
                </a:lnTo>
                <a:lnTo>
                  <a:pt x="259079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26007" y="3597147"/>
            <a:ext cx="1114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FA for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38939" y="34985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87" y="0"/>
                </a:moveTo>
                <a:lnTo>
                  <a:pt x="182451" y="4634"/>
                </a:lnTo>
                <a:lnTo>
                  <a:pt x="139512" y="17930"/>
                </a:lnTo>
                <a:lnTo>
                  <a:pt x="100679" y="38978"/>
                </a:lnTo>
                <a:lnTo>
                  <a:pt x="66863" y="66865"/>
                </a:lnTo>
                <a:lnTo>
                  <a:pt x="38977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7" y="356517"/>
                </a:lnTo>
                <a:lnTo>
                  <a:pt x="66863" y="390334"/>
                </a:lnTo>
                <a:lnTo>
                  <a:pt x="100679" y="418221"/>
                </a:lnTo>
                <a:lnTo>
                  <a:pt x="139512" y="439269"/>
                </a:lnTo>
                <a:lnTo>
                  <a:pt x="182451" y="452565"/>
                </a:lnTo>
                <a:lnTo>
                  <a:pt x="228587" y="457200"/>
                </a:lnTo>
                <a:lnTo>
                  <a:pt x="274730" y="452565"/>
                </a:lnTo>
                <a:lnTo>
                  <a:pt x="317675" y="439269"/>
                </a:lnTo>
                <a:lnTo>
                  <a:pt x="356510" y="418221"/>
                </a:lnTo>
                <a:lnTo>
                  <a:pt x="390326" y="390334"/>
                </a:lnTo>
                <a:lnTo>
                  <a:pt x="418212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2" y="100682"/>
                </a:lnTo>
                <a:lnTo>
                  <a:pt x="390326" y="66865"/>
                </a:lnTo>
                <a:lnTo>
                  <a:pt x="356510" y="38978"/>
                </a:lnTo>
                <a:lnTo>
                  <a:pt x="317675" y="17930"/>
                </a:lnTo>
                <a:lnTo>
                  <a:pt x="274730" y="4634"/>
                </a:lnTo>
                <a:lnTo>
                  <a:pt x="2285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66187" y="3520947"/>
            <a:ext cx="216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33939" y="35747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46635" y="24610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2835" y="26134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76539" y="2850895"/>
            <a:ext cx="1905000" cy="76200"/>
          </a:xfrm>
          <a:custGeom>
            <a:avLst/>
            <a:gdLst/>
            <a:ahLst/>
            <a:cxnLst/>
            <a:rect l="l" t="t" r="r" b="b"/>
            <a:pathLst>
              <a:path w="1905000" h="76200">
                <a:moveTo>
                  <a:pt x="1841753" y="44196"/>
                </a:moveTo>
                <a:lnTo>
                  <a:pt x="1841753" y="32004"/>
                </a:lnTo>
                <a:lnTo>
                  <a:pt x="0" y="32004"/>
                </a:lnTo>
                <a:lnTo>
                  <a:pt x="0" y="44196"/>
                </a:lnTo>
                <a:lnTo>
                  <a:pt x="1841753" y="44196"/>
                </a:lnTo>
                <a:close/>
              </a:path>
              <a:path w="1905000" h="76200">
                <a:moveTo>
                  <a:pt x="1905000" y="38100"/>
                </a:moveTo>
                <a:lnTo>
                  <a:pt x="1828800" y="0"/>
                </a:lnTo>
                <a:lnTo>
                  <a:pt x="1828800" y="32004"/>
                </a:lnTo>
                <a:lnTo>
                  <a:pt x="1841753" y="32004"/>
                </a:lnTo>
                <a:lnTo>
                  <a:pt x="1841753" y="69723"/>
                </a:lnTo>
                <a:lnTo>
                  <a:pt x="1905000" y="38100"/>
                </a:lnTo>
                <a:close/>
              </a:path>
              <a:path w="1905000" h="76200">
                <a:moveTo>
                  <a:pt x="1841753" y="69723"/>
                </a:moveTo>
                <a:lnTo>
                  <a:pt x="1841753" y="44196"/>
                </a:lnTo>
                <a:lnTo>
                  <a:pt x="1828800" y="44196"/>
                </a:lnTo>
                <a:lnTo>
                  <a:pt x="1828800" y="76200"/>
                </a:lnTo>
                <a:lnTo>
                  <a:pt x="18417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2327" y="2736595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62927" y="2736595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90939" y="3269996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19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90939" y="3269996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90939" y="3841496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927353" y="44195"/>
                </a:moveTo>
                <a:lnTo>
                  <a:pt x="9273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927353" y="44195"/>
                </a:lnTo>
                <a:close/>
              </a:path>
              <a:path w="990600" h="76200">
                <a:moveTo>
                  <a:pt x="990599" y="38100"/>
                </a:moveTo>
                <a:lnTo>
                  <a:pt x="914399" y="0"/>
                </a:lnTo>
                <a:lnTo>
                  <a:pt x="914399" y="32003"/>
                </a:lnTo>
                <a:lnTo>
                  <a:pt x="927353" y="32003"/>
                </a:lnTo>
                <a:lnTo>
                  <a:pt x="927353" y="69723"/>
                </a:lnTo>
                <a:lnTo>
                  <a:pt x="990599" y="38100"/>
                </a:lnTo>
                <a:close/>
              </a:path>
              <a:path w="990600" h="76200">
                <a:moveTo>
                  <a:pt x="927353" y="69723"/>
                </a:moveTo>
                <a:lnTo>
                  <a:pt x="927353" y="44195"/>
                </a:lnTo>
                <a:lnTo>
                  <a:pt x="914399" y="44195"/>
                </a:lnTo>
                <a:lnTo>
                  <a:pt x="914399" y="76200"/>
                </a:lnTo>
                <a:lnTo>
                  <a:pt x="9273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4345" y="456945"/>
            <a:ext cx="2957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Map RE to</a:t>
            </a:r>
            <a:r>
              <a:rPr spc="-85" dirty="0"/>
              <a:t> </a:t>
            </a:r>
            <a:r>
              <a:rPr spc="-10" dirty="0"/>
              <a:t>NFA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87348"/>
            <a:ext cx="31877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Constructing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A*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81539" y="2355595"/>
            <a:ext cx="2743200" cy="1066800"/>
          </a:xfrm>
          <a:custGeom>
            <a:avLst/>
            <a:gdLst/>
            <a:ahLst/>
            <a:cxnLst/>
            <a:rect l="l" t="t" r="r" b="b"/>
            <a:pathLst>
              <a:path w="2743200" h="1066800">
                <a:moveTo>
                  <a:pt x="0" y="0"/>
                </a:moveTo>
                <a:lnTo>
                  <a:pt x="0" y="1066800"/>
                </a:lnTo>
                <a:lnTo>
                  <a:pt x="2743199" y="1066800"/>
                </a:lnTo>
                <a:lnTo>
                  <a:pt x="274319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93063" y="2682747"/>
            <a:ext cx="1130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FA for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2739" y="2431795"/>
            <a:ext cx="685800" cy="762000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87" y="0"/>
                </a:moveTo>
                <a:lnTo>
                  <a:pt x="296285" y="3480"/>
                </a:lnTo>
                <a:lnTo>
                  <a:pt x="251611" y="13617"/>
                </a:lnTo>
                <a:lnTo>
                  <a:pt x="209270" y="29956"/>
                </a:lnTo>
                <a:lnTo>
                  <a:pt x="169668" y="52041"/>
                </a:lnTo>
                <a:lnTo>
                  <a:pt x="133208" y="79419"/>
                </a:lnTo>
                <a:lnTo>
                  <a:pt x="100296" y="111633"/>
                </a:lnTo>
                <a:lnTo>
                  <a:pt x="71337" y="148228"/>
                </a:lnTo>
                <a:lnTo>
                  <a:pt x="46735" y="188750"/>
                </a:lnTo>
                <a:lnTo>
                  <a:pt x="26896" y="232743"/>
                </a:lnTo>
                <a:lnTo>
                  <a:pt x="12223" y="279752"/>
                </a:lnTo>
                <a:lnTo>
                  <a:pt x="3123" y="329323"/>
                </a:lnTo>
                <a:lnTo>
                  <a:pt x="0" y="381000"/>
                </a:lnTo>
                <a:lnTo>
                  <a:pt x="3123" y="432676"/>
                </a:lnTo>
                <a:lnTo>
                  <a:pt x="12223" y="482247"/>
                </a:lnTo>
                <a:lnTo>
                  <a:pt x="26896" y="529256"/>
                </a:lnTo>
                <a:lnTo>
                  <a:pt x="46735" y="573249"/>
                </a:lnTo>
                <a:lnTo>
                  <a:pt x="71337" y="613771"/>
                </a:lnTo>
                <a:lnTo>
                  <a:pt x="100296" y="650367"/>
                </a:lnTo>
                <a:lnTo>
                  <a:pt x="133208" y="682580"/>
                </a:lnTo>
                <a:lnTo>
                  <a:pt x="169668" y="709958"/>
                </a:lnTo>
                <a:lnTo>
                  <a:pt x="209270" y="732043"/>
                </a:lnTo>
                <a:lnTo>
                  <a:pt x="251611" y="748382"/>
                </a:lnTo>
                <a:lnTo>
                  <a:pt x="296285" y="758519"/>
                </a:lnTo>
                <a:lnTo>
                  <a:pt x="342887" y="762000"/>
                </a:lnTo>
                <a:lnTo>
                  <a:pt x="389494" y="758519"/>
                </a:lnTo>
                <a:lnTo>
                  <a:pt x="434172" y="748382"/>
                </a:lnTo>
                <a:lnTo>
                  <a:pt x="476516" y="732043"/>
                </a:lnTo>
                <a:lnTo>
                  <a:pt x="516120" y="709958"/>
                </a:lnTo>
                <a:lnTo>
                  <a:pt x="552581" y="682580"/>
                </a:lnTo>
                <a:lnTo>
                  <a:pt x="585493" y="650366"/>
                </a:lnTo>
                <a:lnTo>
                  <a:pt x="614452" y="613771"/>
                </a:lnTo>
                <a:lnTo>
                  <a:pt x="639054" y="573249"/>
                </a:lnTo>
                <a:lnTo>
                  <a:pt x="658892" y="529256"/>
                </a:lnTo>
                <a:lnTo>
                  <a:pt x="673564" y="482247"/>
                </a:lnTo>
                <a:lnTo>
                  <a:pt x="682664" y="432676"/>
                </a:lnTo>
                <a:lnTo>
                  <a:pt x="685787" y="381000"/>
                </a:lnTo>
                <a:lnTo>
                  <a:pt x="682664" y="329323"/>
                </a:lnTo>
                <a:lnTo>
                  <a:pt x="673564" y="279752"/>
                </a:lnTo>
                <a:lnTo>
                  <a:pt x="658892" y="232743"/>
                </a:lnTo>
                <a:lnTo>
                  <a:pt x="639054" y="188750"/>
                </a:lnTo>
                <a:lnTo>
                  <a:pt x="614452" y="148228"/>
                </a:lnTo>
                <a:lnTo>
                  <a:pt x="585493" y="111632"/>
                </a:lnTo>
                <a:lnTo>
                  <a:pt x="552581" y="79419"/>
                </a:lnTo>
                <a:lnTo>
                  <a:pt x="516120" y="52041"/>
                </a:lnTo>
                <a:lnTo>
                  <a:pt x="476516" y="29956"/>
                </a:lnTo>
                <a:lnTo>
                  <a:pt x="434172" y="13617"/>
                </a:lnTo>
                <a:lnTo>
                  <a:pt x="389494" y="3480"/>
                </a:lnTo>
                <a:lnTo>
                  <a:pt x="3428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94381" y="2606547"/>
            <a:ext cx="23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3939" y="26603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46635" y="2409189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9033" y="2688855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67727" y="27365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5139" y="26603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599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599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4539" y="285089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851154" y="44195"/>
                </a:moveTo>
                <a:lnTo>
                  <a:pt x="8511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851154" y="44195"/>
                </a:lnTo>
                <a:close/>
              </a:path>
              <a:path w="914400" h="76200">
                <a:moveTo>
                  <a:pt x="914400" y="38099"/>
                </a:moveTo>
                <a:lnTo>
                  <a:pt x="838200" y="0"/>
                </a:lnTo>
                <a:lnTo>
                  <a:pt x="838200" y="32003"/>
                </a:lnTo>
                <a:lnTo>
                  <a:pt x="851154" y="32003"/>
                </a:lnTo>
                <a:lnTo>
                  <a:pt x="851154" y="69723"/>
                </a:lnTo>
                <a:lnTo>
                  <a:pt x="914400" y="38099"/>
                </a:lnTo>
                <a:close/>
              </a:path>
              <a:path w="914400" h="76200">
                <a:moveTo>
                  <a:pt x="851154" y="69723"/>
                </a:moveTo>
                <a:lnTo>
                  <a:pt x="851154" y="44195"/>
                </a:lnTo>
                <a:lnTo>
                  <a:pt x="838200" y="44195"/>
                </a:lnTo>
                <a:lnTo>
                  <a:pt x="838200" y="76200"/>
                </a:lnTo>
                <a:lnTo>
                  <a:pt x="8511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62339" y="2850895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55953" y="44196"/>
                </a:moveTo>
                <a:lnTo>
                  <a:pt x="1155953" y="32004"/>
                </a:lnTo>
                <a:lnTo>
                  <a:pt x="0" y="32004"/>
                </a:lnTo>
                <a:lnTo>
                  <a:pt x="0" y="44196"/>
                </a:lnTo>
                <a:lnTo>
                  <a:pt x="1155953" y="44196"/>
                </a:lnTo>
                <a:close/>
              </a:path>
              <a:path w="1219200" h="76200">
                <a:moveTo>
                  <a:pt x="1219199" y="38100"/>
                </a:moveTo>
                <a:lnTo>
                  <a:pt x="1142999" y="0"/>
                </a:lnTo>
                <a:lnTo>
                  <a:pt x="1142999" y="32004"/>
                </a:lnTo>
                <a:lnTo>
                  <a:pt x="1155953" y="32004"/>
                </a:lnTo>
                <a:lnTo>
                  <a:pt x="1155953" y="69723"/>
                </a:lnTo>
                <a:lnTo>
                  <a:pt x="1219199" y="38100"/>
                </a:lnTo>
                <a:close/>
              </a:path>
              <a:path w="1219200" h="76200">
                <a:moveTo>
                  <a:pt x="1155953" y="69723"/>
                </a:moveTo>
                <a:lnTo>
                  <a:pt x="1155953" y="44196"/>
                </a:lnTo>
                <a:lnTo>
                  <a:pt x="1142999" y="44196"/>
                </a:lnTo>
                <a:lnTo>
                  <a:pt x="1142999" y="76200"/>
                </a:lnTo>
                <a:lnTo>
                  <a:pt x="11559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43727" y="1974595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10139" y="1974595"/>
            <a:ext cx="213360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5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2039" y="1974595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76200" y="609600"/>
                </a:moveTo>
                <a:lnTo>
                  <a:pt x="0" y="609600"/>
                </a:lnTo>
                <a:lnTo>
                  <a:pt x="32003" y="673607"/>
                </a:lnTo>
                <a:lnTo>
                  <a:pt x="32003" y="622554"/>
                </a:lnTo>
                <a:lnTo>
                  <a:pt x="44195" y="622554"/>
                </a:lnTo>
                <a:lnTo>
                  <a:pt x="44195" y="673608"/>
                </a:lnTo>
                <a:lnTo>
                  <a:pt x="76200" y="609600"/>
                </a:lnTo>
                <a:close/>
              </a:path>
              <a:path w="76200" h="685800">
                <a:moveTo>
                  <a:pt x="44195" y="609600"/>
                </a:moveTo>
                <a:lnTo>
                  <a:pt x="44195" y="0"/>
                </a:lnTo>
                <a:lnTo>
                  <a:pt x="32003" y="0"/>
                </a:lnTo>
                <a:lnTo>
                  <a:pt x="32003" y="609600"/>
                </a:lnTo>
                <a:lnTo>
                  <a:pt x="44195" y="609600"/>
                </a:lnTo>
                <a:close/>
              </a:path>
              <a:path w="76200" h="685800">
                <a:moveTo>
                  <a:pt x="44195" y="673608"/>
                </a:moveTo>
                <a:lnTo>
                  <a:pt x="44195" y="622554"/>
                </a:lnTo>
                <a:lnTo>
                  <a:pt x="32003" y="622554"/>
                </a:lnTo>
                <a:lnTo>
                  <a:pt x="32003" y="673607"/>
                </a:lnTo>
                <a:lnTo>
                  <a:pt x="38100" y="685800"/>
                </a:lnTo>
                <a:lnTo>
                  <a:pt x="44195" y="67360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56435" y="1494789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00939" y="2774695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79753" y="44196"/>
                </a:moveTo>
                <a:lnTo>
                  <a:pt x="1079753" y="32004"/>
                </a:lnTo>
                <a:lnTo>
                  <a:pt x="0" y="32004"/>
                </a:lnTo>
                <a:lnTo>
                  <a:pt x="0" y="44196"/>
                </a:lnTo>
                <a:lnTo>
                  <a:pt x="1079753" y="44196"/>
                </a:lnTo>
                <a:close/>
              </a:path>
              <a:path w="1143000" h="76200">
                <a:moveTo>
                  <a:pt x="1142987" y="38100"/>
                </a:moveTo>
                <a:lnTo>
                  <a:pt x="1066787" y="0"/>
                </a:lnTo>
                <a:lnTo>
                  <a:pt x="1066787" y="32004"/>
                </a:lnTo>
                <a:lnTo>
                  <a:pt x="1079753" y="32004"/>
                </a:lnTo>
                <a:lnTo>
                  <a:pt x="1079753" y="69716"/>
                </a:lnTo>
                <a:lnTo>
                  <a:pt x="1142987" y="38100"/>
                </a:lnTo>
                <a:close/>
              </a:path>
              <a:path w="1143000" h="76200">
                <a:moveTo>
                  <a:pt x="1079753" y="69716"/>
                </a:moveTo>
                <a:lnTo>
                  <a:pt x="1079753" y="44196"/>
                </a:lnTo>
                <a:lnTo>
                  <a:pt x="1066787" y="44196"/>
                </a:lnTo>
                <a:lnTo>
                  <a:pt x="1066787" y="76200"/>
                </a:lnTo>
                <a:lnTo>
                  <a:pt x="1079753" y="6971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33739" y="3117595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33739" y="3803396"/>
            <a:ext cx="5562600" cy="0"/>
          </a:xfrm>
          <a:custGeom>
            <a:avLst/>
            <a:gdLst/>
            <a:ahLst/>
            <a:cxnLst/>
            <a:rect l="l" t="t" r="r" b="b"/>
            <a:pathLst>
              <a:path w="5562600">
                <a:moveTo>
                  <a:pt x="0" y="0"/>
                </a:moveTo>
                <a:lnTo>
                  <a:pt x="55625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58227" y="3193795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5"/>
                </a:lnTo>
                <a:lnTo>
                  <a:pt x="44196" y="63245"/>
                </a:lnTo>
                <a:lnTo>
                  <a:pt x="44196" y="76200"/>
                </a:lnTo>
                <a:lnTo>
                  <a:pt x="76200" y="76200"/>
                </a:lnTo>
                <a:close/>
              </a:path>
              <a:path w="76200" h="609600">
                <a:moveTo>
                  <a:pt x="44196" y="76200"/>
                </a:moveTo>
                <a:lnTo>
                  <a:pt x="44196" y="63245"/>
                </a:lnTo>
                <a:lnTo>
                  <a:pt x="32003" y="63245"/>
                </a:lnTo>
                <a:lnTo>
                  <a:pt x="32003" y="76200"/>
                </a:lnTo>
                <a:lnTo>
                  <a:pt x="44196" y="76200"/>
                </a:lnTo>
                <a:close/>
              </a:path>
              <a:path w="76200" h="609600">
                <a:moveTo>
                  <a:pt x="44196" y="609599"/>
                </a:moveTo>
                <a:lnTo>
                  <a:pt x="44196" y="76200"/>
                </a:lnTo>
                <a:lnTo>
                  <a:pt x="32003" y="76200"/>
                </a:lnTo>
                <a:lnTo>
                  <a:pt x="32003" y="609599"/>
                </a:lnTo>
                <a:lnTo>
                  <a:pt x="44196" y="6095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27835" y="3780790"/>
            <a:ext cx="1816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19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18845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635" y="1387348"/>
            <a:ext cx="5871210" cy="169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503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Constructing NFA for regular expression  </a:t>
            </a:r>
            <a:r>
              <a:rPr sz="2800" dirty="0">
                <a:latin typeface="Times New Roman"/>
                <a:cs typeface="Times New Roman"/>
              </a:rPr>
              <a:t>r =</a:t>
            </a:r>
            <a:r>
              <a:rPr sz="2800" spc="-5" dirty="0">
                <a:latin typeface="Times New Roman"/>
                <a:cs typeface="Times New Roman"/>
              </a:rPr>
              <a:t> (a|b)*abb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Step 1: constructing </a:t>
            </a:r>
            <a:r>
              <a:rPr sz="2800" dirty="0">
                <a:latin typeface="Times New Roman"/>
                <a:cs typeface="Times New Roman"/>
              </a:rPr>
              <a:t>a |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8939" y="3803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87" y="0"/>
                </a:moveTo>
                <a:lnTo>
                  <a:pt x="182451" y="4634"/>
                </a:lnTo>
                <a:lnTo>
                  <a:pt x="139512" y="17930"/>
                </a:lnTo>
                <a:lnTo>
                  <a:pt x="100679" y="38978"/>
                </a:lnTo>
                <a:lnTo>
                  <a:pt x="66863" y="66865"/>
                </a:lnTo>
                <a:lnTo>
                  <a:pt x="38977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7" y="356517"/>
                </a:lnTo>
                <a:lnTo>
                  <a:pt x="66863" y="390334"/>
                </a:lnTo>
                <a:lnTo>
                  <a:pt x="100679" y="418221"/>
                </a:lnTo>
                <a:lnTo>
                  <a:pt x="139512" y="439269"/>
                </a:lnTo>
                <a:lnTo>
                  <a:pt x="182451" y="452565"/>
                </a:lnTo>
                <a:lnTo>
                  <a:pt x="228587" y="457200"/>
                </a:lnTo>
                <a:lnTo>
                  <a:pt x="274730" y="452565"/>
                </a:lnTo>
                <a:lnTo>
                  <a:pt x="317675" y="439269"/>
                </a:lnTo>
                <a:lnTo>
                  <a:pt x="356510" y="418221"/>
                </a:lnTo>
                <a:lnTo>
                  <a:pt x="390326" y="390334"/>
                </a:lnTo>
                <a:lnTo>
                  <a:pt x="418212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2" y="100682"/>
                </a:lnTo>
                <a:lnTo>
                  <a:pt x="390326" y="66865"/>
                </a:lnTo>
                <a:lnTo>
                  <a:pt x="356510" y="38978"/>
                </a:lnTo>
                <a:lnTo>
                  <a:pt x="317675" y="17930"/>
                </a:lnTo>
                <a:lnTo>
                  <a:pt x="274730" y="4634"/>
                </a:lnTo>
                <a:lnTo>
                  <a:pt x="2285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5105" y="38257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33939" y="38795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8939" y="4870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87" y="0"/>
                </a:moveTo>
                <a:lnTo>
                  <a:pt x="182451" y="4634"/>
                </a:lnTo>
                <a:lnTo>
                  <a:pt x="139512" y="17930"/>
                </a:lnTo>
                <a:lnTo>
                  <a:pt x="100679" y="38978"/>
                </a:lnTo>
                <a:lnTo>
                  <a:pt x="66863" y="66865"/>
                </a:lnTo>
                <a:lnTo>
                  <a:pt x="38977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7" y="356517"/>
                </a:lnTo>
                <a:lnTo>
                  <a:pt x="66863" y="390334"/>
                </a:lnTo>
                <a:lnTo>
                  <a:pt x="100679" y="418221"/>
                </a:lnTo>
                <a:lnTo>
                  <a:pt x="139512" y="439269"/>
                </a:lnTo>
                <a:lnTo>
                  <a:pt x="182451" y="452565"/>
                </a:lnTo>
                <a:lnTo>
                  <a:pt x="228587" y="457200"/>
                </a:lnTo>
                <a:lnTo>
                  <a:pt x="274730" y="452565"/>
                </a:lnTo>
                <a:lnTo>
                  <a:pt x="317675" y="439269"/>
                </a:lnTo>
                <a:lnTo>
                  <a:pt x="356510" y="418221"/>
                </a:lnTo>
                <a:lnTo>
                  <a:pt x="390326" y="390334"/>
                </a:lnTo>
                <a:lnTo>
                  <a:pt x="418212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2" y="100682"/>
                </a:lnTo>
                <a:lnTo>
                  <a:pt x="390326" y="66865"/>
                </a:lnTo>
                <a:lnTo>
                  <a:pt x="356510" y="38978"/>
                </a:lnTo>
                <a:lnTo>
                  <a:pt x="317675" y="17930"/>
                </a:lnTo>
                <a:lnTo>
                  <a:pt x="274730" y="4634"/>
                </a:lnTo>
                <a:lnTo>
                  <a:pt x="2285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53487" y="48925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3939" y="4946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05139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6939" y="4603496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98754" y="44195"/>
                </a:moveTo>
                <a:lnTo>
                  <a:pt x="6987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698754" y="44195"/>
                </a:lnTo>
                <a:close/>
              </a:path>
              <a:path w="762000" h="76200">
                <a:moveTo>
                  <a:pt x="762000" y="38100"/>
                </a:moveTo>
                <a:lnTo>
                  <a:pt x="685800" y="0"/>
                </a:lnTo>
                <a:lnTo>
                  <a:pt x="685800" y="32003"/>
                </a:lnTo>
                <a:lnTo>
                  <a:pt x="698754" y="32003"/>
                </a:lnTo>
                <a:lnTo>
                  <a:pt x="698754" y="69723"/>
                </a:lnTo>
                <a:lnTo>
                  <a:pt x="762000" y="38100"/>
                </a:lnTo>
                <a:close/>
              </a:path>
              <a:path w="762000" h="76200">
                <a:moveTo>
                  <a:pt x="698754" y="69723"/>
                </a:moveTo>
                <a:lnTo>
                  <a:pt x="698754" y="44195"/>
                </a:lnTo>
                <a:lnTo>
                  <a:pt x="685800" y="44195"/>
                </a:lnTo>
                <a:lnTo>
                  <a:pt x="685800" y="76200"/>
                </a:lnTo>
                <a:lnTo>
                  <a:pt x="6987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60815" y="4169155"/>
            <a:ext cx="1297305" cy="402590"/>
          </a:xfrm>
          <a:custGeom>
            <a:avLst/>
            <a:gdLst/>
            <a:ahLst/>
            <a:cxnLst/>
            <a:rect l="l" t="t" r="r" b="b"/>
            <a:pathLst>
              <a:path w="1297304" h="402589">
                <a:moveTo>
                  <a:pt x="1225470" y="42400"/>
                </a:moveTo>
                <a:lnTo>
                  <a:pt x="1221954" y="30346"/>
                </a:lnTo>
                <a:lnTo>
                  <a:pt x="0" y="390144"/>
                </a:lnTo>
                <a:lnTo>
                  <a:pt x="3048" y="402336"/>
                </a:lnTo>
                <a:lnTo>
                  <a:pt x="1225470" y="42400"/>
                </a:lnTo>
                <a:close/>
              </a:path>
              <a:path w="1297304" h="402589">
                <a:moveTo>
                  <a:pt x="1296924" y="15240"/>
                </a:moveTo>
                <a:lnTo>
                  <a:pt x="1213103" y="0"/>
                </a:lnTo>
                <a:lnTo>
                  <a:pt x="1221954" y="30346"/>
                </a:lnTo>
                <a:lnTo>
                  <a:pt x="1234439" y="26670"/>
                </a:lnTo>
                <a:lnTo>
                  <a:pt x="1237488" y="38862"/>
                </a:lnTo>
                <a:lnTo>
                  <a:pt x="1237488" y="70327"/>
                </a:lnTo>
                <a:lnTo>
                  <a:pt x="1296924" y="15240"/>
                </a:lnTo>
                <a:close/>
              </a:path>
              <a:path w="1297304" h="402589">
                <a:moveTo>
                  <a:pt x="1237488" y="38862"/>
                </a:moveTo>
                <a:lnTo>
                  <a:pt x="1234439" y="26670"/>
                </a:lnTo>
                <a:lnTo>
                  <a:pt x="1221954" y="30346"/>
                </a:lnTo>
                <a:lnTo>
                  <a:pt x="1225470" y="42400"/>
                </a:lnTo>
                <a:lnTo>
                  <a:pt x="1237488" y="38862"/>
                </a:lnTo>
                <a:close/>
              </a:path>
              <a:path w="1297304" h="402589">
                <a:moveTo>
                  <a:pt x="1237488" y="70327"/>
                </a:moveTo>
                <a:lnTo>
                  <a:pt x="1237488" y="38862"/>
                </a:lnTo>
                <a:lnTo>
                  <a:pt x="1225470" y="42400"/>
                </a:lnTo>
                <a:lnTo>
                  <a:pt x="1234439" y="73152"/>
                </a:lnTo>
                <a:lnTo>
                  <a:pt x="1237488" y="7032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0815" y="4711700"/>
            <a:ext cx="1297305" cy="402590"/>
          </a:xfrm>
          <a:custGeom>
            <a:avLst/>
            <a:gdLst/>
            <a:ahLst/>
            <a:cxnLst/>
            <a:rect l="l" t="t" r="r" b="b"/>
            <a:pathLst>
              <a:path w="1297304" h="402589">
                <a:moveTo>
                  <a:pt x="1225673" y="359240"/>
                </a:moveTo>
                <a:lnTo>
                  <a:pt x="3048" y="0"/>
                </a:lnTo>
                <a:lnTo>
                  <a:pt x="0" y="12191"/>
                </a:lnTo>
                <a:lnTo>
                  <a:pt x="1222157" y="371295"/>
                </a:lnTo>
                <a:lnTo>
                  <a:pt x="1225673" y="359240"/>
                </a:lnTo>
                <a:close/>
              </a:path>
              <a:path w="1297304" h="402589">
                <a:moveTo>
                  <a:pt x="1237488" y="397902"/>
                </a:moveTo>
                <a:lnTo>
                  <a:pt x="1237488" y="362712"/>
                </a:lnTo>
                <a:lnTo>
                  <a:pt x="1234439" y="374903"/>
                </a:lnTo>
                <a:lnTo>
                  <a:pt x="1222157" y="371295"/>
                </a:lnTo>
                <a:lnTo>
                  <a:pt x="1213103" y="402336"/>
                </a:lnTo>
                <a:lnTo>
                  <a:pt x="1237488" y="397902"/>
                </a:lnTo>
                <a:close/>
              </a:path>
              <a:path w="1297304" h="402589">
                <a:moveTo>
                  <a:pt x="1237488" y="362712"/>
                </a:moveTo>
                <a:lnTo>
                  <a:pt x="1225673" y="359240"/>
                </a:lnTo>
                <a:lnTo>
                  <a:pt x="1222157" y="371295"/>
                </a:lnTo>
                <a:lnTo>
                  <a:pt x="1234439" y="374903"/>
                </a:lnTo>
                <a:lnTo>
                  <a:pt x="1237488" y="362712"/>
                </a:lnTo>
                <a:close/>
              </a:path>
              <a:path w="1297304" h="402589">
                <a:moveTo>
                  <a:pt x="1296924" y="387096"/>
                </a:moveTo>
                <a:lnTo>
                  <a:pt x="1234439" y="329184"/>
                </a:lnTo>
                <a:lnTo>
                  <a:pt x="1225673" y="359240"/>
                </a:lnTo>
                <a:lnTo>
                  <a:pt x="1237488" y="362712"/>
                </a:lnTo>
                <a:lnTo>
                  <a:pt x="1237488" y="397902"/>
                </a:lnTo>
                <a:lnTo>
                  <a:pt x="1296924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46635" y="3832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2835" y="4975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9127" y="4489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93853" y="4102100"/>
            <a:ext cx="1069340" cy="468630"/>
          </a:xfrm>
          <a:custGeom>
            <a:avLst/>
            <a:gdLst/>
            <a:ahLst/>
            <a:cxnLst/>
            <a:rect l="l" t="t" r="r" b="b"/>
            <a:pathLst>
              <a:path w="1069340" h="468629">
                <a:moveTo>
                  <a:pt x="1001804" y="427068"/>
                </a:moveTo>
                <a:lnTo>
                  <a:pt x="4559" y="0"/>
                </a:lnTo>
                <a:lnTo>
                  <a:pt x="0" y="12191"/>
                </a:lnTo>
                <a:lnTo>
                  <a:pt x="996504" y="439265"/>
                </a:lnTo>
                <a:lnTo>
                  <a:pt x="1001804" y="427068"/>
                </a:lnTo>
                <a:close/>
              </a:path>
              <a:path w="1069340" h="468629">
                <a:moveTo>
                  <a:pt x="1013447" y="466773"/>
                </a:moveTo>
                <a:lnTo>
                  <a:pt x="1013447" y="432053"/>
                </a:lnTo>
                <a:lnTo>
                  <a:pt x="1008126" y="444246"/>
                </a:lnTo>
                <a:lnTo>
                  <a:pt x="996504" y="439265"/>
                </a:lnTo>
                <a:lnTo>
                  <a:pt x="983742" y="468629"/>
                </a:lnTo>
                <a:lnTo>
                  <a:pt x="1013447" y="466773"/>
                </a:lnTo>
                <a:close/>
              </a:path>
              <a:path w="1069340" h="468629">
                <a:moveTo>
                  <a:pt x="1013447" y="432053"/>
                </a:moveTo>
                <a:lnTo>
                  <a:pt x="1001804" y="427068"/>
                </a:lnTo>
                <a:lnTo>
                  <a:pt x="996504" y="439265"/>
                </a:lnTo>
                <a:lnTo>
                  <a:pt x="1008126" y="444246"/>
                </a:lnTo>
                <a:lnTo>
                  <a:pt x="1013447" y="432053"/>
                </a:lnTo>
                <a:close/>
              </a:path>
              <a:path w="1069340" h="468629">
                <a:moveTo>
                  <a:pt x="1069073" y="463296"/>
                </a:moveTo>
                <a:lnTo>
                  <a:pt x="1014209" y="398525"/>
                </a:lnTo>
                <a:lnTo>
                  <a:pt x="1001804" y="427068"/>
                </a:lnTo>
                <a:lnTo>
                  <a:pt x="1013447" y="432053"/>
                </a:lnTo>
                <a:lnTo>
                  <a:pt x="1013447" y="466773"/>
                </a:lnTo>
                <a:lnTo>
                  <a:pt x="1069073" y="4632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93853" y="4705603"/>
            <a:ext cx="1145540" cy="399415"/>
          </a:xfrm>
          <a:custGeom>
            <a:avLst/>
            <a:gdLst/>
            <a:ahLst/>
            <a:cxnLst/>
            <a:rect l="l" t="t" r="r" b="b"/>
            <a:pathLst>
              <a:path w="1145540" h="399414">
                <a:moveTo>
                  <a:pt x="1074935" y="42249"/>
                </a:moveTo>
                <a:lnTo>
                  <a:pt x="1070781" y="29917"/>
                </a:lnTo>
                <a:lnTo>
                  <a:pt x="0" y="387096"/>
                </a:lnTo>
                <a:lnTo>
                  <a:pt x="4559" y="399288"/>
                </a:lnTo>
                <a:lnTo>
                  <a:pt x="1074935" y="42249"/>
                </a:lnTo>
                <a:close/>
              </a:path>
              <a:path w="1145540" h="399414">
                <a:moveTo>
                  <a:pt x="1145273" y="12192"/>
                </a:moveTo>
                <a:lnTo>
                  <a:pt x="1060703" y="0"/>
                </a:lnTo>
                <a:lnTo>
                  <a:pt x="1070781" y="29917"/>
                </a:lnTo>
                <a:lnTo>
                  <a:pt x="1082802" y="25908"/>
                </a:lnTo>
                <a:lnTo>
                  <a:pt x="1087374" y="38100"/>
                </a:lnTo>
                <a:lnTo>
                  <a:pt x="1087374" y="70103"/>
                </a:lnTo>
                <a:lnTo>
                  <a:pt x="1145273" y="12192"/>
                </a:lnTo>
                <a:close/>
              </a:path>
              <a:path w="1145540" h="399414">
                <a:moveTo>
                  <a:pt x="1087374" y="38100"/>
                </a:moveTo>
                <a:lnTo>
                  <a:pt x="1082802" y="25908"/>
                </a:lnTo>
                <a:lnTo>
                  <a:pt x="1070781" y="29917"/>
                </a:lnTo>
                <a:lnTo>
                  <a:pt x="1074935" y="42249"/>
                </a:lnTo>
                <a:lnTo>
                  <a:pt x="1087374" y="38100"/>
                </a:lnTo>
                <a:close/>
              </a:path>
              <a:path w="1145540" h="399414">
                <a:moveTo>
                  <a:pt x="1087374" y="70103"/>
                </a:moveTo>
                <a:lnTo>
                  <a:pt x="1087374" y="38100"/>
                </a:lnTo>
                <a:lnTo>
                  <a:pt x="1074935" y="42249"/>
                </a:lnTo>
                <a:lnTo>
                  <a:pt x="1085087" y="72390"/>
                </a:lnTo>
                <a:lnTo>
                  <a:pt x="1087374" y="701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32835" y="39850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32835" y="4975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91139" y="4070096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195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1308353" y="44195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3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195"/>
                </a:lnTo>
                <a:lnTo>
                  <a:pt x="1295400" y="44195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91139" y="5136896"/>
            <a:ext cx="1447800" cy="76200"/>
          </a:xfrm>
          <a:custGeom>
            <a:avLst/>
            <a:gdLst/>
            <a:ahLst/>
            <a:cxnLst/>
            <a:rect l="l" t="t" r="r" b="b"/>
            <a:pathLst>
              <a:path w="1447800" h="76200">
                <a:moveTo>
                  <a:pt x="1384553" y="44195"/>
                </a:moveTo>
                <a:lnTo>
                  <a:pt x="1384553" y="32003"/>
                </a:lnTo>
                <a:lnTo>
                  <a:pt x="0" y="32004"/>
                </a:lnTo>
                <a:lnTo>
                  <a:pt x="0" y="44196"/>
                </a:lnTo>
                <a:lnTo>
                  <a:pt x="1384553" y="44195"/>
                </a:lnTo>
                <a:close/>
              </a:path>
              <a:path w="1447800" h="76200">
                <a:moveTo>
                  <a:pt x="1447800" y="38100"/>
                </a:moveTo>
                <a:lnTo>
                  <a:pt x="1371600" y="0"/>
                </a:lnTo>
                <a:lnTo>
                  <a:pt x="1371600" y="32003"/>
                </a:lnTo>
                <a:lnTo>
                  <a:pt x="1384553" y="32003"/>
                </a:lnTo>
                <a:lnTo>
                  <a:pt x="1384553" y="69723"/>
                </a:lnTo>
                <a:lnTo>
                  <a:pt x="1447800" y="38100"/>
                </a:lnTo>
                <a:close/>
              </a:path>
              <a:path w="1447800" h="76200">
                <a:moveTo>
                  <a:pt x="1384553" y="69723"/>
                </a:moveTo>
                <a:lnTo>
                  <a:pt x="1384553" y="44195"/>
                </a:lnTo>
                <a:lnTo>
                  <a:pt x="1371600" y="44195"/>
                </a:lnTo>
                <a:lnTo>
                  <a:pt x="1371600" y="76200"/>
                </a:lnTo>
                <a:lnTo>
                  <a:pt x="13845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880235" y="3698494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20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0235" y="522250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18845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5638939" y="3803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87" y="0"/>
                </a:moveTo>
                <a:lnTo>
                  <a:pt x="182451" y="4634"/>
                </a:lnTo>
                <a:lnTo>
                  <a:pt x="139512" y="17930"/>
                </a:lnTo>
                <a:lnTo>
                  <a:pt x="100679" y="38978"/>
                </a:lnTo>
                <a:lnTo>
                  <a:pt x="66863" y="66865"/>
                </a:lnTo>
                <a:lnTo>
                  <a:pt x="38977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7" y="356517"/>
                </a:lnTo>
                <a:lnTo>
                  <a:pt x="66863" y="390334"/>
                </a:lnTo>
                <a:lnTo>
                  <a:pt x="100679" y="418221"/>
                </a:lnTo>
                <a:lnTo>
                  <a:pt x="139512" y="439269"/>
                </a:lnTo>
                <a:lnTo>
                  <a:pt x="182451" y="452565"/>
                </a:lnTo>
                <a:lnTo>
                  <a:pt x="228587" y="457200"/>
                </a:lnTo>
                <a:lnTo>
                  <a:pt x="274730" y="452565"/>
                </a:lnTo>
                <a:lnTo>
                  <a:pt x="317675" y="439269"/>
                </a:lnTo>
                <a:lnTo>
                  <a:pt x="356510" y="418221"/>
                </a:lnTo>
                <a:lnTo>
                  <a:pt x="390326" y="390334"/>
                </a:lnTo>
                <a:lnTo>
                  <a:pt x="418212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2" y="100682"/>
                </a:lnTo>
                <a:lnTo>
                  <a:pt x="390326" y="66865"/>
                </a:lnTo>
                <a:lnTo>
                  <a:pt x="356510" y="38978"/>
                </a:lnTo>
                <a:lnTo>
                  <a:pt x="317675" y="17930"/>
                </a:lnTo>
                <a:lnTo>
                  <a:pt x="274730" y="4634"/>
                </a:lnTo>
                <a:lnTo>
                  <a:pt x="2285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45105" y="382574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33939" y="38795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38939" y="4870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87" y="0"/>
                </a:moveTo>
                <a:lnTo>
                  <a:pt x="182451" y="4634"/>
                </a:lnTo>
                <a:lnTo>
                  <a:pt x="139512" y="17930"/>
                </a:lnTo>
                <a:lnTo>
                  <a:pt x="100679" y="38978"/>
                </a:lnTo>
                <a:lnTo>
                  <a:pt x="66863" y="66865"/>
                </a:lnTo>
                <a:lnTo>
                  <a:pt x="38977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7" y="356517"/>
                </a:lnTo>
                <a:lnTo>
                  <a:pt x="66863" y="390334"/>
                </a:lnTo>
                <a:lnTo>
                  <a:pt x="100679" y="418221"/>
                </a:lnTo>
                <a:lnTo>
                  <a:pt x="139512" y="439269"/>
                </a:lnTo>
                <a:lnTo>
                  <a:pt x="182451" y="452565"/>
                </a:lnTo>
                <a:lnTo>
                  <a:pt x="228587" y="457200"/>
                </a:lnTo>
                <a:lnTo>
                  <a:pt x="274730" y="452565"/>
                </a:lnTo>
                <a:lnTo>
                  <a:pt x="317675" y="439269"/>
                </a:lnTo>
                <a:lnTo>
                  <a:pt x="356510" y="418221"/>
                </a:lnTo>
                <a:lnTo>
                  <a:pt x="390326" y="390334"/>
                </a:lnTo>
                <a:lnTo>
                  <a:pt x="418212" y="356517"/>
                </a:lnTo>
                <a:lnTo>
                  <a:pt x="439258" y="317682"/>
                </a:lnTo>
                <a:lnTo>
                  <a:pt x="452553" y="274739"/>
                </a:lnTo>
                <a:lnTo>
                  <a:pt x="457187" y="228600"/>
                </a:lnTo>
                <a:lnTo>
                  <a:pt x="452553" y="182460"/>
                </a:lnTo>
                <a:lnTo>
                  <a:pt x="439258" y="139517"/>
                </a:lnTo>
                <a:lnTo>
                  <a:pt x="418212" y="100682"/>
                </a:lnTo>
                <a:lnTo>
                  <a:pt x="390326" y="66865"/>
                </a:lnTo>
                <a:lnTo>
                  <a:pt x="356510" y="38978"/>
                </a:lnTo>
                <a:lnTo>
                  <a:pt x="317675" y="17930"/>
                </a:lnTo>
                <a:lnTo>
                  <a:pt x="274730" y="4634"/>
                </a:lnTo>
                <a:lnTo>
                  <a:pt x="228587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53487" y="489254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3939" y="4946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4739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27635" y="3832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7635" y="4975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9127" y="4489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3853" y="4102100"/>
            <a:ext cx="1069340" cy="468630"/>
          </a:xfrm>
          <a:custGeom>
            <a:avLst/>
            <a:gdLst/>
            <a:ahLst/>
            <a:cxnLst/>
            <a:rect l="l" t="t" r="r" b="b"/>
            <a:pathLst>
              <a:path w="1069340" h="468629">
                <a:moveTo>
                  <a:pt x="1001804" y="427068"/>
                </a:moveTo>
                <a:lnTo>
                  <a:pt x="4559" y="0"/>
                </a:lnTo>
                <a:lnTo>
                  <a:pt x="0" y="12191"/>
                </a:lnTo>
                <a:lnTo>
                  <a:pt x="996504" y="439265"/>
                </a:lnTo>
                <a:lnTo>
                  <a:pt x="1001804" y="427068"/>
                </a:lnTo>
                <a:close/>
              </a:path>
              <a:path w="1069340" h="468629">
                <a:moveTo>
                  <a:pt x="1013447" y="466773"/>
                </a:moveTo>
                <a:lnTo>
                  <a:pt x="1013447" y="432053"/>
                </a:lnTo>
                <a:lnTo>
                  <a:pt x="1008126" y="444246"/>
                </a:lnTo>
                <a:lnTo>
                  <a:pt x="996504" y="439265"/>
                </a:lnTo>
                <a:lnTo>
                  <a:pt x="983742" y="468629"/>
                </a:lnTo>
                <a:lnTo>
                  <a:pt x="1013447" y="466773"/>
                </a:lnTo>
                <a:close/>
              </a:path>
              <a:path w="1069340" h="468629">
                <a:moveTo>
                  <a:pt x="1013447" y="432053"/>
                </a:moveTo>
                <a:lnTo>
                  <a:pt x="1001804" y="427068"/>
                </a:lnTo>
                <a:lnTo>
                  <a:pt x="996504" y="439265"/>
                </a:lnTo>
                <a:lnTo>
                  <a:pt x="1008126" y="444246"/>
                </a:lnTo>
                <a:lnTo>
                  <a:pt x="1013447" y="432053"/>
                </a:lnTo>
                <a:close/>
              </a:path>
              <a:path w="1069340" h="468629">
                <a:moveTo>
                  <a:pt x="1069073" y="463296"/>
                </a:moveTo>
                <a:lnTo>
                  <a:pt x="1014209" y="398525"/>
                </a:lnTo>
                <a:lnTo>
                  <a:pt x="1001804" y="427068"/>
                </a:lnTo>
                <a:lnTo>
                  <a:pt x="1013447" y="432053"/>
                </a:lnTo>
                <a:lnTo>
                  <a:pt x="1013447" y="466773"/>
                </a:lnTo>
                <a:lnTo>
                  <a:pt x="1069073" y="4632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93853" y="4705603"/>
            <a:ext cx="1145540" cy="399415"/>
          </a:xfrm>
          <a:custGeom>
            <a:avLst/>
            <a:gdLst/>
            <a:ahLst/>
            <a:cxnLst/>
            <a:rect l="l" t="t" r="r" b="b"/>
            <a:pathLst>
              <a:path w="1145540" h="399414">
                <a:moveTo>
                  <a:pt x="1074935" y="42249"/>
                </a:moveTo>
                <a:lnTo>
                  <a:pt x="1070781" y="29917"/>
                </a:lnTo>
                <a:lnTo>
                  <a:pt x="0" y="387096"/>
                </a:lnTo>
                <a:lnTo>
                  <a:pt x="4559" y="399288"/>
                </a:lnTo>
                <a:lnTo>
                  <a:pt x="1074935" y="42249"/>
                </a:lnTo>
                <a:close/>
              </a:path>
              <a:path w="1145540" h="399414">
                <a:moveTo>
                  <a:pt x="1145273" y="12192"/>
                </a:moveTo>
                <a:lnTo>
                  <a:pt x="1060703" y="0"/>
                </a:lnTo>
                <a:lnTo>
                  <a:pt x="1070781" y="29917"/>
                </a:lnTo>
                <a:lnTo>
                  <a:pt x="1082802" y="25908"/>
                </a:lnTo>
                <a:lnTo>
                  <a:pt x="1087374" y="38100"/>
                </a:lnTo>
                <a:lnTo>
                  <a:pt x="1087374" y="70103"/>
                </a:lnTo>
                <a:lnTo>
                  <a:pt x="1145273" y="12192"/>
                </a:lnTo>
                <a:close/>
              </a:path>
              <a:path w="1145540" h="399414">
                <a:moveTo>
                  <a:pt x="1087374" y="38100"/>
                </a:moveTo>
                <a:lnTo>
                  <a:pt x="1082802" y="25908"/>
                </a:lnTo>
                <a:lnTo>
                  <a:pt x="1070781" y="29917"/>
                </a:lnTo>
                <a:lnTo>
                  <a:pt x="1074935" y="42249"/>
                </a:lnTo>
                <a:lnTo>
                  <a:pt x="1087374" y="38100"/>
                </a:lnTo>
                <a:close/>
              </a:path>
              <a:path w="1145540" h="399414">
                <a:moveTo>
                  <a:pt x="1087374" y="70103"/>
                </a:moveTo>
                <a:lnTo>
                  <a:pt x="1087374" y="38100"/>
                </a:lnTo>
                <a:lnTo>
                  <a:pt x="1074935" y="42249"/>
                </a:lnTo>
                <a:lnTo>
                  <a:pt x="1085087" y="72390"/>
                </a:lnTo>
                <a:lnTo>
                  <a:pt x="1087374" y="701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32835" y="39850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2835" y="4975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91139" y="4070096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308353" y="44195"/>
                </a:moveTo>
                <a:lnTo>
                  <a:pt x="13083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1308353" y="44195"/>
                </a:lnTo>
                <a:close/>
              </a:path>
              <a:path w="1371600" h="76200">
                <a:moveTo>
                  <a:pt x="1371600" y="38099"/>
                </a:moveTo>
                <a:lnTo>
                  <a:pt x="1295400" y="0"/>
                </a:lnTo>
                <a:lnTo>
                  <a:pt x="1295400" y="32003"/>
                </a:lnTo>
                <a:lnTo>
                  <a:pt x="1308353" y="32003"/>
                </a:lnTo>
                <a:lnTo>
                  <a:pt x="1308353" y="69723"/>
                </a:lnTo>
                <a:lnTo>
                  <a:pt x="1371600" y="38099"/>
                </a:lnTo>
                <a:close/>
              </a:path>
              <a:path w="1371600" h="76200">
                <a:moveTo>
                  <a:pt x="1308353" y="69723"/>
                </a:moveTo>
                <a:lnTo>
                  <a:pt x="1308353" y="44195"/>
                </a:lnTo>
                <a:lnTo>
                  <a:pt x="1295400" y="44195"/>
                </a:lnTo>
                <a:lnTo>
                  <a:pt x="1295400" y="76200"/>
                </a:lnTo>
                <a:lnTo>
                  <a:pt x="13083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91139" y="5136896"/>
            <a:ext cx="1447800" cy="76200"/>
          </a:xfrm>
          <a:custGeom>
            <a:avLst/>
            <a:gdLst/>
            <a:ahLst/>
            <a:cxnLst/>
            <a:rect l="l" t="t" r="r" b="b"/>
            <a:pathLst>
              <a:path w="1447800" h="76200">
                <a:moveTo>
                  <a:pt x="1384553" y="44195"/>
                </a:moveTo>
                <a:lnTo>
                  <a:pt x="1384553" y="32003"/>
                </a:lnTo>
                <a:lnTo>
                  <a:pt x="0" y="32004"/>
                </a:lnTo>
                <a:lnTo>
                  <a:pt x="0" y="44196"/>
                </a:lnTo>
                <a:lnTo>
                  <a:pt x="1384553" y="44195"/>
                </a:lnTo>
                <a:close/>
              </a:path>
              <a:path w="1447800" h="76200">
                <a:moveTo>
                  <a:pt x="1447800" y="38100"/>
                </a:moveTo>
                <a:lnTo>
                  <a:pt x="1371600" y="0"/>
                </a:lnTo>
                <a:lnTo>
                  <a:pt x="1371600" y="32003"/>
                </a:lnTo>
                <a:lnTo>
                  <a:pt x="1384553" y="32003"/>
                </a:lnTo>
                <a:lnTo>
                  <a:pt x="1384553" y="69723"/>
                </a:lnTo>
                <a:lnTo>
                  <a:pt x="1447800" y="38100"/>
                </a:lnTo>
                <a:close/>
              </a:path>
              <a:path w="1447800" h="76200">
                <a:moveTo>
                  <a:pt x="1384553" y="69723"/>
                </a:moveTo>
                <a:lnTo>
                  <a:pt x="1384553" y="44195"/>
                </a:lnTo>
                <a:lnTo>
                  <a:pt x="1371600" y="44195"/>
                </a:lnTo>
                <a:lnTo>
                  <a:pt x="1371600" y="76200"/>
                </a:lnTo>
                <a:lnTo>
                  <a:pt x="13845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80235" y="3698494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80235" y="522250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47939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5139" y="4603496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46354" y="44195"/>
                </a:moveTo>
                <a:lnTo>
                  <a:pt x="5463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546354" y="44195"/>
                </a:lnTo>
                <a:close/>
              </a:path>
              <a:path w="609600" h="76200">
                <a:moveTo>
                  <a:pt x="609600" y="38100"/>
                </a:moveTo>
                <a:lnTo>
                  <a:pt x="533400" y="0"/>
                </a:lnTo>
                <a:lnTo>
                  <a:pt x="533400" y="32003"/>
                </a:lnTo>
                <a:lnTo>
                  <a:pt x="546354" y="32003"/>
                </a:lnTo>
                <a:lnTo>
                  <a:pt x="546354" y="69723"/>
                </a:lnTo>
                <a:lnTo>
                  <a:pt x="609600" y="38100"/>
                </a:lnTo>
                <a:close/>
              </a:path>
              <a:path w="609600" h="76200">
                <a:moveTo>
                  <a:pt x="546354" y="69723"/>
                </a:moveTo>
                <a:lnTo>
                  <a:pt x="546354" y="44195"/>
                </a:lnTo>
                <a:lnTo>
                  <a:pt x="533400" y="44195"/>
                </a:lnTo>
                <a:lnTo>
                  <a:pt x="533400" y="76200"/>
                </a:lnTo>
                <a:lnTo>
                  <a:pt x="5463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5939" y="4603496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22554" y="44195"/>
                </a:moveTo>
                <a:lnTo>
                  <a:pt x="6225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622554" y="44195"/>
                </a:lnTo>
                <a:close/>
              </a:path>
              <a:path w="685800" h="76200">
                <a:moveTo>
                  <a:pt x="685800" y="38100"/>
                </a:moveTo>
                <a:lnTo>
                  <a:pt x="609600" y="0"/>
                </a:lnTo>
                <a:lnTo>
                  <a:pt x="609600" y="32003"/>
                </a:lnTo>
                <a:lnTo>
                  <a:pt x="622554" y="32003"/>
                </a:lnTo>
                <a:lnTo>
                  <a:pt x="622554" y="69723"/>
                </a:lnTo>
                <a:lnTo>
                  <a:pt x="685800" y="38100"/>
                </a:lnTo>
                <a:close/>
              </a:path>
              <a:path w="685800" h="76200">
                <a:moveTo>
                  <a:pt x="622554" y="69723"/>
                </a:moveTo>
                <a:lnTo>
                  <a:pt x="622554" y="44195"/>
                </a:lnTo>
                <a:lnTo>
                  <a:pt x="609600" y="44195"/>
                </a:lnTo>
                <a:lnTo>
                  <a:pt x="609600" y="76200"/>
                </a:lnTo>
                <a:lnTo>
                  <a:pt x="6225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68891" y="4184396"/>
            <a:ext cx="765175" cy="386715"/>
          </a:xfrm>
          <a:custGeom>
            <a:avLst/>
            <a:gdLst/>
            <a:ahLst/>
            <a:cxnLst/>
            <a:rect l="l" t="t" r="r" b="b"/>
            <a:pathLst>
              <a:path w="765175" h="386714">
                <a:moveTo>
                  <a:pt x="699845" y="39834"/>
                </a:moveTo>
                <a:lnTo>
                  <a:pt x="694158" y="28586"/>
                </a:lnTo>
                <a:lnTo>
                  <a:pt x="0" y="375665"/>
                </a:lnTo>
                <a:lnTo>
                  <a:pt x="6095" y="386333"/>
                </a:lnTo>
                <a:lnTo>
                  <a:pt x="699845" y="39834"/>
                </a:lnTo>
                <a:close/>
              </a:path>
              <a:path w="765175" h="386714">
                <a:moveTo>
                  <a:pt x="765048" y="0"/>
                </a:moveTo>
                <a:lnTo>
                  <a:pt x="679703" y="0"/>
                </a:lnTo>
                <a:lnTo>
                  <a:pt x="694158" y="28586"/>
                </a:lnTo>
                <a:lnTo>
                  <a:pt x="705612" y="22859"/>
                </a:lnTo>
                <a:lnTo>
                  <a:pt x="710945" y="34289"/>
                </a:lnTo>
                <a:lnTo>
                  <a:pt x="710945" y="61789"/>
                </a:lnTo>
                <a:lnTo>
                  <a:pt x="713993" y="67817"/>
                </a:lnTo>
                <a:lnTo>
                  <a:pt x="765048" y="0"/>
                </a:lnTo>
                <a:close/>
              </a:path>
              <a:path w="765175" h="386714">
                <a:moveTo>
                  <a:pt x="710945" y="34289"/>
                </a:moveTo>
                <a:lnTo>
                  <a:pt x="705612" y="22859"/>
                </a:lnTo>
                <a:lnTo>
                  <a:pt x="694158" y="28586"/>
                </a:lnTo>
                <a:lnTo>
                  <a:pt x="699845" y="39834"/>
                </a:lnTo>
                <a:lnTo>
                  <a:pt x="710945" y="34289"/>
                </a:lnTo>
                <a:close/>
              </a:path>
              <a:path w="765175" h="386714">
                <a:moveTo>
                  <a:pt x="710945" y="61789"/>
                </a:moveTo>
                <a:lnTo>
                  <a:pt x="710945" y="34289"/>
                </a:lnTo>
                <a:lnTo>
                  <a:pt x="699845" y="39834"/>
                </a:lnTo>
                <a:lnTo>
                  <a:pt x="710945" y="6178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70415" y="4787900"/>
            <a:ext cx="763905" cy="249554"/>
          </a:xfrm>
          <a:custGeom>
            <a:avLst/>
            <a:gdLst/>
            <a:ahLst/>
            <a:cxnLst/>
            <a:rect l="l" t="t" r="r" b="b"/>
            <a:pathLst>
              <a:path w="763904" h="249554">
                <a:moveTo>
                  <a:pt x="692556" y="206627"/>
                </a:moveTo>
                <a:lnTo>
                  <a:pt x="3047" y="0"/>
                </a:lnTo>
                <a:lnTo>
                  <a:pt x="0" y="12191"/>
                </a:lnTo>
                <a:lnTo>
                  <a:pt x="688864" y="218851"/>
                </a:lnTo>
                <a:lnTo>
                  <a:pt x="692556" y="206627"/>
                </a:lnTo>
                <a:close/>
              </a:path>
              <a:path w="763904" h="249554">
                <a:moveTo>
                  <a:pt x="704850" y="244830"/>
                </a:moveTo>
                <a:lnTo>
                  <a:pt x="704850" y="210312"/>
                </a:lnTo>
                <a:lnTo>
                  <a:pt x="701039" y="222503"/>
                </a:lnTo>
                <a:lnTo>
                  <a:pt x="688864" y="218851"/>
                </a:lnTo>
                <a:lnTo>
                  <a:pt x="679703" y="249174"/>
                </a:lnTo>
                <a:lnTo>
                  <a:pt x="704850" y="244830"/>
                </a:lnTo>
                <a:close/>
              </a:path>
              <a:path w="763904" h="249554">
                <a:moveTo>
                  <a:pt x="704850" y="210312"/>
                </a:moveTo>
                <a:lnTo>
                  <a:pt x="692556" y="206627"/>
                </a:lnTo>
                <a:lnTo>
                  <a:pt x="688864" y="218851"/>
                </a:lnTo>
                <a:lnTo>
                  <a:pt x="701039" y="222503"/>
                </a:lnTo>
                <a:lnTo>
                  <a:pt x="704850" y="210312"/>
                </a:lnTo>
                <a:close/>
              </a:path>
              <a:path w="763904" h="249554">
                <a:moveTo>
                  <a:pt x="763524" y="234696"/>
                </a:moveTo>
                <a:lnTo>
                  <a:pt x="701801" y="176022"/>
                </a:lnTo>
                <a:lnTo>
                  <a:pt x="692556" y="206627"/>
                </a:lnTo>
                <a:lnTo>
                  <a:pt x="704850" y="210312"/>
                </a:lnTo>
                <a:lnTo>
                  <a:pt x="704850" y="244830"/>
                </a:lnTo>
                <a:lnTo>
                  <a:pt x="763524" y="2346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05927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96339" y="4679696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70153" y="44195"/>
                </a:moveTo>
                <a:lnTo>
                  <a:pt x="4701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470153" y="44195"/>
                </a:lnTo>
                <a:close/>
              </a:path>
              <a:path w="533400" h="76200">
                <a:moveTo>
                  <a:pt x="533387" y="38100"/>
                </a:moveTo>
                <a:lnTo>
                  <a:pt x="457187" y="0"/>
                </a:lnTo>
                <a:lnTo>
                  <a:pt x="457187" y="32003"/>
                </a:lnTo>
                <a:lnTo>
                  <a:pt x="470153" y="32003"/>
                </a:lnTo>
                <a:lnTo>
                  <a:pt x="470153" y="69716"/>
                </a:lnTo>
                <a:lnTo>
                  <a:pt x="533387" y="38100"/>
                </a:lnTo>
                <a:close/>
              </a:path>
              <a:path w="533400" h="76200">
                <a:moveTo>
                  <a:pt x="470153" y="69716"/>
                </a:moveTo>
                <a:lnTo>
                  <a:pt x="470153" y="44195"/>
                </a:lnTo>
                <a:lnTo>
                  <a:pt x="457187" y="44195"/>
                </a:lnTo>
                <a:lnTo>
                  <a:pt x="457187" y="76200"/>
                </a:lnTo>
                <a:lnTo>
                  <a:pt x="470153" y="6971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67727" y="3422396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43339" y="3422396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3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05239" y="3422396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76200" y="838200"/>
                </a:moveTo>
                <a:lnTo>
                  <a:pt x="0" y="838200"/>
                </a:lnTo>
                <a:lnTo>
                  <a:pt x="32004" y="902208"/>
                </a:lnTo>
                <a:lnTo>
                  <a:pt x="32004" y="851153"/>
                </a:lnTo>
                <a:lnTo>
                  <a:pt x="44196" y="851153"/>
                </a:lnTo>
                <a:lnTo>
                  <a:pt x="44196" y="902207"/>
                </a:lnTo>
                <a:lnTo>
                  <a:pt x="76200" y="838200"/>
                </a:lnTo>
                <a:close/>
              </a:path>
              <a:path w="76200" h="914400">
                <a:moveTo>
                  <a:pt x="44196" y="838200"/>
                </a:moveTo>
                <a:lnTo>
                  <a:pt x="44196" y="0"/>
                </a:lnTo>
                <a:lnTo>
                  <a:pt x="32004" y="0"/>
                </a:lnTo>
                <a:lnTo>
                  <a:pt x="32004" y="838200"/>
                </a:lnTo>
                <a:lnTo>
                  <a:pt x="44196" y="838200"/>
                </a:lnTo>
                <a:close/>
              </a:path>
              <a:path w="76200" h="914400">
                <a:moveTo>
                  <a:pt x="44196" y="902207"/>
                </a:moveTo>
                <a:lnTo>
                  <a:pt x="44196" y="851153"/>
                </a:lnTo>
                <a:lnTo>
                  <a:pt x="32004" y="851153"/>
                </a:lnTo>
                <a:lnTo>
                  <a:pt x="32004" y="902208"/>
                </a:lnTo>
                <a:lnTo>
                  <a:pt x="38100" y="914400"/>
                </a:lnTo>
                <a:lnTo>
                  <a:pt x="44196" y="90220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22635" y="1387348"/>
            <a:ext cx="5871210" cy="199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503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Constructing NFA for regular expression  </a:t>
            </a:r>
            <a:r>
              <a:rPr sz="2800" dirty="0">
                <a:latin typeface="Times New Roman"/>
                <a:cs typeface="Times New Roman"/>
              </a:rPr>
              <a:t>r =</a:t>
            </a:r>
            <a:r>
              <a:rPr sz="2800" spc="-5" dirty="0">
                <a:latin typeface="Times New Roman"/>
                <a:cs typeface="Times New Roman"/>
              </a:rPr>
              <a:t> (a|b)*abb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241300">
              <a:lnSpc>
                <a:spcPts val="3105"/>
              </a:lnSpc>
            </a:pPr>
            <a:r>
              <a:rPr sz="2800" spc="-5" dirty="0">
                <a:latin typeface="Times New Roman"/>
                <a:cs typeface="Times New Roman"/>
              </a:rPr>
              <a:t>Step 2: constructing (a </a:t>
            </a:r>
            <a:r>
              <a:rPr sz="2800" dirty="0">
                <a:latin typeface="Times New Roman"/>
                <a:cs typeface="Times New Roman"/>
              </a:rPr>
              <a:t>|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b)*</a:t>
            </a:r>
            <a:endParaRPr sz="2800">
              <a:latin typeface="Times New Roman"/>
              <a:cs typeface="Times New Roman"/>
            </a:endParaRPr>
          </a:p>
          <a:p>
            <a:pPr marR="534670" algn="r">
              <a:lnSpc>
                <a:spcPts val="2625"/>
              </a:lnSpc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76539" y="4870196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76539" y="5632196"/>
            <a:ext cx="6781800" cy="0"/>
          </a:xfrm>
          <a:custGeom>
            <a:avLst/>
            <a:gdLst/>
            <a:ahLst/>
            <a:cxnLst/>
            <a:rect l="l" t="t" r="r" b="b"/>
            <a:pathLst>
              <a:path w="6781800">
                <a:moveTo>
                  <a:pt x="0" y="0"/>
                </a:moveTo>
                <a:lnTo>
                  <a:pt x="67817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20227" y="4870196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5"/>
                </a:lnTo>
                <a:lnTo>
                  <a:pt x="44196" y="63245"/>
                </a:lnTo>
                <a:lnTo>
                  <a:pt x="44196" y="76200"/>
                </a:lnTo>
                <a:lnTo>
                  <a:pt x="76200" y="76200"/>
                </a:lnTo>
                <a:close/>
              </a:path>
              <a:path w="76200" h="762000">
                <a:moveTo>
                  <a:pt x="44196" y="76200"/>
                </a:moveTo>
                <a:lnTo>
                  <a:pt x="44196" y="63245"/>
                </a:lnTo>
                <a:lnTo>
                  <a:pt x="32003" y="63245"/>
                </a:lnTo>
                <a:lnTo>
                  <a:pt x="32003" y="76200"/>
                </a:lnTo>
                <a:lnTo>
                  <a:pt x="44196" y="76200"/>
                </a:lnTo>
                <a:close/>
              </a:path>
              <a:path w="76200" h="762000">
                <a:moveTo>
                  <a:pt x="44196" y="761999"/>
                </a:moveTo>
                <a:lnTo>
                  <a:pt x="44196" y="76200"/>
                </a:lnTo>
                <a:lnTo>
                  <a:pt x="32003" y="76200"/>
                </a:lnTo>
                <a:lnTo>
                  <a:pt x="32003" y="761999"/>
                </a:lnTo>
                <a:lnTo>
                  <a:pt x="44196" y="7619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289435" y="54328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5281" y="418845"/>
            <a:ext cx="1696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4724539" y="3803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3939" y="38795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4539" y="4870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33939" y="4946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4739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27635" y="3832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7635" y="4975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4727" y="4489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79453" y="4102100"/>
            <a:ext cx="1069340" cy="468630"/>
          </a:xfrm>
          <a:custGeom>
            <a:avLst/>
            <a:gdLst/>
            <a:ahLst/>
            <a:cxnLst/>
            <a:rect l="l" t="t" r="r" b="b"/>
            <a:pathLst>
              <a:path w="1069339" h="468629">
                <a:moveTo>
                  <a:pt x="1001804" y="427068"/>
                </a:moveTo>
                <a:lnTo>
                  <a:pt x="4571" y="0"/>
                </a:lnTo>
                <a:lnTo>
                  <a:pt x="0" y="12191"/>
                </a:lnTo>
                <a:lnTo>
                  <a:pt x="996504" y="439265"/>
                </a:lnTo>
                <a:lnTo>
                  <a:pt x="1001804" y="427068"/>
                </a:lnTo>
                <a:close/>
              </a:path>
              <a:path w="1069339" h="468629">
                <a:moveTo>
                  <a:pt x="1013447" y="466773"/>
                </a:moveTo>
                <a:lnTo>
                  <a:pt x="1013447" y="432053"/>
                </a:lnTo>
                <a:lnTo>
                  <a:pt x="1008126" y="444245"/>
                </a:lnTo>
                <a:lnTo>
                  <a:pt x="996504" y="439265"/>
                </a:lnTo>
                <a:lnTo>
                  <a:pt x="983742" y="468629"/>
                </a:lnTo>
                <a:lnTo>
                  <a:pt x="1013447" y="466773"/>
                </a:lnTo>
                <a:close/>
              </a:path>
              <a:path w="1069339" h="468629">
                <a:moveTo>
                  <a:pt x="1013447" y="432053"/>
                </a:moveTo>
                <a:lnTo>
                  <a:pt x="1001804" y="427068"/>
                </a:lnTo>
                <a:lnTo>
                  <a:pt x="996504" y="439265"/>
                </a:lnTo>
                <a:lnTo>
                  <a:pt x="1008126" y="444245"/>
                </a:lnTo>
                <a:lnTo>
                  <a:pt x="1013447" y="432053"/>
                </a:lnTo>
                <a:close/>
              </a:path>
              <a:path w="1069339" h="468629">
                <a:moveTo>
                  <a:pt x="1069073" y="463295"/>
                </a:moveTo>
                <a:lnTo>
                  <a:pt x="1014209" y="398525"/>
                </a:lnTo>
                <a:lnTo>
                  <a:pt x="1001804" y="427068"/>
                </a:lnTo>
                <a:lnTo>
                  <a:pt x="1013447" y="432053"/>
                </a:lnTo>
                <a:lnTo>
                  <a:pt x="1013447" y="466773"/>
                </a:lnTo>
                <a:lnTo>
                  <a:pt x="1069073" y="46329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79453" y="4705603"/>
            <a:ext cx="1145540" cy="399415"/>
          </a:xfrm>
          <a:custGeom>
            <a:avLst/>
            <a:gdLst/>
            <a:ahLst/>
            <a:cxnLst/>
            <a:rect l="l" t="t" r="r" b="b"/>
            <a:pathLst>
              <a:path w="1145539" h="399414">
                <a:moveTo>
                  <a:pt x="1074935" y="42249"/>
                </a:moveTo>
                <a:lnTo>
                  <a:pt x="1070781" y="29917"/>
                </a:lnTo>
                <a:lnTo>
                  <a:pt x="0" y="387096"/>
                </a:lnTo>
                <a:lnTo>
                  <a:pt x="4571" y="399288"/>
                </a:lnTo>
                <a:lnTo>
                  <a:pt x="1074935" y="42249"/>
                </a:lnTo>
                <a:close/>
              </a:path>
              <a:path w="1145539" h="399414">
                <a:moveTo>
                  <a:pt x="1145273" y="12192"/>
                </a:moveTo>
                <a:lnTo>
                  <a:pt x="1060703" y="0"/>
                </a:lnTo>
                <a:lnTo>
                  <a:pt x="1070781" y="29917"/>
                </a:lnTo>
                <a:lnTo>
                  <a:pt x="1082802" y="25908"/>
                </a:lnTo>
                <a:lnTo>
                  <a:pt x="1087374" y="38100"/>
                </a:lnTo>
                <a:lnTo>
                  <a:pt x="1087374" y="70103"/>
                </a:lnTo>
                <a:lnTo>
                  <a:pt x="1145273" y="12192"/>
                </a:lnTo>
                <a:close/>
              </a:path>
              <a:path w="1145539" h="399414">
                <a:moveTo>
                  <a:pt x="1087374" y="38100"/>
                </a:moveTo>
                <a:lnTo>
                  <a:pt x="1082802" y="25908"/>
                </a:lnTo>
                <a:lnTo>
                  <a:pt x="1070781" y="29917"/>
                </a:lnTo>
                <a:lnTo>
                  <a:pt x="1074935" y="42249"/>
                </a:lnTo>
                <a:lnTo>
                  <a:pt x="1087374" y="38100"/>
                </a:lnTo>
                <a:close/>
              </a:path>
              <a:path w="1145539" h="399414">
                <a:moveTo>
                  <a:pt x="1087374" y="70103"/>
                </a:moveTo>
                <a:lnTo>
                  <a:pt x="1087374" y="38100"/>
                </a:lnTo>
                <a:lnTo>
                  <a:pt x="1074935" y="42249"/>
                </a:lnTo>
                <a:lnTo>
                  <a:pt x="1085087" y="72390"/>
                </a:lnTo>
                <a:lnTo>
                  <a:pt x="1087374" y="7010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18435" y="39850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8435" y="49756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6835" y="3597147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6835" y="527354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47939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5139" y="4603496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46354" y="44195"/>
                </a:moveTo>
                <a:lnTo>
                  <a:pt x="5463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546354" y="44195"/>
                </a:lnTo>
                <a:close/>
              </a:path>
              <a:path w="609600" h="76200">
                <a:moveTo>
                  <a:pt x="609600" y="38100"/>
                </a:moveTo>
                <a:lnTo>
                  <a:pt x="533400" y="0"/>
                </a:lnTo>
                <a:lnTo>
                  <a:pt x="533400" y="32003"/>
                </a:lnTo>
                <a:lnTo>
                  <a:pt x="546354" y="32003"/>
                </a:lnTo>
                <a:lnTo>
                  <a:pt x="546354" y="69723"/>
                </a:lnTo>
                <a:lnTo>
                  <a:pt x="609600" y="38100"/>
                </a:lnTo>
                <a:close/>
              </a:path>
              <a:path w="609600" h="76200">
                <a:moveTo>
                  <a:pt x="546354" y="69723"/>
                </a:moveTo>
                <a:lnTo>
                  <a:pt x="546354" y="44195"/>
                </a:lnTo>
                <a:lnTo>
                  <a:pt x="533400" y="44195"/>
                </a:lnTo>
                <a:lnTo>
                  <a:pt x="533400" y="76200"/>
                </a:lnTo>
                <a:lnTo>
                  <a:pt x="5463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5939" y="4603496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22554" y="44195"/>
                </a:moveTo>
                <a:lnTo>
                  <a:pt x="622554" y="32003"/>
                </a:lnTo>
                <a:lnTo>
                  <a:pt x="0" y="32003"/>
                </a:lnTo>
                <a:lnTo>
                  <a:pt x="0" y="44195"/>
                </a:lnTo>
                <a:lnTo>
                  <a:pt x="622554" y="44195"/>
                </a:lnTo>
                <a:close/>
              </a:path>
              <a:path w="685800" h="76200">
                <a:moveTo>
                  <a:pt x="685800" y="38100"/>
                </a:moveTo>
                <a:lnTo>
                  <a:pt x="609600" y="0"/>
                </a:lnTo>
                <a:lnTo>
                  <a:pt x="609600" y="32003"/>
                </a:lnTo>
                <a:lnTo>
                  <a:pt x="622554" y="32003"/>
                </a:lnTo>
                <a:lnTo>
                  <a:pt x="622554" y="69723"/>
                </a:lnTo>
                <a:lnTo>
                  <a:pt x="685800" y="38100"/>
                </a:lnTo>
                <a:close/>
              </a:path>
              <a:path w="685800" h="76200">
                <a:moveTo>
                  <a:pt x="622554" y="69723"/>
                </a:moveTo>
                <a:lnTo>
                  <a:pt x="622554" y="44195"/>
                </a:lnTo>
                <a:lnTo>
                  <a:pt x="609600" y="44195"/>
                </a:lnTo>
                <a:lnTo>
                  <a:pt x="609600" y="76200"/>
                </a:lnTo>
                <a:lnTo>
                  <a:pt x="622554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68891" y="4184396"/>
            <a:ext cx="765175" cy="386715"/>
          </a:xfrm>
          <a:custGeom>
            <a:avLst/>
            <a:gdLst/>
            <a:ahLst/>
            <a:cxnLst/>
            <a:rect l="l" t="t" r="r" b="b"/>
            <a:pathLst>
              <a:path w="765175" h="386714">
                <a:moveTo>
                  <a:pt x="699845" y="39834"/>
                </a:moveTo>
                <a:lnTo>
                  <a:pt x="694158" y="28586"/>
                </a:lnTo>
                <a:lnTo>
                  <a:pt x="0" y="375665"/>
                </a:lnTo>
                <a:lnTo>
                  <a:pt x="6095" y="386333"/>
                </a:lnTo>
                <a:lnTo>
                  <a:pt x="699845" y="39834"/>
                </a:lnTo>
                <a:close/>
              </a:path>
              <a:path w="765175" h="386714">
                <a:moveTo>
                  <a:pt x="765048" y="0"/>
                </a:moveTo>
                <a:lnTo>
                  <a:pt x="679703" y="0"/>
                </a:lnTo>
                <a:lnTo>
                  <a:pt x="694158" y="28586"/>
                </a:lnTo>
                <a:lnTo>
                  <a:pt x="705612" y="22859"/>
                </a:lnTo>
                <a:lnTo>
                  <a:pt x="710945" y="34289"/>
                </a:lnTo>
                <a:lnTo>
                  <a:pt x="710945" y="61789"/>
                </a:lnTo>
                <a:lnTo>
                  <a:pt x="713993" y="67817"/>
                </a:lnTo>
                <a:lnTo>
                  <a:pt x="765048" y="0"/>
                </a:lnTo>
                <a:close/>
              </a:path>
              <a:path w="765175" h="386714">
                <a:moveTo>
                  <a:pt x="710945" y="34289"/>
                </a:moveTo>
                <a:lnTo>
                  <a:pt x="705612" y="22859"/>
                </a:lnTo>
                <a:lnTo>
                  <a:pt x="694158" y="28586"/>
                </a:lnTo>
                <a:lnTo>
                  <a:pt x="699845" y="39834"/>
                </a:lnTo>
                <a:lnTo>
                  <a:pt x="710945" y="34289"/>
                </a:lnTo>
                <a:close/>
              </a:path>
              <a:path w="765175" h="386714">
                <a:moveTo>
                  <a:pt x="710945" y="61789"/>
                </a:moveTo>
                <a:lnTo>
                  <a:pt x="710945" y="34289"/>
                </a:lnTo>
                <a:lnTo>
                  <a:pt x="699845" y="39834"/>
                </a:lnTo>
                <a:lnTo>
                  <a:pt x="710945" y="6178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70415" y="4787900"/>
            <a:ext cx="763905" cy="249554"/>
          </a:xfrm>
          <a:custGeom>
            <a:avLst/>
            <a:gdLst/>
            <a:ahLst/>
            <a:cxnLst/>
            <a:rect l="l" t="t" r="r" b="b"/>
            <a:pathLst>
              <a:path w="763904" h="249554">
                <a:moveTo>
                  <a:pt x="692556" y="206627"/>
                </a:moveTo>
                <a:lnTo>
                  <a:pt x="3047" y="0"/>
                </a:lnTo>
                <a:lnTo>
                  <a:pt x="0" y="12191"/>
                </a:lnTo>
                <a:lnTo>
                  <a:pt x="688864" y="218851"/>
                </a:lnTo>
                <a:lnTo>
                  <a:pt x="692556" y="206627"/>
                </a:lnTo>
                <a:close/>
              </a:path>
              <a:path w="763904" h="249554">
                <a:moveTo>
                  <a:pt x="704850" y="244830"/>
                </a:moveTo>
                <a:lnTo>
                  <a:pt x="704850" y="210312"/>
                </a:lnTo>
                <a:lnTo>
                  <a:pt x="701039" y="222503"/>
                </a:lnTo>
                <a:lnTo>
                  <a:pt x="688864" y="218851"/>
                </a:lnTo>
                <a:lnTo>
                  <a:pt x="679703" y="249174"/>
                </a:lnTo>
                <a:lnTo>
                  <a:pt x="704850" y="244830"/>
                </a:lnTo>
                <a:close/>
              </a:path>
              <a:path w="763904" h="249554">
                <a:moveTo>
                  <a:pt x="704850" y="210312"/>
                </a:moveTo>
                <a:lnTo>
                  <a:pt x="692556" y="206627"/>
                </a:lnTo>
                <a:lnTo>
                  <a:pt x="688864" y="218851"/>
                </a:lnTo>
                <a:lnTo>
                  <a:pt x="701039" y="222503"/>
                </a:lnTo>
                <a:lnTo>
                  <a:pt x="704850" y="210312"/>
                </a:lnTo>
                <a:close/>
              </a:path>
              <a:path w="763904" h="249554">
                <a:moveTo>
                  <a:pt x="763524" y="234696"/>
                </a:moveTo>
                <a:lnTo>
                  <a:pt x="701801" y="176022"/>
                </a:lnTo>
                <a:lnTo>
                  <a:pt x="692556" y="206627"/>
                </a:lnTo>
                <a:lnTo>
                  <a:pt x="704850" y="210312"/>
                </a:lnTo>
                <a:lnTo>
                  <a:pt x="704850" y="244830"/>
                </a:lnTo>
                <a:lnTo>
                  <a:pt x="763524" y="2346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91527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81939" y="4679696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70153" y="44195"/>
                </a:moveTo>
                <a:lnTo>
                  <a:pt x="4701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470153" y="44195"/>
                </a:lnTo>
                <a:close/>
              </a:path>
              <a:path w="533400" h="76200">
                <a:moveTo>
                  <a:pt x="533387" y="38100"/>
                </a:moveTo>
                <a:lnTo>
                  <a:pt x="457187" y="0"/>
                </a:lnTo>
                <a:lnTo>
                  <a:pt x="457187" y="32003"/>
                </a:lnTo>
                <a:lnTo>
                  <a:pt x="470153" y="32003"/>
                </a:lnTo>
                <a:lnTo>
                  <a:pt x="470153" y="69716"/>
                </a:lnTo>
                <a:lnTo>
                  <a:pt x="533387" y="38100"/>
                </a:lnTo>
                <a:close/>
              </a:path>
              <a:path w="533400" h="76200">
                <a:moveTo>
                  <a:pt x="470153" y="69716"/>
                </a:moveTo>
                <a:lnTo>
                  <a:pt x="470153" y="44195"/>
                </a:lnTo>
                <a:lnTo>
                  <a:pt x="457187" y="44195"/>
                </a:lnTo>
                <a:lnTo>
                  <a:pt x="457187" y="76200"/>
                </a:lnTo>
                <a:lnTo>
                  <a:pt x="470153" y="6971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43339" y="3422396"/>
            <a:ext cx="3733800" cy="0"/>
          </a:xfrm>
          <a:custGeom>
            <a:avLst/>
            <a:gdLst/>
            <a:ahLst/>
            <a:cxnLst/>
            <a:rect l="l" t="t" r="r" b="b"/>
            <a:pathLst>
              <a:path w="3733800">
                <a:moveTo>
                  <a:pt x="0" y="0"/>
                </a:moveTo>
                <a:lnTo>
                  <a:pt x="37337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05239" y="3422396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76200" y="838200"/>
                </a:moveTo>
                <a:lnTo>
                  <a:pt x="0" y="838200"/>
                </a:lnTo>
                <a:lnTo>
                  <a:pt x="32004" y="902208"/>
                </a:lnTo>
                <a:lnTo>
                  <a:pt x="32004" y="851153"/>
                </a:lnTo>
                <a:lnTo>
                  <a:pt x="44196" y="851153"/>
                </a:lnTo>
                <a:lnTo>
                  <a:pt x="44196" y="902207"/>
                </a:lnTo>
                <a:lnTo>
                  <a:pt x="76200" y="838200"/>
                </a:lnTo>
                <a:close/>
              </a:path>
              <a:path w="76200" h="914400">
                <a:moveTo>
                  <a:pt x="44196" y="838200"/>
                </a:moveTo>
                <a:lnTo>
                  <a:pt x="44196" y="0"/>
                </a:lnTo>
                <a:lnTo>
                  <a:pt x="32004" y="0"/>
                </a:lnTo>
                <a:lnTo>
                  <a:pt x="32004" y="838200"/>
                </a:lnTo>
                <a:lnTo>
                  <a:pt x="44196" y="838200"/>
                </a:lnTo>
                <a:close/>
              </a:path>
              <a:path w="76200" h="914400">
                <a:moveTo>
                  <a:pt x="44196" y="902207"/>
                </a:moveTo>
                <a:lnTo>
                  <a:pt x="44196" y="851153"/>
                </a:lnTo>
                <a:lnTo>
                  <a:pt x="32004" y="851153"/>
                </a:lnTo>
                <a:lnTo>
                  <a:pt x="32004" y="902208"/>
                </a:lnTo>
                <a:lnTo>
                  <a:pt x="38100" y="914400"/>
                </a:lnTo>
                <a:lnTo>
                  <a:pt x="44196" y="90220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22635" y="1387348"/>
            <a:ext cx="5871210" cy="199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503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Constructing NFA for regular expression  </a:t>
            </a:r>
            <a:r>
              <a:rPr sz="2800" dirty="0">
                <a:latin typeface="Times New Roman"/>
                <a:cs typeface="Times New Roman"/>
              </a:rPr>
              <a:t>r =</a:t>
            </a:r>
            <a:r>
              <a:rPr sz="2800" spc="-5" dirty="0">
                <a:latin typeface="Times New Roman"/>
                <a:cs typeface="Times New Roman"/>
              </a:rPr>
              <a:t> (a|b)*abb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241300">
              <a:lnSpc>
                <a:spcPts val="3105"/>
              </a:lnSpc>
            </a:pPr>
            <a:r>
              <a:rPr sz="2800" spc="-5" dirty="0">
                <a:latin typeface="Times New Roman"/>
                <a:cs typeface="Times New Roman"/>
              </a:rPr>
              <a:t>Step 3: catenate 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abb</a:t>
            </a:r>
            <a:endParaRPr sz="2800">
              <a:latin typeface="Times New Roman"/>
              <a:cs typeface="Times New Roman"/>
            </a:endParaRPr>
          </a:p>
          <a:p>
            <a:pPr marR="534670" algn="r">
              <a:lnSpc>
                <a:spcPts val="2625"/>
              </a:lnSpc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76539" y="4870196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76539" y="5632196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>
                <a:moveTo>
                  <a:pt x="0" y="0"/>
                </a:moveTo>
                <a:lnTo>
                  <a:pt x="5867387" y="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05827" y="4946396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5"/>
                </a:lnTo>
                <a:lnTo>
                  <a:pt x="44196" y="63245"/>
                </a:lnTo>
                <a:lnTo>
                  <a:pt x="44196" y="76200"/>
                </a:lnTo>
                <a:lnTo>
                  <a:pt x="76200" y="76200"/>
                </a:lnTo>
                <a:close/>
              </a:path>
              <a:path w="76200" h="685800">
                <a:moveTo>
                  <a:pt x="44196" y="76200"/>
                </a:moveTo>
                <a:lnTo>
                  <a:pt x="44196" y="63245"/>
                </a:lnTo>
                <a:lnTo>
                  <a:pt x="32003" y="63245"/>
                </a:lnTo>
                <a:lnTo>
                  <a:pt x="32003" y="76200"/>
                </a:lnTo>
                <a:lnTo>
                  <a:pt x="44196" y="76200"/>
                </a:lnTo>
                <a:close/>
              </a:path>
              <a:path w="76200" h="685800">
                <a:moveTo>
                  <a:pt x="44196" y="685799"/>
                </a:moveTo>
                <a:lnTo>
                  <a:pt x="44196" y="76200"/>
                </a:lnTo>
                <a:lnTo>
                  <a:pt x="32003" y="76200"/>
                </a:lnTo>
                <a:lnTo>
                  <a:pt x="32003" y="685799"/>
                </a:lnTo>
                <a:lnTo>
                  <a:pt x="44196" y="68579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77127" y="3422396"/>
            <a:ext cx="0" cy="990600"/>
          </a:xfrm>
          <a:custGeom>
            <a:avLst/>
            <a:gdLst/>
            <a:ahLst/>
            <a:cxnLst/>
            <a:rect l="l" t="t" r="r" b="b"/>
            <a:pathLst>
              <a:path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91139" y="4070096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70153" y="44195"/>
                </a:moveTo>
                <a:lnTo>
                  <a:pt x="4701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470153" y="44195"/>
                </a:lnTo>
                <a:close/>
              </a:path>
              <a:path w="533400" h="76200">
                <a:moveTo>
                  <a:pt x="533400" y="38100"/>
                </a:moveTo>
                <a:lnTo>
                  <a:pt x="457200" y="0"/>
                </a:lnTo>
                <a:lnTo>
                  <a:pt x="457200" y="32003"/>
                </a:lnTo>
                <a:lnTo>
                  <a:pt x="470153" y="32003"/>
                </a:lnTo>
                <a:lnTo>
                  <a:pt x="470153" y="69723"/>
                </a:lnTo>
                <a:lnTo>
                  <a:pt x="533400" y="38100"/>
                </a:lnTo>
                <a:close/>
              </a:path>
              <a:path w="533400" h="76200">
                <a:moveTo>
                  <a:pt x="470153" y="69723"/>
                </a:moveTo>
                <a:lnTo>
                  <a:pt x="470153" y="44195"/>
                </a:lnTo>
                <a:lnTo>
                  <a:pt x="457200" y="44195"/>
                </a:lnTo>
                <a:lnTo>
                  <a:pt x="457200" y="76200"/>
                </a:lnTo>
                <a:lnTo>
                  <a:pt x="4701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91139" y="5136896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93953" y="44195"/>
                </a:moveTo>
                <a:lnTo>
                  <a:pt x="393953" y="32003"/>
                </a:lnTo>
                <a:lnTo>
                  <a:pt x="0" y="32003"/>
                </a:lnTo>
                <a:lnTo>
                  <a:pt x="0" y="44195"/>
                </a:lnTo>
                <a:lnTo>
                  <a:pt x="393953" y="44195"/>
                </a:lnTo>
                <a:close/>
              </a:path>
              <a:path w="457200" h="76200">
                <a:moveTo>
                  <a:pt x="457200" y="38100"/>
                </a:moveTo>
                <a:lnTo>
                  <a:pt x="381000" y="0"/>
                </a:lnTo>
                <a:lnTo>
                  <a:pt x="381000" y="32003"/>
                </a:lnTo>
                <a:lnTo>
                  <a:pt x="393953" y="32003"/>
                </a:lnTo>
                <a:lnTo>
                  <a:pt x="393953" y="69723"/>
                </a:lnTo>
                <a:lnTo>
                  <a:pt x="457200" y="38100"/>
                </a:lnTo>
                <a:close/>
              </a:path>
              <a:path w="457200" h="76200">
                <a:moveTo>
                  <a:pt x="393953" y="69723"/>
                </a:moveTo>
                <a:lnTo>
                  <a:pt x="393953" y="44195"/>
                </a:lnTo>
                <a:lnTo>
                  <a:pt x="381000" y="44195"/>
                </a:lnTo>
                <a:lnTo>
                  <a:pt x="381000" y="76200"/>
                </a:lnTo>
                <a:lnTo>
                  <a:pt x="393953" y="6972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24927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58327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067927" y="44129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3" y="4634"/>
                </a:lnTo>
                <a:lnTo>
                  <a:pt x="139522" y="17930"/>
                </a:lnTo>
                <a:lnTo>
                  <a:pt x="100687" y="38978"/>
                </a:lnTo>
                <a:lnTo>
                  <a:pt x="66870" y="66865"/>
                </a:lnTo>
                <a:lnTo>
                  <a:pt x="38981" y="100682"/>
                </a:lnTo>
                <a:lnTo>
                  <a:pt x="17932" y="139517"/>
                </a:lnTo>
                <a:lnTo>
                  <a:pt x="4635" y="182460"/>
                </a:lnTo>
                <a:lnTo>
                  <a:pt x="0" y="228600"/>
                </a:lnTo>
                <a:lnTo>
                  <a:pt x="4635" y="274739"/>
                </a:lnTo>
                <a:lnTo>
                  <a:pt x="17932" y="317682"/>
                </a:lnTo>
                <a:lnTo>
                  <a:pt x="38981" y="356517"/>
                </a:lnTo>
                <a:lnTo>
                  <a:pt x="66870" y="390334"/>
                </a:lnTo>
                <a:lnTo>
                  <a:pt x="100687" y="418221"/>
                </a:lnTo>
                <a:lnTo>
                  <a:pt x="139522" y="439269"/>
                </a:lnTo>
                <a:lnTo>
                  <a:pt x="182463" y="452565"/>
                </a:lnTo>
                <a:lnTo>
                  <a:pt x="228600" y="457200"/>
                </a:lnTo>
                <a:lnTo>
                  <a:pt x="274743" y="452565"/>
                </a:lnTo>
                <a:lnTo>
                  <a:pt x="317687" y="439269"/>
                </a:lnTo>
                <a:lnTo>
                  <a:pt x="356523" y="418221"/>
                </a:lnTo>
                <a:lnTo>
                  <a:pt x="390339" y="390334"/>
                </a:lnTo>
                <a:lnTo>
                  <a:pt x="418225" y="356517"/>
                </a:lnTo>
                <a:lnTo>
                  <a:pt x="439270" y="317682"/>
                </a:lnTo>
                <a:lnTo>
                  <a:pt x="452566" y="274739"/>
                </a:lnTo>
                <a:lnTo>
                  <a:pt x="457200" y="228600"/>
                </a:lnTo>
                <a:lnTo>
                  <a:pt x="452566" y="182460"/>
                </a:lnTo>
                <a:lnTo>
                  <a:pt x="439270" y="139517"/>
                </a:lnTo>
                <a:lnTo>
                  <a:pt x="418225" y="100682"/>
                </a:lnTo>
                <a:lnTo>
                  <a:pt x="390339" y="66865"/>
                </a:lnTo>
                <a:lnTo>
                  <a:pt x="356523" y="38978"/>
                </a:lnTo>
                <a:lnTo>
                  <a:pt x="317687" y="17930"/>
                </a:lnTo>
                <a:lnTo>
                  <a:pt x="274743" y="4634"/>
                </a:lnTo>
                <a:lnTo>
                  <a:pt x="2286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461643" y="4005326"/>
            <a:ext cx="697230" cy="485775"/>
          </a:xfrm>
          <a:custGeom>
            <a:avLst/>
            <a:gdLst/>
            <a:ahLst/>
            <a:cxnLst/>
            <a:rect l="l" t="t" r="r" b="b"/>
            <a:pathLst>
              <a:path w="697229" h="485775">
                <a:moveTo>
                  <a:pt x="667824" y="335110"/>
                </a:moveTo>
                <a:lnTo>
                  <a:pt x="631698" y="253746"/>
                </a:lnTo>
                <a:lnTo>
                  <a:pt x="604253" y="197358"/>
                </a:lnTo>
                <a:lnTo>
                  <a:pt x="582930" y="158496"/>
                </a:lnTo>
                <a:lnTo>
                  <a:pt x="569214" y="134112"/>
                </a:lnTo>
                <a:lnTo>
                  <a:pt x="553974" y="111251"/>
                </a:lnTo>
                <a:lnTo>
                  <a:pt x="547103" y="100584"/>
                </a:lnTo>
                <a:lnTo>
                  <a:pt x="539483" y="89915"/>
                </a:lnTo>
                <a:lnTo>
                  <a:pt x="531876" y="80010"/>
                </a:lnTo>
                <a:lnTo>
                  <a:pt x="523481" y="70865"/>
                </a:lnTo>
                <a:lnTo>
                  <a:pt x="515874" y="61722"/>
                </a:lnTo>
                <a:lnTo>
                  <a:pt x="483095" y="32003"/>
                </a:lnTo>
                <a:lnTo>
                  <a:pt x="448043" y="12191"/>
                </a:lnTo>
                <a:lnTo>
                  <a:pt x="399288" y="762"/>
                </a:lnTo>
                <a:lnTo>
                  <a:pt x="389369" y="0"/>
                </a:lnTo>
                <a:lnTo>
                  <a:pt x="368033" y="0"/>
                </a:lnTo>
                <a:lnTo>
                  <a:pt x="314693" y="8382"/>
                </a:lnTo>
                <a:lnTo>
                  <a:pt x="272783" y="22098"/>
                </a:lnTo>
                <a:lnTo>
                  <a:pt x="262128" y="25908"/>
                </a:lnTo>
                <a:lnTo>
                  <a:pt x="252222" y="30479"/>
                </a:lnTo>
                <a:lnTo>
                  <a:pt x="242303" y="35813"/>
                </a:lnTo>
                <a:lnTo>
                  <a:pt x="232410" y="40386"/>
                </a:lnTo>
                <a:lnTo>
                  <a:pt x="222504" y="46482"/>
                </a:lnTo>
                <a:lnTo>
                  <a:pt x="203454" y="57912"/>
                </a:lnTo>
                <a:lnTo>
                  <a:pt x="194310" y="64008"/>
                </a:lnTo>
                <a:lnTo>
                  <a:pt x="185928" y="70865"/>
                </a:lnTo>
                <a:lnTo>
                  <a:pt x="177533" y="76962"/>
                </a:lnTo>
                <a:lnTo>
                  <a:pt x="169164" y="83820"/>
                </a:lnTo>
                <a:lnTo>
                  <a:pt x="161531" y="91439"/>
                </a:lnTo>
                <a:lnTo>
                  <a:pt x="153924" y="98298"/>
                </a:lnTo>
                <a:lnTo>
                  <a:pt x="146304" y="105918"/>
                </a:lnTo>
                <a:lnTo>
                  <a:pt x="120383" y="140208"/>
                </a:lnTo>
                <a:lnTo>
                  <a:pt x="91427" y="191262"/>
                </a:lnTo>
                <a:lnTo>
                  <a:pt x="70853" y="237744"/>
                </a:lnTo>
                <a:lnTo>
                  <a:pt x="53327" y="288036"/>
                </a:lnTo>
                <a:lnTo>
                  <a:pt x="36575" y="341375"/>
                </a:lnTo>
                <a:lnTo>
                  <a:pt x="21336" y="397001"/>
                </a:lnTo>
                <a:lnTo>
                  <a:pt x="14478" y="425196"/>
                </a:lnTo>
                <a:lnTo>
                  <a:pt x="0" y="482346"/>
                </a:lnTo>
                <a:lnTo>
                  <a:pt x="12179" y="485394"/>
                </a:lnTo>
                <a:lnTo>
                  <a:pt x="33528" y="400050"/>
                </a:lnTo>
                <a:lnTo>
                  <a:pt x="48755" y="345186"/>
                </a:lnTo>
                <a:lnTo>
                  <a:pt x="65519" y="291846"/>
                </a:lnTo>
                <a:lnTo>
                  <a:pt x="73914" y="266700"/>
                </a:lnTo>
                <a:lnTo>
                  <a:pt x="83045" y="242315"/>
                </a:lnTo>
                <a:lnTo>
                  <a:pt x="92964" y="219456"/>
                </a:lnTo>
                <a:lnTo>
                  <a:pt x="97536" y="208025"/>
                </a:lnTo>
                <a:lnTo>
                  <a:pt x="118872" y="166115"/>
                </a:lnTo>
                <a:lnTo>
                  <a:pt x="149352" y="121920"/>
                </a:lnTo>
                <a:lnTo>
                  <a:pt x="177533" y="93725"/>
                </a:lnTo>
                <a:lnTo>
                  <a:pt x="211074" y="68579"/>
                </a:lnTo>
                <a:lnTo>
                  <a:pt x="247650" y="46482"/>
                </a:lnTo>
                <a:lnTo>
                  <a:pt x="287274" y="29718"/>
                </a:lnTo>
                <a:lnTo>
                  <a:pt x="297929" y="26670"/>
                </a:lnTo>
                <a:lnTo>
                  <a:pt x="307848" y="22860"/>
                </a:lnTo>
                <a:lnTo>
                  <a:pt x="318503" y="20574"/>
                </a:lnTo>
                <a:lnTo>
                  <a:pt x="338328" y="16001"/>
                </a:lnTo>
                <a:lnTo>
                  <a:pt x="348983" y="14477"/>
                </a:lnTo>
                <a:lnTo>
                  <a:pt x="378714" y="12191"/>
                </a:lnTo>
                <a:lnTo>
                  <a:pt x="399288" y="13779"/>
                </a:lnTo>
                <a:lnTo>
                  <a:pt x="407657" y="14477"/>
                </a:lnTo>
                <a:lnTo>
                  <a:pt x="460248" y="32003"/>
                </a:lnTo>
                <a:lnTo>
                  <a:pt x="467855" y="37337"/>
                </a:lnTo>
                <a:lnTo>
                  <a:pt x="476250" y="42672"/>
                </a:lnTo>
                <a:lnTo>
                  <a:pt x="506730" y="70865"/>
                </a:lnTo>
                <a:lnTo>
                  <a:pt x="528828" y="98298"/>
                </a:lnTo>
                <a:lnTo>
                  <a:pt x="536448" y="108203"/>
                </a:lnTo>
                <a:lnTo>
                  <a:pt x="544055" y="118872"/>
                </a:lnTo>
                <a:lnTo>
                  <a:pt x="550926" y="129539"/>
                </a:lnTo>
                <a:lnTo>
                  <a:pt x="557784" y="140970"/>
                </a:lnTo>
                <a:lnTo>
                  <a:pt x="565404" y="152400"/>
                </a:lnTo>
                <a:lnTo>
                  <a:pt x="592836" y="203453"/>
                </a:lnTo>
                <a:lnTo>
                  <a:pt x="620255" y="259079"/>
                </a:lnTo>
                <a:lnTo>
                  <a:pt x="633222" y="288036"/>
                </a:lnTo>
                <a:lnTo>
                  <a:pt x="646938" y="317753"/>
                </a:lnTo>
                <a:lnTo>
                  <a:pt x="656362" y="340094"/>
                </a:lnTo>
                <a:lnTo>
                  <a:pt x="667824" y="335110"/>
                </a:lnTo>
                <a:close/>
              </a:path>
              <a:path w="697229" h="485775">
                <a:moveTo>
                  <a:pt x="672833" y="391530"/>
                </a:moveTo>
                <a:lnTo>
                  <a:pt x="672833" y="346710"/>
                </a:lnTo>
                <a:lnTo>
                  <a:pt x="661403" y="352044"/>
                </a:lnTo>
                <a:lnTo>
                  <a:pt x="656362" y="340094"/>
                </a:lnTo>
                <a:lnTo>
                  <a:pt x="627126" y="352806"/>
                </a:lnTo>
                <a:lnTo>
                  <a:pt x="672833" y="391530"/>
                </a:lnTo>
                <a:close/>
              </a:path>
              <a:path w="697229" h="485775">
                <a:moveTo>
                  <a:pt x="672833" y="346710"/>
                </a:moveTo>
                <a:lnTo>
                  <a:pt x="667824" y="335110"/>
                </a:lnTo>
                <a:lnTo>
                  <a:pt x="656362" y="340094"/>
                </a:lnTo>
                <a:lnTo>
                  <a:pt x="661403" y="352044"/>
                </a:lnTo>
                <a:lnTo>
                  <a:pt x="672833" y="346710"/>
                </a:lnTo>
                <a:close/>
              </a:path>
              <a:path w="697229" h="485775">
                <a:moveTo>
                  <a:pt x="697230" y="322325"/>
                </a:moveTo>
                <a:lnTo>
                  <a:pt x="667824" y="335110"/>
                </a:lnTo>
                <a:lnTo>
                  <a:pt x="672833" y="346710"/>
                </a:lnTo>
                <a:lnTo>
                  <a:pt x="672833" y="391530"/>
                </a:lnTo>
                <a:lnTo>
                  <a:pt x="691883" y="407670"/>
                </a:lnTo>
                <a:lnTo>
                  <a:pt x="697230" y="322325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71243" y="3979417"/>
            <a:ext cx="697230" cy="486409"/>
          </a:xfrm>
          <a:custGeom>
            <a:avLst/>
            <a:gdLst/>
            <a:ahLst/>
            <a:cxnLst/>
            <a:rect l="l" t="t" r="r" b="b"/>
            <a:pathLst>
              <a:path w="697229" h="486410">
                <a:moveTo>
                  <a:pt x="667804" y="335561"/>
                </a:moveTo>
                <a:lnTo>
                  <a:pt x="658355" y="313182"/>
                </a:lnTo>
                <a:lnTo>
                  <a:pt x="644652" y="283464"/>
                </a:lnTo>
                <a:lnTo>
                  <a:pt x="631698" y="254508"/>
                </a:lnTo>
                <a:lnTo>
                  <a:pt x="617982" y="225552"/>
                </a:lnTo>
                <a:lnTo>
                  <a:pt x="597395" y="184404"/>
                </a:lnTo>
                <a:lnTo>
                  <a:pt x="590550" y="171450"/>
                </a:lnTo>
                <a:lnTo>
                  <a:pt x="582930" y="159258"/>
                </a:lnTo>
                <a:lnTo>
                  <a:pt x="576072" y="146304"/>
                </a:lnTo>
                <a:lnTo>
                  <a:pt x="569201" y="134874"/>
                </a:lnTo>
                <a:lnTo>
                  <a:pt x="561581" y="122682"/>
                </a:lnTo>
                <a:lnTo>
                  <a:pt x="553974" y="112014"/>
                </a:lnTo>
                <a:lnTo>
                  <a:pt x="547103" y="101346"/>
                </a:lnTo>
                <a:lnTo>
                  <a:pt x="539483" y="90678"/>
                </a:lnTo>
                <a:lnTo>
                  <a:pt x="531876" y="80772"/>
                </a:lnTo>
                <a:lnTo>
                  <a:pt x="523481" y="71628"/>
                </a:lnTo>
                <a:lnTo>
                  <a:pt x="515874" y="62484"/>
                </a:lnTo>
                <a:lnTo>
                  <a:pt x="483095" y="32766"/>
                </a:lnTo>
                <a:lnTo>
                  <a:pt x="438912" y="9144"/>
                </a:lnTo>
                <a:lnTo>
                  <a:pt x="388607" y="706"/>
                </a:lnTo>
                <a:lnTo>
                  <a:pt x="378701" y="0"/>
                </a:lnTo>
                <a:lnTo>
                  <a:pt x="346710" y="2286"/>
                </a:lnTo>
                <a:lnTo>
                  <a:pt x="336029" y="4572"/>
                </a:lnTo>
                <a:lnTo>
                  <a:pt x="325374" y="6096"/>
                </a:lnTo>
                <a:lnTo>
                  <a:pt x="314706" y="8382"/>
                </a:lnTo>
                <a:lnTo>
                  <a:pt x="293357" y="14478"/>
                </a:lnTo>
                <a:lnTo>
                  <a:pt x="283451" y="18287"/>
                </a:lnTo>
                <a:lnTo>
                  <a:pt x="272783" y="22098"/>
                </a:lnTo>
                <a:lnTo>
                  <a:pt x="222504" y="46482"/>
                </a:lnTo>
                <a:lnTo>
                  <a:pt x="185928" y="70866"/>
                </a:lnTo>
                <a:lnTo>
                  <a:pt x="146304" y="106680"/>
                </a:lnTo>
                <a:lnTo>
                  <a:pt x="114300" y="150114"/>
                </a:lnTo>
                <a:lnTo>
                  <a:pt x="108204" y="160782"/>
                </a:lnTo>
                <a:lnTo>
                  <a:pt x="102095" y="170687"/>
                </a:lnTo>
                <a:lnTo>
                  <a:pt x="80772" y="214884"/>
                </a:lnTo>
                <a:lnTo>
                  <a:pt x="61722" y="262890"/>
                </a:lnTo>
                <a:lnTo>
                  <a:pt x="36575" y="342138"/>
                </a:lnTo>
                <a:lnTo>
                  <a:pt x="21336" y="397764"/>
                </a:lnTo>
                <a:lnTo>
                  <a:pt x="14478" y="425958"/>
                </a:lnTo>
                <a:lnTo>
                  <a:pt x="0" y="483108"/>
                </a:lnTo>
                <a:lnTo>
                  <a:pt x="12179" y="486156"/>
                </a:lnTo>
                <a:lnTo>
                  <a:pt x="33528" y="400812"/>
                </a:lnTo>
                <a:lnTo>
                  <a:pt x="48755" y="345186"/>
                </a:lnTo>
                <a:lnTo>
                  <a:pt x="65519" y="292608"/>
                </a:lnTo>
                <a:lnTo>
                  <a:pt x="83045" y="243078"/>
                </a:lnTo>
                <a:lnTo>
                  <a:pt x="102857" y="197358"/>
                </a:lnTo>
                <a:lnTo>
                  <a:pt x="124955" y="156972"/>
                </a:lnTo>
                <a:lnTo>
                  <a:pt x="149352" y="122682"/>
                </a:lnTo>
                <a:lnTo>
                  <a:pt x="177533" y="94487"/>
                </a:lnTo>
                <a:lnTo>
                  <a:pt x="185928" y="87630"/>
                </a:lnTo>
                <a:lnTo>
                  <a:pt x="247650" y="47244"/>
                </a:lnTo>
                <a:lnTo>
                  <a:pt x="287274" y="30480"/>
                </a:lnTo>
                <a:lnTo>
                  <a:pt x="318503" y="21336"/>
                </a:lnTo>
                <a:lnTo>
                  <a:pt x="328422" y="18287"/>
                </a:lnTo>
                <a:lnTo>
                  <a:pt x="338328" y="16764"/>
                </a:lnTo>
                <a:lnTo>
                  <a:pt x="348983" y="15240"/>
                </a:lnTo>
                <a:lnTo>
                  <a:pt x="358902" y="13716"/>
                </a:lnTo>
                <a:lnTo>
                  <a:pt x="368795" y="12954"/>
                </a:lnTo>
                <a:lnTo>
                  <a:pt x="389382" y="13013"/>
                </a:lnTo>
                <a:lnTo>
                  <a:pt x="398525" y="13716"/>
                </a:lnTo>
                <a:lnTo>
                  <a:pt x="407657" y="15240"/>
                </a:lnTo>
                <a:lnTo>
                  <a:pt x="417575" y="16764"/>
                </a:lnTo>
                <a:lnTo>
                  <a:pt x="425945" y="19050"/>
                </a:lnTo>
                <a:lnTo>
                  <a:pt x="435102" y="21336"/>
                </a:lnTo>
                <a:lnTo>
                  <a:pt x="443484" y="24384"/>
                </a:lnTo>
                <a:lnTo>
                  <a:pt x="483857" y="49530"/>
                </a:lnTo>
                <a:lnTo>
                  <a:pt x="514350" y="80010"/>
                </a:lnTo>
                <a:lnTo>
                  <a:pt x="528828" y="98298"/>
                </a:lnTo>
                <a:lnTo>
                  <a:pt x="536448" y="108204"/>
                </a:lnTo>
                <a:lnTo>
                  <a:pt x="544055" y="118872"/>
                </a:lnTo>
                <a:lnTo>
                  <a:pt x="557784" y="141732"/>
                </a:lnTo>
                <a:lnTo>
                  <a:pt x="565404" y="153162"/>
                </a:lnTo>
                <a:lnTo>
                  <a:pt x="579107" y="177546"/>
                </a:lnTo>
                <a:lnTo>
                  <a:pt x="585978" y="190500"/>
                </a:lnTo>
                <a:lnTo>
                  <a:pt x="592836" y="204216"/>
                </a:lnTo>
                <a:lnTo>
                  <a:pt x="599681" y="217170"/>
                </a:lnTo>
                <a:lnTo>
                  <a:pt x="606552" y="231648"/>
                </a:lnTo>
                <a:lnTo>
                  <a:pt x="620255" y="259842"/>
                </a:lnTo>
                <a:lnTo>
                  <a:pt x="633222" y="288798"/>
                </a:lnTo>
                <a:lnTo>
                  <a:pt x="646938" y="318516"/>
                </a:lnTo>
                <a:lnTo>
                  <a:pt x="656381" y="340404"/>
                </a:lnTo>
                <a:lnTo>
                  <a:pt x="667804" y="335561"/>
                </a:lnTo>
                <a:close/>
              </a:path>
              <a:path w="697229" h="486410">
                <a:moveTo>
                  <a:pt x="672833" y="392068"/>
                </a:moveTo>
                <a:lnTo>
                  <a:pt x="672833" y="347472"/>
                </a:lnTo>
                <a:lnTo>
                  <a:pt x="661403" y="352044"/>
                </a:lnTo>
                <a:lnTo>
                  <a:pt x="656381" y="340404"/>
                </a:lnTo>
                <a:lnTo>
                  <a:pt x="627126" y="352806"/>
                </a:lnTo>
                <a:lnTo>
                  <a:pt x="672833" y="392068"/>
                </a:lnTo>
                <a:close/>
              </a:path>
              <a:path w="697229" h="486410">
                <a:moveTo>
                  <a:pt x="672833" y="347472"/>
                </a:moveTo>
                <a:lnTo>
                  <a:pt x="667804" y="335561"/>
                </a:lnTo>
                <a:lnTo>
                  <a:pt x="656381" y="340404"/>
                </a:lnTo>
                <a:lnTo>
                  <a:pt x="661403" y="352044"/>
                </a:lnTo>
                <a:lnTo>
                  <a:pt x="672833" y="347472"/>
                </a:lnTo>
                <a:close/>
              </a:path>
              <a:path w="697229" h="486410">
                <a:moveTo>
                  <a:pt x="697230" y="323088"/>
                </a:moveTo>
                <a:lnTo>
                  <a:pt x="667804" y="335561"/>
                </a:lnTo>
                <a:lnTo>
                  <a:pt x="672833" y="347472"/>
                </a:lnTo>
                <a:lnTo>
                  <a:pt x="672833" y="392068"/>
                </a:lnTo>
                <a:lnTo>
                  <a:pt x="691883" y="408432"/>
                </a:lnTo>
                <a:lnTo>
                  <a:pt x="697230" y="32308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04643" y="3979417"/>
            <a:ext cx="697230" cy="486409"/>
          </a:xfrm>
          <a:custGeom>
            <a:avLst/>
            <a:gdLst/>
            <a:ahLst/>
            <a:cxnLst/>
            <a:rect l="l" t="t" r="r" b="b"/>
            <a:pathLst>
              <a:path w="697229" h="486410">
                <a:moveTo>
                  <a:pt x="667804" y="335561"/>
                </a:moveTo>
                <a:lnTo>
                  <a:pt x="658355" y="313182"/>
                </a:lnTo>
                <a:lnTo>
                  <a:pt x="644652" y="283464"/>
                </a:lnTo>
                <a:lnTo>
                  <a:pt x="631698" y="254508"/>
                </a:lnTo>
                <a:lnTo>
                  <a:pt x="617982" y="225552"/>
                </a:lnTo>
                <a:lnTo>
                  <a:pt x="597408" y="184404"/>
                </a:lnTo>
                <a:lnTo>
                  <a:pt x="590550" y="171450"/>
                </a:lnTo>
                <a:lnTo>
                  <a:pt x="582930" y="159258"/>
                </a:lnTo>
                <a:lnTo>
                  <a:pt x="576072" y="146304"/>
                </a:lnTo>
                <a:lnTo>
                  <a:pt x="569214" y="134874"/>
                </a:lnTo>
                <a:lnTo>
                  <a:pt x="561581" y="122682"/>
                </a:lnTo>
                <a:lnTo>
                  <a:pt x="553974" y="112014"/>
                </a:lnTo>
                <a:lnTo>
                  <a:pt x="547103" y="101346"/>
                </a:lnTo>
                <a:lnTo>
                  <a:pt x="539483" y="90678"/>
                </a:lnTo>
                <a:lnTo>
                  <a:pt x="531876" y="80772"/>
                </a:lnTo>
                <a:lnTo>
                  <a:pt x="523481" y="71628"/>
                </a:lnTo>
                <a:lnTo>
                  <a:pt x="515874" y="62484"/>
                </a:lnTo>
                <a:lnTo>
                  <a:pt x="483108" y="32766"/>
                </a:lnTo>
                <a:lnTo>
                  <a:pt x="438912" y="9144"/>
                </a:lnTo>
                <a:lnTo>
                  <a:pt x="388607" y="706"/>
                </a:lnTo>
                <a:lnTo>
                  <a:pt x="378714" y="0"/>
                </a:lnTo>
                <a:lnTo>
                  <a:pt x="346710" y="2286"/>
                </a:lnTo>
                <a:lnTo>
                  <a:pt x="336029" y="4572"/>
                </a:lnTo>
                <a:lnTo>
                  <a:pt x="325374" y="6096"/>
                </a:lnTo>
                <a:lnTo>
                  <a:pt x="314706" y="8382"/>
                </a:lnTo>
                <a:lnTo>
                  <a:pt x="293357" y="14478"/>
                </a:lnTo>
                <a:lnTo>
                  <a:pt x="283464" y="18287"/>
                </a:lnTo>
                <a:lnTo>
                  <a:pt x="272783" y="22098"/>
                </a:lnTo>
                <a:lnTo>
                  <a:pt x="222504" y="46482"/>
                </a:lnTo>
                <a:lnTo>
                  <a:pt x="185928" y="70866"/>
                </a:lnTo>
                <a:lnTo>
                  <a:pt x="146304" y="106680"/>
                </a:lnTo>
                <a:lnTo>
                  <a:pt x="114300" y="150114"/>
                </a:lnTo>
                <a:lnTo>
                  <a:pt x="108204" y="160782"/>
                </a:lnTo>
                <a:lnTo>
                  <a:pt x="102095" y="170687"/>
                </a:lnTo>
                <a:lnTo>
                  <a:pt x="80772" y="214884"/>
                </a:lnTo>
                <a:lnTo>
                  <a:pt x="61722" y="262890"/>
                </a:lnTo>
                <a:lnTo>
                  <a:pt x="36575" y="342138"/>
                </a:lnTo>
                <a:lnTo>
                  <a:pt x="21336" y="397764"/>
                </a:lnTo>
                <a:lnTo>
                  <a:pt x="14478" y="425958"/>
                </a:lnTo>
                <a:lnTo>
                  <a:pt x="0" y="483108"/>
                </a:lnTo>
                <a:lnTo>
                  <a:pt x="12179" y="486156"/>
                </a:lnTo>
                <a:lnTo>
                  <a:pt x="33528" y="400812"/>
                </a:lnTo>
                <a:lnTo>
                  <a:pt x="48755" y="345186"/>
                </a:lnTo>
                <a:lnTo>
                  <a:pt x="65532" y="292608"/>
                </a:lnTo>
                <a:lnTo>
                  <a:pt x="83045" y="243078"/>
                </a:lnTo>
                <a:lnTo>
                  <a:pt x="102857" y="197358"/>
                </a:lnTo>
                <a:lnTo>
                  <a:pt x="124955" y="156972"/>
                </a:lnTo>
                <a:lnTo>
                  <a:pt x="149352" y="122682"/>
                </a:lnTo>
                <a:lnTo>
                  <a:pt x="177533" y="94487"/>
                </a:lnTo>
                <a:lnTo>
                  <a:pt x="185928" y="87630"/>
                </a:lnTo>
                <a:lnTo>
                  <a:pt x="247650" y="47244"/>
                </a:lnTo>
                <a:lnTo>
                  <a:pt x="287274" y="30480"/>
                </a:lnTo>
                <a:lnTo>
                  <a:pt x="318503" y="21336"/>
                </a:lnTo>
                <a:lnTo>
                  <a:pt x="328422" y="18287"/>
                </a:lnTo>
                <a:lnTo>
                  <a:pt x="338328" y="16764"/>
                </a:lnTo>
                <a:lnTo>
                  <a:pt x="348983" y="15240"/>
                </a:lnTo>
                <a:lnTo>
                  <a:pt x="358902" y="13716"/>
                </a:lnTo>
                <a:lnTo>
                  <a:pt x="368795" y="12954"/>
                </a:lnTo>
                <a:lnTo>
                  <a:pt x="389382" y="13013"/>
                </a:lnTo>
                <a:lnTo>
                  <a:pt x="398525" y="13716"/>
                </a:lnTo>
                <a:lnTo>
                  <a:pt x="407657" y="15240"/>
                </a:lnTo>
                <a:lnTo>
                  <a:pt x="417575" y="16764"/>
                </a:lnTo>
                <a:lnTo>
                  <a:pt x="425945" y="19050"/>
                </a:lnTo>
                <a:lnTo>
                  <a:pt x="435102" y="21336"/>
                </a:lnTo>
                <a:lnTo>
                  <a:pt x="443484" y="24384"/>
                </a:lnTo>
                <a:lnTo>
                  <a:pt x="483857" y="49530"/>
                </a:lnTo>
                <a:lnTo>
                  <a:pt x="514350" y="80010"/>
                </a:lnTo>
                <a:lnTo>
                  <a:pt x="528828" y="98298"/>
                </a:lnTo>
                <a:lnTo>
                  <a:pt x="536448" y="108204"/>
                </a:lnTo>
                <a:lnTo>
                  <a:pt x="544055" y="118872"/>
                </a:lnTo>
                <a:lnTo>
                  <a:pt x="557784" y="141732"/>
                </a:lnTo>
                <a:lnTo>
                  <a:pt x="565404" y="153162"/>
                </a:lnTo>
                <a:lnTo>
                  <a:pt x="579107" y="177546"/>
                </a:lnTo>
                <a:lnTo>
                  <a:pt x="585978" y="190500"/>
                </a:lnTo>
                <a:lnTo>
                  <a:pt x="592836" y="204216"/>
                </a:lnTo>
                <a:lnTo>
                  <a:pt x="599681" y="217170"/>
                </a:lnTo>
                <a:lnTo>
                  <a:pt x="606552" y="231648"/>
                </a:lnTo>
                <a:lnTo>
                  <a:pt x="620255" y="259842"/>
                </a:lnTo>
                <a:lnTo>
                  <a:pt x="633222" y="288798"/>
                </a:lnTo>
                <a:lnTo>
                  <a:pt x="646938" y="318516"/>
                </a:lnTo>
                <a:lnTo>
                  <a:pt x="656381" y="340404"/>
                </a:lnTo>
                <a:lnTo>
                  <a:pt x="667804" y="335561"/>
                </a:lnTo>
                <a:close/>
              </a:path>
              <a:path w="697229" h="486410">
                <a:moveTo>
                  <a:pt x="672833" y="392068"/>
                </a:moveTo>
                <a:lnTo>
                  <a:pt x="672833" y="347472"/>
                </a:lnTo>
                <a:lnTo>
                  <a:pt x="661403" y="352044"/>
                </a:lnTo>
                <a:lnTo>
                  <a:pt x="656381" y="340404"/>
                </a:lnTo>
                <a:lnTo>
                  <a:pt x="627126" y="352806"/>
                </a:lnTo>
                <a:lnTo>
                  <a:pt x="672833" y="392068"/>
                </a:lnTo>
                <a:close/>
              </a:path>
              <a:path w="697229" h="486410">
                <a:moveTo>
                  <a:pt x="672833" y="347472"/>
                </a:moveTo>
                <a:lnTo>
                  <a:pt x="667804" y="335561"/>
                </a:lnTo>
                <a:lnTo>
                  <a:pt x="656381" y="340404"/>
                </a:lnTo>
                <a:lnTo>
                  <a:pt x="661403" y="352044"/>
                </a:lnTo>
                <a:lnTo>
                  <a:pt x="672833" y="347472"/>
                </a:lnTo>
                <a:close/>
              </a:path>
              <a:path w="697229" h="486410">
                <a:moveTo>
                  <a:pt x="697230" y="323088"/>
                </a:moveTo>
                <a:lnTo>
                  <a:pt x="667804" y="335561"/>
                </a:lnTo>
                <a:lnTo>
                  <a:pt x="672833" y="347472"/>
                </a:lnTo>
                <a:lnTo>
                  <a:pt x="672833" y="392068"/>
                </a:lnTo>
                <a:lnTo>
                  <a:pt x="691883" y="408432"/>
                </a:lnTo>
                <a:lnTo>
                  <a:pt x="697230" y="32308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699635" y="3597147"/>
            <a:ext cx="889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8500" algn="l"/>
              </a:tabLst>
            </a:pPr>
            <a:r>
              <a:rPr sz="2800" dirty="0">
                <a:latin typeface="Times New Roman"/>
                <a:cs typeface="Times New Roman"/>
              </a:rPr>
              <a:t>a	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22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995050" y="3673336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60835" y="543280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/>
                <a:cs typeface="Symbol"/>
              </a:rPr>
              <a:t>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737" y="571245"/>
            <a:ext cx="35413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Simulation </a:t>
            </a:r>
            <a:r>
              <a:rPr spc="-5" dirty="0"/>
              <a:t>of</a:t>
            </a:r>
            <a:r>
              <a:rPr spc="-50" dirty="0"/>
              <a:t> </a:t>
            </a:r>
            <a:r>
              <a:rPr spc="-10" dirty="0"/>
              <a:t>NFA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387348"/>
            <a:ext cx="7372984" cy="446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Given an NFA </a:t>
            </a:r>
            <a:r>
              <a:rPr sz="2800" i="1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and an input string </a:t>
            </a:r>
            <a:r>
              <a:rPr sz="2800" i="1" spc="-5" dirty="0">
                <a:latin typeface="Times New Roman"/>
                <a:cs typeface="Times New Roman"/>
              </a:rPr>
              <a:t>x</a:t>
            </a:r>
            <a:r>
              <a:rPr sz="2800" spc="-5" dirty="0">
                <a:latin typeface="Times New Roman"/>
                <a:cs typeface="Times New Roman"/>
              </a:rPr>
              <a:t>, determine  whether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accepts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355600" marR="1862455">
              <a:lnSpc>
                <a:spcPct val="120200"/>
              </a:lnSpc>
              <a:tabLst>
                <a:tab pos="3544570" algn="l"/>
              </a:tabLst>
            </a:pPr>
            <a:r>
              <a:rPr sz="2800" i="1" dirty="0">
                <a:latin typeface="Times New Roman"/>
                <a:cs typeface="Times New Roman"/>
              </a:rPr>
              <a:t>S:= </a:t>
            </a:r>
            <a:r>
              <a:rPr sz="2800" spc="-5" dirty="0">
                <a:latin typeface="Times New Roman"/>
                <a:cs typeface="Times New Roman"/>
              </a:rPr>
              <a:t>e-closure({s0})</a:t>
            </a:r>
            <a:r>
              <a:rPr sz="2800" dirty="0">
                <a:latin typeface="Times New Roman"/>
                <a:cs typeface="Times New Roman"/>
              </a:rPr>
              <a:t> ;	a </a:t>
            </a:r>
            <a:r>
              <a:rPr sz="2800" spc="-5" dirty="0">
                <a:latin typeface="Times New Roman"/>
                <a:cs typeface="Times New Roman"/>
              </a:rPr>
              <a:t>:=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nextchar;  While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&lt;&gt; eof do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begin</a:t>
            </a:r>
            <a:endParaRPr sz="2800">
              <a:latin typeface="Times New Roman"/>
              <a:cs typeface="Times New Roman"/>
            </a:endParaRPr>
          </a:p>
          <a:p>
            <a:pPr marL="927100" marR="2740660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S:= e-closure(move(S,a));  a:=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nextchar;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end</a:t>
            </a:r>
            <a:endParaRPr sz="2800">
              <a:latin typeface="Times New Roman"/>
              <a:cs typeface="Times New Roman"/>
            </a:endParaRPr>
          </a:p>
          <a:p>
            <a:pPr marL="368300" marR="1442720" indent="-13335">
              <a:lnSpc>
                <a:spcPct val="120200"/>
              </a:lnSpc>
            </a:pPr>
            <a:r>
              <a:rPr sz="2800" spc="-5" dirty="0">
                <a:latin typeface="Times New Roman"/>
                <a:cs typeface="Times New Roman"/>
              </a:rPr>
              <a:t>if (an accepting state </a:t>
            </a:r>
            <a:r>
              <a:rPr sz="2800" dirty="0">
                <a:latin typeface="Times New Roman"/>
                <a:cs typeface="Times New Roman"/>
              </a:rPr>
              <a:t>s </a:t>
            </a:r>
            <a:r>
              <a:rPr sz="2800" spc="-5" dirty="0">
                <a:latin typeface="Times New Roman"/>
                <a:cs typeface="Times New Roman"/>
              </a:rPr>
              <a:t>in S, return(yes)  otherwise return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(no)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1979" y="571245"/>
            <a:ext cx="4244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Time </a:t>
            </a:r>
            <a:r>
              <a:rPr spc="-10" dirty="0"/>
              <a:t>Space</a:t>
            </a:r>
            <a:r>
              <a:rPr spc="-45" dirty="0"/>
              <a:t> </a:t>
            </a:r>
            <a:r>
              <a:rPr spc="-10" dirty="0"/>
              <a:t>Tradeoffs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541272"/>
            <a:ext cx="63417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Given regular expression r, and string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x.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98828" y="2255202"/>
          <a:ext cx="6748780" cy="3056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Automation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Space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NFA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O ( | r |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O (|r| X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|x|)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DFA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O ( 2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exp(|r|))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O(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|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x|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 marL="106045" marR="5759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Lazy  transition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~NFA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~DFA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06868"/>
            <a:ext cx="6993255" cy="19843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Minimizing the number of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states</a:t>
            </a:r>
            <a:endParaRPr sz="3200">
              <a:latin typeface="Times New Roman"/>
              <a:cs typeface="Times New Roman"/>
            </a:endParaRPr>
          </a:p>
          <a:p>
            <a:pPr marL="755650" marR="5080" indent="-28575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For every DFA, there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unique smallest  equivalent DFA (that accept the same set of  strings).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739" y="3879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6" y="673576"/>
                </a:lnTo>
                <a:lnTo>
                  <a:pt x="529254" y="658903"/>
                </a:lnTo>
                <a:lnTo>
                  <a:pt x="573246" y="639063"/>
                </a:lnTo>
                <a:lnTo>
                  <a:pt x="613766" y="614461"/>
                </a:lnTo>
                <a:lnTo>
                  <a:pt x="650360" y="585501"/>
                </a:lnTo>
                <a:lnTo>
                  <a:pt x="682572" y="552588"/>
                </a:lnTo>
                <a:lnTo>
                  <a:pt x="709948" y="516127"/>
                </a:lnTo>
                <a:lnTo>
                  <a:pt x="732033" y="476523"/>
                </a:lnTo>
                <a:lnTo>
                  <a:pt x="748371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1" y="251618"/>
                </a:lnTo>
                <a:lnTo>
                  <a:pt x="732033" y="209276"/>
                </a:lnTo>
                <a:lnTo>
                  <a:pt x="709948" y="169671"/>
                </a:lnTo>
                <a:lnTo>
                  <a:pt x="682572" y="133211"/>
                </a:lnTo>
                <a:lnTo>
                  <a:pt x="650360" y="100298"/>
                </a:lnTo>
                <a:lnTo>
                  <a:pt x="613766" y="71338"/>
                </a:lnTo>
                <a:lnTo>
                  <a:pt x="573246" y="46735"/>
                </a:lnTo>
                <a:lnTo>
                  <a:pt x="529254" y="26896"/>
                </a:lnTo>
                <a:lnTo>
                  <a:pt x="482246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25833" y="4016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539" y="3879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54633" y="4016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15327" y="3879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07433" y="4016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19339" y="42179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199" y="42672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199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3" y="57149"/>
                </a:lnTo>
                <a:lnTo>
                  <a:pt x="752093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98835" y="36733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6235" y="3597147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48139" y="41417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38939" y="3879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6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8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4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1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5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31033" y="40162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24539" y="41417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127" y="4141723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32635" y="3673347"/>
            <a:ext cx="193611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2800" dirty="0">
                <a:latin typeface="Times New Roman"/>
                <a:cs typeface="Times New Roman"/>
              </a:rPr>
              <a:t>b	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8028" y="4968763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38739" y="50987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8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4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30833" y="52354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91527" y="50987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8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4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683633" y="52354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15139" y="50987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6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8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4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1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5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07233" y="52354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00739" y="5362447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52604" y="28166"/>
                </a:moveTo>
                <a:lnTo>
                  <a:pt x="0" y="26670"/>
                </a:lnTo>
                <a:lnTo>
                  <a:pt x="0" y="55626"/>
                </a:lnTo>
                <a:lnTo>
                  <a:pt x="752345" y="57121"/>
                </a:lnTo>
                <a:lnTo>
                  <a:pt x="752604" y="28166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50"/>
                </a:lnTo>
                <a:lnTo>
                  <a:pt x="752345" y="57121"/>
                </a:lnTo>
                <a:lnTo>
                  <a:pt x="752093" y="85343"/>
                </a:lnTo>
                <a:lnTo>
                  <a:pt x="766571" y="78169"/>
                </a:lnTo>
                <a:close/>
              </a:path>
              <a:path w="838200" h="85725">
                <a:moveTo>
                  <a:pt x="766571" y="57150"/>
                </a:moveTo>
                <a:lnTo>
                  <a:pt x="766571" y="28193"/>
                </a:lnTo>
                <a:lnTo>
                  <a:pt x="752604" y="28166"/>
                </a:lnTo>
                <a:lnTo>
                  <a:pt x="752345" y="57121"/>
                </a:lnTo>
                <a:lnTo>
                  <a:pt x="766571" y="57150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855" y="0"/>
                </a:lnTo>
                <a:lnTo>
                  <a:pt x="752604" y="28166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200" y="42672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53327" y="5362447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52613" y="28166"/>
                </a:moveTo>
                <a:lnTo>
                  <a:pt x="0" y="26669"/>
                </a:lnTo>
                <a:lnTo>
                  <a:pt x="0" y="55625"/>
                </a:lnTo>
                <a:lnTo>
                  <a:pt x="752350" y="57121"/>
                </a:lnTo>
                <a:lnTo>
                  <a:pt x="752613" y="28166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50"/>
                </a:lnTo>
                <a:lnTo>
                  <a:pt x="752350" y="57121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  <a:path w="838200" h="85725">
                <a:moveTo>
                  <a:pt x="766572" y="57150"/>
                </a:moveTo>
                <a:lnTo>
                  <a:pt x="766572" y="28193"/>
                </a:lnTo>
                <a:lnTo>
                  <a:pt x="752613" y="28166"/>
                </a:lnTo>
                <a:lnTo>
                  <a:pt x="752350" y="57121"/>
                </a:lnTo>
                <a:lnTo>
                  <a:pt x="766572" y="57150"/>
                </a:lnTo>
                <a:close/>
              </a:path>
              <a:path w="838200" h="85725">
                <a:moveTo>
                  <a:pt x="838200" y="42672"/>
                </a:moveTo>
                <a:lnTo>
                  <a:pt x="752868" y="0"/>
                </a:lnTo>
                <a:lnTo>
                  <a:pt x="752613" y="28166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2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108835" y="489254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61451" y="4892547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76461" y="4563109"/>
            <a:ext cx="1386205" cy="943610"/>
          </a:xfrm>
          <a:custGeom>
            <a:avLst/>
            <a:gdLst/>
            <a:ahLst/>
            <a:cxnLst/>
            <a:rect l="l" t="t" r="r" b="b"/>
            <a:pathLst>
              <a:path w="1386204" h="943610">
                <a:moveTo>
                  <a:pt x="1303965" y="887356"/>
                </a:moveTo>
                <a:lnTo>
                  <a:pt x="1154429" y="859536"/>
                </a:lnTo>
                <a:lnTo>
                  <a:pt x="1077467" y="844295"/>
                </a:lnTo>
                <a:lnTo>
                  <a:pt x="1002029" y="829055"/>
                </a:lnTo>
                <a:lnTo>
                  <a:pt x="928115" y="813053"/>
                </a:lnTo>
                <a:lnTo>
                  <a:pt x="855725" y="796289"/>
                </a:lnTo>
                <a:lnTo>
                  <a:pt x="784859" y="778763"/>
                </a:lnTo>
                <a:lnTo>
                  <a:pt x="717041" y="760476"/>
                </a:lnTo>
                <a:lnTo>
                  <a:pt x="650747" y="741426"/>
                </a:lnTo>
                <a:lnTo>
                  <a:pt x="588263" y="721613"/>
                </a:lnTo>
                <a:lnTo>
                  <a:pt x="528827" y="699515"/>
                </a:lnTo>
                <a:lnTo>
                  <a:pt x="499871" y="688848"/>
                </a:lnTo>
                <a:lnTo>
                  <a:pt x="472439" y="676655"/>
                </a:lnTo>
                <a:lnTo>
                  <a:pt x="445769" y="665226"/>
                </a:lnTo>
                <a:lnTo>
                  <a:pt x="419861" y="653034"/>
                </a:lnTo>
                <a:lnTo>
                  <a:pt x="371855" y="627126"/>
                </a:lnTo>
                <a:lnTo>
                  <a:pt x="327659" y="600455"/>
                </a:lnTo>
                <a:lnTo>
                  <a:pt x="287273" y="571500"/>
                </a:lnTo>
                <a:lnTo>
                  <a:pt x="252221" y="541019"/>
                </a:lnTo>
                <a:lnTo>
                  <a:pt x="220218" y="509015"/>
                </a:lnTo>
                <a:lnTo>
                  <a:pt x="179069" y="458724"/>
                </a:lnTo>
                <a:lnTo>
                  <a:pt x="155447" y="423672"/>
                </a:lnTo>
                <a:lnTo>
                  <a:pt x="134874" y="387095"/>
                </a:lnTo>
                <a:lnTo>
                  <a:pt x="116585" y="349757"/>
                </a:lnTo>
                <a:lnTo>
                  <a:pt x="93725" y="291084"/>
                </a:lnTo>
                <a:lnTo>
                  <a:pt x="87629" y="271272"/>
                </a:lnTo>
                <a:lnTo>
                  <a:pt x="80771" y="251460"/>
                </a:lnTo>
                <a:lnTo>
                  <a:pt x="64769" y="190500"/>
                </a:lnTo>
                <a:lnTo>
                  <a:pt x="51053" y="128015"/>
                </a:lnTo>
                <a:lnTo>
                  <a:pt x="28193" y="0"/>
                </a:lnTo>
                <a:lnTo>
                  <a:pt x="0" y="4572"/>
                </a:lnTo>
                <a:lnTo>
                  <a:pt x="22859" y="133350"/>
                </a:lnTo>
                <a:lnTo>
                  <a:pt x="36575" y="196595"/>
                </a:lnTo>
                <a:lnTo>
                  <a:pt x="41909" y="217931"/>
                </a:lnTo>
                <a:lnTo>
                  <a:pt x="48006" y="238505"/>
                </a:lnTo>
                <a:lnTo>
                  <a:pt x="53339" y="259079"/>
                </a:lnTo>
                <a:lnTo>
                  <a:pt x="73913" y="320801"/>
                </a:lnTo>
                <a:lnTo>
                  <a:pt x="90677" y="360425"/>
                </a:lnTo>
                <a:lnTo>
                  <a:pt x="109727" y="400050"/>
                </a:lnTo>
                <a:lnTo>
                  <a:pt x="131063" y="438150"/>
                </a:lnTo>
                <a:lnTo>
                  <a:pt x="155447" y="474725"/>
                </a:lnTo>
                <a:lnTo>
                  <a:pt x="183641" y="510539"/>
                </a:lnTo>
                <a:lnTo>
                  <a:pt x="214883" y="544829"/>
                </a:lnTo>
                <a:lnTo>
                  <a:pt x="250697" y="577595"/>
                </a:lnTo>
                <a:lnTo>
                  <a:pt x="289559" y="608838"/>
                </a:lnTo>
                <a:lnTo>
                  <a:pt x="333755" y="637793"/>
                </a:lnTo>
                <a:lnTo>
                  <a:pt x="381761" y="665226"/>
                </a:lnTo>
                <a:lnTo>
                  <a:pt x="433577" y="691134"/>
                </a:lnTo>
                <a:lnTo>
                  <a:pt x="489203" y="714755"/>
                </a:lnTo>
                <a:lnTo>
                  <a:pt x="547877" y="737615"/>
                </a:lnTo>
                <a:lnTo>
                  <a:pt x="610361" y="758951"/>
                </a:lnTo>
                <a:lnTo>
                  <a:pt x="708659" y="787907"/>
                </a:lnTo>
                <a:lnTo>
                  <a:pt x="777239" y="806957"/>
                </a:lnTo>
                <a:lnTo>
                  <a:pt x="848867" y="824484"/>
                </a:lnTo>
                <a:lnTo>
                  <a:pt x="921257" y="840486"/>
                </a:lnTo>
                <a:lnTo>
                  <a:pt x="995933" y="856488"/>
                </a:lnTo>
                <a:lnTo>
                  <a:pt x="1072133" y="872489"/>
                </a:lnTo>
                <a:lnTo>
                  <a:pt x="1149095" y="886967"/>
                </a:lnTo>
                <a:lnTo>
                  <a:pt x="1226819" y="902207"/>
                </a:lnTo>
                <a:lnTo>
                  <a:pt x="1298877" y="915599"/>
                </a:lnTo>
                <a:lnTo>
                  <a:pt x="1303965" y="887356"/>
                </a:lnTo>
                <a:close/>
              </a:path>
              <a:path w="1386204" h="943610">
                <a:moveTo>
                  <a:pt x="1318259" y="936302"/>
                </a:moveTo>
                <a:lnTo>
                  <a:pt x="1318259" y="890015"/>
                </a:lnTo>
                <a:lnTo>
                  <a:pt x="1312925" y="918210"/>
                </a:lnTo>
                <a:lnTo>
                  <a:pt x="1298877" y="915599"/>
                </a:lnTo>
                <a:lnTo>
                  <a:pt x="1293875" y="943355"/>
                </a:lnTo>
                <a:lnTo>
                  <a:pt x="1318259" y="936302"/>
                </a:lnTo>
                <a:close/>
              </a:path>
              <a:path w="1386204" h="943610">
                <a:moveTo>
                  <a:pt x="1318259" y="890015"/>
                </a:moveTo>
                <a:lnTo>
                  <a:pt x="1303965" y="887356"/>
                </a:lnTo>
                <a:lnTo>
                  <a:pt x="1298877" y="915599"/>
                </a:lnTo>
                <a:lnTo>
                  <a:pt x="1312925" y="918210"/>
                </a:lnTo>
                <a:lnTo>
                  <a:pt x="1318259" y="890015"/>
                </a:lnTo>
                <a:close/>
              </a:path>
              <a:path w="1386204" h="943610">
                <a:moveTo>
                  <a:pt x="1386077" y="916686"/>
                </a:moveTo>
                <a:lnTo>
                  <a:pt x="1309115" y="858774"/>
                </a:lnTo>
                <a:lnTo>
                  <a:pt x="1303965" y="887356"/>
                </a:lnTo>
                <a:lnTo>
                  <a:pt x="1318259" y="890015"/>
                </a:lnTo>
                <a:lnTo>
                  <a:pt x="1318259" y="936302"/>
                </a:lnTo>
                <a:lnTo>
                  <a:pt x="1386077" y="91668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25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sp>
        <p:nvSpPr>
          <p:cNvPr id="3" name="object 3"/>
          <p:cNvSpPr/>
          <p:nvPr/>
        </p:nvSpPr>
        <p:spPr>
          <a:xfrm>
            <a:off x="1981339" y="1212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5"/>
                </a:lnTo>
                <a:lnTo>
                  <a:pt x="148228" y="71338"/>
                </a:lnTo>
                <a:lnTo>
                  <a:pt x="111632" y="100298"/>
                </a:lnTo>
                <a:lnTo>
                  <a:pt x="79419" y="133211"/>
                </a:lnTo>
                <a:lnTo>
                  <a:pt x="52041" y="169671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899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2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799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899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1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1270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0139" y="1212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73433" y="1349247"/>
            <a:ext cx="200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dirty="0">
                <a:latin typeface="Times New Roman"/>
                <a:cs typeface="Times New Roman"/>
              </a:rPr>
              <a:t>1	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2927" y="1212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5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5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6939" y="1550924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1" y="57150"/>
                </a:moveTo>
                <a:lnTo>
                  <a:pt x="766571" y="28193"/>
                </a:lnTo>
                <a:lnTo>
                  <a:pt x="0" y="28193"/>
                </a:lnTo>
                <a:lnTo>
                  <a:pt x="0" y="57150"/>
                </a:lnTo>
                <a:lnTo>
                  <a:pt x="766571" y="57150"/>
                </a:lnTo>
                <a:close/>
              </a:path>
              <a:path w="838200" h="85725">
                <a:moveTo>
                  <a:pt x="838199" y="42671"/>
                </a:moveTo>
                <a:lnTo>
                  <a:pt x="752093" y="0"/>
                </a:lnTo>
                <a:lnTo>
                  <a:pt x="752093" y="28193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199" y="42671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50"/>
                </a:lnTo>
                <a:lnTo>
                  <a:pt x="752093" y="57150"/>
                </a:lnTo>
                <a:lnTo>
                  <a:pt x="752093" y="85343"/>
                </a:lnTo>
                <a:lnTo>
                  <a:pt x="766571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46435" y="100634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3835" y="930148"/>
            <a:ext cx="183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95739" y="1474724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6539" y="1212596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5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7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3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2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6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78633" y="1349247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8464" algn="l"/>
              </a:tabLst>
            </a:pPr>
            <a:r>
              <a:rPr sz="2400" dirty="0">
                <a:latin typeface="Times New Roman"/>
                <a:cs typeface="Times New Roman"/>
              </a:rPr>
              <a:t>3	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139" y="1474724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24727" y="1474724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0" y="28193"/>
                </a:lnTo>
                <a:lnTo>
                  <a:pt x="0" y="57149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094" y="0"/>
                </a:lnTo>
                <a:lnTo>
                  <a:pt x="752094" y="28193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094" y="57149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80235" y="1006348"/>
            <a:ext cx="193611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2800" dirty="0">
                <a:latin typeface="Times New Roman"/>
                <a:cs typeface="Times New Roman"/>
              </a:rPr>
              <a:t>b	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0417" y="222553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62539" y="21269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3" y="3123"/>
                </a:lnTo>
                <a:lnTo>
                  <a:pt x="279752" y="12223"/>
                </a:lnTo>
                <a:lnTo>
                  <a:pt x="232743" y="26896"/>
                </a:lnTo>
                <a:lnTo>
                  <a:pt x="188750" y="46736"/>
                </a:lnTo>
                <a:lnTo>
                  <a:pt x="148228" y="71338"/>
                </a:lnTo>
                <a:lnTo>
                  <a:pt x="111633" y="100298"/>
                </a:lnTo>
                <a:lnTo>
                  <a:pt x="79419" y="133211"/>
                </a:lnTo>
                <a:lnTo>
                  <a:pt x="52041" y="169672"/>
                </a:lnTo>
                <a:lnTo>
                  <a:pt x="29956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6" y="476523"/>
                </a:lnTo>
                <a:lnTo>
                  <a:pt x="52041" y="516127"/>
                </a:lnTo>
                <a:lnTo>
                  <a:pt x="79419" y="552588"/>
                </a:lnTo>
                <a:lnTo>
                  <a:pt x="111633" y="585501"/>
                </a:lnTo>
                <a:lnTo>
                  <a:pt x="148228" y="614461"/>
                </a:lnTo>
                <a:lnTo>
                  <a:pt x="188750" y="639063"/>
                </a:lnTo>
                <a:lnTo>
                  <a:pt x="232743" y="658903"/>
                </a:lnTo>
                <a:lnTo>
                  <a:pt x="279752" y="673576"/>
                </a:lnTo>
                <a:lnTo>
                  <a:pt x="329323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6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6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54633" y="226364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15327" y="21269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1000" y="0"/>
                </a:moveTo>
                <a:lnTo>
                  <a:pt x="329326" y="3123"/>
                </a:lnTo>
                <a:lnTo>
                  <a:pt x="279757" y="12223"/>
                </a:lnTo>
                <a:lnTo>
                  <a:pt x="232748" y="26896"/>
                </a:lnTo>
                <a:lnTo>
                  <a:pt x="188755" y="46736"/>
                </a:lnTo>
                <a:lnTo>
                  <a:pt x="148233" y="71338"/>
                </a:lnTo>
                <a:lnTo>
                  <a:pt x="111637" y="100298"/>
                </a:lnTo>
                <a:lnTo>
                  <a:pt x="79422" y="133211"/>
                </a:lnTo>
                <a:lnTo>
                  <a:pt x="52044" y="169672"/>
                </a:lnTo>
                <a:lnTo>
                  <a:pt x="29957" y="209276"/>
                </a:lnTo>
                <a:lnTo>
                  <a:pt x="13618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8" y="434181"/>
                </a:lnTo>
                <a:lnTo>
                  <a:pt x="29957" y="476523"/>
                </a:lnTo>
                <a:lnTo>
                  <a:pt x="52044" y="516127"/>
                </a:lnTo>
                <a:lnTo>
                  <a:pt x="79422" y="552588"/>
                </a:lnTo>
                <a:lnTo>
                  <a:pt x="111637" y="585501"/>
                </a:lnTo>
                <a:lnTo>
                  <a:pt x="148233" y="614461"/>
                </a:lnTo>
                <a:lnTo>
                  <a:pt x="188755" y="639063"/>
                </a:lnTo>
                <a:lnTo>
                  <a:pt x="232748" y="658903"/>
                </a:lnTo>
                <a:lnTo>
                  <a:pt x="279757" y="673576"/>
                </a:lnTo>
                <a:lnTo>
                  <a:pt x="329326" y="682676"/>
                </a:lnTo>
                <a:lnTo>
                  <a:pt x="381000" y="685800"/>
                </a:lnTo>
                <a:lnTo>
                  <a:pt x="432676" y="682676"/>
                </a:lnTo>
                <a:lnTo>
                  <a:pt x="482247" y="673576"/>
                </a:lnTo>
                <a:lnTo>
                  <a:pt x="529256" y="658903"/>
                </a:lnTo>
                <a:lnTo>
                  <a:pt x="573249" y="639063"/>
                </a:lnTo>
                <a:lnTo>
                  <a:pt x="613771" y="614461"/>
                </a:lnTo>
                <a:lnTo>
                  <a:pt x="650367" y="585501"/>
                </a:lnTo>
                <a:lnTo>
                  <a:pt x="682580" y="552588"/>
                </a:lnTo>
                <a:lnTo>
                  <a:pt x="709958" y="516127"/>
                </a:lnTo>
                <a:lnTo>
                  <a:pt x="732043" y="476523"/>
                </a:lnTo>
                <a:lnTo>
                  <a:pt x="748382" y="434181"/>
                </a:lnTo>
                <a:lnTo>
                  <a:pt x="758519" y="389505"/>
                </a:lnTo>
                <a:lnTo>
                  <a:pt x="762000" y="342900"/>
                </a:lnTo>
                <a:lnTo>
                  <a:pt x="758519" y="296294"/>
                </a:lnTo>
                <a:lnTo>
                  <a:pt x="748382" y="251618"/>
                </a:lnTo>
                <a:lnTo>
                  <a:pt x="732043" y="209276"/>
                </a:lnTo>
                <a:lnTo>
                  <a:pt x="709958" y="169672"/>
                </a:lnTo>
                <a:lnTo>
                  <a:pt x="682580" y="133211"/>
                </a:lnTo>
                <a:lnTo>
                  <a:pt x="650367" y="100298"/>
                </a:lnTo>
                <a:lnTo>
                  <a:pt x="613771" y="71338"/>
                </a:lnTo>
                <a:lnTo>
                  <a:pt x="573249" y="46736"/>
                </a:lnTo>
                <a:lnTo>
                  <a:pt x="529256" y="26896"/>
                </a:lnTo>
                <a:lnTo>
                  <a:pt x="482247" y="12223"/>
                </a:lnTo>
                <a:lnTo>
                  <a:pt x="432676" y="3123"/>
                </a:lnTo>
                <a:lnTo>
                  <a:pt x="381000" y="0"/>
                </a:lnTo>
                <a:close/>
              </a:path>
            </a:pathLst>
          </a:custGeom>
          <a:ln w="57150">
            <a:solidFill>
              <a:srgbClr val="01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38939" y="2126995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80987" y="0"/>
                </a:moveTo>
                <a:lnTo>
                  <a:pt x="329313" y="3123"/>
                </a:lnTo>
                <a:lnTo>
                  <a:pt x="279745" y="12223"/>
                </a:lnTo>
                <a:lnTo>
                  <a:pt x="232738" y="26896"/>
                </a:lnTo>
                <a:lnTo>
                  <a:pt x="188746" y="46736"/>
                </a:lnTo>
                <a:lnTo>
                  <a:pt x="148225" y="71338"/>
                </a:lnTo>
                <a:lnTo>
                  <a:pt x="111631" y="100298"/>
                </a:lnTo>
                <a:lnTo>
                  <a:pt x="79418" y="133211"/>
                </a:lnTo>
                <a:lnTo>
                  <a:pt x="52041" y="169672"/>
                </a:lnTo>
                <a:lnTo>
                  <a:pt x="29955" y="209276"/>
                </a:lnTo>
                <a:lnTo>
                  <a:pt x="13617" y="251618"/>
                </a:lnTo>
                <a:lnTo>
                  <a:pt x="3480" y="296294"/>
                </a:lnTo>
                <a:lnTo>
                  <a:pt x="0" y="342900"/>
                </a:lnTo>
                <a:lnTo>
                  <a:pt x="3480" y="389505"/>
                </a:lnTo>
                <a:lnTo>
                  <a:pt x="13617" y="434181"/>
                </a:lnTo>
                <a:lnTo>
                  <a:pt x="29955" y="476523"/>
                </a:lnTo>
                <a:lnTo>
                  <a:pt x="52041" y="516127"/>
                </a:lnTo>
                <a:lnTo>
                  <a:pt x="79418" y="552588"/>
                </a:lnTo>
                <a:lnTo>
                  <a:pt x="111631" y="585501"/>
                </a:lnTo>
                <a:lnTo>
                  <a:pt x="148225" y="614461"/>
                </a:lnTo>
                <a:lnTo>
                  <a:pt x="188746" y="639063"/>
                </a:lnTo>
                <a:lnTo>
                  <a:pt x="232738" y="658903"/>
                </a:lnTo>
                <a:lnTo>
                  <a:pt x="279745" y="673576"/>
                </a:lnTo>
                <a:lnTo>
                  <a:pt x="329313" y="682676"/>
                </a:lnTo>
                <a:lnTo>
                  <a:pt x="380987" y="685800"/>
                </a:lnTo>
                <a:lnTo>
                  <a:pt x="432663" y="682676"/>
                </a:lnTo>
                <a:lnTo>
                  <a:pt x="482234" y="673576"/>
                </a:lnTo>
                <a:lnTo>
                  <a:pt x="529243" y="658903"/>
                </a:lnTo>
                <a:lnTo>
                  <a:pt x="573237" y="639063"/>
                </a:lnTo>
                <a:lnTo>
                  <a:pt x="613758" y="614461"/>
                </a:lnTo>
                <a:lnTo>
                  <a:pt x="650354" y="585501"/>
                </a:lnTo>
                <a:lnTo>
                  <a:pt x="682568" y="552588"/>
                </a:lnTo>
                <a:lnTo>
                  <a:pt x="709945" y="516127"/>
                </a:lnTo>
                <a:lnTo>
                  <a:pt x="732031" y="476523"/>
                </a:lnTo>
                <a:lnTo>
                  <a:pt x="748370" y="434181"/>
                </a:lnTo>
                <a:lnTo>
                  <a:pt x="758507" y="389505"/>
                </a:lnTo>
                <a:lnTo>
                  <a:pt x="761987" y="342900"/>
                </a:lnTo>
                <a:lnTo>
                  <a:pt x="758507" y="296294"/>
                </a:lnTo>
                <a:lnTo>
                  <a:pt x="748370" y="251618"/>
                </a:lnTo>
                <a:lnTo>
                  <a:pt x="732031" y="209276"/>
                </a:lnTo>
                <a:lnTo>
                  <a:pt x="709945" y="169672"/>
                </a:lnTo>
                <a:lnTo>
                  <a:pt x="682568" y="133211"/>
                </a:lnTo>
                <a:lnTo>
                  <a:pt x="650354" y="100298"/>
                </a:lnTo>
                <a:lnTo>
                  <a:pt x="613758" y="71338"/>
                </a:lnTo>
                <a:lnTo>
                  <a:pt x="573237" y="46736"/>
                </a:lnTo>
                <a:lnTo>
                  <a:pt x="529243" y="26896"/>
                </a:lnTo>
                <a:lnTo>
                  <a:pt x="482234" y="12223"/>
                </a:lnTo>
                <a:lnTo>
                  <a:pt x="432663" y="3123"/>
                </a:lnTo>
                <a:lnTo>
                  <a:pt x="380987" y="0"/>
                </a:lnTo>
                <a:close/>
              </a:path>
            </a:pathLst>
          </a:custGeom>
          <a:ln w="57150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31033" y="2263647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8464" algn="l"/>
              </a:tabLst>
            </a:pPr>
            <a:r>
              <a:rPr sz="2400" dirty="0">
                <a:latin typeface="Times New Roman"/>
                <a:cs typeface="Times New Roman"/>
              </a:rPr>
              <a:t>6	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24539" y="2390648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52604" y="28166"/>
                </a:moveTo>
                <a:lnTo>
                  <a:pt x="0" y="26669"/>
                </a:lnTo>
                <a:lnTo>
                  <a:pt x="0" y="55625"/>
                </a:lnTo>
                <a:lnTo>
                  <a:pt x="752345" y="57121"/>
                </a:lnTo>
                <a:lnTo>
                  <a:pt x="752604" y="28166"/>
                </a:lnTo>
                <a:close/>
              </a:path>
              <a:path w="838200" h="85725">
                <a:moveTo>
                  <a:pt x="766571" y="78169"/>
                </a:moveTo>
                <a:lnTo>
                  <a:pt x="766571" y="57149"/>
                </a:lnTo>
                <a:lnTo>
                  <a:pt x="752345" y="57121"/>
                </a:lnTo>
                <a:lnTo>
                  <a:pt x="752093" y="85343"/>
                </a:lnTo>
                <a:lnTo>
                  <a:pt x="766571" y="78169"/>
                </a:lnTo>
                <a:close/>
              </a:path>
              <a:path w="838200" h="85725">
                <a:moveTo>
                  <a:pt x="766571" y="57149"/>
                </a:moveTo>
                <a:lnTo>
                  <a:pt x="766571" y="28193"/>
                </a:lnTo>
                <a:lnTo>
                  <a:pt x="752604" y="28166"/>
                </a:lnTo>
                <a:lnTo>
                  <a:pt x="752345" y="57121"/>
                </a:lnTo>
                <a:lnTo>
                  <a:pt x="766571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855" y="0"/>
                </a:lnTo>
                <a:lnTo>
                  <a:pt x="752604" y="28166"/>
                </a:lnTo>
                <a:lnTo>
                  <a:pt x="766571" y="28193"/>
                </a:lnTo>
                <a:lnTo>
                  <a:pt x="766571" y="78169"/>
                </a:lnTo>
                <a:lnTo>
                  <a:pt x="838200" y="4267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77127" y="2390648"/>
            <a:ext cx="838200" cy="85725"/>
          </a:xfrm>
          <a:custGeom>
            <a:avLst/>
            <a:gdLst/>
            <a:ahLst/>
            <a:cxnLst/>
            <a:rect l="l" t="t" r="r" b="b"/>
            <a:pathLst>
              <a:path w="838200" h="85725">
                <a:moveTo>
                  <a:pt x="752613" y="28166"/>
                </a:moveTo>
                <a:lnTo>
                  <a:pt x="0" y="26669"/>
                </a:lnTo>
                <a:lnTo>
                  <a:pt x="0" y="55625"/>
                </a:lnTo>
                <a:lnTo>
                  <a:pt x="752350" y="57121"/>
                </a:lnTo>
                <a:lnTo>
                  <a:pt x="752613" y="28166"/>
                </a:lnTo>
                <a:close/>
              </a:path>
              <a:path w="838200" h="85725">
                <a:moveTo>
                  <a:pt x="766572" y="78169"/>
                </a:moveTo>
                <a:lnTo>
                  <a:pt x="766572" y="57149"/>
                </a:lnTo>
                <a:lnTo>
                  <a:pt x="752350" y="57121"/>
                </a:lnTo>
                <a:lnTo>
                  <a:pt x="752094" y="85343"/>
                </a:lnTo>
                <a:lnTo>
                  <a:pt x="766572" y="78169"/>
                </a:lnTo>
                <a:close/>
              </a:path>
              <a:path w="838200" h="85725">
                <a:moveTo>
                  <a:pt x="766572" y="57149"/>
                </a:moveTo>
                <a:lnTo>
                  <a:pt x="766572" y="28193"/>
                </a:lnTo>
                <a:lnTo>
                  <a:pt x="752613" y="28166"/>
                </a:lnTo>
                <a:lnTo>
                  <a:pt x="752350" y="57121"/>
                </a:lnTo>
                <a:lnTo>
                  <a:pt x="766572" y="57149"/>
                </a:lnTo>
                <a:close/>
              </a:path>
              <a:path w="838200" h="85725">
                <a:moveTo>
                  <a:pt x="838200" y="42671"/>
                </a:moveTo>
                <a:lnTo>
                  <a:pt x="752868" y="0"/>
                </a:lnTo>
                <a:lnTo>
                  <a:pt x="752613" y="28166"/>
                </a:lnTo>
                <a:lnTo>
                  <a:pt x="766572" y="28193"/>
                </a:lnTo>
                <a:lnTo>
                  <a:pt x="766572" y="78169"/>
                </a:lnTo>
                <a:lnTo>
                  <a:pt x="838200" y="4267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032635" y="1920748"/>
            <a:ext cx="193611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2800" dirty="0">
                <a:latin typeface="Times New Roman"/>
                <a:cs typeface="Times New Roman"/>
              </a:rPr>
              <a:t>b	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24823" y="1894585"/>
            <a:ext cx="1385570" cy="570865"/>
          </a:xfrm>
          <a:custGeom>
            <a:avLst/>
            <a:gdLst/>
            <a:ahLst/>
            <a:cxnLst/>
            <a:rect l="l" t="t" r="r" b="b"/>
            <a:pathLst>
              <a:path w="1385570" h="570864">
                <a:moveTo>
                  <a:pt x="1301524" y="513577"/>
                </a:moveTo>
                <a:lnTo>
                  <a:pt x="1229868" y="505967"/>
                </a:lnTo>
                <a:lnTo>
                  <a:pt x="1152144" y="497585"/>
                </a:lnTo>
                <a:lnTo>
                  <a:pt x="1075944" y="489203"/>
                </a:lnTo>
                <a:lnTo>
                  <a:pt x="999744" y="480059"/>
                </a:lnTo>
                <a:lnTo>
                  <a:pt x="925830" y="470915"/>
                </a:lnTo>
                <a:lnTo>
                  <a:pt x="853439" y="461009"/>
                </a:lnTo>
                <a:lnTo>
                  <a:pt x="782573" y="451103"/>
                </a:lnTo>
                <a:lnTo>
                  <a:pt x="713994" y="440435"/>
                </a:lnTo>
                <a:lnTo>
                  <a:pt x="648461" y="429005"/>
                </a:lnTo>
                <a:lnTo>
                  <a:pt x="555497" y="410717"/>
                </a:lnTo>
                <a:lnTo>
                  <a:pt x="469392" y="390905"/>
                </a:lnTo>
                <a:lnTo>
                  <a:pt x="416813" y="377189"/>
                </a:lnTo>
                <a:lnTo>
                  <a:pt x="368045" y="361949"/>
                </a:lnTo>
                <a:lnTo>
                  <a:pt x="323850" y="345947"/>
                </a:lnTo>
                <a:lnTo>
                  <a:pt x="284225" y="329183"/>
                </a:lnTo>
                <a:lnTo>
                  <a:pt x="248412" y="311657"/>
                </a:lnTo>
                <a:lnTo>
                  <a:pt x="201929" y="283463"/>
                </a:lnTo>
                <a:lnTo>
                  <a:pt x="163829" y="253745"/>
                </a:lnTo>
                <a:lnTo>
                  <a:pt x="114300" y="201168"/>
                </a:lnTo>
                <a:lnTo>
                  <a:pt x="92201" y="167639"/>
                </a:lnTo>
                <a:lnTo>
                  <a:pt x="85343" y="156971"/>
                </a:lnTo>
                <a:lnTo>
                  <a:pt x="68579" y="121919"/>
                </a:lnTo>
                <a:lnTo>
                  <a:pt x="41909" y="49530"/>
                </a:lnTo>
                <a:lnTo>
                  <a:pt x="27431" y="0"/>
                </a:lnTo>
                <a:lnTo>
                  <a:pt x="0" y="7619"/>
                </a:lnTo>
                <a:lnTo>
                  <a:pt x="14477" y="57912"/>
                </a:lnTo>
                <a:lnTo>
                  <a:pt x="32003" y="108203"/>
                </a:lnTo>
                <a:lnTo>
                  <a:pt x="60197" y="169925"/>
                </a:lnTo>
                <a:lnTo>
                  <a:pt x="83057" y="206501"/>
                </a:lnTo>
                <a:lnTo>
                  <a:pt x="110489" y="241553"/>
                </a:lnTo>
                <a:lnTo>
                  <a:pt x="144779" y="275081"/>
                </a:lnTo>
                <a:lnTo>
                  <a:pt x="185165" y="307085"/>
                </a:lnTo>
                <a:lnTo>
                  <a:pt x="234695" y="336803"/>
                </a:lnTo>
                <a:lnTo>
                  <a:pt x="291845" y="364235"/>
                </a:lnTo>
                <a:lnTo>
                  <a:pt x="335279" y="380999"/>
                </a:lnTo>
                <a:lnTo>
                  <a:pt x="383285" y="397001"/>
                </a:lnTo>
                <a:lnTo>
                  <a:pt x="435101" y="411479"/>
                </a:lnTo>
                <a:lnTo>
                  <a:pt x="462533" y="419099"/>
                </a:lnTo>
                <a:lnTo>
                  <a:pt x="490728" y="425957"/>
                </a:lnTo>
                <a:lnTo>
                  <a:pt x="519683" y="432053"/>
                </a:lnTo>
                <a:lnTo>
                  <a:pt x="549401" y="438911"/>
                </a:lnTo>
                <a:lnTo>
                  <a:pt x="611123" y="451103"/>
                </a:lnTo>
                <a:lnTo>
                  <a:pt x="709421" y="468629"/>
                </a:lnTo>
                <a:lnTo>
                  <a:pt x="778001" y="479297"/>
                </a:lnTo>
                <a:lnTo>
                  <a:pt x="848868" y="489203"/>
                </a:lnTo>
                <a:lnTo>
                  <a:pt x="922019" y="499109"/>
                </a:lnTo>
                <a:lnTo>
                  <a:pt x="996695" y="508253"/>
                </a:lnTo>
                <a:lnTo>
                  <a:pt x="1072133" y="517397"/>
                </a:lnTo>
                <a:lnTo>
                  <a:pt x="1149095" y="525779"/>
                </a:lnTo>
                <a:lnTo>
                  <a:pt x="1226820" y="534923"/>
                </a:lnTo>
                <a:lnTo>
                  <a:pt x="1298422" y="542527"/>
                </a:lnTo>
                <a:lnTo>
                  <a:pt x="1301524" y="513577"/>
                </a:lnTo>
                <a:close/>
              </a:path>
              <a:path w="1385570" h="570864">
                <a:moveTo>
                  <a:pt x="1315973" y="563066"/>
                </a:moveTo>
                <a:lnTo>
                  <a:pt x="1315973" y="515111"/>
                </a:lnTo>
                <a:lnTo>
                  <a:pt x="1312925" y="544067"/>
                </a:lnTo>
                <a:lnTo>
                  <a:pt x="1298422" y="542527"/>
                </a:lnTo>
                <a:lnTo>
                  <a:pt x="1295399" y="570737"/>
                </a:lnTo>
                <a:lnTo>
                  <a:pt x="1315973" y="563066"/>
                </a:lnTo>
                <a:close/>
              </a:path>
              <a:path w="1385570" h="570864">
                <a:moveTo>
                  <a:pt x="1315973" y="515111"/>
                </a:moveTo>
                <a:lnTo>
                  <a:pt x="1301524" y="513577"/>
                </a:lnTo>
                <a:lnTo>
                  <a:pt x="1298422" y="542527"/>
                </a:lnTo>
                <a:lnTo>
                  <a:pt x="1312925" y="544067"/>
                </a:lnTo>
                <a:lnTo>
                  <a:pt x="1315973" y="515111"/>
                </a:lnTo>
                <a:close/>
              </a:path>
              <a:path w="1385570" h="570864">
                <a:moveTo>
                  <a:pt x="1385316" y="537209"/>
                </a:moveTo>
                <a:lnTo>
                  <a:pt x="1304544" y="485393"/>
                </a:lnTo>
                <a:lnTo>
                  <a:pt x="1301524" y="513577"/>
                </a:lnTo>
                <a:lnTo>
                  <a:pt x="1315973" y="515111"/>
                </a:lnTo>
                <a:lnTo>
                  <a:pt x="1315973" y="563066"/>
                </a:lnTo>
                <a:lnTo>
                  <a:pt x="1385316" y="53720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205052" y="2950908"/>
          <a:ext cx="4005579" cy="331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88233" y="3943095"/>
            <a:ext cx="2240280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2 and </a:t>
            </a:r>
            <a:r>
              <a:rPr sz="2400" spc="-5" dirty="0">
                <a:latin typeface="Times New Roman"/>
                <a:cs typeface="Times New Roman"/>
              </a:rPr>
              <a:t>state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3 and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4 and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equivalent!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6435" y="978153"/>
            <a:ext cx="7588250" cy="47726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376555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may </a:t>
            </a:r>
            <a:r>
              <a:rPr sz="2400" spc="-5" dirty="0">
                <a:latin typeface="Times New Roman"/>
                <a:cs typeface="Times New Roman"/>
              </a:rPr>
              <a:t>begin by </a:t>
            </a:r>
            <a:r>
              <a:rPr sz="2400" dirty="0">
                <a:latin typeface="Times New Roman"/>
                <a:cs typeface="Times New Roman"/>
              </a:rPr>
              <a:t>trying the most aggressive </a:t>
            </a:r>
            <a:r>
              <a:rPr sz="2400" spc="-5" dirty="0">
                <a:latin typeface="Times New Roman"/>
                <a:cs typeface="Times New Roman"/>
              </a:rPr>
              <a:t>(or  optimistic) merge by creating only two states: final state  and non-final state. We then split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2950">
              <a:latin typeface="Times New Roman"/>
              <a:cs typeface="Times New Roman"/>
            </a:endParaRPr>
          </a:p>
          <a:p>
            <a:pPr marL="355600" marR="587057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lgorithm:</a:t>
            </a:r>
            <a:endParaRPr sz="2400">
              <a:latin typeface="Times New Roman"/>
              <a:cs typeface="Times New Roman"/>
            </a:endParaRPr>
          </a:p>
          <a:p>
            <a:pPr marL="355600" marR="5870575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imes New Roman"/>
                <a:cs typeface="Times New Roman"/>
              </a:rPr>
              <a:t>Repeat</a:t>
            </a:r>
            <a:endParaRPr sz="2400">
              <a:latin typeface="Times New Roman"/>
              <a:cs typeface="Times New Roman"/>
            </a:endParaRPr>
          </a:p>
          <a:p>
            <a:pPr marL="355600" marR="672465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Times New Roman"/>
                <a:cs typeface="Times New Roman"/>
              </a:rPr>
              <a:t>Let S </a:t>
            </a:r>
            <a:r>
              <a:rPr sz="2400" spc="-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any merged </a:t>
            </a:r>
            <a:r>
              <a:rPr sz="2400" spc="-5" dirty="0">
                <a:latin typeface="Times New Roman"/>
                <a:cs typeface="Times New Roman"/>
              </a:rPr>
              <a:t>state {s1, s2, ..,sn}, </a:t>
            </a:r>
            <a:r>
              <a:rPr sz="2400" dirty="0">
                <a:latin typeface="Times New Roman"/>
                <a:cs typeface="Times New Roman"/>
              </a:rPr>
              <a:t>and c </a:t>
            </a:r>
            <a:r>
              <a:rPr sz="2400" spc="-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any  input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symbol.</a:t>
            </a:r>
            <a:endParaRPr sz="2400">
              <a:latin typeface="Times New Roman"/>
              <a:cs typeface="Times New Roman"/>
            </a:endParaRPr>
          </a:p>
          <a:p>
            <a:pPr marL="354965" marR="5080">
              <a:lnSpc>
                <a:spcPct val="89900"/>
              </a:lnSpc>
              <a:spcBef>
                <a:spcPts val="530"/>
              </a:spcBef>
            </a:pPr>
            <a:r>
              <a:rPr sz="2400" dirty="0">
                <a:latin typeface="Times New Roman"/>
                <a:cs typeface="Times New Roman"/>
              </a:rPr>
              <a:t>Let t1, t2, … </a:t>
            </a:r>
            <a:r>
              <a:rPr sz="2400" spc="-5" dirty="0">
                <a:latin typeface="Times New Roman"/>
                <a:cs typeface="Times New Roman"/>
              </a:rPr>
              <a:t>tn, be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successor state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{s1, .. sn} under  c, if t1, .. tn do not all belong to the same merged state then  split </a:t>
            </a:r>
            <a:r>
              <a:rPr sz="2400" dirty="0">
                <a:latin typeface="Times New Roman"/>
                <a:cs typeface="Times New Roman"/>
              </a:rPr>
              <a:t>S </a:t>
            </a:r>
            <a:r>
              <a:rPr sz="2400" spc="-5" dirty="0">
                <a:latin typeface="Times New Roman"/>
                <a:cs typeface="Times New Roman"/>
              </a:rPr>
              <a:t>into new states so that si and sj remain in the same  merged state iff ti and tj are in the same merged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state.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284"/>
              </a:spcBef>
            </a:pPr>
            <a:r>
              <a:rPr sz="2400" spc="-5" dirty="0">
                <a:latin typeface="Times New Roman"/>
                <a:cs typeface="Times New Roman"/>
              </a:rPr>
              <a:t>Until </a:t>
            </a:r>
            <a:r>
              <a:rPr sz="2400" dirty="0">
                <a:latin typeface="Times New Roman"/>
                <a:cs typeface="Times New Roman"/>
              </a:rPr>
              <a:t>no more </a:t>
            </a:r>
            <a:r>
              <a:rPr sz="2400" spc="-5" dirty="0">
                <a:latin typeface="Times New Roman"/>
                <a:cs typeface="Times New Roman"/>
              </a:rPr>
              <a:t>splits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8933" y="1312672"/>
            <a:ext cx="1244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05052" y="1884108"/>
          <a:ext cx="3548379" cy="331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473833" y="1580896"/>
            <a:ext cx="2503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Start with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3833" y="1945894"/>
            <a:ext cx="289242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Non-final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{1,2,3,5,6}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{4,7}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05052" y="1884108"/>
          <a:ext cx="3548379" cy="331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73833" y="1580896"/>
            <a:ext cx="289242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Start with </a:t>
            </a:r>
            <a:r>
              <a:rPr sz="2400" dirty="0">
                <a:latin typeface="Times New Roman"/>
                <a:cs typeface="Times New Roman"/>
              </a:rPr>
              <a:t>two </a:t>
            </a:r>
            <a:r>
              <a:rPr sz="2400" spc="-5" dirty="0">
                <a:latin typeface="Times New Roman"/>
                <a:cs typeface="Times New Roman"/>
              </a:rPr>
              <a:t>states  Non-final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{1,2,3,5,6}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{4,7}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53327" y="2812795"/>
            <a:ext cx="485775" cy="609600"/>
          </a:xfrm>
          <a:custGeom>
            <a:avLst/>
            <a:gdLst/>
            <a:ahLst/>
            <a:cxnLst/>
            <a:rect l="l" t="t" r="r" b="b"/>
            <a:pathLst>
              <a:path w="485775" h="609600">
                <a:moveTo>
                  <a:pt x="485394" y="457200"/>
                </a:moveTo>
                <a:lnTo>
                  <a:pt x="364236" y="457200"/>
                </a:lnTo>
                <a:lnTo>
                  <a:pt x="364236" y="0"/>
                </a:lnTo>
                <a:lnTo>
                  <a:pt x="121170" y="0"/>
                </a:lnTo>
                <a:lnTo>
                  <a:pt x="121170" y="457200"/>
                </a:lnTo>
                <a:lnTo>
                  <a:pt x="0" y="457200"/>
                </a:lnTo>
                <a:lnTo>
                  <a:pt x="243090" y="609600"/>
                </a:lnTo>
                <a:lnTo>
                  <a:pt x="485394" y="45720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53327" y="2812795"/>
            <a:ext cx="485775" cy="609600"/>
          </a:xfrm>
          <a:custGeom>
            <a:avLst/>
            <a:gdLst/>
            <a:ahLst/>
            <a:cxnLst/>
            <a:rect l="l" t="t" r="r" b="b"/>
            <a:pathLst>
              <a:path w="485775" h="609600">
                <a:moveTo>
                  <a:pt x="0" y="457200"/>
                </a:moveTo>
                <a:lnTo>
                  <a:pt x="121170" y="457200"/>
                </a:lnTo>
                <a:lnTo>
                  <a:pt x="121170" y="0"/>
                </a:lnTo>
                <a:lnTo>
                  <a:pt x="364236" y="0"/>
                </a:lnTo>
                <a:lnTo>
                  <a:pt x="364236" y="457200"/>
                </a:lnTo>
                <a:lnTo>
                  <a:pt x="485394" y="457200"/>
                </a:lnTo>
                <a:lnTo>
                  <a:pt x="243090" y="609600"/>
                </a:lnTo>
                <a:lnTo>
                  <a:pt x="0" y="45720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41835" y="3749547"/>
            <a:ext cx="6176645" cy="250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265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Split non-final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3136265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{1}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{2,3,5,6}</a:t>
            </a:r>
            <a:endParaRPr sz="2400">
              <a:latin typeface="Times New Roman"/>
              <a:cs typeface="Times New Roman"/>
            </a:endParaRPr>
          </a:p>
          <a:p>
            <a:pPr marL="3136265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{4,7}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180"/>
              </a:spcBef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input </a:t>
            </a:r>
            <a:r>
              <a:rPr sz="2400" spc="-5" dirty="0">
                <a:latin typeface="Times New Roman"/>
                <a:cs typeface="Times New Roman"/>
              </a:rPr>
              <a:t>b,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successor state for 2, </a:t>
            </a:r>
            <a:r>
              <a:rPr sz="2400" dirty="0">
                <a:latin typeface="Times New Roman"/>
                <a:cs typeface="Times New Roman"/>
              </a:rPr>
              <a:t>and 3 are </a:t>
            </a:r>
            <a:r>
              <a:rPr sz="2400" spc="-5" dirty="0">
                <a:latin typeface="Times New Roman"/>
                <a:cs typeface="Times New Roman"/>
              </a:rPr>
              <a:t>not  </a:t>
            </a:r>
            <a:r>
              <a:rPr sz="2400" dirty="0">
                <a:latin typeface="Times New Roman"/>
                <a:cs typeface="Times New Roman"/>
              </a:rPr>
              <a:t>in the </a:t>
            </a:r>
            <a:r>
              <a:rPr sz="2400" spc="-5" dirty="0">
                <a:latin typeface="Times New Roman"/>
                <a:cs typeface="Times New Roman"/>
              </a:rPr>
              <a:t>same </a:t>
            </a:r>
            <a:r>
              <a:rPr sz="2400" dirty="0">
                <a:latin typeface="Times New Roman"/>
                <a:cs typeface="Times New Roman"/>
              </a:rPr>
              <a:t>merged </a:t>
            </a:r>
            <a:r>
              <a:rPr sz="2400" spc="-5" dirty="0">
                <a:latin typeface="Times New Roman"/>
                <a:cs typeface="Times New Roman"/>
              </a:rPr>
              <a:t>state, so we nee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split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29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05052" y="1884108"/>
          <a:ext cx="3548379" cy="331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718435" y="1539747"/>
            <a:ext cx="167703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Non-final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{1}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{2,3,5,6}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{4,7}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53327" y="2812795"/>
            <a:ext cx="485775" cy="609600"/>
          </a:xfrm>
          <a:custGeom>
            <a:avLst/>
            <a:gdLst/>
            <a:ahLst/>
            <a:cxnLst/>
            <a:rect l="l" t="t" r="r" b="b"/>
            <a:pathLst>
              <a:path w="485775" h="609600">
                <a:moveTo>
                  <a:pt x="485394" y="457200"/>
                </a:moveTo>
                <a:lnTo>
                  <a:pt x="364236" y="457200"/>
                </a:lnTo>
                <a:lnTo>
                  <a:pt x="364236" y="0"/>
                </a:lnTo>
                <a:lnTo>
                  <a:pt x="121170" y="0"/>
                </a:lnTo>
                <a:lnTo>
                  <a:pt x="121170" y="457200"/>
                </a:lnTo>
                <a:lnTo>
                  <a:pt x="0" y="457200"/>
                </a:lnTo>
                <a:lnTo>
                  <a:pt x="243090" y="609600"/>
                </a:lnTo>
                <a:lnTo>
                  <a:pt x="485394" y="45720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53327" y="2812795"/>
            <a:ext cx="485775" cy="609600"/>
          </a:xfrm>
          <a:custGeom>
            <a:avLst/>
            <a:gdLst/>
            <a:ahLst/>
            <a:cxnLst/>
            <a:rect l="l" t="t" r="r" b="b"/>
            <a:pathLst>
              <a:path w="485775" h="609600">
                <a:moveTo>
                  <a:pt x="0" y="457200"/>
                </a:moveTo>
                <a:lnTo>
                  <a:pt x="121170" y="457200"/>
                </a:lnTo>
                <a:lnTo>
                  <a:pt x="121170" y="0"/>
                </a:lnTo>
                <a:lnTo>
                  <a:pt x="364236" y="0"/>
                </a:lnTo>
                <a:lnTo>
                  <a:pt x="364236" y="457200"/>
                </a:lnTo>
                <a:lnTo>
                  <a:pt x="485394" y="457200"/>
                </a:lnTo>
                <a:lnTo>
                  <a:pt x="243090" y="609600"/>
                </a:lnTo>
                <a:lnTo>
                  <a:pt x="0" y="45720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8435" y="3749547"/>
            <a:ext cx="3047365" cy="229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Non-final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{1} {2,5}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{3,6}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Times New Roman"/>
                <a:cs typeface="Times New Roman"/>
              </a:rPr>
              <a:t>Final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{4,7}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No </a:t>
            </a:r>
            <a:r>
              <a:rPr sz="2400" dirty="0">
                <a:latin typeface="Times New Roman"/>
                <a:cs typeface="Times New Roman"/>
              </a:rPr>
              <a:t>more </a:t>
            </a:r>
            <a:r>
              <a:rPr sz="2400" spc="-5" dirty="0">
                <a:latin typeface="Times New Roman"/>
                <a:cs typeface="Times New Roman"/>
              </a:rPr>
              <a:t>split! Job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389" y="628395"/>
            <a:ext cx="5304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52652" y="1426908"/>
          <a:ext cx="3548379" cy="331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96052" y="1884108"/>
          <a:ext cx="3548379" cy="2103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572139" y="2812795"/>
            <a:ext cx="762000" cy="485775"/>
          </a:xfrm>
          <a:custGeom>
            <a:avLst/>
            <a:gdLst/>
            <a:ahLst/>
            <a:cxnLst/>
            <a:rect l="l" t="t" r="r" b="b"/>
            <a:pathLst>
              <a:path w="762000" h="485775">
                <a:moveTo>
                  <a:pt x="571500" y="364236"/>
                </a:moveTo>
                <a:lnTo>
                  <a:pt x="571500" y="121158"/>
                </a:lnTo>
                <a:lnTo>
                  <a:pt x="0" y="121158"/>
                </a:lnTo>
                <a:lnTo>
                  <a:pt x="95250" y="243078"/>
                </a:lnTo>
                <a:lnTo>
                  <a:pt x="95250" y="364236"/>
                </a:lnTo>
                <a:lnTo>
                  <a:pt x="571500" y="364236"/>
                </a:lnTo>
                <a:close/>
              </a:path>
              <a:path w="762000" h="485775">
                <a:moveTo>
                  <a:pt x="95250" y="364236"/>
                </a:moveTo>
                <a:lnTo>
                  <a:pt x="95250" y="243078"/>
                </a:lnTo>
                <a:lnTo>
                  <a:pt x="0" y="364236"/>
                </a:lnTo>
                <a:lnTo>
                  <a:pt x="95250" y="364236"/>
                </a:lnTo>
                <a:close/>
              </a:path>
              <a:path w="762000" h="485775">
                <a:moveTo>
                  <a:pt x="762000" y="243078"/>
                </a:moveTo>
                <a:lnTo>
                  <a:pt x="571500" y="0"/>
                </a:lnTo>
                <a:lnTo>
                  <a:pt x="571500" y="485394"/>
                </a:lnTo>
                <a:lnTo>
                  <a:pt x="762000" y="243078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139" y="2812795"/>
            <a:ext cx="762000" cy="485775"/>
          </a:xfrm>
          <a:custGeom>
            <a:avLst/>
            <a:gdLst/>
            <a:ahLst/>
            <a:cxnLst/>
            <a:rect l="l" t="t" r="r" b="b"/>
            <a:pathLst>
              <a:path w="762000" h="485775">
                <a:moveTo>
                  <a:pt x="571500" y="0"/>
                </a:moveTo>
                <a:lnTo>
                  <a:pt x="571500" y="121158"/>
                </a:lnTo>
                <a:lnTo>
                  <a:pt x="0" y="121158"/>
                </a:lnTo>
                <a:lnTo>
                  <a:pt x="95250" y="243078"/>
                </a:lnTo>
                <a:lnTo>
                  <a:pt x="0" y="364236"/>
                </a:lnTo>
                <a:lnTo>
                  <a:pt x="571500" y="364236"/>
                </a:lnTo>
                <a:lnTo>
                  <a:pt x="571500" y="485394"/>
                </a:lnTo>
                <a:lnTo>
                  <a:pt x="762000" y="243078"/>
                </a:lnTo>
                <a:lnTo>
                  <a:pt x="571500" y="0"/>
                </a:lnTo>
                <a:close/>
              </a:path>
            </a:pathLst>
          </a:custGeom>
          <a:ln w="1270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6035" y="4816347"/>
            <a:ext cx="1243965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 =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{1}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B =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{2,5}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C =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{3,6}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Times New Roman"/>
                <a:cs typeface="Times New Roman"/>
              </a:rPr>
              <a:t>D =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{4,7}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Optimizing Finite</a:t>
            </a:r>
            <a:r>
              <a:rPr spc="-10" dirty="0"/>
              <a:t> 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211655"/>
            <a:ext cx="7250430" cy="445897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Table</a:t>
            </a:r>
            <a:r>
              <a:rPr sz="3200" spc="-10" dirty="0">
                <a:latin typeface="Arial"/>
                <a:cs typeface="Arial"/>
              </a:rPr>
              <a:t> Compaction</a:t>
            </a:r>
            <a:endParaRPr sz="3200">
              <a:latin typeface="Arial"/>
              <a:cs typeface="Arial"/>
            </a:endParaRPr>
          </a:p>
          <a:p>
            <a:pPr marL="755650" marR="784225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Two </a:t>
            </a:r>
            <a:r>
              <a:rPr sz="2800" dirty="0">
                <a:latin typeface="Arial"/>
                <a:cs typeface="Arial"/>
              </a:rPr>
              <a:t>dimensional arrays provide fast  access</a:t>
            </a:r>
            <a:endParaRPr sz="2800">
              <a:latin typeface="Arial"/>
              <a:cs typeface="Arial"/>
            </a:endParaRPr>
          </a:p>
          <a:p>
            <a:pPr marL="755650" marR="44958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Table size may be a concern (10KB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  100KB)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Table compression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techniques</a:t>
            </a:r>
            <a:endParaRPr sz="2800">
              <a:latin typeface="Arial"/>
              <a:cs typeface="Arial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680"/>
              </a:spcBef>
              <a:buChar char="•"/>
              <a:tabLst>
                <a:tab pos="1155700" algn="l"/>
              </a:tabLst>
            </a:pPr>
            <a:r>
              <a:rPr sz="2800" dirty="0">
                <a:latin typeface="Arial"/>
                <a:cs typeface="Arial"/>
              </a:rPr>
              <a:t>Compressing by eliminating redundant  rows</a:t>
            </a:r>
            <a:endParaRPr sz="2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675"/>
              </a:spcBef>
              <a:buChar char="•"/>
              <a:tabLst>
                <a:tab pos="1155700" algn="l"/>
              </a:tabLst>
            </a:pPr>
            <a:r>
              <a:rPr sz="2800" dirty="0">
                <a:latin typeface="Arial"/>
                <a:cs typeface="Arial"/>
              </a:rPr>
              <a:t>Pair-compressed transition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7835" y="777748"/>
            <a:ext cx="812990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latin typeface="Arial"/>
                <a:cs typeface="Arial"/>
              </a:rPr>
              <a:t>typical transition </a:t>
            </a:r>
            <a:r>
              <a:rPr sz="3200" spc="-5" dirty="0">
                <a:latin typeface="Arial"/>
                <a:cs typeface="Arial"/>
              </a:rPr>
              <a:t>table has many </a:t>
            </a:r>
            <a:r>
              <a:rPr sz="3200" spc="-10" dirty="0">
                <a:latin typeface="Arial"/>
                <a:cs typeface="Arial"/>
              </a:rPr>
              <a:t>identical  columns </a:t>
            </a:r>
            <a:r>
              <a:rPr sz="3200" spc="-5" dirty="0">
                <a:latin typeface="Arial"/>
                <a:cs typeface="Arial"/>
              </a:rPr>
              <a:t>and some </a:t>
            </a:r>
            <a:r>
              <a:rPr sz="3200" spc="-10" dirty="0">
                <a:latin typeface="Arial"/>
                <a:cs typeface="Arial"/>
              </a:rPr>
              <a:t>identical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rows.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19452" y="2036508"/>
          <a:ext cx="5986780" cy="4129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659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127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491052" y="3484308"/>
          <a:ext cx="2252980" cy="2616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89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3810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190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1905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10101"/>
                      </a:solidFill>
                      <a:prstDash val="solid"/>
                    </a:lnL>
                    <a:lnR w="38100">
                      <a:solidFill>
                        <a:srgbClr val="010101"/>
                      </a:solidFill>
                      <a:prstDash val="solid"/>
                    </a:lnR>
                    <a:lnT w="19050">
                      <a:solidFill>
                        <a:srgbClr val="010101"/>
                      </a:solidFill>
                      <a:prstDash val="solid"/>
                    </a:lnT>
                    <a:lnB w="381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131453" y="3263900"/>
            <a:ext cx="1221740" cy="396240"/>
          </a:xfrm>
          <a:custGeom>
            <a:avLst/>
            <a:gdLst/>
            <a:ahLst/>
            <a:cxnLst/>
            <a:rect l="l" t="t" r="r" b="b"/>
            <a:pathLst>
              <a:path w="1221739" h="396239">
                <a:moveTo>
                  <a:pt x="1174656" y="365653"/>
                </a:moveTo>
                <a:lnTo>
                  <a:pt x="3810" y="0"/>
                </a:lnTo>
                <a:lnTo>
                  <a:pt x="0" y="12191"/>
                </a:lnTo>
                <a:lnTo>
                  <a:pt x="1170846" y="377845"/>
                </a:lnTo>
                <a:lnTo>
                  <a:pt x="1174656" y="365653"/>
                </a:lnTo>
                <a:close/>
              </a:path>
              <a:path w="1221739" h="396239">
                <a:moveTo>
                  <a:pt x="1187195" y="392656"/>
                </a:moveTo>
                <a:lnTo>
                  <a:pt x="1187195" y="369570"/>
                </a:lnTo>
                <a:lnTo>
                  <a:pt x="1183386" y="381762"/>
                </a:lnTo>
                <a:lnTo>
                  <a:pt x="1170846" y="377845"/>
                </a:lnTo>
                <a:lnTo>
                  <a:pt x="1165098" y="396239"/>
                </a:lnTo>
                <a:lnTo>
                  <a:pt x="1187195" y="392656"/>
                </a:lnTo>
                <a:close/>
              </a:path>
              <a:path w="1221739" h="396239">
                <a:moveTo>
                  <a:pt x="1187195" y="369570"/>
                </a:moveTo>
                <a:lnTo>
                  <a:pt x="1174656" y="365653"/>
                </a:lnTo>
                <a:lnTo>
                  <a:pt x="1170846" y="377845"/>
                </a:lnTo>
                <a:lnTo>
                  <a:pt x="1183386" y="381762"/>
                </a:lnTo>
                <a:lnTo>
                  <a:pt x="1187195" y="369570"/>
                </a:lnTo>
                <a:close/>
              </a:path>
              <a:path w="1221739" h="396239">
                <a:moveTo>
                  <a:pt x="1221486" y="387096"/>
                </a:moveTo>
                <a:lnTo>
                  <a:pt x="1180338" y="347472"/>
                </a:lnTo>
                <a:lnTo>
                  <a:pt x="1174656" y="365653"/>
                </a:lnTo>
                <a:lnTo>
                  <a:pt x="1187195" y="369570"/>
                </a:lnTo>
                <a:lnTo>
                  <a:pt x="1187195" y="392656"/>
                </a:lnTo>
                <a:lnTo>
                  <a:pt x="1221486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2977" y="3644900"/>
            <a:ext cx="1144270" cy="177165"/>
          </a:xfrm>
          <a:custGeom>
            <a:avLst/>
            <a:gdLst/>
            <a:ahLst/>
            <a:cxnLst/>
            <a:rect l="l" t="t" r="r" b="b"/>
            <a:pathLst>
              <a:path w="1144270" h="177164">
                <a:moveTo>
                  <a:pt x="1093952" y="145305"/>
                </a:moveTo>
                <a:lnTo>
                  <a:pt x="1524" y="0"/>
                </a:lnTo>
                <a:lnTo>
                  <a:pt x="0" y="12191"/>
                </a:lnTo>
                <a:lnTo>
                  <a:pt x="1092178" y="158317"/>
                </a:lnTo>
                <a:lnTo>
                  <a:pt x="1093952" y="145305"/>
                </a:lnTo>
                <a:close/>
              </a:path>
              <a:path w="1144270" h="177164">
                <a:moveTo>
                  <a:pt x="1107185" y="170859"/>
                </a:moveTo>
                <a:lnTo>
                  <a:pt x="1107185" y="147065"/>
                </a:lnTo>
                <a:lnTo>
                  <a:pt x="1104900" y="160020"/>
                </a:lnTo>
                <a:lnTo>
                  <a:pt x="1092178" y="158317"/>
                </a:lnTo>
                <a:lnTo>
                  <a:pt x="1089659" y="176784"/>
                </a:lnTo>
                <a:lnTo>
                  <a:pt x="1107185" y="170859"/>
                </a:lnTo>
                <a:close/>
              </a:path>
              <a:path w="1144270" h="177164">
                <a:moveTo>
                  <a:pt x="1107185" y="147065"/>
                </a:moveTo>
                <a:lnTo>
                  <a:pt x="1093952" y="145305"/>
                </a:lnTo>
                <a:lnTo>
                  <a:pt x="1092178" y="158317"/>
                </a:lnTo>
                <a:lnTo>
                  <a:pt x="1104900" y="160020"/>
                </a:lnTo>
                <a:lnTo>
                  <a:pt x="1107185" y="147065"/>
                </a:lnTo>
                <a:close/>
              </a:path>
              <a:path w="1144270" h="177164">
                <a:moveTo>
                  <a:pt x="1143762" y="158496"/>
                </a:moveTo>
                <a:lnTo>
                  <a:pt x="1096517" y="126491"/>
                </a:lnTo>
                <a:lnTo>
                  <a:pt x="1093952" y="145305"/>
                </a:lnTo>
                <a:lnTo>
                  <a:pt x="1107185" y="147065"/>
                </a:lnTo>
                <a:lnTo>
                  <a:pt x="1107185" y="170859"/>
                </a:lnTo>
                <a:lnTo>
                  <a:pt x="1143762" y="1584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2215" y="4025900"/>
            <a:ext cx="1221105" cy="250190"/>
          </a:xfrm>
          <a:custGeom>
            <a:avLst/>
            <a:gdLst/>
            <a:ahLst/>
            <a:cxnLst/>
            <a:rect l="l" t="t" r="r" b="b"/>
            <a:pathLst>
              <a:path w="1221104" h="250189">
                <a:moveTo>
                  <a:pt x="1171956" y="219453"/>
                </a:moveTo>
                <a:lnTo>
                  <a:pt x="3048" y="0"/>
                </a:lnTo>
                <a:lnTo>
                  <a:pt x="0" y="12191"/>
                </a:lnTo>
                <a:lnTo>
                  <a:pt x="1169523" y="231619"/>
                </a:lnTo>
                <a:lnTo>
                  <a:pt x="1171956" y="219453"/>
                </a:lnTo>
                <a:close/>
              </a:path>
              <a:path w="1221104" h="250189">
                <a:moveTo>
                  <a:pt x="1184147" y="244856"/>
                </a:moveTo>
                <a:lnTo>
                  <a:pt x="1184147" y="221741"/>
                </a:lnTo>
                <a:lnTo>
                  <a:pt x="1181862" y="233934"/>
                </a:lnTo>
                <a:lnTo>
                  <a:pt x="1169523" y="231619"/>
                </a:lnTo>
                <a:lnTo>
                  <a:pt x="1165859" y="249936"/>
                </a:lnTo>
                <a:lnTo>
                  <a:pt x="1184147" y="244856"/>
                </a:lnTo>
                <a:close/>
              </a:path>
              <a:path w="1221104" h="250189">
                <a:moveTo>
                  <a:pt x="1184147" y="221741"/>
                </a:moveTo>
                <a:lnTo>
                  <a:pt x="1171956" y="219453"/>
                </a:lnTo>
                <a:lnTo>
                  <a:pt x="1169523" y="231619"/>
                </a:lnTo>
                <a:lnTo>
                  <a:pt x="1181862" y="233934"/>
                </a:lnTo>
                <a:lnTo>
                  <a:pt x="1184147" y="221741"/>
                </a:lnTo>
                <a:close/>
              </a:path>
              <a:path w="1221104" h="250189">
                <a:moveTo>
                  <a:pt x="1220724" y="234696"/>
                </a:moveTo>
                <a:lnTo>
                  <a:pt x="1175765" y="200405"/>
                </a:lnTo>
                <a:lnTo>
                  <a:pt x="1171956" y="219453"/>
                </a:lnTo>
                <a:lnTo>
                  <a:pt x="1184147" y="221741"/>
                </a:lnTo>
                <a:lnTo>
                  <a:pt x="1184147" y="244856"/>
                </a:lnTo>
                <a:lnTo>
                  <a:pt x="1220724" y="2346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07653" y="4330700"/>
            <a:ext cx="1221740" cy="396240"/>
          </a:xfrm>
          <a:custGeom>
            <a:avLst/>
            <a:gdLst/>
            <a:ahLst/>
            <a:cxnLst/>
            <a:rect l="l" t="t" r="r" b="b"/>
            <a:pathLst>
              <a:path w="1221739" h="396239">
                <a:moveTo>
                  <a:pt x="1174656" y="365653"/>
                </a:moveTo>
                <a:lnTo>
                  <a:pt x="3810" y="0"/>
                </a:lnTo>
                <a:lnTo>
                  <a:pt x="0" y="12191"/>
                </a:lnTo>
                <a:lnTo>
                  <a:pt x="1170846" y="377845"/>
                </a:lnTo>
                <a:lnTo>
                  <a:pt x="1174656" y="365653"/>
                </a:lnTo>
                <a:close/>
              </a:path>
              <a:path w="1221739" h="396239">
                <a:moveTo>
                  <a:pt x="1187195" y="392656"/>
                </a:moveTo>
                <a:lnTo>
                  <a:pt x="1187195" y="369570"/>
                </a:lnTo>
                <a:lnTo>
                  <a:pt x="1183386" y="381762"/>
                </a:lnTo>
                <a:lnTo>
                  <a:pt x="1170846" y="377845"/>
                </a:lnTo>
                <a:lnTo>
                  <a:pt x="1165098" y="396239"/>
                </a:lnTo>
                <a:lnTo>
                  <a:pt x="1187195" y="392656"/>
                </a:lnTo>
                <a:close/>
              </a:path>
              <a:path w="1221739" h="396239">
                <a:moveTo>
                  <a:pt x="1187195" y="369570"/>
                </a:moveTo>
                <a:lnTo>
                  <a:pt x="1174656" y="365653"/>
                </a:lnTo>
                <a:lnTo>
                  <a:pt x="1170846" y="377845"/>
                </a:lnTo>
                <a:lnTo>
                  <a:pt x="1183386" y="381762"/>
                </a:lnTo>
                <a:lnTo>
                  <a:pt x="1187195" y="369570"/>
                </a:lnTo>
                <a:close/>
              </a:path>
              <a:path w="1221739" h="396239">
                <a:moveTo>
                  <a:pt x="1221486" y="387096"/>
                </a:moveTo>
                <a:lnTo>
                  <a:pt x="1180338" y="347472"/>
                </a:lnTo>
                <a:lnTo>
                  <a:pt x="1174656" y="365653"/>
                </a:lnTo>
                <a:lnTo>
                  <a:pt x="1187195" y="369570"/>
                </a:lnTo>
                <a:lnTo>
                  <a:pt x="1187195" y="392656"/>
                </a:lnTo>
                <a:lnTo>
                  <a:pt x="1221486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06891" y="4712461"/>
            <a:ext cx="1222375" cy="615315"/>
          </a:xfrm>
          <a:custGeom>
            <a:avLst/>
            <a:gdLst/>
            <a:ahLst/>
            <a:cxnLst/>
            <a:rect l="l" t="t" r="r" b="b"/>
            <a:pathLst>
              <a:path w="1222375" h="615314">
                <a:moveTo>
                  <a:pt x="1179422" y="586285"/>
                </a:moveTo>
                <a:lnTo>
                  <a:pt x="6096" y="0"/>
                </a:lnTo>
                <a:lnTo>
                  <a:pt x="0" y="10667"/>
                </a:lnTo>
                <a:lnTo>
                  <a:pt x="1173784" y="597560"/>
                </a:lnTo>
                <a:lnTo>
                  <a:pt x="1179422" y="586285"/>
                </a:lnTo>
                <a:close/>
              </a:path>
              <a:path w="1222375" h="615314">
                <a:moveTo>
                  <a:pt x="1191005" y="614934"/>
                </a:moveTo>
                <a:lnTo>
                  <a:pt x="1191005" y="592074"/>
                </a:lnTo>
                <a:lnTo>
                  <a:pt x="1185671" y="603503"/>
                </a:lnTo>
                <a:lnTo>
                  <a:pt x="1173784" y="597560"/>
                </a:lnTo>
                <a:lnTo>
                  <a:pt x="1165098" y="614934"/>
                </a:lnTo>
                <a:lnTo>
                  <a:pt x="1191005" y="614934"/>
                </a:lnTo>
                <a:close/>
              </a:path>
              <a:path w="1222375" h="615314">
                <a:moveTo>
                  <a:pt x="1191005" y="592074"/>
                </a:moveTo>
                <a:lnTo>
                  <a:pt x="1179422" y="586285"/>
                </a:lnTo>
                <a:lnTo>
                  <a:pt x="1173784" y="597560"/>
                </a:lnTo>
                <a:lnTo>
                  <a:pt x="1185671" y="603503"/>
                </a:lnTo>
                <a:lnTo>
                  <a:pt x="1191005" y="592074"/>
                </a:lnTo>
                <a:close/>
              </a:path>
              <a:path w="1222375" h="615314">
                <a:moveTo>
                  <a:pt x="1222248" y="614934"/>
                </a:moveTo>
                <a:lnTo>
                  <a:pt x="1187957" y="569213"/>
                </a:lnTo>
                <a:lnTo>
                  <a:pt x="1179422" y="586285"/>
                </a:lnTo>
                <a:lnTo>
                  <a:pt x="1191005" y="592074"/>
                </a:lnTo>
                <a:lnTo>
                  <a:pt x="1191005" y="614934"/>
                </a:lnTo>
                <a:lnTo>
                  <a:pt x="1222248" y="614934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7653" y="4709414"/>
            <a:ext cx="1145540" cy="395605"/>
          </a:xfrm>
          <a:custGeom>
            <a:avLst/>
            <a:gdLst/>
            <a:ahLst/>
            <a:cxnLst/>
            <a:rect l="l" t="t" r="r" b="b"/>
            <a:pathLst>
              <a:path w="1145539" h="395604">
                <a:moveTo>
                  <a:pt x="1098964" y="30680"/>
                </a:moveTo>
                <a:lnTo>
                  <a:pt x="1094982" y="18543"/>
                </a:lnTo>
                <a:lnTo>
                  <a:pt x="0" y="383286"/>
                </a:lnTo>
                <a:lnTo>
                  <a:pt x="4572" y="395477"/>
                </a:lnTo>
                <a:lnTo>
                  <a:pt x="1098964" y="30680"/>
                </a:lnTo>
                <a:close/>
              </a:path>
              <a:path w="1145539" h="395604">
                <a:moveTo>
                  <a:pt x="1145286" y="8382"/>
                </a:moveTo>
                <a:lnTo>
                  <a:pt x="1088898" y="0"/>
                </a:lnTo>
                <a:lnTo>
                  <a:pt x="1094982" y="18543"/>
                </a:lnTo>
                <a:lnTo>
                  <a:pt x="1107186" y="14477"/>
                </a:lnTo>
                <a:lnTo>
                  <a:pt x="1110995" y="26670"/>
                </a:lnTo>
                <a:lnTo>
                  <a:pt x="1110995" y="42672"/>
                </a:lnTo>
                <a:lnTo>
                  <a:pt x="1145286" y="8382"/>
                </a:lnTo>
                <a:close/>
              </a:path>
              <a:path w="1145539" h="395604">
                <a:moveTo>
                  <a:pt x="1110995" y="26670"/>
                </a:moveTo>
                <a:lnTo>
                  <a:pt x="1107186" y="14477"/>
                </a:lnTo>
                <a:lnTo>
                  <a:pt x="1094982" y="18543"/>
                </a:lnTo>
                <a:lnTo>
                  <a:pt x="1098964" y="30680"/>
                </a:lnTo>
                <a:lnTo>
                  <a:pt x="1110995" y="26670"/>
                </a:lnTo>
                <a:close/>
              </a:path>
              <a:path w="1145539" h="395604">
                <a:moveTo>
                  <a:pt x="1110995" y="42672"/>
                </a:moveTo>
                <a:lnTo>
                  <a:pt x="1110995" y="26670"/>
                </a:lnTo>
                <a:lnTo>
                  <a:pt x="1098964" y="30680"/>
                </a:lnTo>
                <a:lnTo>
                  <a:pt x="1104900" y="48768"/>
                </a:lnTo>
                <a:lnTo>
                  <a:pt x="1110995" y="42672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2215" y="5397500"/>
            <a:ext cx="1373505" cy="398145"/>
          </a:xfrm>
          <a:custGeom>
            <a:avLst/>
            <a:gdLst/>
            <a:ahLst/>
            <a:cxnLst/>
            <a:rect l="l" t="t" r="r" b="b"/>
            <a:pathLst>
              <a:path w="1373504" h="398145">
                <a:moveTo>
                  <a:pt x="1325946" y="367723"/>
                </a:moveTo>
                <a:lnTo>
                  <a:pt x="3048" y="0"/>
                </a:lnTo>
                <a:lnTo>
                  <a:pt x="0" y="12191"/>
                </a:lnTo>
                <a:lnTo>
                  <a:pt x="1322545" y="379817"/>
                </a:lnTo>
                <a:lnTo>
                  <a:pt x="1325946" y="367723"/>
                </a:lnTo>
                <a:close/>
              </a:path>
              <a:path w="1373504" h="398145">
                <a:moveTo>
                  <a:pt x="1338072" y="393818"/>
                </a:moveTo>
                <a:lnTo>
                  <a:pt x="1338072" y="371094"/>
                </a:lnTo>
                <a:lnTo>
                  <a:pt x="1335024" y="383286"/>
                </a:lnTo>
                <a:lnTo>
                  <a:pt x="1322545" y="379817"/>
                </a:lnTo>
                <a:lnTo>
                  <a:pt x="1317498" y="397763"/>
                </a:lnTo>
                <a:lnTo>
                  <a:pt x="1338072" y="393818"/>
                </a:lnTo>
                <a:close/>
              </a:path>
              <a:path w="1373504" h="398145">
                <a:moveTo>
                  <a:pt x="1338072" y="371094"/>
                </a:moveTo>
                <a:lnTo>
                  <a:pt x="1325946" y="367723"/>
                </a:lnTo>
                <a:lnTo>
                  <a:pt x="1322545" y="379817"/>
                </a:lnTo>
                <a:lnTo>
                  <a:pt x="1335024" y="383286"/>
                </a:lnTo>
                <a:lnTo>
                  <a:pt x="1338072" y="371094"/>
                </a:lnTo>
                <a:close/>
              </a:path>
              <a:path w="1373504" h="398145">
                <a:moveTo>
                  <a:pt x="1373124" y="387096"/>
                </a:moveTo>
                <a:lnTo>
                  <a:pt x="1331214" y="348996"/>
                </a:lnTo>
                <a:lnTo>
                  <a:pt x="1325946" y="367723"/>
                </a:lnTo>
                <a:lnTo>
                  <a:pt x="1338072" y="371094"/>
                </a:lnTo>
                <a:lnTo>
                  <a:pt x="1338072" y="393818"/>
                </a:lnTo>
                <a:lnTo>
                  <a:pt x="1373124" y="387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32977" y="5838697"/>
            <a:ext cx="1296670" cy="104775"/>
          </a:xfrm>
          <a:custGeom>
            <a:avLst/>
            <a:gdLst/>
            <a:ahLst/>
            <a:cxnLst/>
            <a:rect l="l" t="t" r="r" b="b"/>
            <a:pathLst>
              <a:path w="1296670" h="104775">
                <a:moveTo>
                  <a:pt x="1245478" y="31264"/>
                </a:moveTo>
                <a:lnTo>
                  <a:pt x="1244739" y="19070"/>
                </a:lnTo>
                <a:lnTo>
                  <a:pt x="0" y="92201"/>
                </a:lnTo>
                <a:lnTo>
                  <a:pt x="762" y="104393"/>
                </a:lnTo>
                <a:lnTo>
                  <a:pt x="1245478" y="31264"/>
                </a:lnTo>
                <a:close/>
              </a:path>
              <a:path w="1296670" h="104775">
                <a:moveTo>
                  <a:pt x="1296162" y="22098"/>
                </a:moveTo>
                <a:lnTo>
                  <a:pt x="1243584" y="0"/>
                </a:lnTo>
                <a:lnTo>
                  <a:pt x="1244739" y="19070"/>
                </a:lnTo>
                <a:lnTo>
                  <a:pt x="1258062" y="18287"/>
                </a:lnTo>
                <a:lnTo>
                  <a:pt x="1258824" y="30479"/>
                </a:lnTo>
                <a:lnTo>
                  <a:pt x="1258824" y="43351"/>
                </a:lnTo>
                <a:lnTo>
                  <a:pt x="1296162" y="22098"/>
                </a:lnTo>
                <a:close/>
              </a:path>
              <a:path w="1296670" h="104775">
                <a:moveTo>
                  <a:pt x="1258824" y="30479"/>
                </a:moveTo>
                <a:lnTo>
                  <a:pt x="1258062" y="18287"/>
                </a:lnTo>
                <a:lnTo>
                  <a:pt x="1244739" y="19070"/>
                </a:lnTo>
                <a:lnTo>
                  <a:pt x="1245478" y="31264"/>
                </a:lnTo>
                <a:lnTo>
                  <a:pt x="1258824" y="30479"/>
                </a:lnTo>
                <a:close/>
              </a:path>
              <a:path w="1296670" h="104775">
                <a:moveTo>
                  <a:pt x="1258824" y="43351"/>
                </a:moveTo>
                <a:lnTo>
                  <a:pt x="1258824" y="30479"/>
                </a:lnTo>
                <a:lnTo>
                  <a:pt x="1245478" y="31264"/>
                </a:lnTo>
                <a:lnTo>
                  <a:pt x="1246632" y="50291"/>
                </a:lnTo>
                <a:lnTo>
                  <a:pt x="1258824" y="43351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51643" y="3116072"/>
            <a:ext cx="94615" cy="306705"/>
          </a:xfrm>
          <a:custGeom>
            <a:avLst/>
            <a:gdLst/>
            <a:ahLst/>
            <a:cxnLst/>
            <a:rect l="l" t="t" r="r" b="b"/>
            <a:pathLst>
              <a:path w="94614" h="306704">
                <a:moveTo>
                  <a:pt x="76175" y="255205"/>
                </a:moveTo>
                <a:lnTo>
                  <a:pt x="12191" y="0"/>
                </a:lnTo>
                <a:lnTo>
                  <a:pt x="0" y="3048"/>
                </a:lnTo>
                <a:lnTo>
                  <a:pt x="63972" y="258209"/>
                </a:lnTo>
                <a:lnTo>
                  <a:pt x="76175" y="255205"/>
                </a:lnTo>
                <a:close/>
              </a:path>
              <a:path w="94614" h="306704">
                <a:moveTo>
                  <a:pt x="79248" y="302778"/>
                </a:moveTo>
                <a:lnTo>
                  <a:pt x="79248" y="267462"/>
                </a:lnTo>
                <a:lnTo>
                  <a:pt x="67055" y="270510"/>
                </a:lnTo>
                <a:lnTo>
                  <a:pt x="63972" y="258209"/>
                </a:lnTo>
                <a:lnTo>
                  <a:pt x="44958" y="262889"/>
                </a:lnTo>
                <a:lnTo>
                  <a:pt x="79248" y="302778"/>
                </a:lnTo>
                <a:close/>
              </a:path>
              <a:path w="94614" h="306704">
                <a:moveTo>
                  <a:pt x="79248" y="267462"/>
                </a:moveTo>
                <a:lnTo>
                  <a:pt x="76175" y="255205"/>
                </a:lnTo>
                <a:lnTo>
                  <a:pt x="63972" y="258209"/>
                </a:lnTo>
                <a:lnTo>
                  <a:pt x="67055" y="270510"/>
                </a:lnTo>
                <a:lnTo>
                  <a:pt x="79248" y="267462"/>
                </a:lnTo>
                <a:close/>
              </a:path>
              <a:path w="94614" h="306704">
                <a:moveTo>
                  <a:pt x="94487" y="250698"/>
                </a:moveTo>
                <a:lnTo>
                  <a:pt x="76175" y="255205"/>
                </a:lnTo>
                <a:lnTo>
                  <a:pt x="79248" y="267462"/>
                </a:lnTo>
                <a:lnTo>
                  <a:pt x="79248" y="302778"/>
                </a:lnTo>
                <a:lnTo>
                  <a:pt x="82296" y="306324"/>
                </a:lnTo>
                <a:lnTo>
                  <a:pt x="94487" y="25069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1099" y="3039872"/>
            <a:ext cx="97790" cy="382905"/>
          </a:xfrm>
          <a:custGeom>
            <a:avLst/>
            <a:gdLst/>
            <a:ahLst/>
            <a:cxnLst/>
            <a:rect l="l" t="t" r="r" b="b"/>
            <a:pathLst>
              <a:path w="97789" h="382904">
                <a:moveTo>
                  <a:pt x="19202" y="331442"/>
                </a:moveTo>
                <a:lnTo>
                  <a:pt x="0" y="327660"/>
                </a:lnTo>
                <a:lnTo>
                  <a:pt x="15240" y="382524"/>
                </a:lnTo>
                <a:lnTo>
                  <a:pt x="16763" y="380569"/>
                </a:lnTo>
                <a:lnTo>
                  <a:pt x="16763" y="343662"/>
                </a:lnTo>
                <a:lnTo>
                  <a:pt x="19202" y="331442"/>
                </a:lnTo>
                <a:close/>
              </a:path>
              <a:path w="97789" h="382904">
                <a:moveTo>
                  <a:pt x="31518" y="333868"/>
                </a:moveTo>
                <a:lnTo>
                  <a:pt x="19202" y="331442"/>
                </a:lnTo>
                <a:lnTo>
                  <a:pt x="16763" y="343662"/>
                </a:lnTo>
                <a:lnTo>
                  <a:pt x="28956" y="346710"/>
                </a:lnTo>
                <a:lnTo>
                  <a:pt x="31518" y="333868"/>
                </a:lnTo>
                <a:close/>
              </a:path>
              <a:path w="97789" h="382904">
                <a:moveTo>
                  <a:pt x="50292" y="337565"/>
                </a:moveTo>
                <a:lnTo>
                  <a:pt x="31518" y="333868"/>
                </a:lnTo>
                <a:lnTo>
                  <a:pt x="28956" y="346710"/>
                </a:lnTo>
                <a:lnTo>
                  <a:pt x="16763" y="343662"/>
                </a:lnTo>
                <a:lnTo>
                  <a:pt x="16763" y="380569"/>
                </a:lnTo>
                <a:lnTo>
                  <a:pt x="50292" y="337565"/>
                </a:lnTo>
                <a:close/>
              </a:path>
              <a:path w="97789" h="382904">
                <a:moveTo>
                  <a:pt x="97536" y="3048"/>
                </a:moveTo>
                <a:lnTo>
                  <a:pt x="85344" y="0"/>
                </a:lnTo>
                <a:lnTo>
                  <a:pt x="19202" y="331442"/>
                </a:lnTo>
                <a:lnTo>
                  <a:pt x="31518" y="333868"/>
                </a:lnTo>
                <a:lnTo>
                  <a:pt x="97536" y="3048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62539" y="3113785"/>
            <a:ext cx="234315" cy="308610"/>
          </a:xfrm>
          <a:custGeom>
            <a:avLst/>
            <a:gdLst/>
            <a:ahLst/>
            <a:cxnLst/>
            <a:rect l="l" t="t" r="r" b="b"/>
            <a:pathLst>
              <a:path w="234314" h="308610">
                <a:moveTo>
                  <a:pt x="25091" y="264232"/>
                </a:moveTo>
                <a:lnTo>
                  <a:pt x="9905" y="252984"/>
                </a:lnTo>
                <a:lnTo>
                  <a:pt x="0" y="308610"/>
                </a:lnTo>
                <a:lnTo>
                  <a:pt x="17525" y="299977"/>
                </a:lnTo>
                <a:lnTo>
                  <a:pt x="17525" y="274319"/>
                </a:lnTo>
                <a:lnTo>
                  <a:pt x="25091" y="264232"/>
                </a:lnTo>
                <a:close/>
              </a:path>
              <a:path w="234314" h="308610">
                <a:moveTo>
                  <a:pt x="35623" y="272034"/>
                </a:moveTo>
                <a:lnTo>
                  <a:pt x="25091" y="264232"/>
                </a:lnTo>
                <a:lnTo>
                  <a:pt x="17525" y="274319"/>
                </a:lnTo>
                <a:lnTo>
                  <a:pt x="28193" y="281939"/>
                </a:lnTo>
                <a:lnTo>
                  <a:pt x="35623" y="272034"/>
                </a:lnTo>
                <a:close/>
              </a:path>
              <a:path w="234314" h="308610">
                <a:moveTo>
                  <a:pt x="51053" y="283463"/>
                </a:moveTo>
                <a:lnTo>
                  <a:pt x="35623" y="272034"/>
                </a:lnTo>
                <a:lnTo>
                  <a:pt x="28193" y="281939"/>
                </a:lnTo>
                <a:lnTo>
                  <a:pt x="17525" y="274319"/>
                </a:lnTo>
                <a:lnTo>
                  <a:pt x="17525" y="299977"/>
                </a:lnTo>
                <a:lnTo>
                  <a:pt x="51053" y="283463"/>
                </a:lnTo>
                <a:close/>
              </a:path>
              <a:path w="234314" h="308610">
                <a:moveTo>
                  <a:pt x="233933" y="7619"/>
                </a:moveTo>
                <a:lnTo>
                  <a:pt x="223265" y="0"/>
                </a:lnTo>
                <a:lnTo>
                  <a:pt x="25091" y="264232"/>
                </a:lnTo>
                <a:lnTo>
                  <a:pt x="35623" y="272034"/>
                </a:lnTo>
                <a:lnTo>
                  <a:pt x="233933" y="7619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139" y="3038348"/>
            <a:ext cx="234315" cy="384175"/>
          </a:xfrm>
          <a:custGeom>
            <a:avLst/>
            <a:gdLst/>
            <a:ahLst/>
            <a:cxnLst/>
            <a:rect l="l" t="t" r="r" b="b"/>
            <a:pathLst>
              <a:path w="234314" h="384175">
                <a:moveTo>
                  <a:pt x="20954" y="337432"/>
                </a:moveTo>
                <a:lnTo>
                  <a:pt x="4571" y="327660"/>
                </a:lnTo>
                <a:lnTo>
                  <a:pt x="0" y="384048"/>
                </a:lnTo>
                <a:lnTo>
                  <a:pt x="14477" y="374855"/>
                </a:lnTo>
                <a:lnTo>
                  <a:pt x="14477" y="348234"/>
                </a:lnTo>
                <a:lnTo>
                  <a:pt x="20954" y="337432"/>
                </a:lnTo>
                <a:close/>
              </a:path>
              <a:path w="234314" h="384175">
                <a:moveTo>
                  <a:pt x="31504" y="343724"/>
                </a:moveTo>
                <a:lnTo>
                  <a:pt x="20954" y="337432"/>
                </a:lnTo>
                <a:lnTo>
                  <a:pt x="14477" y="348234"/>
                </a:lnTo>
                <a:lnTo>
                  <a:pt x="25145" y="354329"/>
                </a:lnTo>
                <a:lnTo>
                  <a:pt x="31504" y="343724"/>
                </a:lnTo>
                <a:close/>
              </a:path>
              <a:path w="234314" h="384175">
                <a:moveTo>
                  <a:pt x="48005" y="353567"/>
                </a:moveTo>
                <a:lnTo>
                  <a:pt x="31504" y="343724"/>
                </a:lnTo>
                <a:lnTo>
                  <a:pt x="25145" y="354329"/>
                </a:lnTo>
                <a:lnTo>
                  <a:pt x="14477" y="348234"/>
                </a:lnTo>
                <a:lnTo>
                  <a:pt x="14477" y="374855"/>
                </a:lnTo>
                <a:lnTo>
                  <a:pt x="48005" y="353567"/>
                </a:lnTo>
                <a:close/>
              </a:path>
              <a:path w="234314" h="384175">
                <a:moveTo>
                  <a:pt x="233933" y="6096"/>
                </a:moveTo>
                <a:lnTo>
                  <a:pt x="223265" y="0"/>
                </a:lnTo>
                <a:lnTo>
                  <a:pt x="20954" y="337432"/>
                </a:lnTo>
                <a:lnTo>
                  <a:pt x="31504" y="343724"/>
                </a:lnTo>
                <a:lnTo>
                  <a:pt x="233933" y="6096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24539" y="3036061"/>
            <a:ext cx="612775" cy="386715"/>
          </a:xfrm>
          <a:custGeom>
            <a:avLst/>
            <a:gdLst/>
            <a:ahLst/>
            <a:cxnLst/>
            <a:rect l="l" t="t" r="r" b="b"/>
            <a:pathLst>
              <a:path w="612775" h="386714">
                <a:moveTo>
                  <a:pt x="39655" y="353749"/>
                </a:moveTo>
                <a:lnTo>
                  <a:pt x="29717" y="337565"/>
                </a:lnTo>
                <a:lnTo>
                  <a:pt x="0" y="386334"/>
                </a:lnTo>
                <a:lnTo>
                  <a:pt x="28955" y="383594"/>
                </a:lnTo>
                <a:lnTo>
                  <a:pt x="28955" y="360425"/>
                </a:lnTo>
                <a:lnTo>
                  <a:pt x="39655" y="353749"/>
                </a:lnTo>
                <a:close/>
              </a:path>
              <a:path w="612775" h="386714">
                <a:moveTo>
                  <a:pt x="46618" y="365090"/>
                </a:moveTo>
                <a:lnTo>
                  <a:pt x="39655" y="353749"/>
                </a:lnTo>
                <a:lnTo>
                  <a:pt x="28955" y="360425"/>
                </a:lnTo>
                <a:lnTo>
                  <a:pt x="35813" y="371855"/>
                </a:lnTo>
                <a:lnTo>
                  <a:pt x="46618" y="365090"/>
                </a:lnTo>
                <a:close/>
              </a:path>
              <a:path w="612775" h="386714">
                <a:moveTo>
                  <a:pt x="56387" y="381000"/>
                </a:moveTo>
                <a:lnTo>
                  <a:pt x="46618" y="365090"/>
                </a:lnTo>
                <a:lnTo>
                  <a:pt x="35813" y="371855"/>
                </a:lnTo>
                <a:lnTo>
                  <a:pt x="28955" y="360425"/>
                </a:lnTo>
                <a:lnTo>
                  <a:pt x="28955" y="383594"/>
                </a:lnTo>
                <a:lnTo>
                  <a:pt x="56387" y="381000"/>
                </a:lnTo>
                <a:close/>
              </a:path>
              <a:path w="612775" h="386714">
                <a:moveTo>
                  <a:pt x="612647" y="10667"/>
                </a:moveTo>
                <a:lnTo>
                  <a:pt x="606551" y="0"/>
                </a:lnTo>
                <a:lnTo>
                  <a:pt x="39655" y="353749"/>
                </a:lnTo>
                <a:lnTo>
                  <a:pt x="46618" y="365090"/>
                </a:lnTo>
                <a:lnTo>
                  <a:pt x="612647" y="1066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38939" y="3036823"/>
            <a:ext cx="461009" cy="386080"/>
          </a:xfrm>
          <a:custGeom>
            <a:avLst/>
            <a:gdLst/>
            <a:ahLst/>
            <a:cxnLst/>
            <a:rect l="l" t="t" r="r" b="b"/>
            <a:pathLst>
              <a:path w="461010" h="386079">
                <a:moveTo>
                  <a:pt x="35126" y="348304"/>
                </a:moveTo>
                <a:lnTo>
                  <a:pt x="22859" y="333755"/>
                </a:lnTo>
                <a:lnTo>
                  <a:pt x="0" y="385572"/>
                </a:lnTo>
                <a:lnTo>
                  <a:pt x="25145" y="379716"/>
                </a:lnTo>
                <a:lnTo>
                  <a:pt x="25145" y="356615"/>
                </a:lnTo>
                <a:lnTo>
                  <a:pt x="35126" y="348304"/>
                </a:lnTo>
                <a:close/>
              </a:path>
              <a:path w="461010" h="386079">
                <a:moveTo>
                  <a:pt x="43106" y="357769"/>
                </a:moveTo>
                <a:lnTo>
                  <a:pt x="35126" y="348304"/>
                </a:lnTo>
                <a:lnTo>
                  <a:pt x="25145" y="356615"/>
                </a:lnTo>
                <a:lnTo>
                  <a:pt x="33527" y="365760"/>
                </a:lnTo>
                <a:lnTo>
                  <a:pt x="43106" y="357769"/>
                </a:lnTo>
                <a:close/>
              </a:path>
              <a:path w="461010" h="386079">
                <a:moveTo>
                  <a:pt x="55625" y="372617"/>
                </a:moveTo>
                <a:lnTo>
                  <a:pt x="43106" y="357769"/>
                </a:lnTo>
                <a:lnTo>
                  <a:pt x="33527" y="365760"/>
                </a:lnTo>
                <a:lnTo>
                  <a:pt x="25145" y="356615"/>
                </a:lnTo>
                <a:lnTo>
                  <a:pt x="25145" y="379716"/>
                </a:lnTo>
                <a:lnTo>
                  <a:pt x="55625" y="372617"/>
                </a:lnTo>
                <a:close/>
              </a:path>
              <a:path w="461010" h="386079">
                <a:moveTo>
                  <a:pt x="460997" y="9143"/>
                </a:moveTo>
                <a:lnTo>
                  <a:pt x="453389" y="0"/>
                </a:lnTo>
                <a:lnTo>
                  <a:pt x="35126" y="348304"/>
                </a:lnTo>
                <a:lnTo>
                  <a:pt x="43106" y="357769"/>
                </a:lnTo>
                <a:lnTo>
                  <a:pt x="460997" y="9143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94035" y="810514"/>
            <a:ext cx="7414259" cy="516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316730" algn="l"/>
              </a:tabLst>
            </a:pPr>
            <a:r>
              <a:rPr sz="2400" i="1" dirty="0">
                <a:latin typeface="Arial"/>
                <a:cs typeface="Arial"/>
              </a:rPr>
              <a:t>We may create a much smaller transition table </a:t>
            </a:r>
            <a:r>
              <a:rPr sz="2400" i="1" spc="-5" dirty="0">
                <a:latin typeface="Arial"/>
                <a:cs typeface="Arial"/>
              </a:rPr>
              <a:t>with  indirect </a:t>
            </a:r>
            <a:r>
              <a:rPr sz="2400" i="1" dirty="0">
                <a:latin typeface="Arial"/>
                <a:cs typeface="Arial"/>
              </a:rPr>
              <a:t>row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column maps.	Table </a:t>
            </a:r>
            <a:r>
              <a:rPr sz="2400" i="1" spc="-5" dirty="0">
                <a:latin typeface="Arial"/>
                <a:cs typeface="Arial"/>
              </a:rPr>
              <a:t>is now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accessed  as T[ rmap[s], cmap[c]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].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2603500">
              <a:lnSpc>
                <a:spcPts val="2875"/>
              </a:lnSpc>
              <a:spcBef>
                <a:spcPts val="5"/>
              </a:spcBef>
              <a:tabLst>
                <a:tab pos="4549140" algn="l"/>
              </a:tabLst>
            </a:pPr>
            <a:r>
              <a:rPr sz="2400" dirty="0">
                <a:latin typeface="Times New Roman"/>
                <a:cs typeface="Times New Roman"/>
              </a:rPr>
              <a:t>a b c …. 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	….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  <a:p>
            <a:pPr marL="2603500">
              <a:lnSpc>
                <a:spcPts val="2860"/>
              </a:lnSpc>
              <a:tabLst>
                <a:tab pos="5041265" algn="l"/>
              </a:tabLst>
            </a:pPr>
            <a:r>
              <a:rPr sz="2400" dirty="0">
                <a:latin typeface="Times New Roman"/>
                <a:cs typeface="Times New Roman"/>
              </a:rPr>
              <a:t>1 1 1….. 2 2 2 …..	3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60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1	1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2	1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3	2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4	3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5	4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6	3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7	5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ts val="2875"/>
              </a:lnSpc>
              <a:tabLst>
                <a:tab pos="910590" algn="l"/>
              </a:tabLst>
            </a:pPr>
            <a:r>
              <a:rPr sz="2400" dirty="0">
                <a:latin typeface="Times New Roman"/>
                <a:cs typeface="Times New Roman"/>
              </a:rPr>
              <a:t>8	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189" y="571245"/>
            <a:ext cx="4692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Sparse </a:t>
            </a:r>
            <a:r>
              <a:rPr spc="-5" dirty="0"/>
              <a:t>table</a:t>
            </a:r>
            <a:r>
              <a:rPr spc="-3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1752739" y="2355595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00" y="0"/>
                </a:moveTo>
                <a:lnTo>
                  <a:pt x="762000" y="457199"/>
                </a:lnTo>
                <a:lnTo>
                  <a:pt x="0" y="457199"/>
                </a:lnTo>
                <a:lnTo>
                  <a:pt x="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52739" y="2812795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00" y="0"/>
                </a:moveTo>
                <a:lnTo>
                  <a:pt x="762000" y="457200"/>
                </a:lnTo>
                <a:lnTo>
                  <a:pt x="0" y="457200"/>
                </a:lnTo>
                <a:lnTo>
                  <a:pt x="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2739" y="2812795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0" y="457200"/>
                </a:lnTo>
                <a:lnTo>
                  <a:pt x="762000" y="457200"/>
                </a:lnTo>
                <a:lnTo>
                  <a:pt x="762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52739" y="32699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00" y="0"/>
                </a:moveTo>
                <a:lnTo>
                  <a:pt x="762000" y="457200"/>
                </a:lnTo>
                <a:lnTo>
                  <a:pt x="0" y="457200"/>
                </a:lnTo>
                <a:lnTo>
                  <a:pt x="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52739" y="32699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0" y="457200"/>
                </a:lnTo>
                <a:lnTo>
                  <a:pt x="762000" y="457200"/>
                </a:lnTo>
                <a:lnTo>
                  <a:pt x="762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52739" y="37271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00" y="0"/>
                </a:moveTo>
                <a:lnTo>
                  <a:pt x="762000" y="457200"/>
                </a:lnTo>
                <a:lnTo>
                  <a:pt x="0" y="457200"/>
                </a:lnTo>
                <a:lnTo>
                  <a:pt x="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52739" y="37271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0" y="457200"/>
                </a:lnTo>
                <a:lnTo>
                  <a:pt x="762000" y="457200"/>
                </a:lnTo>
                <a:lnTo>
                  <a:pt x="762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52739" y="41843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00" y="0"/>
                </a:moveTo>
                <a:lnTo>
                  <a:pt x="762000" y="457200"/>
                </a:lnTo>
                <a:lnTo>
                  <a:pt x="0" y="457200"/>
                </a:lnTo>
                <a:lnTo>
                  <a:pt x="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52739" y="41843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0" y="457200"/>
                </a:lnTo>
                <a:lnTo>
                  <a:pt x="762000" y="457200"/>
                </a:lnTo>
                <a:lnTo>
                  <a:pt x="762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52739" y="46415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00" y="0"/>
                </a:moveTo>
                <a:lnTo>
                  <a:pt x="762000" y="457200"/>
                </a:lnTo>
                <a:lnTo>
                  <a:pt x="0" y="457200"/>
                </a:lnTo>
                <a:lnTo>
                  <a:pt x="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52739" y="4641596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0" y="457200"/>
                </a:lnTo>
                <a:lnTo>
                  <a:pt x="762000" y="457200"/>
                </a:lnTo>
                <a:lnTo>
                  <a:pt x="762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31879" y="2317292"/>
            <a:ext cx="203835" cy="2768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33939" y="250799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76927" y="250799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76939" y="250799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0"/>
                </a:move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19927" y="250799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19927" y="2507995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0"/>
                </a:move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33939" y="2499867"/>
            <a:ext cx="342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0"/>
              </a:spcBef>
              <a:tabLst>
                <a:tab pos="1422400" algn="l"/>
                <a:tab pos="2565400" algn="l"/>
              </a:tabLst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2	a |</a:t>
            </a:r>
            <a:r>
              <a:rPr sz="2800" spc="-5" dirty="0">
                <a:solidFill>
                  <a:srgbClr val="00009A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4	c |</a:t>
            </a:r>
            <a:r>
              <a:rPr sz="2800" spc="-45" dirty="0">
                <a:solidFill>
                  <a:srgbClr val="00009A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60053" y="2786126"/>
            <a:ext cx="1221740" cy="269240"/>
          </a:xfrm>
          <a:custGeom>
            <a:avLst/>
            <a:gdLst/>
            <a:ahLst/>
            <a:cxnLst/>
            <a:rect l="l" t="t" r="r" b="b"/>
            <a:pathLst>
              <a:path w="1221739" h="269239">
                <a:moveTo>
                  <a:pt x="1140002" y="56657"/>
                </a:moveTo>
                <a:lnTo>
                  <a:pt x="1134670" y="28473"/>
                </a:lnTo>
                <a:lnTo>
                  <a:pt x="0" y="241553"/>
                </a:lnTo>
                <a:lnTo>
                  <a:pt x="4572" y="268986"/>
                </a:lnTo>
                <a:lnTo>
                  <a:pt x="1140002" y="56657"/>
                </a:lnTo>
                <a:close/>
              </a:path>
              <a:path w="1221739" h="269239">
                <a:moveTo>
                  <a:pt x="1221486" y="26669"/>
                </a:moveTo>
                <a:lnTo>
                  <a:pt x="1129283" y="0"/>
                </a:lnTo>
                <a:lnTo>
                  <a:pt x="1134670" y="28473"/>
                </a:lnTo>
                <a:lnTo>
                  <a:pt x="1148333" y="25907"/>
                </a:lnTo>
                <a:lnTo>
                  <a:pt x="1153667" y="54101"/>
                </a:lnTo>
                <a:lnTo>
                  <a:pt x="1153667" y="78211"/>
                </a:lnTo>
                <a:lnTo>
                  <a:pt x="1221486" y="26669"/>
                </a:lnTo>
                <a:close/>
              </a:path>
              <a:path w="1221739" h="269239">
                <a:moveTo>
                  <a:pt x="1153667" y="54101"/>
                </a:moveTo>
                <a:lnTo>
                  <a:pt x="1148333" y="25907"/>
                </a:lnTo>
                <a:lnTo>
                  <a:pt x="1134670" y="28473"/>
                </a:lnTo>
                <a:lnTo>
                  <a:pt x="1140002" y="56657"/>
                </a:lnTo>
                <a:lnTo>
                  <a:pt x="1153667" y="54101"/>
                </a:lnTo>
                <a:close/>
              </a:path>
              <a:path w="1221739" h="269239">
                <a:moveTo>
                  <a:pt x="1153667" y="78211"/>
                </a:moveTo>
                <a:lnTo>
                  <a:pt x="1153667" y="54101"/>
                </a:lnTo>
                <a:lnTo>
                  <a:pt x="1140002" y="56657"/>
                </a:lnTo>
                <a:lnTo>
                  <a:pt x="1145286" y="84581"/>
                </a:lnTo>
                <a:lnTo>
                  <a:pt x="1153667" y="7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33939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6927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6939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0"/>
                </a:move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19927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19927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0"/>
                </a:move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60815" y="4304791"/>
            <a:ext cx="1221105" cy="199390"/>
          </a:xfrm>
          <a:custGeom>
            <a:avLst/>
            <a:gdLst/>
            <a:ahLst/>
            <a:cxnLst/>
            <a:rect l="l" t="t" r="r" b="b"/>
            <a:pathLst>
              <a:path w="1221104" h="199389">
                <a:moveTo>
                  <a:pt x="1137127" y="56651"/>
                </a:moveTo>
                <a:lnTo>
                  <a:pt x="1133609" y="28506"/>
                </a:lnTo>
                <a:lnTo>
                  <a:pt x="0" y="169925"/>
                </a:lnTo>
                <a:lnTo>
                  <a:pt x="3048" y="198882"/>
                </a:lnTo>
                <a:lnTo>
                  <a:pt x="1137127" y="56651"/>
                </a:lnTo>
                <a:close/>
              </a:path>
              <a:path w="1221104" h="199389">
                <a:moveTo>
                  <a:pt x="1220724" y="32004"/>
                </a:moveTo>
                <a:lnTo>
                  <a:pt x="1130045" y="0"/>
                </a:lnTo>
                <a:lnTo>
                  <a:pt x="1133609" y="28506"/>
                </a:lnTo>
                <a:lnTo>
                  <a:pt x="1148333" y="26670"/>
                </a:lnTo>
                <a:lnTo>
                  <a:pt x="1151381" y="54863"/>
                </a:lnTo>
                <a:lnTo>
                  <a:pt x="1151381" y="78232"/>
                </a:lnTo>
                <a:lnTo>
                  <a:pt x="1220724" y="32004"/>
                </a:lnTo>
                <a:close/>
              </a:path>
              <a:path w="1221104" h="199389">
                <a:moveTo>
                  <a:pt x="1151381" y="54863"/>
                </a:moveTo>
                <a:lnTo>
                  <a:pt x="1148333" y="26670"/>
                </a:lnTo>
                <a:lnTo>
                  <a:pt x="1133609" y="28506"/>
                </a:lnTo>
                <a:lnTo>
                  <a:pt x="1137127" y="56651"/>
                </a:lnTo>
                <a:lnTo>
                  <a:pt x="1151381" y="54863"/>
                </a:lnTo>
                <a:close/>
              </a:path>
              <a:path w="1221104" h="199389">
                <a:moveTo>
                  <a:pt x="1151381" y="78232"/>
                </a:moveTo>
                <a:lnTo>
                  <a:pt x="1151381" y="54863"/>
                </a:lnTo>
                <a:lnTo>
                  <a:pt x="1137127" y="56651"/>
                </a:lnTo>
                <a:lnTo>
                  <a:pt x="1140714" y="85344"/>
                </a:lnTo>
                <a:lnTo>
                  <a:pt x="1151381" y="78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62927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0" y="0"/>
                </a:move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62927" y="4108196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0"/>
                </a:moveTo>
                <a:lnTo>
                  <a:pt x="0" y="457200"/>
                </a:ln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33939" y="4100067"/>
            <a:ext cx="4572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0"/>
              </a:spcBef>
              <a:tabLst>
                <a:tab pos="1410970" algn="l"/>
                <a:tab pos="2584450" algn="l"/>
                <a:tab pos="3686175" algn="l"/>
              </a:tabLst>
            </a:pP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3	1 | 1	( | 2	= |</a:t>
            </a:r>
            <a:r>
              <a:rPr sz="2800" spc="-50" dirty="0">
                <a:solidFill>
                  <a:srgbClr val="00009A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9A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35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4603" y="571245"/>
            <a:ext cx="18770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35" y="1668231"/>
            <a:ext cx="6804659" cy="39217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Finite </a:t>
            </a:r>
            <a:r>
              <a:rPr sz="3200" spc="-10" dirty="0">
                <a:latin typeface="Times New Roman"/>
                <a:cs typeface="Times New Roman"/>
              </a:rPr>
              <a:t>Automata, </a:t>
            </a:r>
            <a:r>
              <a:rPr sz="3200" spc="-5" dirty="0">
                <a:latin typeface="Times New Roman"/>
                <a:cs typeface="Times New Roman"/>
              </a:rPr>
              <a:t>NFA,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  <a:p>
            <a:pPr marL="355600" marR="94234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Converting NFA to DFA – subset  construction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6235" algn="l"/>
              </a:tabLst>
            </a:pPr>
            <a:r>
              <a:rPr sz="3200" spc="-5" dirty="0">
                <a:latin typeface="Times New Roman"/>
                <a:cs typeface="Times New Roman"/>
              </a:rPr>
              <a:t>From RE to NFA – 3 basic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operations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Time space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tradeoffs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Optimizations: minimize the number of  states and table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compression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3821" y="507237"/>
            <a:ext cx="2200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u="none" dirty="0">
                <a:latin typeface="Arial"/>
                <a:cs typeface="Arial"/>
              </a:rPr>
              <a:t>Summary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95"/>
              </a:spcBef>
              <a:tabLst>
                <a:tab pos="7304405" algn="l"/>
              </a:tabLst>
            </a:pPr>
            <a:r>
              <a:rPr spc="-10" dirty="0"/>
              <a:t>Lear</a:t>
            </a:r>
            <a:r>
              <a:rPr spc="-5" dirty="0"/>
              <a:t>n </a:t>
            </a:r>
            <a:r>
              <a:rPr spc="-10" dirty="0"/>
              <a:t>ho</a:t>
            </a:r>
            <a:r>
              <a:rPr spc="-5" dirty="0"/>
              <a:t>w </a:t>
            </a:r>
            <a:r>
              <a:rPr spc="-10" dirty="0"/>
              <a:t>t</a:t>
            </a:r>
            <a:r>
              <a:rPr spc="-5" dirty="0"/>
              <a:t>o </a:t>
            </a:r>
            <a:r>
              <a:rPr spc="-10" dirty="0"/>
              <a:t>specif</a:t>
            </a:r>
            <a:r>
              <a:rPr spc="-5" dirty="0"/>
              <a:t>y </a:t>
            </a:r>
            <a:r>
              <a:rPr spc="-10" dirty="0"/>
              <a:t>an</a:t>
            </a:r>
            <a:r>
              <a:rPr spc="-5" dirty="0"/>
              <a:t>d </a:t>
            </a:r>
            <a:r>
              <a:rPr spc="-10" dirty="0"/>
              <a:t>implemen</a:t>
            </a:r>
            <a:r>
              <a:rPr spc="-5" dirty="0"/>
              <a:t>t a</a:t>
            </a:r>
            <a:r>
              <a:rPr dirty="0"/>
              <a:t>	</a:t>
            </a:r>
            <a:r>
              <a:rPr spc="-5" dirty="0"/>
              <a:t>•</a:t>
            </a:r>
          </a:p>
          <a:p>
            <a:pPr marL="4330700">
              <a:lnSpc>
                <a:spcPct val="100000"/>
              </a:lnSpc>
            </a:pPr>
            <a:r>
              <a:rPr spc="-10" dirty="0"/>
              <a:t>lexical</a:t>
            </a:r>
            <a:r>
              <a:rPr spc="-15" dirty="0"/>
              <a:t> </a:t>
            </a:r>
            <a:r>
              <a:rPr spc="-10" dirty="0"/>
              <a:t>analyzer</a:t>
            </a:r>
          </a:p>
          <a:p>
            <a:pPr marL="45720" marR="5080" indent="2569210">
              <a:lnSpc>
                <a:spcPts val="4600"/>
              </a:lnSpc>
              <a:spcBef>
                <a:spcPts val="280"/>
              </a:spcBef>
              <a:tabLst>
                <a:tab pos="7304405" algn="l"/>
              </a:tabLst>
            </a:pPr>
            <a:r>
              <a:rPr spc="-10" dirty="0"/>
              <a:t>Precis</a:t>
            </a:r>
            <a:r>
              <a:rPr spc="-5" dirty="0"/>
              <a:t>e </a:t>
            </a:r>
            <a:r>
              <a:rPr spc="-10" dirty="0"/>
              <a:t>specification</a:t>
            </a:r>
            <a:r>
              <a:rPr spc="-5" dirty="0"/>
              <a:t>: </a:t>
            </a:r>
            <a:r>
              <a:rPr spc="-10" dirty="0"/>
              <a:t>R</a:t>
            </a:r>
            <a:r>
              <a:rPr spc="-5" dirty="0"/>
              <a:t>E</a:t>
            </a:r>
            <a:r>
              <a:rPr dirty="0"/>
              <a:t>	</a:t>
            </a:r>
            <a:r>
              <a:rPr spc="-5" dirty="0"/>
              <a:t>•  </a:t>
            </a:r>
            <a:r>
              <a:rPr spc="-10" dirty="0"/>
              <a:t>Ma</a:t>
            </a:r>
            <a:r>
              <a:rPr spc="-5" dirty="0"/>
              <a:t>p </a:t>
            </a:r>
            <a:r>
              <a:rPr spc="-10" dirty="0"/>
              <a:t>R</a:t>
            </a:r>
            <a:r>
              <a:rPr spc="-5" dirty="0"/>
              <a:t>E </a:t>
            </a:r>
            <a:r>
              <a:rPr spc="-10" dirty="0"/>
              <a:t>t</a:t>
            </a:r>
            <a:r>
              <a:rPr spc="-5" dirty="0"/>
              <a:t>o </a:t>
            </a:r>
            <a:r>
              <a:rPr spc="-10" dirty="0"/>
              <a:t>transitio</a:t>
            </a:r>
            <a:r>
              <a:rPr spc="-5" dirty="0"/>
              <a:t>n </a:t>
            </a:r>
            <a:r>
              <a:rPr spc="-10" dirty="0"/>
              <a:t>diagram</a:t>
            </a:r>
            <a:r>
              <a:rPr spc="-5" dirty="0"/>
              <a:t>, </a:t>
            </a:r>
            <a:r>
              <a:rPr spc="-10" dirty="0"/>
              <a:t>an</a:t>
            </a:r>
            <a:r>
              <a:rPr spc="-5" dirty="0"/>
              <a:t>d </a:t>
            </a:r>
            <a:r>
              <a:rPr spc="-10" dirty="0"/>
              <a:t>ma</a:t>
            </a:r>
            <a:r>
              <a:rPr spc="-5" dirty="0"/>
              <a:t>p</a:t>
            </a:r>
            <a:r>
              <a:rPr dirty="0"/>
              <a:t>	</a:t>
            </a:r>
            <a:r>
              <a:rPr spc="-5" dirty="0"/>
              <a:t>•</a:t>
            </a:r>
          </a:p>
          <a:p>
            <a:pPr marL="2234565">
              <a:lnSpc>
                <a:spcPts val="3560"/>
              </a:lnSpc>
            </a:pPr>
            <a:r>
              <a:rPr spc="-10" dirty="0"/>
              <a:t>transition diagrams </a:t>
            </a:r>
            <a:r>
              <a:rPr spc="-5" dirty="0"/>
              <a:t>to</a:t>
            </a:r>
            <a:r>
              <a:rPr spc="0" dirty="0"/>
              <a:t> </a:t>
            </a:r>
            <a:r>
              <a:rPr spc="-10" dirty="0"/>
              <a:t>code</a:t>
            </a:r>
          </a:p>
          <a:p>
            <a:pPr marL="90170">
              <a:lnSpc>
                <a:spcPct val="100000"/>
              </a:lnSpc>
              <a:spcBef>
                <a:spcPts val="755"/>
              </a:spcBef>
              <a:tabLst>
                <a:tab pos="7304405" algn="l"/>
              </a:tabLst>
            </a:pPr>
            <a:r>
              <a:rPr spc="-10" dirty="0"/>
              <a:t>LE</a:t>
            </a:r>
            <a:r>
              <a:rPr spc="-5" dirty="0"/>
              <a:t>X – A</a:t>
            </a:r>
            <a:r>
              <a:rPr dirty="0"/>
              <a:t> </a:t>
            </a:r>
            <a:r>
              <a:rPr spc="-10" dirty="0"/>
              <a:t>pattern-directe</a:t>
            </a:r>
            <a:r>
              <a:rPr spc="-5" dirty="0"/>
              <a:t>d </a:t>
            </a:r>
            <a:r>
              <a:rPr spc="-10" dirty="0"/>
              <a:t>languag</a:t>
            </a:r>
            <a:r>
              <a:rPr spc="-5" dirty="0"/>
              <a:t>e </a:t>
            </a:r>
            <a:r>
              <a:rPr spc="-10" dirty="0"/>
              <a:t>an</a:t>
            </a:r>
            <a:r>
              <a:rPr spc="-5" dirty="0"/>
              <a:t>d</a:t>
            </a:r>
            <a:r>
              <a:rPr dirty="0"/>
              <a:t>	</a:t>
            </a:r>
            <a:r>
              <a:rPr spc="-5" dirty="0"/>
              <a:t>•</a:t>
            </a:r>
          </a:p>
          <a:p>
            <a:pPr marL="3362325">
              <a:lnSpc>
                <a:spcPct val="100000"/>
              </a:lnSpc>
            </a:pPr>
            <a:r>
              <a:rPr spc="-5" dirty="0"/>
              <a:t>a </a:t>
            </a:r>
            <a:r>
              <a:rPr spc="-10" dirty="0"/>
              <a:t>scanner</a:t>
            </a:r>
            <a:r>
              <a:rPr spc="-15" dirty="0"/>
              <a:t> </a:t>
            </a:r>
            <a:r>
              <a:rPr spc="-10" dirty="0"/>
              <a:t>generator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r>
              <a:rPr spc="-5" dirty="0"/>
              <a:t>38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133" y="6282490"/>
            <a:ext cx="1778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"/>
                <a:cs typeface="Arial"/>
              </a:rPr>
              <a:t>Compiler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Construction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3593" y="571245"/>
            <a:ext cx="2798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Assignment#2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235" y="2001519"/>
            <a:ext cx="6745605" cy="324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Using Lex/Flex to write a scanner for a  subset of language C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Define tokens in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RE’s</a:t>
            </a:r>
            <a:endParaRPr sz="3200">
              <a:latin typeface="Times New Roman"/>
              <a:cs typeface="Times New Roman"/>
            </a:endParaRPr>
          </a:p>
          <a:p>
            <a:pPr marL="355600" marR="33909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Handle identifiers and interact with a  symbol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table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Experience with RE for</a:t>
            </a:r>
            <a:r>
              <a:rPr sz="3200" spc="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comments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A9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11457</Words>
  <Application>Microsoft Office PowerPoint</Application>
  <PresentationFormat>사용자 지정</PresentationFormat>
  <Paragraphs>2513</Paragraphs>
  <Slides>190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190</vt:i4>
      </vt:variant>
    </vt:vector>
  </HeadingPairs>
  <TitlesOfParts>
    <vt:vector size="199" baseType="lpstr">
      <vt:lpstr>MS UI Gothic</vt:lpstr>
      <vt:lpstr>맑은 고딕</vt:lpstr>
      <vt:lpstr>Arial</vt:lpstr>
      <vt:lpstr>Calibri</vt:lpstr>
      <vt:lpstr>Symbol</vt:lpstr>
      <vt:lpstr>Tahoma</vt:lpstr>
      <vt:lpstr>Times New Roman</vt:lpstr>
      <vt:lpstr>Wingdings</vt:lpstr>
      <vt:lpstr>Office Theme</vt:lpstr>
      <vt:lpstr>인터프리터 vs 컴파일러</vt:lpstr>
      <vt:lpstr>변환 프로세스로서의 개발</vt:lpstr>
      <vt:lpstr>문법, 언어 생성</vt:lpstr>
      <vt:lpstr>The Structure of a Compiler</vt:lpstr>
      <vt:lpstr>PowerPoint 프레젠테이션</vt:lpstr>
      <vt:lpstr>Syntax Analysis Example</vt:lpstr>
      <vt:lpstr>Semantic Analysis Example</vt:lpstr>
      <vt:lpstr>Pay := base + rate * 60 Id1 := Id2 + Id3 * 60</vt:lpstr>
      <vt:lpstr>Grouping of Compiler Phases</vt:lpstr>
      <vt:lpstr>Common Back-end Compiling System</vt:lpstr>
      <vt:lpstr>Compiling Passes</vt:lpstr>
      <vt:lpstr>A Short History of Compiler Construction</vt:lpstr>
      <vt:lpstr>Cousins of Compilers</vt:lpstr>
      <vt:lpstr>Compiler Constructions Tools</vt:lpstr>
      <vt:lpstr>Cross-Compilation and Bootstrapping</vt:lpstr>
      <vt:lpstr>Cross-Compilation and Bootstrapping</vt:lpstr>
      <vt:lpstr>Compiler Construction (750421)</vt:lpstr>
      <vt:lpstr>Compiler Construction (750421)</vt:lpstr>
      <vt:lpstr>Course Outline</vt:lpstr>
      <vt:lpstr>Aims of This Module</vt:lpstr>
      <vt:lpstr>Course Objectives</vt:lpstr>
      <vt:lpstr>Assessment and Passing</vt:lpstr>
      <vt:lpstr>Lectures and Practice Classes</vt:lpstr>
      <vt:lpstr>Lecturer and Consultation</vt:lpstr>
      <vt:lpstr>Recommended Reading</vt:lpstr>
      <vt:lpstr>Course Overview</vt:lpstr>
      <vt:lpstr>Course Overview (Cont.)</vt:lpstr>
      <vt:lpstr>Chapter 1  Introduction to Compiling</vt:lpstr>
      <vt:lpstr>Chapter 1 Overview of Compilers (Cont.)</vt:lpstr>
      <vt:lpstr>Chapter 1 Overview of Compilers (Cont.)</vt:lpstr>
      <vt:lpstr>Chapter 1 Overview of Compilers (Cont.)</vt:lpstr>
      <vt:lpstr>Chapter 1 Overview of Compilers (Cont.)</vt:lpstr>
      <vt:lpstr>Model of A Compiler</vt:lpstr>
      <vt:lpstr>Tasks of Compilation Process and Its Output</vt:lpstr>
      <vt:lpstr>PowerPoint 프레젠테이션</vt:lpstr>
      <vt:lpstr>Parse Tree and Symbol Table</vt:lpstr>
      <vt:lpstr>PowerPoint 프레젠테이션</vt:lpstr>
      <vt:lpstr>Example on Compilation Process (Cont.)</vt:lpstr>
      <vt:lpstr>Example on Compilation Process (Cont.)</vt:lpstr>
      <vt:lpstr>Example on Compilation Process (Cont.)</vt:lpstr>
      <vt:lpstr>Example on Compilation Process (Cont.)</vt:lpstr>
      <vt:lpstr>Example on Compilation Process (Cont.)</vt:lpstr>
      <vt:lpstr>Ch 2. A Simple One-Pass Compiler</vt:lpstr>
      <vt:lpstr>Overview</vt:lpstr>
      <vt:lpstr>Structure of the Simple Compiler</vt:lpstr>
      <vt:lpstr>Syntax Definition</vt:lpstr>
      <vt:lpstr>Production Example</vt:lpstr>
      <vt:lpstr>PowerPoint 프레젠테이션</vt:lpstr>
      <vt:lpstr>Strings</vt:lpstr>
      <vt:lpstr>String Derivation</vt:lpstr>
      <vt:lpstr>Parse Tree</vt:lpstr>
      <vt:lpstr>Parse Tree</vt:lpstr>
      <vt:lpstr>Example</vt:lpstr>
      <vt:lpstr>Ambiguous Grammar</vt:lpstr>
      <vt:lpstr>Association and Precedence of Operators</vt:lpstr>
      <vt:lpstr>Exercise</vt:lpstr>
      <vt:lpstr>Precedence of Operators</vt:lpstr>
      <vt:lpstr>Example</vt:lpstr>
      <vt:lpstr>Syntax Directed Translation</vt:lpstr>
      <vt:lpstr>Example 1</vt:lpstr>
      <vt:lpstr>Annotated Parse Tree</vt:lpstr>
      <vt:lpstr>Parse Tree and Syntax Tree</vt:lpstr>
      <vt:lpstr>Parse Tree and Syntax Tree</vt:lpstr>
      <vt:lpstr>Example 2</vt:lpstr>
      <vt:lpstr>Translation Schemes</vt:lpstr>
      <vt:lpstr>Translation Schemes</vt:lpstr>
      <vt:lpstr>PowerPoint 프레젠테이션</vt:lpstr>
      <vt:lpstr>Example</vt:lpstr>
      <vt:lpstr>Example (9-2+4)</vt:lpstr>
      <vt:lpstr>Example (9-2+4)</vt:lpstr>
      <vt:lpstr>Two common parsing methods</vt:lpstr>
      <vt:lpstr>Top-down Parsing</vt:lpstr>
      <vt:lpstr>Input: array [ 1..100 ] of integer</vt:lpstr>
      <vt:lpstr>Input: array [ 1..100 ] of integer</vt:lpstr>
      <vt:lpstr>Input: array [ 1..100 ] of integer</vt:lpstr>
      <vt:lpstr>Input: array [ 1..100 ] of integer</vt:lpstr>
      <vt:lpstr>PowerPoint 프레젠테이션</vt:lpstr>
      <vt:lpstr>Simple €</vt:lpstr>
      <vt:lpstr>Predictive Parsing</vt:lpstr>
      <vt:lpstr>Predictive Parsing</vt:lpstr>
      <vt:lpstr>Constructing a Predictive Parser</vt:lpstr>
      <vt:lpstr>Left Recursion Removal</vt:lpstr>
      <vt:lpstr>Exercise</vt:lpstr>
      <vt:lpstr>PowerPoint 프레젠테이션</vt:lpstr>
      <vt:lpstr>PowerPoint 프레젠테이션</vt:lpstr>
      <vt:lpstr>A translator for simple expressions</vt:lpstr>
      <vt:lpstr>PowerPoint 프레젠테이션</vt:lpstr>
      <vt:lpstr>Recursive Descent Parsing Exercise</vt:lpstr>
      <vt:lpstr>Recursive Descent Parsing Exercise</vt:lpstr>
      <vt:lpstr>Recursive Descent Parsing Exercise</vt:lpstr>
      <vt:lpstr>More Exercise</vt:lpstr>
      <vt:lpstr>PowerPoint 프레젠테이션</vt:lpstr>
      <vt:lpstr>Exercise</vt:lpstr>
      <vt:lpstr>Parse Tree</vt:lpstr>
      <vt:lpstr>Identical Syntax Tree</vt:lpstr>
      <vt:lpstr>Exercise</vt:lpstr>
      <vt:lpstr>Exercise</vt:lpstr>
      <vt:lpstr>PowerPoint 프레젠테이션</vt:lpstr>
      <vt:lpstr>Exercise</vt:lpstr>
      <vt:lpstr>PowerPoint 프레젠테이션</vt:lpstr>
      <vt:lpstr>Extending the Compiler</vt:lpstr>
      <vt:lpstr>Lexical Analysis</vt:lpstr>
      <vt:lpstr>PowerPoint 프레젠테이션</vt:lpstr>
      <vt:lpstr>PowerPoint 프레젠테이션</vt:lpstr>
      <vt:lpstr>PowerPoint 프레젠테이션</vt:lpstr>
      <vt:lpstr>Symbol Table</vt:lpstr>
      <vt:lpstr>Symbol Table (cont.)</vt:lpstr>
      <vt:lpstr>Symbol Table (cont.)</vt:lpstr>
      <vt:lpstr>Symbol Table (cont.)</vt:lpstr>
      <vt:lpstr>Abstract Stack Machine</vt:lpstr>
      <vt:lpstr>L-value and R-value</vt:lpstr>
      <vt:lpstr>Translation of Expressions</vt:lpstr>
      <vt:lpstr>Syntax-directed definition</vt:lpstr>
      <vt:lpstr>Assignment #1</vt:lpstr>
      <vt:lpstr>PowerPoint 프레젠테이션</vt:lpstr>
      <vt:lpstr>Ch 3. Lexical Analysis</vt:lpstr>
      <vt:lpstr>The Role of a Lexical Analyzer</vt:lpstr>
      <vt:lpstr>Lexical Analyzer</vt:lpstr>
      <vt:lpstr>Typical Tokens in a PL</vt:lpstr>
      <vt:lpstr>PowerPoint 프레젠테이션</vt:lpstr>
      <vt:lpstr>Token Attribute</vt:lpstr>
      <vt:lpstr>Case Study</vt:lpstr>
      <vt:lpstr>Case Study (cont.)</vt:lpstr>
      <vt:lpstr>Case Study (cont.)</vt:lpstr>
      <vt:lpstr>Case Study (cont.)</vt:lpstr>
      <vt:lpstr>Lexical Error and Recovery</vt:lpstr>
      <vt:lpstr>Regular Expressions</vt:lpstr>
      <vt:lpstr>Example</vt:lpstr>
      <vt:lpstr>Regular Definition</vt:lpstr>
      <vt:lpstr>PowerPoint 프레젠테이션</vt:lpstr>
      <vt:lpstr>Common notations and metacharacter</vt:lpstr>
      <vt:lpstr>Common notations (cont.)</vt:lpstr>
      <vt:lpstr>Special Characters</vt:lpstr>
      <vt:lpstr>Operator Precedence</vt:lpstr>
      <vt:lpstr>Notation Examples</vt:lpstr>
      <vt:lpstr>Exercise</vt:lpstr>
      <vt:lpstr>More Token Definition Examples</vt:lpstr>
      <vt:lpstr>PowerPoint 프레젠테이션</vt:lpstr>
      <vt:lpstr>Non-regular set</vt:lpstr>
      <vt:lpstr>Recognition of Tokens</vt:lpstr>
      <vt:lpstr>PowerPoint 프레젠테이션</vt:lpstr>
      <vt:lpstr>Implementing Transition Diagram</vt:lpstr>
      <vt:lpstr>Lexical analyzer loop</vt:lpstr>
      <vt:lpstr>RE with multiple accepting states</vt:lpstr>
      <vt:lpstr>RE with multiple accepting states</vt:lpstr>
      <vt:lpstr>Transition Table and Driver</vt:lpstr>
      <vt:lpstr>LEX – A Language for Specifying  Lexical Analyzers</vt:lpstr>
      <vt:lpstr>Lex Usage</vt:lpstr>
      <vt:lpstr>Lex Specification</vt:lpstr>
      <vt:lpstr>Example</vt:lpstr>
      <vt:lpstr>Overlapped Regular Expressions</vt:lpstr>
      <vt:lpstr>PowerPoint 프레젠테이션</vt:lpstr>
      <vt:lpstr>Lookahead Operator</vt:lpstr>
      <vt:lpstr>Special Variables/Procedures</vt:lpstr>
      <vt:lpstr>Additional Notes</vt:lpstr>
      <vt:lpstr>Lexical Analyzer Generator</vt:lpstr>
      <vt:lpstr>Finite Automata</vt:lpstr>
      <vt:lpstr>Example</vt:lpstr>
      <vt:lpstr>Transition Function</vt:lpstr>
      <vt:lpstr>PowerPoint 프레젠테이션</vt:lpstr>
      <vt:lpstr>PowerPoint 프레젠테이션</vt:lpstr>
      <vt:lpstr>Conversion of NFA to DFA</vt:lpstr>
      <vt:lpstr>NFA to DFA conversion</vt:lpstr>
      <vt:lpstr>NFA to DFA conversion (cont.)</vt:lpstr>
      <vt:lpstr>NFA to DFA conversion (cont.)</vt:lpstr>
      <vt:lpstr>Subset Construction Algorithm</vt:lpstr>
      <vt:lpstr>Example</vt:lpstr>
      <vt:lpstr>DFA after conversion</vt:lpstr>
      <vt:lpstr>Map RE to NFA</vt:lpstr>
      <vt:lpstr>Map RE to NFA</vt:lpstr>
      <vt:lpstr>Map RE to NFA</vt:lpstr>
      <vt:lpstr>Example</vt:lpstr>
      <vt:lpstr>Example</vt:lpstr>
      <vt:lpstr>Example</vt:lpstr>
      <vt:lpstr>Simulation of NFA</vt:lpstr>
      <vt:lpstr>Time Space Tradeoffs</vt:lpstr>
      <vt:lpstr>Optimizing Finite Automata</vt:lpstr>
      <vt:lpstr>Optimizing Finite Automata</vt:lpstr>
      <vt:lpstr>PowerPoint 프레젠테이션</vt:lpstr>
      <vt:lpstr>Optimizing Finite Automata</vt:lpstr>
      <vt:lpstr>Optimizing Finite Automata</vt:lpstr>
      <vt:lpstr>Optimizing Finite Automata</vt:lpstr>
      <vt:lpstr>Optimizing Finite Automata</vt:lpstr>
      <vt:lpstr>Optimizing Finite Automata</vt:lpstr>
      <vt:lpstr>PowerPoint 프레젠테이션</vt:lpstr>
      <vt:lpstr>PowerPoint 프레젠테이션</vt:lpstr>
      <vt:lpstr>Sparse table techniques</vt:lpstr>
      <vt:lpstr>Summary</vt:lpstr>
      <vt:lpstr>Summary</vt:lpstr>
      <vt:lpstr>Assignment#2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Compilers and Interpreters</dc:title>
  <cp:lastModifiedBy>Taewony Kim</cp:lastModifiedBy>
  <cp:revision>7</cp:revision>
  <dcterms:created xsi:type="dcterms:W3CDTF">2025-05-13T08:17:04Z</dcterms:created>
  <dcterms:modified xsi:type="dcterms:W3CDTF">2025-05-13T08:55:10Z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2007-04-10T00:00:00Z</vt:filetime>
  </property>
  <property fmtid="{D5CDD505-2E9C-101B-9397-08002B2CF9AE}" pid="3" name="Creator">
    <vt:lpwstr>A-PDF Merger</vt:lpwstr>
  </property>
  <property fmtid="{D5CDD505-2E9C-101B-9397-08002B2CF9AE}" pid="4" name="LastSaved">
    <vt:filetime>2025-05-13T00:00:00Z</vt:filetime>
  </property>
</Properties>
</file>